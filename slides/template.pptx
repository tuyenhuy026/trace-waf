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1.xml" ContentType="application/vnd.openxmlformats-officedocument.drawingml.chart+xml"/>
  <Override PartName="/ppt/notesSlides/notesSlide11.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Slides/notesSlide12.xml" ContentType="application/vnd.openxmlformats-officedocument.presentationml.notesSlide+xml"/>
  <Override PartName="/ppt/charts/chart5.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76" r:id="rId3"/>
    <p:sldId id="257" r:id="rId4"/>
    <p:sldId id="273" r:id="rId5"/>
    <p:sldId id="258" r:id="rId6"/>
    <p:sldId id="259" r:id="rId7"/>
    <p:sldId id="268" r:id="rId8"/>
    <p:sldId id="260" r:id="rId9"/>
    <p:sldId id="267" r:id="rId10"/>
    <p:sldId id="261" r:id="rId11"/>
    <p:sldId id="262" r:id="rId12"/>
    <p:sldId id="269" r:id="rId13"/>
    <p:sldId id="270" r:id="rId14"/>
    <p:sldId id="271" r:id="rId15"/>
    <p:sldId id="263" r:id="rId16"/>
    <p:sldId id="264" r:id="rId17"/>
    <p:sldId id="265" r:id="rId18"/>
    <p:sldId id="266"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353" autoAdjust="0"/>
    <p:restoredTop sz="94610"/>
  </p:normalViewPr>
  <p:slideViewPr>
    <p:cSldViewPr snapToGrid="0" snapToObjects="1">
      <p:cViewPr varScale="1">
        <p:scale>
          <a:sx n="87" d="100"/>
          <a:sy n="87" d="100"/>
        </p:scale>
        <p:origin x="466"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Accuracy</c:v>
                </c:pt>
              </c:strCache>
            </c:strRef>
          </c:tx>
          <c:spPr>
            <a:solidFill>
              <a:srgbClr val="C91F35"/>
            </a:solidFill>
            <a:effectLst/>
          </c:spPr>
          <c:invertIfNegative val="0"/>
          <c:dLbls>
            <c:numFmt formatCode="0.00%" sourceLinked="0"/>
            <c:spPr>
              <a:noFill/>
              <a:ln>
                <a:noFill/>
              </a:ln>
              <a:effectLst/>
            </c:spPr>
            <c:txPr>
              <a:bodyPr/>
              <a:lstStyle/>
              <a:p>
                <a:pPr>
                  <a:defRPr sz="1200" b="0" i="0" u="none" strike="noStrike">
                    <a:solidFill>
                      <a:srgbClr val="000000"/>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Sheet1!$A$2:$A$5</c:f>
              <c:strCache>
                <c:ptCount val="4"/>
                <c:pt idx="0">
                  <c:v>Clean</c:v>
                </c:pt>
                <c:pt idx="1">
                  <c:v>FGSM</c:v>
                </c:pt>
                <c:pt idx="2">
                  <c:v>PGD</c:v>
                </c:pt>
                <c:pt idx="3">
                  <c:v>C&amp;W</c:v>
                </c:pt>
              </c:strCache>
            </c:strRef>
          </c:cat>
          <c:val>
            <c:numRef>
              <c:f>Sheet1!$B$2:$B$5</c:f>
              <c:numCache>
                <c:formatCode>0.00%</c:formatCode>
                <c:ptCount val="4"/>
                <c:pt idx="0">
                  <c:v>0.94540000000000002</c:v>
                </c:pt>
                <c:pt idx="1">
                  <c:v>0.43480000000000002</c:v>
                </c:pt>
                <c:pt idx="2">
                  <c:v>9.3600000000000003E-2</c:v>
                </c:pt>
              </c:numCache>
            </c:numRef>
          </c:val>
          <c:extLst>
            <c:ext xmlns:c16="http://schemas.microsoft.com/office/drawing/2014/chart" uri="{C3380CC4-5D6E-409C-BE32-E72D297353CC}">
              <c16:uniqueId val="{00000000-EE3C-4BAD-83FE-DD3D5AA3CA07}"/>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a:pPr>
            <a:r>
              <a:rPr lang="en-US"/>
              <a:t>Accuracy theo mức nén JPEG</a:t>
            </a:r>
          </a:p>
        </c:rich>
      </c:tx>
      <c:layout/>
      <c:overlay val="0"/>
    </c:title>
    <c:autoTitleDeleted val="0"/>
    <c:plotArea>
      <c:layout/>
      <c:barChart>
        <c:barDir val="col"/>
        <c:grouping val="clustered"/>
        <c:varyColors val="1"/>
        <c:ser>
          <c:idx val="0"/>
          <c:order val="0"/>
          <c:tx>
            <c:strRef>
              <c:f>Sheet1!$B$1</c:f>
              <c:strCache>
                <c:ptCount val="1"/>
                <c:pt idx="0">
                  <c:v>FGSM</c:v>
                </c:pt>
              </c:strCache>
            </c:strRef>
          </c:tx>
          <c:invertIfNegative val="1"/>
          <c:cat>
            <c:strRef>
              <c:f>Sheet1!$A$2:$A$7</c:f>
              <c:strCache>
                <c:ptCount val="6"/>
                <c:pt idx="0">
                  <c:v>Gốc</c:v>
                </c:pt>
                <c:pt idx="1">
                  <c:v>Q95</c:v>
                </c:pt>
                <c:pt idx="2">
                  <c:v>Q90</c:v>
                </c:pt>
                <c:pt idx="3">
                  <c:v>Q75</c:v>
                </c:pt>
                <c:pt idx="4">
                  <c:v>Q50</c:v>
                </c:pt>
                <c:pt idx="5">
                  <c:v>Q25</c:v>
                </c:pt>
              </c:strCache>
            </c:strRef>
          </c:cat>
          <c:val>
            <c:numRef>
              <c:f>Sheet1!$B$2:$B$7</c:f>
              <c:numCache>
                <c:formatCode>General</c:formatCode>
                <c:ptCount val="6"/>
                <c:pt idx="0">
                  <c:v>0.43480000000000002</c:v>
                </c:pt>
                <c:pt idx="1">
                  <c:v>0.53859999999999997</c:v>
                </c:pt>
                <c:pt idx="2">
                  <c:v>0.65059999999999996</c:v>
                </c:pt>
                <c:pt idx="3">
                  <c:v>0.74360000000000004</c:v>
                </c:pt>
                <c:pt idx="4">
                  <c:v>0.72260000000000002</c:v>
                </c:pt>
                <c:pt idx="5">
                  <c:v>0.62739999999999996</c:v>
                </c:pt>
              </c:numCache>
            </c:numRef>
          </c:val>
          <c:extLst>
            <c:ext xmlns:c16="http://schemas.microsoft.com/office/drawing/2014/chart" uri="{C3380CC4-5D6E-409C-BE32-E72D297353CC}">
              <c16:uniqueId val="{00000000-B85D-4E31-B64A-1432561BF7EF}"/>
            </c:ext>
          </c:extLst>
        </c:ser>
        <c:ser>
          <c:idx val="1"/>
          <c:order val="1"/>
          <c:tx>
            <c:strRef>
              <c:f>Sheet1!$C$1</c:f>
              <c:strCache>
                <c:ptCount val="1"/>
                <c:pt idx="0">
                  <c:v>PGD</c:v>
                </c:pt>
              </c:strCache>
            </c:strRef>
          </c:tx>
          <c:invertIfNegative val="1"/>
          <c:cat>
            <c:strRef>
              <c:f>Sheet1!$A$2:$A$7</c:f>
              <c:strCache>
                <c:ptCount val="6"/>
                <c:pt idx="0">
                  <c:v>Gốc</c:v>
                </c:pt>
                <c:pt idx="1">
                  <c:v>Q95</c:v>
                </c:pt>
                <c:pt idx="2">
                  <c:v>Q90</c:v>
                </c:pt>
                <c:pt idx="3">
                  <c:v>Q75</c:v>
                </c:pt>
                <c:pt idx="4">
                  <c:v>Q50</c:v>
                </c:pt>
                <c:pt idx="5">
                  <c:v>Q25</c:v>
                </c:pt>
              </c:strCache>
            </c:strRef>
          </c:cat>
          <c:val>
            <c:numRef>
              <c:f>Sheet1!$C$2:$C$7</c:f>
              <c:numCache>
                <c:formatCode>General</c:formatCode>
                <c:ptCount val="6"/>
                <c:pt idx="0">
                  <c:v>9.3600000000000003E-2</c:v>
                </c:pt>
                <c:pt idx="1">
                  <c:v>0.29420000000000002</c:v>
                </c:pt>
                <c:pt idx="2">
                  <c:v>0.59740000000000004</c:v>
                </c:pt>
                <c:pt idx="3">
                  <c:v>0.74539999999999995</c:v>
                </c:pt>
                <c:pt idx="4">
                  <c:v>0.72299999999999998</c:v>
                </c:pt>
                <c:pt idx="5">
                  <c:v>0.61939999999999995</c:v>
                </c:pt>
              </c:numCache>
            </c:numRef>
          </c:val>
          <c:extLst>
            <c:ext xmlns:c16="http://schemas.microsoft.com/office/drawing/2014/chart" uri="{C3380CC4-5D6E-409C-BE32-E72D297353CC}">
              <c16:uniqueId val="{00000001-B85D-4E31-B64A-1432561BF7EF}"/>
            </c:ext>
          </c:extLst>
        </c:ser>
        <c:ser>
          <c:idx val="2"/>
          <c:order val="2"/>
          <c:tx>
            <c:strRef>
              <c:f>Sheet1!$D$1</c:f>
              <c:strCache>
                <c:ptCount val="1"/>
                <c:pt idx="0">
                  <c:v>C&amp;W</c:v>
                </c:pt>
              </c:strCache>
            </c:strRef>
          </c:tx>
          <c:invertIfNegative val="1"/>
          <c:cat>
            <c:strRef>
              <c:f>Sheet1!$A$2:$A$7</c:f>
              <c:strCache>
                <c:ptCount val="6"/>
                <c:pt idx="0">
                  <c:v>Gốc</c:v>
                </c:pt>
                <c:pt idx="1">
                  <c:v>Q95</c:v>
                </c:pt>
                <c:pt idx="2">
                  <c:v>Q90</c:v>
                </c:pt>
                <c:pt idx="3">
                  <c:v>Q75</c:v>
                </c:pt>
                <c:pt idx="4">
                  <c:v>Q50</c:v>
                </c:pt>
                <c:pt idx="5">
                  <c:v>Q25</c:v>
                </c:pt>
              </c:strCache>
            </c:strRef>
          </c:cat>
          <c:val>
            <c:numRef>
              <c:f>Sheet1!$D$2:$D$7</c:f>
              <c:numCache>
                <c:formatCode>General</c:formatCode>
                <c:ptCount val="6"/>
                <c:pt idx="0">
                  <c:v>0</c:v>
                </c:pt>
                <c:pt idx="1">
                  <c:v>0.52980000000000005</c:v>
                </c:pt>
                <c:pt idx="2">
                  <c:v>0.70960000000000001</c:v>
                </c:pt>
                <c:pt idx="3">
                  <c:v>0.7752</c:v>
                </c:pt>
                <c:pt idx="4">
                  <c:v>0.73799999999999999</c:v>
                </c:pt>
                <c:pt idx="5">
                  <c:v>0.62880000000000003</c:v>
                </c:pt>
              </c:numCache>
            </c:numRef>
          </c:val>
          <c:extLst>
            <c:ext xmlns:c16="http://schemas.microsoft.com/office/drawing/2014/chart" uri="{C3380CC4-5D6E-409C-BE32-E72D297353CC}">
              <c16:uniqueId val="{00000002-B85D-4E31-B64A-1432561BF7EF}"/>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legend>
      <c:legendPos val="b"/>
      <c:layout/>
      <c:overlay val="0"/>
      <c:txPr>
        <a:bodyPr/>
        <a:lstStyle/>
        <a:p>
          <a:pPr>
            <a:defRPr sz="9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a:pPr>
            <a:r>
              <a:rPr lang="en-US"/>
              <a:t>Accuracy theo mức Gaussian noise</a:t>
            </a:r>
          </a:p>
        </c:rich>
      </c:tx>
      <c:layout/>
      <c:overlay val="0"/>
    </c:title>
    <c:autoTitleDeleted val="0"/>
    <c:plotArea>
      <c:layout/>
      <c:barChart>
        <c:barDir val="col"/>
        <c:grouping val="clustered"/>
        <c:varyColors val="1"/>
        <c:ser>
          <c:idx val="0"/>
          <c:order val="0"/>
          <c:tx>
            <c:strRef>
              <c:f>Sheet1!$B$1</c:f>
              <c:strCache>
                <c:ptCount val="1"/>
                <c:pt idx="0">
                  <c:v>FGSM</c:v>
                </c:pt>
              </c:strCache>
            </c:strRef>
          </c:tx>
          <c:invertIfNegative val="1"/>
          <c:cat>
            <c:strRef>
              <c:f>Sheet1!$A$2:$A$5</c:f>
              <c:strCache>
                <c:ptCount val="4"/>
                <c:pt idx="0">
                  <c:v>Gốc</c:v>
                </c:pt>
                <c:pt idx="1">
                  <c:v>σ=0.1</c:v>
                </c:pt>
                <c:pt idx="2">
                  <c:v>σ=0.25</c:v>
                </c:pt>
                <c:pt idx="3">
                  <c:v>σ=0.5</c:v>
                </c:pt>
              </c:strCache>
            </c:strRef>
          </c:cat>
          <c:val>
            <c:numRef>
              <c:f>Sheet1!$B$2:$B$5</c:f>
              <c:numCache>
                <c:formatCode>General</c:formatCode>
                <c:ptCount val="4"/>
                <c:pt idx="0">
                  <c:v>0.43480000000000002</c:v>
                </c:pt>
                <c:pt idx="1">
                  <c:v>0.53120000000000001</c:v>
                </c:pt>
                <c:pt idx="2">
                  <c:v>0.55000000000000004</c:v>
                </c:pt>
                <c:pt idx="3">
                  <c:v>0.22720000000000001</c:v>
                </c:pt>
              </c:numCache>
            </c:numRef>
          </c:val>
          <c:extLst>
            <c:ext xmlns:c16="http://schemas.microsoft.com/office/drawing/2014/chart" uri="{C3380CC4-5D6E-409C-BE32-E72D297353CC}">
              <c16:uniqueId val="{00000000-99F2-48D2-9A03-69EA536CDD2A}"/>
            </c:ext>
          </c:extLst>
        </c:ser>
        <c:ser>
          <c:idx val="1"/>
          <c:order val="1"/>
          <c:tx>
            <c:strRef>
              <c:f>Sheet1!$C$1</c:f>
              <c:strCache>
                <c:ptCount val="1"/>
                <c:pt idx="0">
                  <c:v>PGD</c:v>
                </c:pt>
              </c:strCache>
            </c:strRef>
          </c:tx>
          <c:invertIfNegative val="1"/>
          <c:cat>
            <c:strRef>
              <c:f>Sheet1!$A$2:$A$5</c:f>
              <c:strCache>
                <c:ptCount val="4"/>
                <c:pt idx="0">
                  <c:v>Gốc</c:v>
                </c:pt>
                <c:pt idx="1">
                  <c:v>σ=0.1</c:v>
                </c:pt>
                <c:pt idx="2">
                  <c:v>σ=0.25</c:v>
                </c:pt>
                <c:pt idx="3">
                  <c:v>σ=0.5</c:v>
                </c:pt>
              </c:strCache>
            </c:strRef>
          </c:cat>
          <c:val>
            <c:numRef>
              <c:f>Sheet1!$C$2:$C$5</c:f>
              <c:numCache>
                <c:formatCode>General</c:formatCode>
                <c:ptCount val="4"/>
                <c:pt idx="0">
                  <c:v>9.3600000000000003E-2</c:v>
                </c:pt>
                <c:pt idx="1">
                  <c:v>0.2944</c:v>
                </c:pt>
                <c:pt idx="2">
                  <c:v>0.4894</c:v>
                </c:pt>
                <c:pt idx="3">
                  <c:v>0.21820000000000001</c:v>
                </c:pt>
              </c:numCache>
            </c:numRef>
          </c:val>
          <c:extLst>
            <c:ext xmlns:c16="http://schemas.microsoft.com/office/drawing/2014/chart" uri="{C3380CC4-5D6E-409C-BE32-E72D297353CC}">
              <c16:uniqueId val="{00000001-99F2-48D2-9A03-69EA536CDD2A}"/>
            </c:ext>
          </c:extLst>
        </c:ser>
        <c:ser>
          <c:idx val="2"/>
          <c:order val="2"/>
          <c:tx>
            <c:strRef>
              <c:f>Sheet1!$D$1</c:f>
              <c:strCache>
                <c:ptCount val="1"/>
                <c:pt idx="0">
                  <c:v>C&amp;W</c:v>
                </c:pt>
              </c:strCache>
            </c:strRef>
          </c:tx>
          <c:invertIfNegative val="1"/>
          <c:cat>
            <c:strRef>
              <c:f>Sheet1!$A$2:$A$5</c:f>
              <c:strCache>
                <c:ptCount val="4"/>
                <c:pt idx="0">
                  <c:v>Gốc</c:v>
                </c:pt>
                <c:pt idx="1">
                  <c:v>σ=0.1</c:v>
                </c:pt>
                <c:pt idx="2">
                  <c:v>σ=0.25</c:v>
                </c:pt>
                <c:pt idx="3">
                  <c:v>σ=0.5</c:v>
                </c:pt>
              </c:strCache>
            </c:strRef>
          </c:cat>
          <c:val>
            <c:numRef>
              <c:f>Sheet1!$D$2:$D$5</c:f>
              <c:numCache>
                <c:formatCode>General</c:formatCode>
                <c:ptCount val="4"/>
                <c:pt idx="0">
                  <c:v>0</c:v>
                </c:pt>
                <c:pt idx="1">
                  <c:v>0.56020000000000003</c:v>
                </c:pt>
                <c:pt idx="2">
                  <c:v>0.55600000000000005</c:v>
                </c:pt>
                <c:pt idx="3">
                  <c:v>0.223</c:v>
                </c:pt>
              </c:numCache>
            </c:numRef>
          </c:val>
          <c:extLst>
            <c:ext xmlns:c16="http://schemas.microsoft.com/office/drawing/2014/chart" uri="{C3380CC4-5D6E-409C-BE32-E72D297353CC}">
              <c16:uniqueId val="{00000002-99F2-48D2-9A03-69EA536CDD2A}"/>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legend>
      <c:legendPos val="b"/>
      <c:layout/>
      <c:overlay val="0"/>
      <c:txPr>
        <a:bodyPr/>
        <a:lstStyle/>
        <a:p>
          <a:pPr>
            <a:defRPr sz="9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a:pPr>
            <a:r>
              <a:rPr lang="en-US"/>
              <a:t>So sánh accuracy trước và sau adversarial training</a:t>
            </a:r>
          </a:p>
        </c:rich>
      </c:tx>
      <c:layout/>
      <c:overlay val="0"/>
    </c:title>
    <c:autoTitleDeleted val="0"/>
    <c:plotArea>
      <c:layout/>
      <c:barChart>
        <c:barDir val="col"/>
        <c:grouping val="clustered"/>
        <c:varyColors val="1"/>
        <c:ser>
          <c:idx val="0"/>
          <c:order val="0"/>
          <c:tx>
            <c:strRef>
              <c:f>Sheet1!$B$1</c:f>
              <c:strCache>
                <c:ptCount val="1"/>
                <c:pt idx="0">
                  <c:v>Mô hình gốc</c:v>
                </c:pt>
              </c:strCache>
            </c:strRef>
          </c:tx>
          <c:invertIfNegative val="1"/>
          <c:dLbls>
            <c:numFmt formatCode="0.00%" sourceLinked="0"/>
            <c:spPr>
              <a:noFill/>
              <a:ln>
                <a:noFill/>
              </a:ln>
              <a:effectLst/>
            </c:spPr>
            <c:txPr>
              <a:bodyPr wrap="square" lIns="38100" tIns="19050" rIns="38100" bIns="19050" anchor="ctr">
                <a:spAutoFit/>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Sheet1!$A$2:$A$5</c:f>
              <c:strCache>
                <c:ptCount val="4"/>
                <c:pt idx="0">
                  <c:v>Sạch</c:v>
                </c:pt>
                <c:pt idx="1">
                  <c:v>FGSM</c:v>
                </c:pt>
                <c:pt idx="2">
                  <c:v>PGD</c:v>
                </c:pt>
                <c:pt idx="3">
                  <c:v>C&amp;W</c:v>
                </c:pt>
              </c:strCache>
            </c:strRef>
          </c:cat>
          <c:val>
            <c:numRef>
              <c:f>Sheet1!$B$2:$B$5</c:f>
              <c:numCache>
                <c:formatCode>General</c:formatCode>
                <c:ptCount val="4"/>
                <c:pt idx="0">
                  <c:v>0.94540000000000002</c:v>
                </c:pt>
                <c:pt idx="1">
                  <c:v>0.43480000000000002</c:v>
                </c:pt>
                <c:pt idx="2">
                  <c:v>9.3600000000000003E-2</c:v>
                </c:pt>
                <c:pt idx="3">
                  <c:v>0</c:v>
                </c:pt>
              </c:numCache>
            </c:numRef>
          </c:val>
          <c:extLst>
            <c:ext xmlns:c16="http://schemas.microsoft.com/office/drawing/2014/chart" uri="{C3380CC4-5D6E-409C-BE32-E72D297353CC}">
              <c16:uniqueId val="{00000000-D438-4537-B05C-72A340D6212C}"/>
            </c:ext>
          </c:extLst>
        </c:ser>
        <c:ser>
          <c:idx val="1"/>
          <c:order val="1"/>
          <c:tx>
            <c:strRef>
              <c:f>Sheet1!$C$1</c:f>
              <c:strCache>
                <c:ptCount val="1"/>
                <c:pt idx="0">
                  <c:v>Mô hình mới</c:v>
                </c:pt>
              </c:strCache>
            </c:strRef>
          </c:tx>
          <c:invertIfNegative val="1"/>
          <c:dLbls>
            <c:numFmt formatCode="0.00%" sourceLinked="0"/>
            <c:spPr>
              <a:noFill/>
              <a:ln>
                <a:noFill/>
              </a:ln>
              <a:effectLst/>
            </c:spPr>
            <c:txPr>
              <a:bodyPr wrap="square" lIns="38100" tIns="19050" rIns="38100" bIns="19050" anchor="ctr">
                <a:spAutoFit/>
              </a:bodyPr>
              <a:lstStyle/>
              <a:p>
                <a:pPr>
                  <a:defRPr sz="10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Sheet1!$A$2:$A$5</c:f>
              <c:strCache>
                <c:ptCount val="4"/>
                <c:pt idx="0">
                  <c:v>Sạch</c:v>
                </c:pt>
                <c:pt idx="1">
                  <c:v>FGSM</c:v>
                </c:pt>
                <c:pt idx="2">
                  <c:v>PGD</c:v>
                </c:pt>
                <c:pt idx="3">
                  <c:v>C&amp;W</c:v>
                </c:pt>
              </c:strCache>
            </c:strRef>
          </c:cat>
          <c:val>
            <c:numRef>
              <c:f>Sheet1!$C$2:$C$5</c:f>
              <c:numCache>
                <c:formatCode>General</c:formatCode>
                <c:ptCount val="4"/>
                <c:pt idx="0">
                  <c:v>0.94240000000000002</c:v>
                </c:pt>
                <c:pt idx="1">
                  <c:v>0.94340000000000002</c:v>
                </c:pt>
                <c:pt idx="2">
                  <c:v>0.94720000000000004</c:v>
                </c:pt>
                <c:pt idx="3">
                  <c:v>0.9446</c:v>
                </c:pt>
              </c:numCache>
            </c:numRef>
          </c:val>
          <c:extLst>
            <c:ext xmlns:c16="http://schemas.microsoft.com/office/drawing/2014/chart" uri="{C3380CC4-5D6E-409C-BE32-E72D297353CC}">
              <c16:uniqueId val="{00000001-D438-4537-B05C-72A340D6212C}"/>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900"/>
            </a:pPr>
            <a:endParaRPr lang="en-US"/>
          </a:p>
        </c:txPr>
        <c:crossAx val="-2113994440"/>
        <c:crosses val="autoZero"/>
        <c:auto val="1"/>
        <c:lblAlgn val="ctr"/>
        <c:lblOffset val="100"/>
        <c:noMultiLvlLbl val="0"/>
      </c:catAx>
      <c:valAx>
        <c:axId val="-2113994440"/>
        <c:scaling>
          <c:orientation val="minMax"/>
          <c:max val="1"/>
          <c:min val="0"/>
        </c:scaling>
        <c:delete val="0"/>
        <c:axPos val="l"/>
        <c:majorGridlines/>
        <c:numFmt formatCode="0%" sourceLinked="0"/>
        <c:majorTickMark val="out"/>
        <c:minorTickMark val="none"/>
        <c:tickLblPos val="nextTo"/>
        <c:txPr>
          <a:bodyPr/>
          <a:lstStyle/>
          <a:p>
            <a:pPr>
              <a:defRPr sz="900"/>
            </a:pPr>
            <a:endParaRPr lang="en-US"/>
          </a:p>
        </c:txPr>
        <c:crossAx val="-2068027336"/>
        <c:crosses val="autoZero"/>
        <c:crossBetween val="between"/>
      </c:valAx>
    </c:plotArea>
    <c:legend>
      <c:legendPos val="b"/>
      <c:layout/>
      <c:overlay val="0"/>
      <c:txPr>
        <a:bodyPr/>
        <a:lstStyle/>
        <a:p>
          <a:pPr>
            <a:defRPr sz="900"/>
          </a:pPr>
          <a:endParaRPr lang="en-US"/>
        </a:p>
      </c:txPr>
    </c:legend>
    <c:plotVisOnly val="1"/>
    <c:dispBlanksAs val="gap"/>
    <c:showDLblsOverMax val="1"/>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Gốc</c:v>
                </c:pt>
              </c:strCache>
            </c:strRef>
          </c:tx>
          <c:spPr>
            <a:solidFill>
              <a:srgbClr val="555555"/>
            </a:solidFill>
            <a:effectLst/>
          </c:spPr>
          <c:invertIfNegative val="0"/>
          <c:dLbls>
            <c:numFmt formatCode="0.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Sheet1!$A$2:$A$4</c:f>
              <c:strCache>
                <c:ptCount val="3"/>
                <c:pt idx="0">
                  <c:v>FGSM</c:v>
                </c:pt>
                <c:pt idx="1">
                  <c:v>PGD</c:v>
                </c:pt>
                <c:pt idx="2">
                  <c:v>C&amp;W</c:v>
                </c:pt>
              </c:strCache>
            </c:strRef>
          </c:cat>
          <c:val>
            <c:numRef>
              <c:f>Sheet1!$B$2:$B$4</c:f>
              <c:numCache>
                <c:formatCode>0.00%</c:formatCode>
                <c:ptCount val="3"/>
                <c:pt idx="0">
                  <c:v>0.43480000000000002</c:v>
                </c:pt>
                <c:pt idx="1">
                  <c:v>9.3600000000000003E-2</c:v>
                </c:pt>
                <c:pt idx="2" formatCode="0%">
                  <c:v>0</c:v>
                </c:pt>
              </c:numCache>
            </c:numRef>
          </c:val>
          <c:extLst>
            <c:ext xmlns:c16="http://schemas.microsoft.com/office/drawing/2014/chart" uri="{C3380CC4-5D6E-409C-BE32-E72D297353CC}">
              <c16:uniqueId val="{00000000-3DD9-4355-8E00-CD16F8C53607}"/>
            </c:ext>
          </c:extLst>
        </c:ser>
        <c:ser>
          <c:idx val="1"/>
          <c:order val="1"/>
          <c:tx>
            <c:strRef>
              <c:f>Sheet1!$C$1</c:f>
              <c:strCache>
                <c:ptCount val="1"/>
                <c:pt idx="0">
                  <c:v>JPEG Q=75</c:v>
                </c:pt>
              </c:strCache>
            </c:strRef>
          </c:tx>
          <c:spPr>
            <a:solidFill>
              <a:srgbClr val="003B6D"/>
            </a:solidFill>
            <a:effectLst/>
          </c:spPr>
          <c:invertIfNegative val="0"/>
          <c:dLbls>
            <c:numFmt formatCode="0.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Sheet1!$A$2:$A$4</c:f>
              <c:strCache>
                <c:ptCount val="3"/>
                <c:pt idx="0">
                  <c:v>FGSM</c:v>
                </c:pt>
                <c:pt idx="1">
                  <c:v>PGD</c:v>
                </c:pt>
                <c:pt idx="2">
                  <c:v>C&amp;W</c:v>
                </c:pt>
              </c:strCache>
            </c:strRef>
          </c:cat>
          <c:val>
            <c:numRef>
              <c:f>Sheet1!$C$2:$C$4</c:f>
              <c:numCache>
                <c:formatCode>0.00%</c:formatCode>
                <c:ptCount val="3"/>
                <c:pt idx="0">
                  <c:v>0.74360000000000004</c:v>
                </c:pt>
                <c:pt idx="1">
                  <c:v>0.74539999999999995</c:v>
                </c:pt>
                <c:pt idx="2">
                  <c:v>0.7752</c:v>
                </c:pt>
              </c:numCache>
            </c:numRef>
          </c:val>
          <c:extLst>
            <c:ext xmlns:c16="http://schemas.microsoft.com/office/drawing/2014/chart" uri="{C3380CC4-5D6E-409C-BE32-E72D297353CC}">
              <c16:uniqueId val="{00000001-3DD9-4355-8E00-CD16F8C53607}"/>
            </c:ext>
          </c:extLst>
        </c:ser>
        <c:ser>
          <c:idx val="2"/>
          <c:order val="2"/>
          <c:tx>
            <c:strRef>
              <c:f>Sheet1!$D$1</c:f>
              <c:strCache>
                <c:ptCount val="1"/>
                <c:pt idx="0">
                  <c:v>Smoothing σ=0.25</c:v>
                </c:pt>
              </c:strCache>
            </c:strRef>
          </c:tx>
          <c:spPr>
            <a:solidFill>
              <a:srgbClr val="C91F35"/>
            </a:solidFill>
            <a:effectLst/>
          </c:spPr>
          <c:invertIfNegative val="0"/>
          <c:dLbls>
            <c:numFmt formatCode="0.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Sheet1!$A$2:$A$4</c:f>
              <c:strCache>
                <c:ptCount val="3"/>
                <c:pt idx="0">
                  <c:v>FGSM</c:v>
                </c:pt>
                <c:pt idx="1">
                  <c:v>PGD</c:v>
                </c:pt>
                <c:pt idx="2">
                  <c:v>C&amp;W</c:v>
                </c:pt>
              </c:strCache>
            </c:strRef>
          </c:cat>
          <c:val>
            <c:numRef>
              <c:f>Sheet1!$D$2:$D$4</c:f>
              <c:numCache>
                <c:formatCode>0.00%</c:formatCode>
                <c:ptCount val="3"/>
                <c:pt idx="0" formatCode="0%">
                  <c:v>0.55000000000000004</c:v>
                </c:pt>
                <c:pt idx="1">
                  <c:v>0.4894</c:v>
                </c:pt>
                <c:pt idx="2">
                  <c:v>0.55600000000000005</c:v>
                </c:pt>
              </c:numCache>
            </c:numRef>
          </c:val>
          <c:extLst>
            <c:ext xmlns:c16="http://schemas.microsoft.com/office/drawing/2014/chart" uri="{C3380CC4-5D6E-409C-BE32-E72D297353CC}">
              <c16:uniqueId val="{00000002-3DD9-4355-8E00-CD16F8C53607}"/>
            </c:ext>
          </c:extLst>
        </c:ser>
        <c:ser>
          <c:idx val="3"/>
          <c:order val="3"/>
          <c:tx>
            <c:strRef>
              <c:f>Sheet1!$E$1</c:f>
              <c:strCache>
                <c:ptCount val="1"/>
                <c:pt idx="0">
                  <c:v>Adv. Training</c:v>
                </c:pt>
              </c:strCache>
            </c:strRef>
          </c:tx>
          <c:spPr>
            <a:solidFill>
              <a:srgbClr val="2E7D32"/>
            </a:solidFill>
            <a:effectLst/>
          </c:spPr>
          <c:invertIfNegative val="0"/>
          <c:dLbls>
            <c:numFmt formatCode="0.00%" sourceLinked="0"/>
            <c:spPr>
              <a:noFill/>
              <a:ln>
                <a:noFill/>
              </a:ln>
              <a:effectLst/>
            </c:sp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1"/>
              </c:ext>
            </c:extLst>
          </c:dLbls>
          <c:cat>
            <c:strRef>
              <c:f>Sheet1!$A$2:$A$4</c:f>
              <c:strCache>
                <c:ptCount val="3"/>
                <c:pt idx="0">
                  <c:v>FGSM</c:v>
                </c:pt>
                <c:pt idx="1">
                  <c:v>PGD</c:v>
                </c:pt>
                <c:pt idx="2">
                  <c:v>C&amp;W</c:v>
                </c:pt>
              </c:strCache>
            </c:strRef>
          </c:cat>
          <c:val>
            <c:numRef>
              <c:f>Sheet1!$E$2:$E$4</c:f>
              <c:numCache>
                <c:formatCode>0.00%</c:formatCode>
                <c:ptCount val="3"/>
                <c:pt idx="0">
                  <c:v>0.94340000000000002</c:v>
                </c:pt>
                <c:pt idx="1">
                  <c:v>0.94720000000000004</c:v>
                </c:pt>
                <c:pt idx="2">
                  <c:v>0.9446</c:v>
                </c:pt>
              </c:numCache>
            </c:numRef>
          </c:val>
          <c:extLst>
            <c:ext xmlns:c16="http://schemas.microsoft.com/office/drawing/2014/chart" uri="{C3380CC4-5D6E-409C-BE32-E72D297353CC}">
              <c16:uniqueId val="{00000003-3DD9-4355-8E00-CD16F8C53607}"/>
            </c:ext>
          </c:extLst>
        </c:ser>
        <c:dLbls>
          <c:dLblPos val="outEnd"/>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000000"/>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layout/>
      <c:overlay val="0"/>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224815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Mở đầu: mục tiêu là đánh giá mô hình phân loại ảnh có dễ bị adversarial attack không, và phương pháp defense nào hiệu quả nhất.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469030-FC11-03BC-E89A-3B7E3102B2A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49408A-A87F-11FC-D54A-2F118E9498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EA8034-AC81-2B80-7626-EBC1526CD75A}"/>
              </a:ext>
            </a:extLst>
          </p:cNvPr>
          <p:cNvSpPr>
            <a:spLocks noGrp="1"/>
          </p:cNvSpPr>
          <p:nvPr>
            <p:ph type="body" idx="1"/>
          </p:nvPr>
        </p:nvSpPr>
        <p:spPr/>
        <p:txBody>
          <a:bodyPr/>
          <a:lstStyle/>
          <a:p>
            <a:r>
              <a:rPr lang="en-US" dirty="0"/>
              <a:t>Nói nhanh bối cảnh: AI đáng tin cậy không chỉ cần accuracy cao, mà phải ổn định trước dữ liệu đầu vào bị nhiễu có chủ đích.</a:t>
            </a:r>
          </a:p>
        </p:txBody>
      </p:sp>
      <p:sp>
        <p:nvSpPr>
          <p:cNvPr id="4" name="Slide Number Placeholder 3">
            <a:extLst>
              <a:ext uri="{FF2B5EF4-FFF2-40B4-BE49-F238E27FC236}">
                <a16:creationId xmlns:a16="http://schemas.microsoft.com/office/drawing/2014/main" id="{6EA878ED-C096-A393-8916-E792334C36D9}"/>
              </a:ext>
            </a:extLst>
          </p:cNvPr>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453893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nhanh bối cảnh: AI đáng tin cậy không chỉ cần accuracy cao, mà phải ổn định trước dữ liệu đầu vào bị nhiễu có chủ đích.</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79B4F4-1231-BE4D-1E85-A018A3B1030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85FB035-F72D-5618-8B40-395DB9CE43D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D622EB-9338-7AE2-35B1-E54B83E4D5EF}"/>
              </a:ext>
            </a:extLst>
          </p:cNvPr>
          <p:cNvSpPr>
            <a:spLocks noGrp="1"/>
          </p:cNvSpPr>
          <p:nvPr>
            <p:ph type="body" idx="1"/>
          </p:nvPr>
        </p:nvSpPr>
        <p:spPr/>
        <p:txBody>
          <a:bodyPr/>
          <a:lstStyle/>
          <a:p>
            <a:r>
              <a:rPr lang="en-US" dirty="0"/>
              <a:t>Nói nhanh bối cảnh: AI đáng tin cậy không chỉ cần accuracy cao, mà phải ổn định trước dữ liệu đầu vào bị nhiễu có chủ đích.</a:t>
            </a:r>
          </a:p>
        </p:txBody>
      </p:sp>
      <p:sp>
        <p:nvSpPr>
          <p:cNvPr id="4" name="Slide Number Placeholder 3">
            <a:extLst>
              <a:ext uri="{FF2B5EF4-FFF2-40B4-BE49-F238E27FC236}">
                <a16:creationId xmlns:a16="http://schemas.microsoft.com/office/drawing/2014/main" id="{41B55981-EB90-F5DF-F0CD-91A4185143E4}"/>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51147534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Giải thích luồng thí nghiệm: xây baseline tốt rồi mới attack; sau đó thử defense để xem khả năng phục hồi.</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nói: baseline có kết quả tốt, đủ làm nền để kiểm tra robustness.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nói: baseline có kết quả tốt, đủ làm nền để kiểm tra robustness.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63435450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ngắn ba attack: FGSM nhanh, PGD mạnh hơn vì lặp, C&amp;W mạnh nhưng tốn thời gian.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Giới thiệu ngắn ba attack: FGSM nhanh, PGD mạnh hơn vì lặp, C&amp;W mạnh nhưng tốn thời gian.</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42444460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con số chính: Clean 94.54, FGSM còn 43.48, PGD còn 9.36, C&amp;W 0. Nhấn mạnh lỗ hổng robustness.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này chỉ cần giải thích 3 hướng defense và lý do thử theo thứ tự từ nhẹ đến mạnh.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trọng tâm: JPEG giúp khá nhiều, Smoothing trung bình, Adversarial Training tốt nhất trong thí nghiệm.</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Nói phần đánh đổi: nếu cần nhanh thì JPEG tốt; nếu ưu tiên robustness thì Adversarial Training phù hợp hơn.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bài: nhấn mạnh accuracy clean không đủ, robustness là tiêu chí quan trọng trong AI đáng tin cậy.</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Kết thúc và mời câu hỏi.</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1.xml"/><Relationship Id="rId5" Type="http://schemas.openxmlformats.org/officeDocument/2006/relationships/image" Target="../media/image10.png"/><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chart" Target="../charts/chart1.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chart" Target="../charts/chart5.xml"/></Relationships>
</file>

<file path=ppt/slides/_rels/slide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pic>
        <p:nvPicPr>
          <p:cNvPr id="2" name="Image 0" descr="/mnt/data/pptx_unzip/ppt/media/image2.png"/>
          <p:cNvPicPr>
            <a:picLocks noChangeAspect="1"/>
          </p:cNvPicPr>
          <p:nvPr/>
        </p:nvPicPr>
        <p:blipFill>
          <a:blip r:embed="rId3"/>
          <a:stretch>
            <a:fillRect/>
          </a:stretch>
        </p:blipFill>
        <p:spPr>
          <a:xfrm>
            <a:off x="0" y="0"/>
            <a:ext cx="12191695" cy="6858000"/>
          </a:xfrm>
          <a:prstGeom prst="rect">
            <a:avLst/>
          </a:prstGeom>
        </p:spPr>
      </p:pic>
      <p:pic>
        <p:nvPicPr>
          <p:cNvPr id="3" name="Image 1" descr="/mnt/data/pptx_unzip/ppt/media/image3.png"/>
          <p:cNvPicPr>
            <a:picLocks noChangeAspect="1"/>
          </p:cNvPicPr>
          <p:nvPr/>
        </p:nvPicPr>
        <p:blipFill>
          <a:blip r:embed="rId4"/>
          <a:stretch>
            <a:fillRect/>
          </a:stretch>
        </p:blipFill>
        <p:spPr>
          <a:xfrm>
            <a:off x="384048" y="292608"/>
            <a:ext cx="3703320" cy="1115568"/>
          </a:xfrm>
          <a:prstGeom prst="rect">
            <a:avLst/>
          </a:prstGeom>
        </p:spPr>
      </p:pic>
      <p:sp>
        <p:nvSpPr>
          <p:cNvPr id="4" name="Text 0"/>
          <p:cNvSpPr/>
          <p:nvPr/>
        </p:nvSpPr>
        <p:spPr>
          <a:xfrm>
            <a:off x="384048" y="2176272"/>
            <a:ext cx="7589520" cy="841248"/>
          </a:xfrm>
          <a:prstGeom prst="rect">
            <a:avLst/>
          </a:prstGeom>
          <a:noFill/>
          <a:ln/>
        </p:spPr>
        <p:txBody>
          <a:bodyPr wrap="square" lIns="254" tIns="254" rIns="254" bIns="254" rtlCol="0" anchor="ctr">
            <a:normAutofit/>
          </a:bodyPr>
          <a:lstStyle/>
          <a:p>
            <a:pPr marL="0" indent="0">
              <a:buNone/>
            </a:pPr>
            <a:r>
              <a:rPr lang="en-US" sz="2200" b="1" dirty="0">
                <a:solidFill>
                  <a:srgbClr val="C91F35"/>
                </a:solidFill>
                <a:latin typeface="Arial" pitchFamily="34" charset="0"/>
                <a:ea typeface="Arial" pitchFamily="34" charset="-122"/>
                <a:cs typeface="Arial" pitchFamily="34" charset="-120"/>
              </a:rPr>
              <a:t>TẤN CÔNG VÀ PHÒNG THỦ ĐỐI KHÁNG</a:t>
            </a:r>
            <a:endParaRPr lang="en-US" sz="2200" dirty="0"/>
          </a:p>
          <a:p>
            <a:pPr marL="0" indent="0">
              <a:buNone/>
            </a:pPr>
            <a:r>
              <a:rPr lang="en-US" sz="2200" b="1" dirty="0">
                <a:solidFill>
                  <a:srgbClr val="C91F35"/>
                </a:solidFill>
                <a:latin typeface="Arial" pitchFamily="34" charset="0"/>
                <a:ea typeface="Arial" pitchFamily="34" charset="-122"/>
                <a:cs typeface="Arial" pitchFamily="34" charset="-120"/>
              </a:rPr>
              <a:t>TRÊN MÔ HÌNH PHÂN LOẠI ẢNH</a:t>
            </a:r>
            <a:endParaRPr lang="en-US" sz="2200" dirty="0"/>
          </a:p>
        </p:txBody>
      </p:sp>
      <p:sp>
        <p:nvSpPr>
          <p:cNvPr id="5" name="Text 1"/>
          <p:cNvSpPr/>
          <p:nvPr/>
        </p:nvSpPr>
        <p:spPr>
          <a:xfrm>
            <a:off x="393192" y="2990088"/>
            <a:ext cx="7132320" cy="310896"/>
          </a:xfrm>
          <a:prstGeom prst="rect">
            <a:avLst/>
          </a:prstGeom>
          <a:noFill/>
          <a:ln/>
        </p:spPr>
        <p:txBody>
          <a:bodyPr wrap="square" lIns="254" tIns="254" rIns="254" bIns="254" rtlCol="0" anchor="ctr">
            <a:normAutofit/>
          </a:bodyPr>
          <a:lstStyle/>
          <a:p>
            <a:pPr marL="0" indent="0">
              <a:buNone/>
            </a:pPr>
            <a:r>
              <a:rPr lang="en-US" sz="1800" dirty="0">
                <a:solidFill>
                  <a:srgbClr val="C91F35"/>
                </a:solidFill>
                <a:latin typeface="Arial" pitchFamily="34" charset="0"/>
                <a:ea typeface="Arial" pitchFamily="34" charset="-122"/>
                <a:cs typeface="Arial" pitchFamily="34" charset="-120"/>
              </a:rPr>
              <a:t>Adversarial Attack &amp; Defense on Image Classifiers</a:t>
            </a:r>
            <a:endParaRPr lang="en-US" sz="1800" dirty="0"/>
          </a:p>
        </p:txBody>
      </p:sp>
      <p:sp>
        <p:nvSpPr>
          <p:cNvPr id="6" name="Text 2"/>
          <p:cNvSpPr/>
          <p:nvPr/>
        </p:nvSpPr>
        <p:spPr>
          <a:xfrm>
            <a:off x="393192" y="3977640"/>
            <a:ext cx="1828800" cy="256032"/>
          </a:xfrm>
          <a:prstGeom prst="rect">
            <a:avLst/>
          </a:prstGeom>
          <a:noFill/>
          <a:ln/>
        </p:spPr>
        <p:txBody>
          <a:bodyPr wrap="square" lIns="254" tIns="254" rIns="254" bIns="254" rtlCol="0" anchor="ctr"/>
          <a:lstStyle/>
          <a:p>
            <a:pPr marL="0" indent="0">
              <a:buNone/>
            </a:pPr>
            <a:r>
              <a:rPr lang="en-US" sz="1600" dirty="0">
                <a:solidFill>
                  <a:srgbClr val="C91F35"/>
                </a:solidFill>
                <a:latin typeface="Arial" pitchFamily="34" charset="0"/>
                <a:ea typeface="Arial" pitchFamily="34" charset="-122"/>
                <a:cs typeface="Arial" pitchFamily="34" charset="-120"/>
              </a:rPr>
              <a:t>Nhóm 14</a:t>
            </a:r>
            <a:endParaRPr lang="en-US" sz="1600" dirty="0"/>
          </a:p>
        </p:txBody>
      </p:sp>
      <p:sp>
        <p:nvSpPr>
          <p:cNvPr id="7" name="Text 3"/>
          <p:cNvSpPr/>
          <p:nvPr/>
        </p:nvSpPr>
        <p:spPr>
          <a:xfrm>
            <a:off x="393192" y="4370832"/>
            <a:ext cx="6035040" cy="1078992"/>
          </a:xfrm>
          <a:prstGeom prst="rect">
            <a:avLst/>
          </a:prstGeom>
          <a:noFill/>
          <a:ln/>
        </p:spPr>
        <p:txBody>
          <a:bodyPr wrap="square" lIns="254" tIns="254" rIns="254" bIns="254" rtlCol="0" anchor="ctr">
            <a:normAutofit/>
          </a:bodyPr>
          <a:lstStyle/>
          <a:p>
            <a:pPr marL="0" indent="0">
              <a:buNone/>
            </a:pPr>
            <a:r>
              <a:rPr lang="en-US" sz="1250" dirty="0">
                <a:solidFill>
                  <a:srgbClr val="C91F35"/>
                </a:solidFill>
                <a:latin typeface="Arial" pitchFamily="34" charset="0"/>
                <a:ea typeface="Arial" pitchFamily="34" charset="-122"/>
                <a:cs typeface="Arial" pitchFamily="34" charset="-120"/>
              </a:rPr>
              <a:t>Nguyễn Văn Đức – 20252608M</a:t>
            </a:r>
            <a:endParaRPr lang="en-US" sz="1250" dirty="0"/>
          </a:p>
          <a:p>
            <a:pPr marL="0" indent="0">
              <a:buNone/>
            </a:pPr>
            <a:r>
              <a:rPr lang="en-US" sz="1250" dirty="0">
                <a:solidFill>
                  <a:srgbClr val="C91F35"/>
                </a:solidFill>
                <a:latin typeface="Arial" pitchFamily="34" charset="0"/>
                <a:ea typeface="Arial" pitchFamily="34" charset="-122"/>
                <a:cs typeface="Arial" pitchFamily="34" charset="-120"/>
              </a:rPr>
              <a:t>Phạm Duy Trường – 20252254M</a:t>
            </a:r>
            <a:endParaRPr lang="en-US" sz="1250" dirty="0"/>
          </a:p>
          <a:p>
            <a:pPr marL="0" indent="0">
              <a:buNone/>
            </a:pPr>
            <a:r>
              <a:rPr lang="en-US" sz="1250" dirty="0">
                <a:solidFill>
                  <a:srgbClr val="C91F35"/>
                </a:solidFill>
                <a:latin typeface="Arial" pitchFamily="34" charset="0"/>
                <a:ea typeface="Arial" pitchFamily="34" charset="-122"/>
                <a:cs typeface="Arial" pitchFamily="34" charset="-120"/>
              </a:rPr>
              <a:t>Phạm Gia Khiêm – 20252133M</a:t>
            </a:r>
            <a:endParaRPr lang="en-US" sz="1250" dirty="0"/>
          </a:p>
          <a:p>
            <a:pPr marL="0" indent="0">
              <a:buNone/>
            </a:pPr>
            <a:r>
              <a:rPr lang="en-US" sz="1250" dirty="0">
                <a:solidFill>
                  <a:srgbClr val="C91F35"/>
                </a:solidFill>
                <a:latin typeface="Arial" pitchFamily="34" charset="0"/>
                <a:ea typeface="Arial" pitchFamily="34" charset="-122"/>
                <a:cs typeface="Arial" pitchFamily="34" charset="-120"/>
              </a:rPr>
              <a:t>Trần Anh Vũ – 20252735M</a:t>
            </a:r>
            <a:endParaRPr lang="en-US" sz="1250" dirty="0"/>
          </a:p>
          <a:p>
            <a:pPr marL="0" indent="0">
              <a:buNone/>
            </a:pPr>
            <a:r>
              <a:rPr lang="en-US" sz="1250" dirty="0">
                <a:solidFill>
                  <a:srgbClr val="C91F35"/>
                </a:solidFill>
                <a:latin typeface="Arial" pitchFamily="34" charset="0"/>
                <a:ea typeface="Arial" pitchFamily="34" charset="-122"/>
                <a:cs typeface="Arial" pitchFamily="34" charset="-120"/>
              </a:rPr>
              <a:t>Nguyễn Huy Tuyển – 20252136M</a:t>
            </a:r>
            <a:endParaRPr lang="en-US" sz="1250" dirty="0"/>
          </a:p>
        </p:txBody>
      </p:sp>
      <p:sp>
        <p:nvSpPr>
          <p:cNvPr id="8" name="Text 4"/>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1</a:t>
            </a:r>
            <a:endParaRPr lang="en-US" sz="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27F029-805A-7328-30D7-9653F0A6EFC7}"/>
            </a:ext>
          </a:extLst>
        </p:cNvPr>
        <p:cNvGrpSpPr/>
        <p:nvPr/>
      </p:nvGrpSpPr>
      <p:grpSpPr>
        <a:xfrm>
          <a:off x="0" y="0"/>
          <a:ext cx="0" cy="0"/>
          <a:chOff x="0" y="0"/>
          <a:chExt cx="0" cy="0"/>
        </a:xfrm>
      </p:grpSpPr>
      <p:pic>
        <p:nvPicPr>
          <p:cNvPr id="2" name="Image 0" descr="/mnt/data/pptx_unzip/ppt/media/image4.png">
            <a:extLst>
              <a:ext uri="{FF2B5EF4-FFF2-40B4-BE49-F238E27FC236}">
                <a16:creationId xmlns:a16="http://schemas.microsoft.com/office/drawing/2014/main" id="{5ECD09CC-010E-C938-40D5-8410CFF3F1A7}"/>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D3808AED-5DB8-7C21-6EAA-984DFDF0C627}"/>
              </a:ext>
            </a:extLst>
          </p:cNvPr>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2</a:t>
            </a:r>
            <a:endParaRPr lang="en-US" sz="600" dirty="0"/>
          </a:p>
        </p:txBody>
      </p:sp>
      <p:sp>
        <p:nvSpPr>
          <p:cNvPr id="4" name="Text 1">
            <a:extLst>
              <a:ext uri="{FF2B5EF4-FFF2-40B4-BE49-F238E27FC236}">
                <a16:creationId xmlns:a16="http://schemas.microsoft.com/office/drawing/2014/main" id="{50B486B5-29D2-84B4-FA8B-FEAF304D763C}"/>
              </a:ext>
            </a:extLst>
          </p:cNvPr>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a:solidFill>
                  <a:srgbClr val="FFFFFF"/>
                </a:solidFill>
                <a:latin typeface="Arial" pitchFamily="34" charset="0"/>
                <a:ea typeface="Arial" pitchFamily="34" charset="-122"/>
                <a:cs typeface="Arial" pitchFamily="34" charset="-120"/>
              </a:rPr>
              <a:t>1. Lý do </a:t>
            </a:r>
            <a:r>
              <a:rPr lang="en-US" sz="2000" b="1" dirty="0" err="1">
                <a:solidFill>
                  <a:srgbClr val="FFFFFF"/>
                </a:solidFill>
                <a:latin typeface="Arial" pitchFamily="34" charset="0"/>
                <a:ea typeface="Arial" pitchFamily="34" charset="-122"/>
                <a:cs typeface="Arial" pitchFamily="34" charset="-120"/>
              </a:rPr>
              <a:t>chọn</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đề</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tài</a:t>
            </a:r>
            <a:endParaRPr lang="en-US" sz="2000" dirty="0"/>
          </a:p>
        </p:txBody>
      </p:sp>
      <p:sp>
        <p:nvSpPr>
          <p:cNvPr id="7" name="Shape 4">
            <a:extLst>
              <a:ext uri="{FF2B5EF4-FFF2-40B4-BE49-F238E27FC236}">
                <a16:creationId xmlns:a16="http://schemas.microsoft.com/office/drawing/2014/main" id="{4A330311-543B-06D2-AE78-7F531F05E375}"/>
              </a:ext>
            </a:extLst>
          </p:cNvPr>
          <p:cNvSpPr/>
          <p:nvPr/>
        </p:nvSpPr>
        <p:spPr>
          <a:xfrm>
            <a:off x="6464808" y="1261872"/>
            <a:ext cx="4663440" cy="1417320"/>
          </a:xfrm>
          <a:prstGeom prst="roundRect">
            <a:avLst>
              <a:gd name="adj" fmla="val 5161"/>
            </a:avLst>
          </a:prstGeom>
          <a:solidFill>
            <a:srgbClr val="FFFFFF"/>
          </a:solidFill>
          <a:ln w="10160">
            <a:solidFill>
              <a:srgbClr val="D8D8D8"/>
            </a:solidFill>
            <a:prstDash val="solid"/>
          </a:ln>
        </p:spPr>
        <p:txBody>
          <a:bodyPr/>
          <a:lstStyle/>
          <a:p>
            <a:endParaRPr dirty="0"/>
          </a:p>
        </p:txBody>
      </p:sp>
      <p:sp>
        <p:nvSpPr>
          <p:cNvPr id="8" name="Shape 5">
            <a:extLst>
              <a:ext uri="{FF2B5EF4-FFF2-40B4-BE49-F238E27FC236}">
                <a16:creationId xmlns:a16="http://schemas.microsoft.com/office/drawing/2014/main" id="{761EFB84-B18F-1FA5-38AD-3A0B2B74E211}"/>
              </a:ext>
            </a:extLst>
          </p:cNvPr>
          <p:cNvSpPr/>
          <p:nvPr/>
        </p:nvSpPr>
        <p:spPr>
          <a:xfrm>
            <a:off x="6464808" y="1261872"/>
            <a:ext cx="73152" cy="1417320"/>
          </a:xfrm>
          <a:prstGeom prst="rect">
            <a:avLst/>
          </a:prstGeom>
          <a:solidFill>
            <a:srgbClr val="003B6D"/>
          </a:solidFill>
          <a:ln w="12700">
            <a:solidFill>
              <a:srgbClr val="003B6D"/>
            </a:solidFill>
            <a:prstDash val="solid"/>
          </a:ln>
        </p:spPr>
        <p:txBody>
          <a:bodyPr/>
          <a:lstStyle/>
          <a:p>
            <a:endParaRPr/>
          </a:p>
        </p:txBody>
      </p:sp>
      <p:sp>
        <p:nvSpPr>
          <p:cNvPr id="9" name="Text 6">
            <a:extLst>
              <a:ext uri="{FF2B5EF4-FFF2-40B4-BE49-F238E27FC236}">
                <a16:creationId xmlns:a16="http://schemas.microsoft.com/office/drawing/2014/main" id="{4B44B511-D199-54F0-923B-9BC2E72708E3}"/>
              </a:ext>
            </a:extLst>
          </p:cNvPr>
          <p:cNvSpPr/>
          <p:nvPr/>
        </p:nvSpPr>
        <p:spPr>
          <a:xfrm>
            <a:off x="6629400" y="1371600"/>
            <a:ext cx="4370832" cy="256032"/>
          </a:xfrm>
          <a:prstGeom prst="rect">
            <a:avLst/>
          </a:prstGeom>
          <a:noFill/>
          <a:ln/>
        </p:spPr>
        <p:txBody>
          <a:bodyPr wrap="square" lIns="254" tIns="254" rIns="254" bIns="254" rtlCol="0" anchor="ctr"/>
          <a:lstStyle/>
          <a:p>
            <a:pPr>
              <a:lnSpc>
                <a:spcPts val="2208"/>
              </a:lnSpc>
            </a:pPr>
            <a:r>
              <a:rPr lang="en-US" sz="1400" b="1" dirty="0"/>
              <a:t>Tính </a:t>
            </a:r>
            <a:r>
              <a:rPr lang="en-US" sz="1400" b="1" dirty="0" err="1"/>
              <a:t>cấp</a:t>
            </a:r>
            <a:r>
              <a:rPr lang="en-US" sz="1400" b="1" dirty="0"/>
              <a:t> </a:t>
            </a:r>
            <a:r>
              <a:rPr lang="en-US" sz="1400" b="1" dirty="0" err="1"/>
              <a:t>thiết</a:t>
            </a:r>
            <a:r>
              <a:rPr lang="en-US" sz="1400" b="1" dirty="0"/>
              <a:t> </a:t>
            </a:r>
            <a:r>
              <a:rPr lang="en-US" sz="1400" b="1" dirty="0" err="1"/>
              <a:t>trong</a:t>
            </a:r>
            <a:r>
              <a:rPr lang="en-US" sz="1400" b="1" dirty="0"/>
              <a:t> </a:t>
            </a:r>
            <a:r>
              <a:rPr lang="en-US" sz="1400" b="1" dirty="0" err="1"/>
              <a:t>thực</a:t>
            </a:r>
            <a:r>
              <a:rPr lang="en-US" sz="1400" b="1" dirty="0"/>
              <a:t> </a:t>
            </a:r>
            <a:r>
              <a:rPr lang="en-US" sz="1400" b="1" dirty="0" err="1"/>
              <a:t>tế</a:t>
            </a:r>
            <a:r>
              <a:rPr lang="en-US" sz="1400" b="1" dirty="0"/>
              <a:t> (Real-world Urgency)</a:t>
            </a:r>
            <a:endParaRPr lang="en-US" sz="1100" b="1" dirty="0">
              <a:cs typeface="Epilogue" pitchFamily="34" charset="-120"/>
            </a:endParaRPr>
          </a:p>
        </p:txBody>
      </p:sp>
      <p:sp>
        <p:nvSpPr>
          <p:cNvPr id="10" name="Text 7">
            <a:extLst>
              <a:ext uri="{FF2B5EF4-FFF2-40B4-BE49-F238E27FC236}">
                <a16:creationId xmlns:a16="http://schemas.microsoft.com/office/drawing/2014/main" id="{5E1DCFD3-48D1-C025-B64E-A88E71467C66}"/>
              </a:ext>
            </a:extLst>
          </p:cNvPr>
          <p:cNvSpPr/>
          <p:nvPr/>
        </p:nvSpPr>
        <p:spPr>
          <a:xfrm>
            <a:off x="6629400" y="1700784"/>
            <a:ext cx="4370832" cy="914400"/>
          </a:xfrm>
          <a:prstGeom prst="rect">
            <a:avLst/>
          </a:prstGeom>
          <a:noFill/>
          <a:ln/>
        </p:spPr>
        <p:txBody>
          <a:bodyPr wrap="square" lIns="254" tIns="254" rIns="254" bIns="254" rtlCol="0" anchor="ctr">
            <a:normAutofit/>
          </a:bodyPr>
          <a:lstStyle/>
          <a:p>
            <a:pPr marL="0" indent="0">
              <a:buNone/>
            </a:pPr>
            <a:endParaRPr lang="en-US" sz="1250" dirty="0"/>
          </a:p>
        </p:txBody>
      </p:sp>
      <p:sp>
        <p:nvSpPr>
          <p:cNvPr id="11" name="Shape 8">
            <a:extLst>
              <a:ext uri="{FF2B5EF4-FFF2-40B4-BE49-F238E27FC236}">
                <a16:creationId xmlns:a16="http://schemas.microsoft.com/office/drawing/2014/main" id="{C23ACEEC-4CDB-4F6B-8921-06C76FFAA12D}"/>
              </a:ext>
            </a:extLst>
          </p:cNvPr>
          <p:cNvSpPr/>
          <p:nvPr/>
        </p:nvSpPr>
        <p:spPr>
          <a:xfrm>
            <a:off x="6464808" y="2953512"/>
            <a:ext cx="4663440" cy="1216152"/>
          </a:xfrm>
          <a:prstGeom prst="roundRect">
            <a:avLst>
              <a:gd name="adj" fmla="val 6780"/>
            </a:avLst>
          </a:prstGeom>
          <a:solidFill>
            <a:srgbClr val="FFFFFF"/>
          </a:solidFill>
          <a:ln w="10160">
            <a:solidFill>
              <a:srgbClr val="D8D8D8"/>
            </a:solidFill>
            <a:prstDash val="solid"/>
          </a:ln>
        </p:spPr>
        <p:txBody>
          <a:bodyPr/>
          <a:lstStyle/>
          <a:p>
            <a:endParaRPr/>
          </a:p>
        </p:txBody>
      </p:sp>
      <p:sp>
        <p:nvSpPr>
          <p:cNvPr id="12" name="Shape 9">
            <a:extLst>
              <a:ext uri="{FF2B5EF4-FFF2-40B4-BE49-F238E27FC236}">
                <a16:creationId xmlns:a16="http://schemas.microsoft.com/office/drawing/2014/main" id="{E381D124-BE92-B812-6164-41087F19A355}"/>
              </a:ext>
            </a:extLst>
          </p:cNvPr>
          <p:cNvSpPr/>
          <p:nvPr/>
        </p:nvSpPr>
        <p:spPr>
          <a:xfrm>
            <a:off x="6464808" y="2953511"/>
            <a:ext cx="73152" cy="1225297"/>
          </a:xfrm>
          <a:prstGeom prst="rect">
            <a:avLst/>
          </a:prstGeom>
          <a:solidFill>
            <a:srgbClr val="C91F35"/>
          </a:solidFill>
          <a:ln w="12700">
            <a:solidFill>
              <a:srgbClr val="C91F35"/>
            </a:solidFill>
            <a:prstDash val="solid"/>
          </a:ln>
        </p:spPr>
        <p:txBody>
          <a:bodyPr/>
          <a:lstStyle/>
          <a:p>
            <a:endParaRPr/>
          </a:p>
        </p:txBody>
      </p:sp>
      <p:sp>
        <p:nvSpPr>
          <p:cNvPr id="13" name="Text 10">
            <a:extLst>
              <a:ext uri="{FF2B5EF4-FFF2-40B4-BE49-F238E27FC236}">
                <a16:creationId xmlns:a16="http://schemas.microsoft.com/office/drawing/2014/main" id="{EFD6BA1E-8010-C0EA-E421-0740C5197AC2}"/>
              </a:ext>
            </a:extLst>
          </p:cNvPr>
          <p:cNvSpPr/>
          <p:nvPr/>
        </p:nvSpPr>
        <p:spPr>
          <a:xfrm>
            <a:off x="6629400" y="3063240"/>
            <a:ext cx="4370832" cy="256032"/>
          </a:xfrm>
          <a:prstGeom prst="rect">
            <a:avLst/>
          </a:prstGeom>
          <a:noFill/>
          <a:ln/>
        </p:spPr>
        <p:txBody>
          <a:bodyPr wrap="square" lIns="254" tIns="254" rIns="254" bIns="254" rtlCol="0" anchor="ctr"/>
          <a:lstStyle/>
          <a:p>
            <a:r>
              <a:rPr lang="en-US" sz="1400" b="1" dirty="0"/>
              <a:t>Đáp </a:t>
            </a:r>
            <a:r>
              <a:rPr lang="en-US" sz="1400" b="1" dirty="0" err="1"/>
              <a:t>ứng</a:t>
            </a:r>
            <a:r>
              <a:rPr lang="en-US" sz="1400" b="1" dirty="0"/>
              <a:t> </a:t>
            </a:r>
            <a:r>
              <a:rPr lang="en-US" sz="1400" b="1" dirty="0" err="1"/>
              <a:t>cốt</a:t>
            </a:r>
            <a:r>
              <a:rPr lang="en-US" sz="1400" b="1" dirty="0"/>
              <a:t> </a:t>
            </a:r>
            <a:r>
              <a:rPr lang="en-US" sz="1400" b="1" dirty="0" err="1"/>
              <a:t>lõi</a:t>
            </a:r>
            <a:r>
              <a:rPr lang="en-US" sz="1400" b="1" dirty="0"/>
              <a:t> (Trustworthy AI)</a:t>
            </a:r>
            <a:endParaRPr lang="en-US" sz="1400" dirty="0"/>
          </a:p>
        </p:txBody>
      </p:sp>
      <p:sp>
        <p:nvSpPr>
          <p:cNvPr id="14" name="Text 11">
            <a:extLst>
              <a:ext uri="{FF2B5EF4-FFF2-40B4-BE49-F238E27FC236}">
                <a16:creationId xmlns:a16="http://schemas.microsoft.com/office/drawing/2014/main" id="{B00E6169-23A9-5DE9-4519-B6D4222FE533}"/>
              </a:ext>
            </a:extLst>
          </p:cNvPr>
          <p:cNvSpPr/>
          <p:nvPr/>
        </p:nvSpPr>
        <p:spPr>
          <a:xfrm>
            <a:off x="6611112" y="3497580"/>
            <a:ext cx="4370832" cy="576072"/>
          </a:xfrm>
          <a:prstGeom prst="rect">
            <a:avLst/>
          </a:prstGeom>
          <a:noFill/>
          <a:ln/>
        </p:spPr>
        <p:txBody>
          <a:bodyPr wrap="square" lIns="254" tIns="254" rIns="254" bIns="254" rtlCol="0" anchor="ctr">
            <a:noAutofit/>
          </a:bodyPr>
          <a:lstStyle/>
          <a:p>
            <a:pPr marL="171450" indent="-171450">
              <a:buFont typeface="Arial" panose="020B0604020202020204" pitchFamily="34" charset="0"/>
              <a:buChar char="•"/>
            </a:pPr>
            <a:r>
              <a:rPr lang="vi-VN" sz="1200" dirty="0"/>
              <a:t>Một hệ thống AI tốt thì </a:t>
            </a:r>
            <a:r>
              <a:rPr lang="vi-VN" sz="1200" b="1" dirty="0"/>
              <a:t>Accuracy (độ chính xác) cao là chưa đủ</a:t>
            </a:r>
            <a:endParaRPr lang="en-US" sz="1200" b="1" dirty="0"/>
          </a:p>
          <a:p>
            <a:pPr marL="171450" indent="-171450">
              <a:buFont typeface="Arial" panose="020B0604020202020204" pitchFamily="34" charset="0"/>
              <a:buChar char="•"/>
            </a:pPr>
            <a:r>
              <a:rPr lang="en-US" sz="1200" dirty="0" err="1"/>
              <a:t>Khôi</a:t>
            </a:r>
            <a:r>
              <a:rPr lang="en-US" sz="1200" dirty="0"/>
              <a:t> </a:t>
            </a:r>
            <a:r>
              <a:rPr lang="en-US" sz="1200" dirty="0" err="1"/>
              <a:t>phục</a:t>
            </a:r>
            <a:r>
              <a:rPr lang="en-US" sz="1200" dirty="0"/>
              <a:t> </a:t>
            </a:r>
            <a:r>
              <a:rPr lang="en-US" sz="1200" dirty="0" err="1"/>
              <a:t>và</a:t>
            </a:r>
            <a:r>
              <a:rPr lang="en-US" sz="1200" dirty="0"/>
              <a:t> </a:t>
            </a:r>
            <a:r>
              <a:rPr lang="en-US" sz="1200" dirty="0" err="1"/>
              <a:t>đánh</a:t>
            </a:r>
            <a:r>
              <a:rPr lang="en-US" sz="1200" dirty="0"/>
              <a:t> </a:t>
            </a:r>
            <a:r>
              <a:rPr lang="en-US" sz="1200" dirty="0" err="1"/>
              <a:t>giá</a:t>
            </a:r>
            <a:r>
              <a:rPr lang="en-US" sz="1200" dirty="0"/>
              <a:t> </a:t>
            </a:r>
            <a:r>
              <a:rPr lang="en-US" sz="1200" b="1" dirty="0"/>
              <a:t>Robustness (</a:t>
            </a:r>
            <a:r>
              <a:rPr lang="en-US" sz="1200" b="1" dirty="0" err="1"/>
              <a:t>sự</a:t>
            </a:r>
            <a:r>
              <a:rPr lang="en-US" sz="1200" b="1" dirty="0"/>
              <a:t> </a:t>
            </a:r>
            <a:r>
              <a:rPr lang="en-US" sz="1200" b="1" dirty="0" err="1"/>
              <a:t>bền</a:t>
            </a:r>
            <a:r>
              <a:rPr lang="en-US" sz="1200" b="1" dirty="0"/>
              <a:t> </a:t>
            </a:r>
            <a:r>
              <a:rPr lang="en-US" sz="1200" b="1" dirty="0" err="1"/>
              <a:t>vững</a:t>
            </a:r>
            <a:r>
              <a:rPr lang="en-US" sz="1200" b="1" dirty="0"/>
              <a:t>, an </a:t>
            </a:r>
            <a:r>
              <a:rPr lang="en-US" sz="1200" b="1" dirty="0" err="1"/>
              <a:t>toàn</a:t>
            </a:r>
            <a:r>
              <a:rPr lang="en-US" sz="1200" b="1" dirty="0"/>
              <a:t>)</a:t>
            </a:r>
            <a:endParaRPr lang="en-US" sz="1200" dirty="0"/>
          </a:p>
        </p:txBody>
      </p:sp>
      <p:sp>
        <p:nvSpPr>
          <p:cNvPr id="15" name="Shape 12">
            <a:extLst>
              <a:ext uri="{FF2B5EF4-FFF2-40B4-BE49-F238E27FC236}">
                <a16:creationId xmlns:a16="http://schemas.microsoft.com/office/drawing/2014/main" id="{AC9395B9-DA64-7808-7B73-F8252E137ECE}"/>
              </a:ext>
            </a:extLst>
          </p:cNvPr>
          <p:cNvSpPr/>
          <p:nvPr/>
        </p:nvSpPr>
        <p:spPr>
          <a:xfrm>
            <a:off x="6464808" y="4464304"/>
            <a:ext cx="4663440" cy="1296755"/>
          </a:xfrm>
          <a:prstGeom prst="roundRect">
            <a:avLst>
              <a:gd name="adj" fmla="val 6780"/>
            </a:avLst>
          </a:prstGeom>
          <a:solidFill>
            <a:srgbClr val="FFFFFF"/>
          </a:solidFill>
          <a:ln w="10160">
            <a:solidFill>
              <a:srgbClr val="D8D8D8"/>
            </a:solidFill>
            <a:prstDash val="solid"/>
          </a:ln>
        </p:spPr>
        <p:txBody>
          <a:bodyPr/>
          <a:lstStyle/>
          <a:p>
            <a:endParaRPr/>
          </a:p>
        </p:txBody>
      </p:sp>
      <p:sp>
        <p:nvSpPr>
          <p:cNvPr id="16" name="Shape 13">
            <a:extLst>
              <a:ext uri="{FF2B5EF4-FFF2-40B4-BE49-F238E27FC236}">
                <a16:creationId xmlns:a16="http://schemas.microsoft.com/office/drawing/2014/main" id="{A9ED8CB6-280C-26B0-1395-D2103F986011}"/>
              </a:ext>
            </a:extLst>
          </p:cNvPr>
          <p:cNvSpPr/>
          <p:nvPr/>
        </p:nvSpPr>
        <p:spPr>
          <a:xfrm>
            <a:off x="6464808" y="4464304"/>
            <a:ext cx="73152" cy="1296756"/>
          </a:xfrm>
          <a:prstGeom prst="rect">
            <a:avLst/>
          </a:prstGeom>
          <a:solidFill>
            <a:srgbClr val="003B6D"/>
          </a:solidFill>
          <a:ln w="12700">
            <a:solidFill>
              <a:srgbClr val="003B6D"/>
            </a:solidFill>
            <a:prstDash val="solid"/>
          </a:ln>
        </p:spPr>
        <p:txBody>
          <a:bodyPr/>
          <a:lstStyle/>
          <a:p>
            <a:endParaRPr/>
          </a:p>
        </p:txBody>
      </p:sp>
      <p:sp>
        <p:nvSpPr>
          <p:cNvPr id="17" name="Text 14">
            <a:extLst>
              <a:ext uri="{FF2B5EF4-FFF2-40B4-BE49-F238E27FC236}">
                <a16:creationId xmlns:a16="http://schemas.microsoft.com/office/drawing/2014/main" id="{C2856578-C184-3717-B5E5-F96376705590}"/>
              </a:ext>
            </a:extLst>
          </p:cNvPr>
          <p:cNvSpPr/>
          <p:nvPr/>
        </p:nvSpPr>
        <p:spPr>
          <a:xfrm>
            <a:off x="6629400" y="4574033"/>
            <a:ext cx="4370832" cy="256032"/>
          </a:xfrm>
          <a:prstGeom prst="rect">
            <a:avLst/>
          </a:prstGeom>
          <a:noFill/>
          <a:ln/>
        </p:spPr>
        <p:txBody>
          <a:bodyPr wrap="square" lIns="254" tIns="254" rIns="254" bIns="254" rtlCol="0" anchor="ctr"/>
          <a:lstStyle/>
          <a:p>
            <a:r>
              <a:rPr lang="vi-VN" sz="1400" b="1" dirty="0"/>
              <a:t>Thách thức trên môi trường tài nguyên thấp</a:t>
            </a:r>
            <a:endParaRPr lang="en-US" sz="1400" dirty="0"/>
          </a:p>
        </p:txBody>
      </p:sp>
      <p:sp>
        <p:nvSpPr>
          <p:cNvPr id="18" name="Text 15">
            <a:extLst>
              <a:ext uri="{FF2B5EF4-FFF2-40B4-BE49-F238E27FC236}">
                <a16:creationId xmlns:a16="http://schemas.microsoft.com/office/drawing/2014/main" id="{10A97397-33A6-9D20-AC6A-07ED40212E83}"/>
              </a:ext>
            </a:extLst>
          </p:cNvPr>
          <p:cNvSpPr/>
          <p:nvPr/>
        </p:nvSpPr>
        <p:spPr>
          <a:xfrm>
            <a:off x="6629400" y="5184988"/>
            <a:ext cx="4370832" cy="576072"/>
          </a:xfrm>
          <a:prstGeom prst="rect">
            <a:avLst/>
          </a:prstGeom>
          <a:noFill/>
          <a:ln/>
        </p:spPr>
        <p:txBody>
          <a:bodyPr wrap="square" lIns="254" tIns="254" rIns="254" bIns="254" rtlCol="0" anchor="ctr">
            <a:noAutofit/>
          </a:bodyPr>
          <a:lstStyle/>
          <a:p>
            <a:r>
              <a:rPr lang="vi-VN" sz="1200" dirty="0"/>
              <a:t>Các mô hình nhỏ gọn</a:t>
            </a:r>
            <a:r>
              <a:rPr lang="en-US" sz="1200" dirty="0"/>
              <a:t> </a:t>
            </a:r>
            <a:r>
              <a:rPr lang="en-US" sz="1200" dirty="0" err="1"/>
              <a:t>như</a:t>
            </a:r>
            <a:r>
              <a:rPr lang="en-US" sz="1200" dirty="0"/>
              <a:t> </a:t>
            </a:r>
            <a:r>
              <a:rPr lang="vi-VN" sz="1200" dirty="0"/>
              <a:t>ResNet-18 trên CIFAR-10) thường có </a:t>
            </a:r>
            <a:r>
              <a:rPr lang="vi-VN" sz="1200" b="1" dirty="0"/>
              <a:t>sức đề kháng yếu hơn</a:t>
            </a:r>
            <a:r>
              <a:rPr lang="vi-VN" sz="1200" dirty="0"/>
              <a:t> các mô hình khổng lồ.</a:t>
            </a:r>
            <a:r>
              <a:rPr lang="en-US" sz="1200" dirty="0"/>
              <a:t/>
            </a:r>
            <a:br>
              <a:rPr lang="en-US" sz="1200" dirty="0"/>
            </a:br>
            <a:r>
              <a:rPr lang="en-US" sz="1200" dirty="0" err="1"/>
              <a:t>Nghiên</a:t>
            </a:r>
            <a:r>
              <a:rPr lang="en-US" sz="1200" dirty="0"/>
              <a:t> </a:t>
            </a:r>
            <a:r>
              <a:rPr lang="en-US" sz="1200" dirty="0" err="1"/>
              <a:t>cứu</a:t>
            </a:r>
            <a:r>
              <a:rPr lang="en-US" sz="1200" dirty="0"/>
              <a:t> </a:t>
            </a:r>
            <a:r>
              <a:rPr lang="en-US" sz="1200" dirty="0" err="1"/>
              <a:t>trên</a:t>
            </a:r>
            <a:r>
              <a:rPr lang="en-US" sz="1200" dirty="0"/>
              <a:t> </a:t>
            </a:r>
            <a:r>
              <a:rPr lang="en-US" sz="1200" dirty="0" err="1"/>
              <a:t>kiến</a:t>
            </a:r>
            <a:r>
              <a:rPr lang="en-US" sz="1200" dirty="0"/>
              <a:t> </a:t>
            </a:r>
            <a:r>
              <a:rPr lang="en-US" sz="1200" dirty="0" err="1"/>
              <a:t>trúc</a:t>
            </a:r>
            <a:r>
              <a:rPr lang="en-US" sz="1200" dirty="0"/>
              <a:t> </a:t>
            </a:r>
            <a:r>
              <a:rPr lang="en-US" sz="1200" dirty="0" err="1"/>
              <a:t>này</a:t>
            </a:r>
            <a:r>
              <a:rPr lang="en-US" sz="1200" dirty="0"/>
              <a:t> </a:t>
            </a:r>
            <a:r>
              <a:rPr lang="en-US" sz="1200" dirty="0" err="1"/>
              <a:t>mang</a:t>
            </a:r>
            <a:r>
              <a:rPr lang="en-US" sz="1200" dirty="0"/>
              <a:t> </a:t>
            </a:r>
            <a:r>
              <a:rPr lang="en-US" sz="1200" dirty="0" err="1"/>
              <a:t>tính</a:t>
            </a:r>
            <a:r>
              <a:rPr lang="en-US" sz="1200" dirty="0"/>
              <a:t> </a:t>
            </a:r>
            <a:r>
              <a:rPr lang="en-US" sz="1200" dirty="0" err="1"/>
              <a:t>thực</a:t>
            </a:r>
            <a:r>
              <a:rPr lang="en-US" sz="1200" dirty="0"/>
              <a:t> </a:t>
            </a:r>
            <a:r>
              <a:rPr lang="en-US" sz="1200" dirty="0" err="1"/>
              <a:t>tiễn</a:t>
            </a:r>
            <a:r>
              <a:rPr lang="en-US" sz="1200" dirty="0"/>
              <a:t> </a:t>
            </a:r>
            <a:r>
              <a:rPr lang="en-US" sz="1200" dirty="0" err="1"/>
              <a:t>cao</a:t>
            </a:r>
            <a:r>
              <a:rPr lang="en-US" sz="1200" dirty="0"/>
              <a:t>, </a:t>
            </a:r>
            <a:r>
              <a:rPr lang="en-US" sz="1200" dirty="0" err="1"/>
              <a:t>đặc</a:t>
            </a:r>
            <a:r>
              <a:rPr lang="en-US" sz="1200" dirty="0"/>
              <a:t> </a:t>
            </a:r>
            <a:r>
              <a:rPr lang="en-US" sz="1200" dirty="0" err="1"/>
              <a:t>biệt</a:t>
            </a:r>
            <a:r>
              <a:rPr lang="en-US" sz="1200" dirty="0"/>
              <a:t> </a:t>
            </a:r>
            <a:r>
              <a:rPr lang="en-US" sz="1200" dirty="0" err="1"/>
              <a:t>cho</a:t>
            </a:r>
            <a:r>
              <a:rPr lang="en-US" sz="1200" dirty="0"/>
              <a:t> </a:t>
            </a:r>
            <a:r>
              <a:rPr lang="en-US" sz="1200" dirty="0" err="1"/>
              <a:t>các</a:t>
            </a:r>
            <a:r>
              <a:rPr lang="en-US" sz="1200" dirty="0"/>
              <a:t> </a:t>
            </a:r>
            <a:r>
              <a:rPr lang="en-US" sz="1200" dirty="0" err="1"/>
              <a:t>thiết</a:t>
            </a:r>
            <a:r>
              <a:rPr lang="en-US" sz="1200" dirty="0"/>
              <a:t> </a:t>
            </a:r>
            <a:r>
              <a:rPr lang="en-US" sz="1200" dirty="0" err="1"/>
              <a:t>bị</a:t>
            </a:r>
            <a:r>
              <a:rPr lang="en-US" sz="1200" dirty="0"/>
              <a:t> di </a:t>
            </a:r>
            <a:r>
              <a:rPr lang="en-US" sz="1200" dirty="0" err="1"/>
              <a:t>động</a:t>
            </a:r>
            <a:r>
              <a:rPr lang="en-US" sz="1200" dirty="0"/>
              <a:t>.</a:t>
            </a:r>
          </a:p>
          <a:p>
            <a:r>
              <a:rPr lang="en-US" sz="1200" dirty="0"/>
              <a:t/>
            </a:r>
            <a:br>
              <a:rPr lang="en-US" sz="1200" dirty="0"/>
            </a:br>
            <a:endParaRPr lang="vi-VN" sz="1200" dirty="0"/>
          </a:p>
        </p:txBody>
      </p:sp>
      <p:sp>
        <p:nvSpPr>
          <p:cNvPr id="20" name="TextBox 19">
            <a:extLst>
              <a:ext uri="{FF2B5EF4-FFF2-40B4-BE49-F238E27FC236}">
                <a16:creationId xmlns:a16="http://schemas.microsoft.com/office/drawing/2014/main" id="{F639CA43-0869-F70D-CC6A-71F7167B7E19}"/>
              </a:ext>
            </a:extLst>
          </p:cNvPr>
          <p:cNvSpPr txBox="1"/>
          <p:nvPr/>
        </p:nvSpPr>
        <p:spPr>
          <a:xfrm>
            <a:off x="6584358" y="1711708"/>
            <a:ext cx="4589610" cy="892552"/>
          </a:xfrm>
          <a:prstGeom prst="rect">
            <a:avLst/>
          </a:prstGeom>
          <a:noFill/>
        </p:spPr>
        <p:txBody>
          <a:bodyPr wrap="square">
            <a:spAutoFit/>
          </a:bodyPr>
          <a:lstStyle/>
          <a:p>
            <a:pPr algn="l">
              <a:buFont typeface="Arial" panose="020B0604020202020204" pitchFamily="34" charset="0"/>
              <a:buChar char="•"/>
            </a:pPr>
            <a:r>
              <a:rPr lang="en-US" sz="1300" b="0" i="0" dirty="0">
                <a:effectLst/>
                <a:latin typeface="Segoe WPC"/>
              </a:rPr>
              <a:t> </a:t>
            </a:r>
            <a:r>
              <a:rPr lang="vi-VN" sz="1300" b="0" i="0" dirty="0">
                <a:effectLst/>
                <a:latin typeface="Segoe WPC"/>
              </a:rPr>
              <a:t>Mô hình Deep Learning hiện nay có độ chính xác rất cao nhưng lại tồn tại </a:t>
            </a:r>
            <a:r>
              <a:rPr lang="vi-VN" sz="1300" b="1" i="0" dirty="0">
                <a:effectLst/>
                <a:latin typeface="Segoe WPC"/>
              </a:rPr>
              <a:t>điểm mù chí mạng</a:t>
            </a:r>
            <a:endParaRPr lang="en-US" sz="1300" b="1" i="0" dirty="0">
              <a:effectLst/>
              <a:latin typeface="Segoe WPC"/>
            </a:endParaRPr>
          </a:p>
          <a:p>
            <a:pPr algn="l">
              <a:buFont typeface="Arial" panose="020B0604020202020204" pitchFamily="34" charset="0"/>
              <a:buChar char="•"/>
            </a:pPr>
            <a:r>
              <a:rPr lang="en-US" sz="1300" b="0" i="0" dirty="0">
                <a:effectLst/>
                <a:latin typeface="Segoe WPC"/>
              </a:rPr>
              <a:t> </a:t>
            </a:r>
            <a:r>
              <a:rPr lang="vi-VN" sz="1300" b="0" i="0" dirty="0">
                <a:effectLst/>
                <a:latin typeface="Segoe WPC"/>
              </a:rPr>
              <a:t>Ứng dụng AI vào các lĩnh vực rủi ro mà thiếu cơ chế phòng thủ sẽ dẫn đến </a:t>
            </a:r>
            <a:r>
              <a:rPr lang="vi-VN" sz="1300" b="1" i="0" dirty="0">
                <a:effectLst/>
                <a:latin typeface="Segoe WPC"/>
              </a:rPr>
              <a:t>hậu quả thảm khốc</a:t>
            </a:r>
            <a:endParaRPr lang="vi-VN" sz="1300" b="0" i="0" dirty="0">
              <a:effectLst/>
              <a:latin typeface="Segoe WPC"/>
            </a:endParaRPr>
          </a:p>
        </p:txBody>
      </p:sp>
      <p:pic>
        <p:nvPicPr>
          <p:cNvPr id="24" name="Picture 23">
            <a:extLst>
              <a:ext uri="{FF2B5EF4-FFF2-40B4-BE49-F238E27FC236}">
                <a16:creationId xmlns:a16="http://schemas.microsoft.com/office/drawing/2014/main" id="{42A01881-E1E8-E772-DAAD-5F079662770D}"/>
              </a:ext>
            </a:extLst>
          </p:cNvPr>
          <p:cNvPicPr>
            <a:picLocks noChangeAspect="1"/>
          </p:cNvPicPr>
          <p:nvPr/>
        </p:nvPicPr>
        <p:blipFill>
          <a:blip r:embed="rId4"/>
          <a:stretch>
            <a:fillRect/>
          </a:stretch>
        </p:blipFill>
        <p:spPr>
          <a:xfrm>
            <a:off x="549811" y="2157984"/>
            <a:ext cx="5630855" cy="3169040"/>
          </a:xfrm>
          <a:prstGeom prst="rect">
            <a:avLst/>
          </a:prstGeom>
        </p:spPr>
      </p:pic>
    </p:spTree>
    <p:extLst>
      <p:ext uri="{BB962C8B-B14F-4D97-AF65-F5344CB8AC3E}">
        <p14:creationId xmlns:p14="http://schemas.microsoft.com/office/powerpoint/2010/main" val="16472618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2</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a:solidFill>
                  <a:srgbClr val="FFFFFF"/>
                </a:solidFill>
                <a:latin typeface="Arial" pitchFamily="34" charset="0"/>
                <a:ea typeface="Arial" pitchFamily="34" charset="-122"/>
                <a:cs typeface="Arial" pitchFamily="34" charset="-120"/>
              </a:rPr>
              <a:t>2. </a:t>
            </a:r>
            <a:r>
              <a:rPr lang="en-US" sz="2000" b="1" dirty="0" err="1">
                <a:solidFill>
                  <a:srgbClr val="FFFFFF"/>
                </a:solidFill>
                <a:latin typeface="Arial" pitchFamily="34" charset="0"/>
                <a:ea typeface="Arial" pitchFamily="34" charset="-122"/>
                <a:cs typeface="Arial" pitchFamily="34" charset="-120"/>
              </a:rPr>
              <a:t>Tổng</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quan</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nghiên</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cứu</a:t>
            </a:r>
            <a:endParaRPr lang="en-US" sz="2000" dirty="0"/>
          </a:p>
        </p:txBody>
      </p:sp>
      <p:sp>
        <p:nvSpPr>
          <p:cNvPr id="5" name="Text 2"/>
          <p:cNvSpPr/>
          <p:nvPr/>
        </p:nvSpPr>
        <p:spPr>
          <a:xfrm>
            <a:off x="502920" y="1261872"/>
            <a:ext cx="1828800" cy="274320"/>
          </a:xfrm>
          <a:prstGeom prst="rect">
            <a:avLst/>
          </a:prstGeom>
          <a:noFill/>
          <a:ln/>
        </p:spPr>
        <p:txBody>
          <a:bodyPr wrap="square" lIns="254" tIns="254" rIns="254" bIns="254" rtlCol="0" anchor="ctr"/>
          <a:lstStyle/>
          <a:p>
            <a:pPr marL="0" indent="0">
              <a:buNone/>
            </a:pPr>
            <a:r>
              <a:rPr lang="en-US" sz="1500" b="1" dirty="0">
                <a:solidFill>
                  <a:srgbClr val="C91F35"/>
                </a:solidFill>
                <a:latin typeface="Arial" pitchFamily="34" charset="0"/>
                <a:ea typeface="Arial" pitchFamily="34" charset="-122"/>
                <a:cs typeface="Arial" pitchFamily="34" charset="-120"/>
              </a:rPr>
              <a:t>Bài toán</a:t>
            </a:r>
            <a:endParaRPr lang="en-US" sz="1500" dirty="0"/>
          </a:p>
        </p:txBody>
      </p:sp>
      <p:sp>
        <p:nvSpPr>
          <p:cNvPr id="6" name="Text 3"/>
          <p:cNvSpPr/>
          <p:nvPr/>
        </p:nvSpPr>
        <p:spPr>
          <a:xfrm>
            <a:off x="502920" y="1627632"/>
            <a:ext cx="5577840" cy="1737360"/>
          </a:xfrm>
          <a:prstGeom prst="rect">
            <a:avLst/>
          </a:prstGeom>
          <a:noFill/>
          <a:ln/>
        </p:spPr>
        <p:txBody>
          <a:bodyPr wrap="square" lIns="254" tIns="254" rIns="254" bIns="254" rtlCol="0" anchor="ctr">
            <a:normAutofit/>
          </a:bodyPr>
          <a:lstStyle/>
          <a:p>
            <a:r>
              <a:rPr lang="en-US" sz="1600" dirty="0">
                <a:solidFill>
                  <a:srgbClr val="1A1A1A"/>
                </a:solidFill>
                <a:latin typeface="Arial" pitchFamily="34" charset="0"/>
                <a:ea typeface="Arial" pitchFamily="34" charset="-122"/>
                <a:cs typeface="Arial" pitchFamily="34" charset="-120"/>
              </a:rPr>
              <a:t>Mô hình học sâu phân loại ảnh có accuracy cao trên dữ liệu sạch, nhưng dễ bị đánh lừa bởi nhiễu rất nhỏ.</a:t>
            </a:r>
            <a:endParaRPr lang="en-US" sz="1600" dirty="0"/>
          </a:p>
          <a:p>
            <a:r>
              <a:rPr lang="en-US" sz="1600" dirty="0">
                <a:solidFill>
                  <a:srgbClr val="1A1A1A"/>
                </a:solidFill>
                <a:latin typeface="Arial" pitchFamily="34" charset="0"/>
                <a:ea typeface="Arial" pitchFamily="34" charset="-122"/>
                <a:cs typeface="Arial" pitchFamily="34" charset="-120"/>
              </a:rPr>
              <a:t>Adversarial examples gần như không khác ảnh gốc bằng mắt thường, nhưng làm mô hình dự đoán sai.</a:t>
            </a:r>
            <a:endParaRPr lang="en-US" sz="1600" dirty="0"/>
          </a:p>
          <a:p>
            <a:r>
              <a:rPr lang="en-US" sz="1600" b="1" dirty="0">
                <a:solidFill>
                  <a:srgbClr val="1A1A1A"/>
                </a:solidFill>
                <a:latin typeface="Arial" pitchFamily="34" charset="0"/>
                <a:ea typeface="Arial" pitchFamily="34" charset="-122"/>
                <a:cs typeface="Arial" pitchFamily="34" charset="-120"/>
              </a:rPr>
              <a:t>Mục tiêu: </a:t>
            </a:r>
            <a:r>
              <a:rPr lang="en-US" sz="1600" dirty="0">
                <a:solidFill>
                  <a:srgbClr val="1A1A1A"/>
                </a:solidFill>
                <a:latin typeface="Arial" pitchFamily="34" charset="0"/>
                <a:ea typeface="Arial" pitchFamily="34" charset="-122"/>
                <a:cs typeface="Arial" pitchFamily="34" charset="-120"/>
              </a:rPr>
              <a:t>đánh giá độ robust và thử nghiệm các phương pháp phòng thủ.</a:t>
            </a:r>
            <a:endParaRPr lang="en-US" sz="1600" dirty="0"/>
          </a:p>
        </p:txBody>
      </p:sp>
      <p:sp>
        <p:nvSpPr>
          <p:cNvPr id="7" name="Shape 4"/>
          <p:cNvSpPr/>
          <p:nvPr/>
        </p:nvSpPr>
        <p:spPr>
          <a:xfrm>
            <a:off x="6446520" y="1417320"/>
            <a:ext cx="4663440" cy="1417320"/>
          </a:xfrm>
          <a:prstGeom prst="roundRect">
            <a:avLst>
              <a:gd name="adj" fmla="val 5161"/>
            </a:avLst>
          </a:prstGeom>
          <a:solidFill>
            <a:srgbClr val="FFFFFF"/>
          </a:solidFill>
          <a:ln w="10160">
            <a:solidFill>
              <a:srgbClr val="D8D8D8"/>
            </a:solidFill>
            <a:prstDash val="solid"/>
          </a:ln>
        </p:spPr>
        <p:txBody>
          <a:bodyPr/>
          <a:lstStyle/>
          <a:p>
            <a:endParaRPr/>
          </a:p>
        </p:txBody>
      </p:sp>
      <p:sp>
        <p:nvSpPr>
          <p:cNvPr id="8" name="Shape 5"/>
          <p:cNvSpPr/>
          <p:nvPr/>
        </p:nvSpPr>
        <p:spPr>
          <a:xfrm>
            <a:off x="6446520" y="1417320"/>
            <a:ext cx="73152" cy="1417320"/>
          </a:xfrm>
          <a:prstGeom prst="rect">
            <a:avLst/>
          </a:prstGeom>
          <a:solidFill>
            <a:srgbClr val="003B6D"/>
          </a:solidFill>
          <a:ln w="12700">
            <a:solidFill>
              <a:srgbClr val="003B6D"/>
            </a:solidFill>
            <a:prstDash val="solid"/>
          </a:ln>
        </p:spPr>
        <p:txBody>
          <a:bodyPr/>
          <a:lstStyle/>
          <a:p>
            <a:endParaRPr/>
          </a:p>
        </p:txBody>
      </p:sp>
      <p:sp>
        <p:nvSpPr>
          <p:cNvPr id="9" name="Text 6"/>
          <p:cNvSpPr/>
          <p:nvPr/>
        </p:nvSpPr>
        <p:spPr>
          <a:xfrm>
            <a:off x="6611112" y="1527048"/>
            <a:ext cx="437083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Dữ liệu</a:t>
            </a:r>
            <a:endParaRPr lang="en-US" sz="1400" dirty="0"/>
          </a:p>
        </p:txBody>
      </p:sp>
      <p:sp>
        <p:nvSpPr>
          <p:cNvPr id="10" name="Text 7"/>
          <p:cNvSpPr/>
          <p:nvPr/>
        </p:nvSpPr>
        <p:spPr>
          <a:xfrm>
            <a:off x="6611112" y="1856232"/>
            <a:ext cx="4370832" cy="91440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CIFAR-10</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50.000 ảnh train → chia 45.000 train + 5.000 validation</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10 lớp: airplane, automobile, bird, cat, deer, dog, frog, horse, ship, truck</a:t>
            </a:r>
            <a:endParaRPr lang="en-US" sz="1250" dirty="0"/>
          </a:p>
        </p:txBody>
      </p:sp>
      <p:sp>
        <p:nvSpPr>
          <p:cNvPr id="11" name="Shape 8"/>
          <p:cNvSpPr/>
          <p:nvPr/>
        </p:nvSpPr>
        <p:spPr>
          <a:xfrm>
            <a:off x="6446520" y="3108960"/>
            <a:ext cx="4663440" cy="1078992"/>
          </a:xfrm>
          <a:prstGeom prst="roundRect">
            <a:avLst>
              <a:gd name="adj" fmla="val 6780"/>
            </a:avLst>
          </a:prstGeom>
          <a:solidFill>
            <a:srgbClr val="FFFFFF"/>
          </a:solidFill>
          <a:ln w="10160">
            <a:solidFill>
              <a:srgbClr val="D8D8D8"/>
            </a:solidFill>
            <a:prstDash val="solid"/>
          </a:ln>
        </p:spPr>
        <p:txBody>
          <a:bodyPr/>
          <a:lstStyle/>
          <a:p>
            <a:endParaRPr/>
          </a:p>
        </p:txBody>
      </p:sp>
      <p:sp>
        <p:nvSpPr>
          <p:cNvPr id="12" name="Shape 9"/>
          <p:cNvSpPr/>
          <p:nvPr/>
        </p:nvSpPr>
        <p:spPr>
          <a:xfrm>
            <a:off x="6446520" y="3108960"/>
            <a:ext cx="73152" cy="1078992"/>
          </a:xfrm>
          <a:prstGeom prst="rect">
            <a:avLst/>
          </a:prstGeom>
          <a:solidFill>
            <a:srgbClr val="C91F35"/>
          </a:solidFill>
          <a:ln w="12700">
            <a:solidFill>
              <a:srgbClr val="C91F35"/>
            </a:solidFill>
            <a:prstDash val="solid"/>
          </a:ln>
        </p:spPr>
        <p:txBody>
          <a:bodyPr/>
          <a:lstStyle/>
          <a:p>
            <a:endParaRPr/>
          </a:p>
        </p:txBody>
      </p:sp>
      <p:sp>
        <p:nvSpPr>
          <p:cNvPr id="13" name="Text 10"/>
          <p:cNvSpPr/>
          <p:nvPr/>
        </p:nvSpPr>
        <p:spPr>
          <a:xfrm>
            <a:off x="6611112" y="3218688"/>
            <a:ext cx="4370832" cy="256032"/>
          </a:xfrm>
          <a:prstGeom prst="rect">
            <a:avLst/>
          </a:prstGeom>
          <a:noFill/>
          <a:ln/>
        </p:spPr>
        <p:txBody>
          <a:bodyPr wrap="square" lIns="254" tIns="254" rIns="254" bIns="254" rtlCol="0" anchor="ctr"/>
          <a:lstStyle/>
          <a:p>
            <a:pPr marL="0" indent="0">
              <a:buNone/>
            </a:pPr>
            <a:r>
              <a:rPr lang="en-US" sz="1400" b="1" dirty="0">
                <a:solidFill>
                  <a:srgbClr val="C91F35"/>
                </a:solidFill>
                <a:latin typeface="Arial" pitchFamily="34" charset="0"/>
                <a:ea typeface="Arial" pitchFamily="34" charset="-122"/>
                <a:cs typeface="Arial" pitchFamily="34" charset="-120"/>
              </a:rPr>
              <a:t>Mô hình</a:t>
            </a:r>
            <a:endParaRPr lang="en-US" sz="1400" dirty="0"/>
          </a:p>
        </p:txBody>
      </p:sp>
      <p:sp>
        <p:nvSpPr>
          <p:cNvPr id="14" name="Text 11"/>
          <p:cNvSpPr/>
          <p:nvPr/>
        </p:nvSpPr>
        <p:spPr>
          <a:xfrm>
            <a:off x="6611112" y="3547872"/>
            <a:ext cx="4370832" cy="576072"/>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ResNet-18 được điều chỉnh cho ảnh 32×32; dùng làm baseline để đánh giá attack và defense.</a:t>
            </a:r>
            <a:endParaRPr lang="en-US" sz="1250" dirty="0"/>
          </a:p>
        </p:txBody>
      </p:sp>
      <p:sp>
        <p:nvSpPr>
          <p:cNvPr id="15" name="Shape 12"/>
          <p:cNvSpPr/>
          <p:nvPr/>
        </p:nvSpPr>
        <p:spPr>
          <a:xfrm>
            <a:off x="6446520" y="4462272"/>
            <a:ext cx="4663440" cy="1078992"/>
          </a:xfrm>
          <a:prstGeom prst="roundRect">
            <a:avLst>
              <a:gd name="adj" fmla="val 6780"/>
            </a:avLst>
          </a:prstGeom>
          <a:solidFill>
            <a:srgbClr val="FFFFFF"/>
          </a:solidFill>
          <a:ln w="10160">
            <a:solidFill>
              <a:srgbClr val="D8D8D8"/>
            </a:solidFill>
            <a:prstDash val="solid"/>
          </a:ln>
        </p:spPr>
        <p:txBody>
          <a:bodyPr/>
          <a:lstStyle/>
          <a:p>
            <a:endParaRPr/>
          </a:p>
        </p:txBody>
      </p:sp>
      <p:sp>
        <p:nvSpPr>
          <p:cNvPr id="16" name="Shape 13"/>
          <p:cNvSpPr/>
          <p:nvPr/>
        </p:nvSpPr>
        <p:spPr>
          <a:xfrm>
            <a:off x="6446520" y="4462272"/>
            <a:ext cx="73152" cy="1078992"/>
          </a:xfrm>
          <a:prstGeom prst="rect">
            <a:avLst/>
          </a:prstGeom>
          <a:solidFill>
            <a:srgbClr val="003B6D"/>
          </a:solidFill>
          <a:ln w="12700">
            <a:solidFill>
              <a:srgbClr val="003B6D"/>
            </a:solidFill>
            <a:prstDash val="solid"/>
          </a:ln>
        </p:spPr>
        <p:txBody>
          <a:bodyPr/>
          <a:lstStyle/>
          <a:p>
            <a:endParaRPr/>
          </a:p>
        </p:txBody>
      </p:sp>
      <p:sp>
        <p:nvSpPr>
          <p:cNvPr id="17" name="Text 14"/>
          <p:cNvSpPr/>
          <p:nvPr/>
        </p:nvSpPr>
        <p:spPr>
          <a:xfrm>
            <a:off x="6611112" y="4572000"/>
            <a:ext cx="437083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Ý nghĩa</a:t>
            </a:r>
            <a:endParaRPr lang="en-US" sz="1400" dirty="0"/>
          </a:p>
        </p:txBody>
      </p:sp>
      <p:sp>
        <p:nvSpPr>
          <p:cNvPr id="18" name="Text 15"/>
          <p:cNvSpPr/>
          <p:nvPr/>
        </p:nvSpPr>
        <p:spPr>
          <a:xfrm>
            <a:off x="6611112" y="4901184"/>
            <a:ext cx="4370832" cy="576072"/>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Accuracy cao trên ảnh sạch chưa đủ để đảm bảo hệ thống AI đáng tin cậy trong môi trường thực tế.</a:t>
            </a:r>
            <a:endParaRPr lang="en-US" sz="1250" dirty="0"/>
          </a:p>
        </p:txBody>
      </p:sp>
      <p:pic>
        <p:nvPicPr>
          <p:cNvPr id="22" name="Picture 21">
            <a:extLst>
              <a:ext uri="{FF2B5EF4-FFF2-40B4-BE49-F238E27FC236}">
                <a16:creationId xmlns:a16="http://schemas.microsoft.com/office/drawing/2014/main" id="{85BFE218-EDCE-22A0-0027-20F1C5307313}"/>
              </a:ext>
            </a:extLst>
          </p:cNvPr>
          <p:cNvPicPr>
            <a:picLocks noChangeAspect="1"/>
          </p:cNvPicPr>
          <p:nvPr/>
        </p:nvPicPr>
        <p:blipFill>
          <a:blip r:embed="rId4"/>
          <a:stretch>
            <a:fillRect/>
          </a:stretch>
        </p:blipFill>
        <p:spPr>
          <a:xfrm>
            <a:off x="1295687" y="3456432"/>
            <a:ext cx="3403409" cy="19154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45FF49-5437-408E-A464-A222159F08A5}"/>
            </a:ext>
          </a:extLst>
        </p:cNvPr>
        <p:cNvGrpSpPr/>
        <p:nvPr/>
      </p:nvGrpSpPr>
      <p:grpSpPr>
        <a:xfrm>
          <a:off x="0" y="0"/>
          <a:ext cx="0" cy="0"/>
          <a:chOff x="0" y="0"/>
          <a:chExt cx="0" cy="0"/>
        </a:xfrm>
      </p:grpSpPr>
      <p:pic>
        <p:nvPicPr>
          <p:cNvPr id="2" name="Image 0" descr="/mnt/data/pptx_unzip/ppt/media/image4.png">
            <a:extLst>
              <a:ext uri="{FF2B5EF4-FFF2-40B4-BE49-F238E27FC236}">
                <a16:creationId xmlns:a16="http://schemas.microsoft.com/office/drawing/2014/main" id="{F6D95B59-86C6-D6F7-6725-F0CE76F24017}"/>
              </a:ext>
            </a:extLst>
          </p:cNvPr>
          <p:cNvPicPr>
            <a:picLocks noChangeAspect="1"/>
          </p:cNvPicPr>
          <p:nvPr/>
        </p:nvPicPr>
        <p:blipFill>
          <a:blip r:embed="rId3"/>
          <a:stretch>
            <a:fillRect/>
          </a:stretch>
        </p:blipFill>
        <p:spPr>
          <a:xfrm>
            <a:off x="0" y="0"/>
            <a:ext cx="12191695" cy="6858000"/>
          </a:xfrm>
          <a:prstGeom prst="rect">
            <a:avLst/>
          </a:prstGeom>
        </p:spPr>
      </p:pic>
      <p:sp>
        <p:nvSpPr>
          <p:cNvPr id="3" name="Text 0">
            <a:extLst>
              <a:ext uri="{FF2B5EF4-FFF2-40B4-BE49-F238E27FC236}">
                <a16:creationId xmlns:a16="http://schemas.microsoft.com/office/drawing/2014/main" id="{6E394291-7C35-E08F-8090-EE65B277F751}"/>
              </a:ext>
            </a:extLst>
          </p:cNvPr>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2</a:t>
            </a:r>
            <a:endParaRPr lang="en-US" sz="600" dirty="0"/>
          </a:p>
        </p:txBody>
      </p:sp>
      <p:sp>
        <p:nvSpPr>
          <p:cNvPr id="4" name="Text 1">
            <a:extLst>
              <a:ext uri="{FF2B5EF4-FFF2-40B4-BE49-F238E27FC236}">
                <a16:creationId xmlns:a16="http://schemas.microsoft.com/office/drawing/2014/main" id="{FAA1D6DC-21AF-00D9-E350-1FD5D1850463}"/>
              </a:ext>
            </a:extLst>
          </p:cNvPr>
          <p:cNvSpPr/>
          <p:nvPr/>
        </p:nvSpPr>
        <p:spPr>
          <a:xfrm>
            <a:off x="329184" y="118872"/>
            <a:ext cx="9875520" cy="384048"/>
          </a:xfrm>
          <a:prstGeom prst="rect">
            <a:avLst/>
          </a:prstGeom>
          <a:noFill/>
          <a:ln/>
        </p:spPr>
        <p:txBody>
          <a:bodyPr wrap="square" lIns="254" tIns="254" rIns="254" bIns="254" rtlCol="0" anchor="ctr">
            <a:normAutofit/>
          </a:bodyPr>
          <a:lstStyle/>
          <a:p>
            <a:r>
              <a:rPr lang="en-US" sz="2000" b="1" dirty="0">
                <a:solidFill>
                  <a:schemeClr val="bg1"/>
                </a:solidFill>
                <a:latin typeface="Arial" pitchFamily="34" charset="0"/>
                <a:ea typeface="Arial" pitchFamily="34" charset="-122"/>
                <a:cs typeface="Arial" pitchFamily="34" charset="-120"/>
              </a:rPr>
              <a:t>3. </a:t>
            </a:r>
            <a:r>
              <a:rPr lang="en-US" b="1" dirty="0" err="1">
                <a:solidFill>
                  <a:schemeClr val="bg1"/>
                </a:solidFill>
              </a:rPr>
              <a:t>Sự</a:t>
            </a:r>
            <a:r>
              <a:rPr lang="en-US" b="1" dirty="0">
                <a:solidFill>
                  <a:schemeClr val="bg1"/>
                </a:solidFill>
              </a:rPr>
              <a:t> </a:t>
            </a:r>
            <a:r>
              <a:rPr lang="en-US" b="1" dirty="0" err="1">
                <a:solidFill>
                  <a:schemeClr val="bg1"/>
                </a:solidFill>
              </a:rPr>
              <a:t>mỏng</a:t>
            </a:r>
            <a:r>
              <a:rPr lang="en-US" b="1" dirty="0">
                <a:solidFill>
                  <a:schemeClr val="bg1"/>
                </a:solidFill>
              </a:rPr>
              <a:t> </a:t>
            </a:r>
            <a:r>
              <a:rPr lang="en-US" b="1" dirty="0" err="1">
                <a:solidFill>
                  <a:schemeClr val="bg1"/>
                </a:solidFill>
              </a:rPr>
              <a:t>manh</a:t>
            </a:r>
            <a:r>
              <a:rPr lang="en-US" b="1" dirty="0">
                <a:solidFill>
                  <a:schemeClr val="bg1"/>
                </a:solidFill>
              </a:rPr>
              <a:t> </a:t>
            </a:r>
            <a:r>
              <a:rPr lang="en-US" b="1" dirty="0" err="1">
                <a:solidFill>
                  <a:schemeClr val="bg1"/>
                </a:solidFill>
              </a:rPr>
              <a:t>của</a:t>
            </a:r>
            <a:r>
              <a:rPr lang="en-US" b="1" dirty="0">
                <a:solidFill>
                  <a:schemeClr val="bg1"/>
                </a:solidFill>
              </a:rPr>
              <a:t> Trí </a:t>
            </a:r>
            <a:r>
              <a:rPr lang="en-US" b="1" dirty="0" err="1">
                <a:solidFill>
                  <a:schemeClr val="bg1"/>
                </a:solidFill>
              </a:rPr>
              <a:t>tuệ</a:t>
            </a:r>
            <a:r>
              <a:rPr lang="en-US" b="1" dirty="0">
                <a:solidFill>
                  <a:schemeClr val="bg1"/>
                </a:solidFill>
              </a:rPr>
              <a:t> </a:t>
            </a:r>
            <a:r>
              <a:rPr lang="en-US" b="1" dirty="0" err="1">
                <a:solidFill>
                  <a:schemeClr val="bg1"/>
                </a:solidFill>
              </a:rPr>
              <a:t>nhân</a:t>
            </a:r>
            <a:r>
              <a:rPr lang="en-US" b="1" dirty="0">
                <a:solidFill>
                  <a:schemeClr val="bg1"/>
                </a:solidFill>
              </a:rPr>
              <a:t> </a:t>
            </a:r>
            <a:r>
              <a:rPr lang="en-US" b="1" dirty="0" err="1">
                <a:solidFill>
                  <a:schemeClr val="bg1"/>
                </a:solidFill>
              </a:rPr>
              <a:t>tạo</a:t>
            </a:r>
            <a:endParaRPr lang="en-US" sz="2000" b="1" dirty="0">
              <a:solidFill>
                <a:schemeClr val="bg1"/>
              </a:solidFill>
            </a:endParaRPr>
          </a:p>
        </p:txBody>
      </p:sp>
      <p:sp>
        <p:nvSpPr>
          <p:cNvPr id="19" name="Shape 1">
            <a:extLst>
              <a:ext uri="{FF2B5EF4-FFF2-40B4-BE49-F238E27FC236}">
                <a16:creationId xmlns:a16="http://schemas.microsoft.com/office/drawing/2014/main" id="{5B1D0AC2-1911-C269-870D-4CF8CA656E0A}"/>
              </a:ext>
            </a:extLst>
          </p:cNvPr>
          <p:cNvSpPr/>
          <p:nvPr/>
        </p:nvSpPr>
        <p:spPr>
          <a:xfrm>
            <a:off x="590600" y="1693068"/>
            <a:ext cx="425252" cy="425252"/>
          </a:xfrm>
          <a:prstGeom prst="roundRect">
            <a:avLst>
              <a:gd name="adj" fmla="val 18669"/>
            </a:avLst>
          </a:prstGeom>
          <a:solidFill>
            <a:srgbClr val="DADBF1"/>
          </a:solidFill>
          <a:ln w="7620">
            <a:solidFill>
              <a:srgbClr val="C0C1D7"/>
            </a:solidFill>
            <a:prstDash val="solid"/>
          </a:ln>
        </p:spPr>
      </p:sp>
      <p:sp>
        <p:nvSpPr>
          <p:cNvPr id="20" name="Text 2">
            <a:extLst>
              <a:ext uri="{FF2B5EF4-FFF2-40B4-BE49-F238E27FC236}">
                <a16:creationId xmlns:a16="http://schemas.microsoft.com/office/drawing/2014/main" id="{C742BEE9-4CF8-4469-1859-77003FC3BCCB}"/>
              </a:ext>
            </a:extLst>
          </p:cNvPr>
          <p:cNvSpPr/>
          <p:nvPr/>
        </p:nvSpPr>
        <p:spPr>
          <a:xfrm>
            <a:off x="661492" y="1780116"/>
            <a:ext cx="283468" cy="354409"/>
          </a:xfrm>
          <a:prstGeom prst="rect">
            <a:avLst/>
          </a:prstGeom>
          <a:noFill/>
          <a:ln/>
        </p:spPr>
        <p:txBody>
          <a:bodyPr wrap="none" lIns="0" tIns="0" rIns="0" bIns="0" rtlCol="0" anchor="t"/>
          <a:lstStyle/>
          <a:p>
            <a:pPr algn="ctr">
              <a:lnSpc>
                <a:spcPts val="2208"/>
              </a:lnSpc>
            </a:pPr>
            <a:r>
              <a:rPr lang="en-US" sz="1400" b="1" dirty="0">
                <a:solidFill>
                  <a:srgbClr val="272525"/>
                </a:solidFill>
                <a:latin typeface="Inter Bold"/>
                <a:ea typeface="Inter Bold"/>
                <a:cs typeface="Inter Bold" pitchFamily="34" charset="-120"/>
              </a:rPr>
              <a:t>1</a:t>
            </a:r>
            <a:endParaRPr lang="en-US" sz="1400" dirty="0">
              <a:latin typeface="Inter Bold"/>
              <a:ea typeface="Inter Bold"/>
            </a:endParaRPr>
          </a:p>
        </p:txBody>
      </p:sp>
      <p:sp>
        <p:nvSpPr>
          <p:cNvPr id="21" name="Shape 5">
            <a:extLst>
              <a:ext uri="{FF2B5EF4-FFF2-40B4-BE49-F238E27FC236}">
                <a16:creationId xmlns:a16="http://schemas.microsoft.com/office/drawing/2014/main" id="{DF0B64D0-C76C-A010-13F6-4427265BD14F}"/>
              </a:ext>
            </a:extLst>
          </p:cNvPr>
          <p:cNvSpPr/>
          <p:nvPr/>
        </p:nvSpPr>
        <p:spPr>
          <a:xfrm>
            <a:off x="590600" y="2847081"/>
            <a:ext cx="425252" cy="425252"/>
          </a:xfrm>
          <a:prstGeom prst="roundRect">
            <a:avLst>
              <a:gd name="adj" fmla="val 18669"/>
            </a:avLst>
          </a:prstGeom>
          <a:solidFill>
            <a:srgbClr val="DADBF1"/>
          </a:solidFill>
          <a:ln w="7620">
            <a:solidFill>
              <a:srgbClr val="C0C1D7"/>
            </a:solidFill>
            <a:prstDash val="solid"/>
          </a:ln>
        </p:spPr>
      </p:sp>
      <p:sp>
        <p:nvSpPr>
          <p:cNvPr id="22" name="Text 6">
            <a:extLst>
              <a:ext uri="{FF2B5EF4-FFF2-40B4-BE49-F238E27FC236}">
                <a16:creationId xmlns:a16="http://schemas.microsoft.com/office/drawing/2014/main" id="{E8A0A109-A670-9597-D937-2562A74E87DE}"/>
              </a:ext>
            </a:extLst>
          </p:cNvPr>
          <p:cNvSpPr/>
          <p:nvPr/>
        </p:nvSpPr>
        <p:spPr>
          <a:xfrm>
            <a:off x="661492" y="2917925"/>
            <a:ext cx="283468" cy="354409"/>
          </a:xfrm>
          <a:prstGeom prst="rect">
            <a:avLst/>
          </a:prstGeom>
          <a:noFill/>
          <a:ln/>
        </p:spPr>
        <p:txBody>
          <a:bodyPr wrap="none" lIns="0" tIns="0" rIns="0" bIns="0" rtlCol="0" anchor="t"/>
          <a:lstStyle/>
          <a:p>
            <a:pPr algn="ctr">
              <a:lnSpc>
                <a:spcPts val="2208"/>
              </a:lnSpc>
            </a:pPr>
            <a:r>
              <a:rPr lang="en-US" sz="1400" b="1" dirty="0">
                <a:solidFill>
                  <a:srgbClr val="272525"/>
                </a:solidFill>
                <a:latin typeface="Inter Bold"/>
                <a:ea typeface="Inter Bold"/>
                <a:cs typeface="Inter Bold" pitchFamily="34" charset="-120"/>
              </a:rPr>
              <a:t>2</a:t>
            </a:r>
            <a:endParaRPr lang="en-US" sz="1400" dirty="0">
              <a:latin typeface="Inter Bold"/>
              <a:ea typeface="Inter Bold"/>
            </a:endParaRPr>
          </a:p>
        </p:txBody>
      </p:sp>
      <p:sp>
        <p:nvSpPr>
          <p:cNvPr id="23" name="Shape 9">
            <a:extLst>
              <a:ext uri="{FF2B5EF4-FFF2-40B4-BE49-F238E27FC236}">
                <a16:creationId xmlns:a16="http://schemas.microsoft.com/office/drawing/2014/main" id="{E0FF031C-B167-6D7B-C7C1-69DC636400D7}"/>
              </a:ext>
            </a:extLst>
          </p:cNvPr>
          <p:cNvSpPr/>
          <p:nvPr/>
        </p:nvSpPr>
        <p:spPr>
          <a:xfrm>
            <a:off x="590600" y="4001095"/>
            <a:ext cx="425252" cy="425252"/>
          </a:xfrm>
          <a:prstGeom prst="roundRect">
            <a:avLst>
              <a:gd name="adj" fmla="val 18669"/>
            </a:avLst>
          </a:prstGeom>
          <a:solidFill>
            <a:srgbClr val="DADBF1"/>
          </a:solidFill>
          <a:ln w="7620">
            <a:solidFill>
              <a:srgbClr val="C0C1D7"/>
            </a:solidFill>
            <a:prstDash val="solid"/>
          </a:ln>
        </p:spPr>
      </p:sp>
      <p:sp>
        <p:nvSpPr>
          <p:cNvPr id="24" name="Text 10">
            <a:extLst>
              <a:ext uri="{FF2B5EF4-FFF2-40B4-BE49-F238E27FC236}">
                <a16:creationId xmlns:a16="http://schemas.microsoft.com/office/drawing/2014/main" id="{0E724E9A-54B2-E34F-5D59-77D36EACA38B}"/>
              </a:ext>
            </a:extLst>
          </p:cNvPr>
          <p:cNvSpPr/>
          <p:nvPr/>
        </p:nvSpPr>
        <p:spPr>
          <a:xfrm>
            <a:off x="661492" y="4104349"/>
            <a:ext cx="283468" cy="354409"/>
          </a:xfrm>
          <a:prstGeom prst="rect">
            <a:avLst/>
          </a:prstGeom>
          <a:noFill/>
          <a:ln/>
        </p:spPr>
        <p:txBody>
          <a:bodyPr wrap="none" lIns="0" tIns="0" rIns="0" bIns="0" rtlCol="0" anchor="t"/>
          <a:lstStyle/>
          <a:p>
            <a:pPr algn="ctr">
              <a:lnSpc>
                <a:spcPts val="2208"/>
              </a:lnSpc>
            </a:pPr>
            <a:r>
              <a:rPr lang="en-US" sz="1400" b="1" dirty="0">
                <a:solidFill>
                  <a:srgbClr val="272525"/>
                </a:solidFill>
                <a:latin typeface="Inter Bold"/>
                <a:ea typeface="Inter Bold"/>
                <a:cs typeface="Inter Bold" pitchFamily="34" charset="-120"/>
              </a:rPr>
              <a:t>3</a:t>
            </a:r>
            <a:endParaRPr lang="en-US" sz="1400" dirty="0">
              <a:latin typeface="Inter Bold"/>
              <a:ea typeface="Inter Bold"/>
            </a:endParaRPr>
          </a:p>
        </p:txBody>
      </p:sp>
      <p:sp>
        <p:nvSpPr>
          <p:cNvPr id="25" name="Shape 13">
            <a:extLst>
              <a:ext uri="{FF2B5EF4-FFF2-40B4-BE49-F238E27FC236}">
                <a16:creationId xmlns:a16="http://schemas.microsoft.com/office/drawing/2014/main" id="{E56E15B2-E2D3-90EB-C9AA-9E98EA1763F1}"/>
              </a:ext>
            </a:extLst>
          </p:cNvPr>
          <p:cNvSpPr/>
          <p:nvPr/>
        </p:nvSpPr>
        <p:spPr>
          <a:xfrm>
            <a:off x="590600" y="5155108"/>
            <a:ext cx="425252" cy="425252"/>
          </a:xfrm>
          <a:prstGeom prst="roundRect">
            <a:avLst>
              <a:gd name="adj" fmla="val 18669"/>
            </a:avLst>
          </a:prstGeom>
          <a:solidFill>
            <a:srgbClr val="DADBF1"/>
          </a:solidFill>
          <a:ln w="7620">
            <a:solidFill>
              <a:srgbClr val="C0C1D7"/>
            </a:solidFill>
            <a:prstDash val="solid"/>
          </a:ln>
        </p:spPr>
      </p:sp>
      <p:sp>
        <p:nvSpPr>
          <p:cNvPr id="26" name="Text 14">
            <a:extLst>
              <a:ext uri="{FF2B5EF4-FFF2-40B4-BE49-F238E27FC236}">
                <a16:creationId xmlns:a16="http://schemas.microsoft.com/office/drawing/2014/main" id="{82807484-2FD0-1703-C724-A50953613A9D}"/>
              </a:ext>
            </a:extLst>
          </p:cNvPr>
          <p:cNvSpPr/>
          <p:nvPr/>
        </p:nvSpPr>
        <p:spPr>
          <a:xfrm>
            <a:off x="661492" y="5234152"/>
            <a:ext cx="283468" cy="267163"/>
          </a:xfrm>
          <a:prstGeom prst="rect">
            <a:avLst/>
          </a:prstGeom>
          <a:noFill/>
          <a:ln/>
        </p:spPr>
        <p:txBody>
          <a:bodyPr wrap="none" lIns="0" tIns="0" rIns="0" bIns="0" rtlCol="0" anchor="t"/>
          <a:lstStyle/>
          <a:p>
            <a:pPr algn="ctr">
              <a:lnSpc>
                <a:spcPts val="2208"/>
              </a:lnSpc>
            </a:pPr>
            <a:r>
              <a:rPr lang="en-US" sz="1400" b="1" dirty="0">
                <a:solidFill>
                  <a:srgbClr val="272525"/>
                </a:solidFill>
                <a:latin typeface="Inter Bold"/>
                <a:ea typeface="Inter Bold"/>
                <a:cs typeface="Inter Bold" pitchFamily="34" charset="-120"/>
              </a:rPr>
              <a:t>4</a:t>
            </a:r>
            <a:endParaRPr lang="en-US" sz="1400" dirty="0">
              <a:latin typeface="Inter Bold"/>
              <a:ea typeface="Inter Bold"/>
            </a:endParaRPr>
          </a:p>
        </p:txBody>
      </p:sp>
      <p:sp>
        <p:nvSpPr>
          <p:cNvPr id="27" name="TextBox 26">
            <a:extLst>
              <a:ext uri="{FF2B5EF4-FFF2-40B4-BE49-F238E27FC236}">
                <a16:creationId xmlns:a16="http://schemas.microsoft.com/office/drawing/2014/main" id="{2BAD91C2-0D7E-60D4-4AF2-D429052CB2C1}"/>
              </a:ext>
            </a:extLst>
          </p:cNvPr>
          <p:cNvSpPr txBox="1"/>
          <p:nvPr/>
        </p:nvSpPr>
        <p:spPr>
          <a:xfrm>
            <a:off x="1234480" y="1564059"/>
            <a:ext cx="6096000" cy="523220"/>
          </a:xfrm>
          <a:prstGeom prst="rect">
            <a:avLst/>
          </a:prstGeom>
          <a:noFill/>
        </p:spPr>
        <p:txBody>
          <a:bodyPr wrap="square">
            <a:spAutoFit/>
          </a:bodyPr>
          <a:lstStyle/>
          <a:p>
            <a:r>
              <a:rPr lang="en-US" sz="1400" dirty="0" err="1"/>
              <a:t>Vấn</a:t>
            </a:r>
            <a:r>
              <a:rPr lang="en-US" sz="1400" dirty="0"/>
              <a:t> </a:t>
            </a:r>
            <a:r>
              <a:rPr lang="en-US" sz="1400" dirty="0" err="1"/>
              <a:t>đề</a:t>
            </a:r>
            <a:r>
              <a:rPr lang="en-US" sz="1400" dirty="0"/>
              <a:t> (The Problem)</a:t>
            </a:r>
            <a:r>
              <a:rPr lang="vi-VN" sz="1400" b="1" dirty="0">
                <a:latin typeface="Inter" panose="020B0604020202020204" charset="0"/>
                <a:ea typeface="Inter Bold"/>
              </a:rPr>
              <a:t>: </a:t>
            </a:r>
            <a:r>
              <a:rPr lang="vi-VN" sz="1400" dirty="0"/>
              <a:t>Trí tuệ nhân tạo (AI) ngày càng thông minh, nhưng lại tồn tại một "điểm mù" chí mạng.</a:t>
            </a:r>
            <a:endParaRPr lang="vi-VN" sz="1400" dirty="0">
              <a:latin typeface="Inter" panose="020B0604020202020204" charset="0"/>
              <a:ea typeface="Inter Bold"/>
            </a:endParaRPr>
          </a:p>
        </p:txBody>
      </p:sp>
      <p:sp>
        <p:nvSpPr>
          <p:cNvPr id="28" name="TextBox 27">
            <a:extLst>
              <a:ext uri="{FF2B5EF4-FFF2-40B4-BE49-F238E27FC236}">
                <a16:creationId xmlns:a16="http://schemas.microsoft.com/office/drawing/2014/main" id="{82BB4A99-2981-9FD6-939B-6E13AF49B20F}"/>
              </a:ext>
            </a:extLst>
          </p:cNvPr>
          <p:cNvSpPr txBox="1"/>
          <p:nvPr/>
        </p:nvSpPr>
        <p:spPr>
          <a:xfrm>
            <a:off x="1163588" y="2697832"/>
            <a:ext cx="6096000" cy="954107"/>
          </a:xfrm>
          <a:prstGeom prst="rect">
            <a:avLst/>
          </a:prstGeom>
          <a:noFill/>
        </p:spPr>
        <p:txBody>
          <a:bodyPr wrap="square">
            <a:spAutoFit/>
          </a:bodyPr>
          <a:lstStyle/>
          <a:p>
            <a:r>
              <a:rPr lang="vi-VN" sz="1400" dirty="0"/>
              <a:t>Sự thật nguy hiểm: Chỉ cần thêm </a:t>
            </a:r>
            <a:r>
              <a:rPr lang="vi-VN" sz="1400" b="1" dirty="0"/>
              <a:t>1% nhiễu vô hình</a:t>
            </a:r>
            <a:r>
              <a:rPr lang="vi-VN" sz="1400" dirty="0"/>
              <a:t> (invisible noise), mạng nơ-ron có thể bị đánh lừa hoàn toàn.</a:t>
            </a:r>
          </a:p>
          <a:p>
            <a:r>
              <a:rPr lang="vi-VN" sz="1400" dirty="0"/>
              <a:t/>
            </a:r>
            <a:br>
              <a:rPr lang="vi-VN" sz="1400" dirty="0"/>
            </a:br>
            <a:endParaRPr lang="vi-VN" sz="1400" dirty="0">
              <a:latin typeface="Segoe WPC"/>
              <a:ea typeface="Inter Bold"/>
            </a:endParaRPr>
          </a:p>
        </p:txBody>
      </p:sp>
      <p:sp>
        <p:nvSpPr>
          <p:cNvPr id="29" name="TextBox 28">
            <a:extLst>
              <a:ext uri="{FF2B5EF4-FFF2-40B4-BE49-F238E27FC236}">
                <a16:creationId xmlns:a16="http://schemas.microsoft.com/office/drawing/2014/main" id="{F5584CFD-CE9C-A2D4-5C3A-4C7C60318FE1}"/>
              </a:ext>
            </a:extLst>
          </p:cNvPr>
          <p:cNvSpPr txBox="1"/>
          <p:nvPr/>
        </p:nvSpPr>
        <p:spPr>
          <a:xfrm>
            <a:off x="1163588" y="3872582"/>
            <a:ext cx="6096000" cy="1169551"/>
          </a:xfrm>
          <a:prstGeom prst="rect">
            <a:avLst/>
          </a:prstGeom>
          <a:noFill/>
        </p:spPr>
        <p:txBody>
          <a:bodyPr wrap="square">
            <a:spAutoFit/>
          </a:bodyPr>
          <a:lstStyle/>
          <a:p>
            <a:r>
              <a:rPr lang="vi-VN" sz="1400" dirty="0"/>
              <a:t>Ví dụ kinh điển: Mô hình AI chắc chắn 100% một </a:t>
            </a:r>
            <a:r>
              <a:rPr lang="vi-VN" sz="1400" b="1" dirty="0"/>
              <a:t>Chú Chó (Dog)</a:t>
            </a:r>
            <a:r>
              <a:rPr lang="vi-VN" sz="1400" dirty="0"/>
              <a:t> là một chiếc </a:t>
            </a:r>
            <a:r>
              <a:rPr lang="vi-VN" sz="1400" b="1" dirty="0"/>
              <a:t>Lò nướng bánh mì (Toaster)</a:t>
            </a:r>
            <a:r>
              <a:rPr lang="vi-VN" sz="1400" dirty="0"/>
              <a:t>, trong khi mắt người không hề nhận thấy sự thay đổi trên bức ảnh.</a:t>
            </a:r>
          </a:p>
          <a:p>
            <a:r>
              <a:rPr lang="vi-VN" sz="1400" dirty="0"/>
              <a:t/>
            </a:r>
            <a:br>
              <a:rPr lang="vi-VN" sz="1400" dirty="0"/>
            </a:br>
            <a:endParaRPr lang="en-US" sz="1400" dirty="0">
              <a:latin typeface="Inter Bold"/>
              <a:ea typeface="Inter Bold"/>
            </a:endParaRPr>
          </a:p>
        </p:txBody>
      </p:sp>
      <p:sp>
        <p:nvSpPr>
          <p:cNvPr id="30" name="TextBox 29">
            <a:extLst>
              <a:ext uri="{FF2B5EF4-FFF2-40B4-BE49-F238E27FC236}">
                <a16:creationId xmlns:a16="http://schemas.microsoft.com/office/drawing/2014/main" id="{BC4C458B-857D-8267-2D8A-4BAECF0FDDAE}"/>
              </a:ext>
            </a:extLst>
          </p:cNvPr>
          <p:cNvSpPr txBox="1"/>
          <p:nvPr/>
        </p:nvSpPr>
        <p:spPr>
          <a:xfrm>
            <a:off x="1163588" y="4983012"/>
            <a:ext cx="6096000" cy="954107"/>
          </a:xfrm>
          <a:prstGeom prst="rect">
            <a:avLst/>
          </a:prstGeom>
          <a:noFill/>
        </p:spPr>
        <p:txBody>
          <a:bodyPr wrap="square">
            <a:spAutoFit/>
          </a:bodyPr>
          <a:lstStyle/>
          <a:p>
            <a:r>
              <a:rPr lang="vi-VN" sz="1400" dirty="0"/>
              <a:t>Động lực: Các thiết bị có tài nguyên thấp (Low-Resource Edge) dùng các mô hình nhỏ gọn như ResNet-18 càng dễ bị tổn thương -&gt; Cần có giải pháp phòng thủ!</a:t>
            </a:r>
          </a:p>
          <a:p>
            <a:endParaRPr lang="vi-VN" sz="1400" dirty="0">
              <a:latin typeface="Segoe WPC"/>
              <a:ea typeface="Inter Bold"/>
            </a:endParaRPr>
          </a:p>
        </p:txBody>
      </p:sp>
      <p:pic>
        <p:nvPicPr>
          <p:cNvPr id="32" name="Picture 31">
            <a:extLst>
              <a:ext uri="{FF2B5EF4-FFF2-40B4-BE49-F238E27FC236}">
                <a16:creationId xmlns:a16="http://schemas.microsoft.com/office/drawing/2014/main" id="{2DC3BDFD-321F-461C-F778-7C7EB9074849}"/>
              </a:ext>
            </a:extLst>
          </p:cNvPr>
          <p:cNvPicPr>
            <a:picLocks noChangeAspect="1"/>
          </p:cNvPicPr>
          <p:nvPr/>
        </p:nvPicPr>
        <p:blipFill>
          <a:blip r:embed="rId4"/>
          <a:stretch>
            <a:fillRect/>
          </a:stretch>
        </p:blipFill>
        <p:spPr>
          <a:xfrm>
            <a:off x="7400508" y="2563999"/>
            <a:ext cx="4650267" cy="2617166"/>
          </a:xfrm>
          <a:prstGeom prst="rect">
            <a:avLst/>
          </a:prstGeom>
        </p:spPr>
      </p:pic>
    </p:spTree>
    <p:extLst>
      <p:ext uri="{BB962C8B-B14F-4D97-AF65-F5344CB8AC3E}">
        <p14:creationId xmlns:p14="http://schemas.microsoft.com/office/powerpoint/2010/main" val="2164322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3</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a:solidFill>
                  <a:srgbClr val="FFFFFF"/>
                </a:solidFill>
                <a:latin typeface="Arial" pitchFamily="34" charset="0"/>
                <a:ea typeface="Arial" pitchFamily="34" charset="-122"/>
                <a:cs typeface="Arial" pitchFamily="34" charset="-120"/>
              </a:rPr>
              <a:t>4. Quy </a:t>
            </a:r>
            <a:r>
              <a:rPr lang="en-US" sz="2000" b="1" dirty="0" err="1">
                <a:solidFill>
                  <a:srgbClr val="FFFFFF"/>
                </a:solidFill>
                <a:latin typeface="Arial" pitchFamily="34" charset="0"/>
                <a:ea typeface="Arial" pitchFamily="34" charset="-122"/>
                <a:cs typeface="Arial" pitchFamily="34" charset="-120"/>
              </a:rPr>
              <a:t>trình</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thực</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hiện</a:t>
            </a:r>
            <a:endParaRPr lang="en-US" sz="2000" dirty="0"/>
          </a:p>
        </p:txBody>
      </p:sp>
      <p:sp>
        <p:nvSpPr>
          <p:cNvPr id="5" name="Shape 2"/>
          <p:cNvSpPr/>
          <p:nvPr/>
        </p:nvSpPr>
        <p:spPr>
          <a:xfrm>
            <a:off x="502920" y="1143000"/>
            <a:ext cx="1600200" cy="1078992"/>
          </a:xfrm>
          <a:prstGeom prst="roundRect">
            <a:avLst>
              <a:gd name="adj" fmla="val 6780"/>
            </a:avLst>
          </a:prstGeom>
          <a:solidFill>
            <a:srgbClr val="003B6D"/>
          </a:solidFill>
          <a:ln w="12700">
            <a:solidFill>
              <a:srgbClr val="003B6D"/>
            </a:solidFill>
            <a:prstDash val="solid"/>
          </a:ln>
        </p:spPr>
        <p:txBody>
          <a:bodyPr/>
          <a:lstStyle/>
          <a:p>
            <a:endParaRPr/>
          </a:p>
        </p:txBody>
      </p:sp>
      <p:sp>
        <p:nvSpPr>
          <p:cNvPr id="6" name="Text 3"/>
          <p:cNvSpPr/>
          <p:nvPr/>
        </p:nvSpPr>
        <p:spPr>
          <a:xfrm>
            <a:off x="576072" y="1307592"/>
            <a:ext cx="1453896" cy="228600"/>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Train baseline</a:t>
            </a:r>
            <a:endParaRPr lang="en-US" sz="1050" dirty="0"/>
          </a:p>
        </p:txBody>
      </p:sp>
      <p:sp>
        <p:nvSpPr>
          <p:cNvPr id="7" name="Text 4"/>
          <p:cNvSpPr/>
          <p:nvPr/>
        </p:nvSpPr>
        <p:spPr>
          <a:xfrm>
            <a:off x="576072" y="1618488"/>
            <a:ext cx="1453896" cy="457200"/>
          </a:xfrm>
          <a:prstGeom prst="rect">
            <a:avLst/>
          </a:prstGeom>
          <a:noFill/>
          <a:ln/>
        </p:spPr>
        <p:txBody>
          <a:bodyPr wrap="square" lIns="254" tIns="254" rIns="254" bIns="254" rtlCol="0" anchor="ctr">
            <a:normAutofit/>
          </a:bodyPr>
          <a:lstStyle/>
          <a:p>
            <a:pPr marL="0" indent="0" algn="ctr">
              <a:buNone/>
            </a:pPr>
            <a:r>
              <a:rPr lang="en-US" sz="950" dirty="0">
                <a:solidFill>
                  <a:srgbClr val="FFFFFF"/>
                </a:solidFill>
                <a:latin typeface="Arial" pitchFamily="34" charset="0"/>
                <a:ea typeface="Arial" pitchFamily="34" charset="-122"/>
                <a:cs typeface="Arial" pitchFamily="34" charset="-120"/>
              </a:rPr>
              <a:t>ResNet-18</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CIFAR-10</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50 epochs</a:t>
            </a:r>
            <a:endParaRPr lang="en-US" sz="950" dirty="0"/>
          </a:p>
        </p:txBody>
      </p:sp>
      <p:sp>
        <p:nvSpPr>
          <p:cNvPr id="8" name="Shape 5"/>
          <p:cNvSpPr/>
          <p:nvPr/>
        </p:nvSpPr>
        <p:spPr>
          <a:xfrm>
            <a:off x="2194560" y="1463040"/>
            <a:ext cx="685800" cy="411480"/>
          </a:xfrm>
          <a:prstGeom prst="rightArrow">
            <a:avLst/>
          </a:prstGeom>
          <a:solidFill>
            <a:srgbClr val="B5B5B5"/>
          </a:solidFill>
          <a:ln w="12700">
            <a:solidFill>
              <a:srgbClr val="B5B5B5"/>
            </a:solidFill>
            <a:prstDash val="solid"/>
          </a:ln>
        </p:spPr>
        <p:txBody>
          <a:bodyPr/>
          <a:lstStyle/>
          <a:p>
            <a:endParaRPr/>
          </a:p>
        </p:txBody>
      </p:sp>
      <p:sp>
        <p:nvSpPr>
          <p:cNvPr id="9" name="Shape 6"/>
          <p:cNvSpPr/>
          <p:nvPr/>
        </p:nvSpPr>
        <p:spPr>
          <a:xfrm>
            <a:off x="2926080" y="1143000"/>
            <a:ext cx="1600200" cy="1078992"/>
          </a:xfrm>
          <a:prstGeom prst="roundRect">
            <a:avLst>
              <a:gd name="adj" fmla="val 6780"/>
            </a:avLst>
          </a:prstGeom>
          <a:solidFill>
            <a:srgbClr val="C91F35"/>
          </a:solidFill>
          <a:ln w="12700">
            <a:solidFill>
              <a:srgbClr val="C91F35"/>
            </a:solidFill>
            <a:prstDash val="solid"/>
          </a:ln>
        </p:spPr>
        <p:txBody>
          <a:bodyPr/>
          <a:lstStyle/>
          <a:p>
            <a:endParaRPr/>
          </a:p>
        </p:txBody>
      </p:sp>
      <p:sp>
        <p:nvSpPr>
          <p:cNvPr id="10" name="Text 7"/>
          <p:cNvSpPr/>
          <p:nvPr/>
        </p:nvSpPr>
        <p:spPr>
          <a:xfrm>
            <a:off x="2999232" y="1307592"/>
            <a:ext cx="1453896" cy="228600"/>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Tạo attack</a:t>
            </a:r>
            <a:endParaRPr lang="en-US" sz="1050" dirty="0"/>
          </a:p>
        </p:txBody>
      </p:sp>
      <p:sp>
        <p:nvSpPr>
          <p:cNvPr id="11" name="Text 8"/>
          <p:cNvSpPr/>
          <p:nvPr/>
        </p:nvSpPr>
        <p:spPr>
          <a:xfrm>
            <a:off x="2999232" y="1618488"/>
            <a:ext cx="1453896" cy="457200"/>
          </a:xfrm>
          <a:prstGeom prst="rect">
            <a:avLst/>
          </a:prstGeom>
          <a:noFill/>
          <a:ln/>
        </p:spPr>
        <p:txBody>
          <a:bodyPr wrap="square" lIns="254" tIns="254" rIns="254" bIns="254" rtlCol="0" anchor="ctr">
            <a:normAutofit/>
          </a:bodyPr>
          <a:lstStyle/>
          <a:p>
            <a:pPr marL="0" indent="0" algn="ctr">
              <a:buNone/>
            </a:pPr>
            <a:r>
              <a:rPr lang="en-US" sz="950" dirty="0">
                <a:solidFill>
                  <a:srgbClr val="FFFFFF"/>
                </a:solidFill>
                <a:latin typeface="Arial" pitchFamily="34" charset="0"/>
                <a:ea typeface="Arial" pitchFamily="34" charset="-122"/>
                <a:cs typeface="Arial" pitchFamily="34" charset="-120"/>
              </a:rPr>
              <a:t>FGSM</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PGD</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C&amp;W</a:t>
            </a:r>
            <a:endParaRPr lang="en-US" sz="950" dirty="0"/>
          </a:p>
        </p:txBody>
      </p:sp>
      <p:sp>
        <p:nvSpPr>
          <p:cNvPr id="12" name="Shape 9"/>
          <p:cNvSpPr/>
          <p:nvPr/>
        </p:nvSpPr>
        <p:spPr>
          <a:xfrm>
            <a:off x="4617720" y="1463040"/>
            <a:ext cx="685800" cy="411480"/>
          </a:xfrm>
          <a:prstGeom prst="rightArrow">
            <a:avLst/>
          </a:prstGeom>
          <a:solidFill>
            <a:srgbClr val="B5B5B5"/>
          </a:solidFill>
          <a:ln w="12700">
            <a:solidFill>
              <a:srgbClr val="B5B5B5"/>
            </a:solidFill>
            <a:prstDash val="solid"/>
          </a:ln>
        </p:spPr>
        <p:txBody>
          <a:bodyPr/>
          <a:lstStyle/>
          <a:p>
            <a:endParaRPr/>
          </a:p>
        </p:txBody>
      </p:sp>
      <p:sp>
        <p:nvSpPr>
          <p:cNvPr id="13" name="Shape 10"/>
          <p:cNvSpPr/>
          <p:nvPr/>
        </p:nvSpPr>
        <p:spPr>
          <a:xfrm>
            <a:off x="5349240" y="1143000"/>
            <a:ext cx="1600200" cy="1078992"/>
          </a:xfrm>
          <a:prstGeom prst="roundRect">
            <a:avLst>
              <a:gd name="adj" fmla="val 6780"/>
            </a:avLst>
          </a:prstGeom>
          <a:solidFill>
            <a:srgbClr val="C91F35"/>
          </a:solidFill>
          <a:ln w="12700">
            <a:solidFill>
              <a:srgbClr val="C91F35"/>
            </a:solidFill>
            <a:prstDash val="solid"/>
          </a:ln>
        </p:spPr>
        <p:txBody>
          <a:bodyPr/>
          <a:lstStyle/>
          <a:p>
            <a:endParaRPr/>
          </a:p>
        </p:txBody>
      </p:sp>
      <p:sp>
        <p:nvSpPr>
          <p:cNvPr id="14" name="Text 11"/>
          <p:cNvSpPr/>
          <p:nvPr/>
        </p:nvSpPr>
        <p:spPr>
          <a:xfrm>
            <a:off x="5422392" y="1307592"/>
            <a:ext cx="1453896" cy="228600"/>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Đo suy giảm</a:t>
            </a:r>
            <a:endParaRPr lang="en-US" sz="1050" dirty="0"/>
          </a:p>
        </p:txBody>
      </p:sp>
      <p:sp>
        <p:nvSpPr>
          <p:cNvPr id="15" name="Text 12"/>
          <p:cNvSpPr/>
          <p:nvPr/>
        </p:nvSpPr>
        <p:spPr>
          <a:xfrm>
            <a:off x="5422392" y="1618488"/>
            <a:ext cx="1453896" cy="457200"/>
          </a:xfrm>
          <a:prstGeom prst="rect">
            <a:avLst/>
          </a:prstGeom>
          <a:noFill/>
          <a:ln/>
        </p:spPr>
        <p:txBody>
          <a:bodyPr wrap="square" lIns="254" tIns="254" rIns="254" bIns="254" rtlCol="0" anchor="ctr">
            <a:normAutofit/>
          </a:bodyPr>
          <a:lstStyle/>
          <a:p>
            <a:pPr marL="0" indent="0" algn="ctr">
              <a:buNone/>
            </a:pPr>
            <a:r>
              <a:rPr lang="en-US" sz="950" dirty="0">
                <a:solidFill>
                  <a:srgbClr val="FFFFFF"/>
                </a:solidFill>
                <a:latin typeface="Arial" pitchFamily="34" charset="0"/>
                <a:ea typeface="Arial" pitchFamily="34" charset="-122"/>
                <a:cs typeface="Arial" pitchFamily="34" charset="-120"/>
              </a:rPr>
              <a:t>Accuracy</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trên validation</a:t>
            </a:r>
            <a:endParaRPr lang="en-US" sz="950" dirty="0"/>
          </a:p>
        </p:txBody>
      </p:sp>
      <p:sp>
        <p:nvSpPr>
          <p:cNvPr id="16" name="Shape 13"/>
          <p:cNvSpPr/>
          <p:nvPr/>
        </p:nvSpPr>
        <p:spPr>
          <a:xfrm>
            <a:off x="7040880" y="1463040"/>
            <a:ext cx="685800" cy="411480"/>
          </a:xfrm>
          <a:prstGeom prst="rightArrow">
            <a:avLst/>
          </a:prstGeom>
          <a:solidFill>
            <a:srgbClr val="B5B5B5"/>
          </a:solidFill>
          <a:ln w="12700">
            <a:solidFill>
              <a:srgbClr val="B5B5B5"/>
            </a:solidFill>
            <a:prstDash val="solid"/>
          </a:ln>
        </p:spPr>
        <p:txBody>
          <a:bodyPr/>
          <a:lstStyle/>
          <a:p>
            <a:endParaRPr/>
          </a:p>
        </p:txBody>
      </p:sp>
      <p:sp>
        <p:nvSpPr>
          <p:cNvPr id="17" name="Shape 14"/>
          <p:cNvSpPr/>
          <p:nvPr/>
        </p:nvSpPr>
        <p:spPr>
          <a:xfrm>
            <a:off x="7772400" y="1143000"/>
            <a:ext cx="1600200" cy="1078992"/>
          </a:xfrm>
          <a:prstGeom prst="roundRect">
            <a:avLst>
              <a:gd name="adj" fmla="val 6780"/>
            </a:avLst>
          </a:prstGeom>
          <a:solidFill>
            <a:srgbClr val="C91F35"/>
          </a:solidFill>
          <a:ln w="12700">
            <a:solidFill>
              <a:srgbClr val="C91F35"/>
            </a:solidFill>
            <a:prstDash val="solid"/>
          </a:ln>
        </p:spPr>
        <p:txBody>
          <a:bodyPr/>
          <a:lstStyle/>
          <a:p>
            <a:endParaRPr/>
          </a:p>
        </p:txBody>
      </p:sp>
      <p:sp>
        <p:nvSpPr>
          <p:cNvPr id="18" name="Text 15"/>
          <p:cNvSpPr/>
          <p:nvPr/>
        </p:nvSpPr>
        <p:spPr>
          <a:xfrm>
            <a:off x="7845552" y="1307592"/>
            <a:ext cx="1453896" cy="228600"/>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Áp dụng defense</a:t>
            </a:r>
            <a:endParaRPr lang="en-US" sz="1050" dirty="0"/>
          </a:p>
        </p:txBody>
      </p:sp>
      <p:sp>
        <p:nvSpPr>
          <p:cNvPr id="19" name="Text 16"/>
          <p:cNvSpPr/>
          <p:nvPr/>
        </p:nvSpPr>
        <p:spPr>
          <a:xfrm>
            <a:off x="7845552" y="1618488"/>
            <a:ext cx="1453896" cy="457200"/>
          </a:xfrm>
          <a:prstGeom prst="rect">
            <a:avLst/>
          </a:prstGeom>
          <a:noFill/>
          <a:ln/>
        </p:spPr>
        <p:txBody>
          <a:bodyPr wrap="square" lIns="254" tIns="254" rIns="254" bIns="254" rtlCol="0" anchor="ctr">
            <a:normAutofit/>
          </a:bodyPr>
          <a:lstStyle/>
          <a:p>
            <a:pPr marL="0" indent="0" algn="ctr">
              <a:buNone/>
            </a:pPr>
            <a:r>
              <a:rPr lang="en-US" sz="950" dirty="0">
                <a:solidFill>
                  <a:srgbClr val="FFFFFF"/>
                </a:solidFill>
                <a:latin typeface="Arial" pitchFamily="34" charset="0"/>
                <a:ea typeface="Arial" pitchFamily="34" charset="-122"/>
                <a:cs typeface="Arial" pitchFamily="34" charset="-120"/>
              </a:rPr>
              <a:t>JPEG</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Smoothing</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Adv. Training</a:t>
            </a:r>
            <a:endParaRPr lang="en-US" sz="950" dirty="0"/>
          </a:p>
        </p:txBody>
      </p:sp>
      <p:sp>
        <p:nvSpPr>
          <p:cNvPr id="20" name="Shape 17"/>
          <p:cNvSpPr/>
          <p:nvPr/>
        </p:nvSpPr>
        <p:spPr>
          <a:xfrm>
            <a:off x="9464040" y="1463040"/>
            <a:ext cx="685800" cy="411480"/>
          </a:xfrm>
          <a:prstGeom prst="rightArrow">
            <a:avLst/>
          </a:prstGeom>
          <a:solidFill>
            <a:srgbClr val="B5B5B5"/>
          </a:solidFill>
          <a:ln w="12700">
            <a:solidFill>
              <a:srgbClr val="B5B5B5"/>
            </a:solidFill>
            <a:prstDash val="solid"/>
          </a:ln>
        </p:spPr>
        <p:txBody>
          <a:bodyPr/>
          <a:lstStyle/>
          <a:p>
            <a:endParaRPr/>
          </a:p>
        </p:txBody>
      </p:sp>
      <p:sp>
        <p:nvSpPr>
          <p:cNvPr id="21" name="Shape 18"/>
          <p:cNvSpPr/>
          <p:nvPr/>
        </p:nvSpPr>
        <p:spPr>
          <a:xfrm>
            <a:off x="10195560" y="1143000"/>
            <a:ext cx="1600200" cy="1078992"/>
          </a:xfrm>
          <a:prstGeom prst="roundRect">
            <a:avLst>
              <a:gd name="adj" fmla="val 6780"/>
            </a:avLst>
          </a:prstGeom>
          <a:solidFill>
            <a:srgbClr val="003B6D"/>
          </a:solidFill>
          <a:ln w="12700">
            <a:solidFill>
              <a:srgbClr val="003B6D"/>
            </a:solidFill>
            <a:prstDash val="solid"/>
          </a:ln>
        </p:spPr>
        <p:txBody>
          <a:bodyPr/>
          <a:lstStyle/>
          <a:p>
            <a:endParaRPr/>
          </a:p>
        </p:txBody>
      </p:sp>
      <p:sp>
        <p:nvSpPr>
          <p:cNvPr id="22" name="Text 19"/>
          <p:cNvSpPr/>
          <p:nvPr/>
        </p:nvSpPr>
        <p:spPr>
          <a:xfrm>
            <a:off x="10268712" y="1307592"/>
            <a:ext cx="1453896" cy="228600"/>
          </a:xfrm>
          <a:prstGeom prst="rect">
            <a:avLst/>
          </a:prstGeom>
          <a:noFill/>
          <a:ln/>
        </p:spPr>
        <p:txBody>
          <a:bodyPr wrap="square" lIns="254" tIns="254" rIns="254" bIns="254" rtlCol="0" anchor="ctr">
            <a:normAutofit/>
          </a:bodyPr>
          <a:lstStyle/>
          <a:p>
            <a:pPr marL="0" indent="0" algn="ctr">
              <a:buNone/>
            </a:pPr>
            <a:r>
              <a:rPr lang="en-US" sz="1050" b="1" dirty="0">
                <a:solidFill>
                  <a:srgbClr val="FFFFFF"/>
                </a:solidFill>
                <a:latin typeface="Arial" pitchFamily="34" charset="0"/>
                <a:ea typeface="Arial" pitchFamily="34" charset="-122"/>
                <a:cs typeface="Arial" pitchFamily="34" charset="-120"/>
              </a:rPr>
              <a:t>So sánh</a:t>
            </a:r>
            <a:endParaRPr lang="en-US" sz="1050" dirty="0"/>
          </a:p>
        </p:txBody>
      </p:sp>
      <p:sp>
        <p:nvSpPr>
          <p:cNvPr id="23" name="Text 20"/>
          <p:cNvSpPr/>
          <p:nvPr/>
        </p:nvSpPr>
        <p:spPr>
          <a:xfrm>
            <a:off x="10268712" y="1618488"/>
            <a:ext cx="1453896" cy="457200"/>
          </a:xfrm>
          <a:prstGeom prst="rect">
            <a:avLst/>
          </a:prstGeom>
          <a:noFill/>
          <a:ln/>
        </p:spPr>
        <p:txBody>
          <a:bodyPr wrap="square" lIns="254" tIns="254" rIns="254" bIns="254" rtlCol="0" anchor="ctr">
            <a:normAutofit/>
          </a:bodyPr>
          <a:lstStyle/>
          <a:p>
            <a:pPr marL="0" indent="0" algn="ctr">
              <a:buNone/>
            </a:pPr>
            <a:r>
              <a:rPr lang="en-US" sz="950" dirty="0">
                <a:solidFill>
                  <a:srgbClr val="FFFFFF"/>
                </a:solidFill>
                <a:latin typeface="Arial" pitchFamily="34" charset="0"/>
                <a:ea typeface="Arial" pitchFamily="34" charset="-122"/>
                <a:cs typeface="Arial" pitchFamily="34" charset="-120"/>
              </a:rPr>
              <a:t>Hiệu quả</a:t>
            </a:r>
            <a:endParaRPr lang="en-US" sz="950" dirty="0"/>
          </a:p>
          <a:p>
            <a:pPr marL="0" indent="0" algn="ctr">
              <a:buNone/>
            </a:pPr>
            <a:r>
              <a:rPr lang="en-US" sz="950" dirty="0">
                <a:solidFill>
                  <a:srgbClr val="FFFFFF"/>
                </a:solidFill>
                <a:latin typeface="Arial" pitchFamily="34" charset="0"/>
                <a:ea typeface="Arial" pitchFamily="34" charset="-122"/>
                <a:cs typeface="Arial" pitchFamily="34" charset="-120"/>
              </a:rPr>
              <a:t>&amp; chi phí</a:t>
            </a:r>
            <a:endParaRPr lang="en-US" sz="950" dirty="0"/>
          </a:p>
        </p:txBody>
      </p:sp>
      <p:sp>
        <p:nvSpPr>
          <p:cNvPr id="24" name="Text 21"/>
          <p:cNvSpPr/>
          <p:nvPr/>
        </p:nvSpPr>
        <p:spPr>
          <a:xfrm>
            <a:off x="640080" y="2971800"/>
            <a:ext cx="3108960" cy="274320"/>
          </a:xfrm>
          <a:prstGeom prst="rect">
            <a:avLst/>
          </a:prstGeom>
          <a:noFill/>
          <a:ln/>
        </p:spPr>
        <p:txBody>
          <a:bodyPr wrap="square" lIns="254" tIns="254" rIns="254" bIns="254" rtlCol="0" anchor="ctr"/>
          <a:lstStyle/>
          <a:p>
            <a:pPr marL="0" indent="0">
              <a:buNone/>
            </a:pPr>
            <a:r>
              <a:rPr lang="en-US" sz="1500" b="1" dirty="0">
                <a:solidFill>
                  <a:srgbClr val="C91F35"/>
                </a:solidFill>
                <a:latin typeface="Arial" pitchFamily="34" charset="0"/>
                <a:ea typeface="Arial" pitchFamily="34" charset="-122"/>
                <a:cs typeface="Arial" pitchFamily="34" charset="-120"/>
              </a:rPr>
              <a:t>Thiết lập chính</a:t>
            </a:r>
            <a:endParaRPr lang="en-US" sz="1500" dirty="0"/>
          </a:p>
        </p:txBody>
      </p:sp>
      <p:sp>
        <p:nvSpPr>
          <p:cNvPr id="25" name="Text 22"/>
          <p:cNvSpPr/>
          <p:nvPr/>
        </p:nvSpPr>
        <p:spPr>
          <a:xfrm>
            <a:off x="777240" y="3401568"/>
            <a:ext cx="5166360" cy="1463040"/>
          </a:xfrm>
          <a:prstGeom prst="rect">
            <a:avLst/>
          </a:prstGeom>
          <a:noFill/>
          <a:ln/>
        </p:spPr>
        <p:txBody>
          <a:bodyPr wrap="square" lIns="254" tIns="254" rIns="254" bIns="254" rtlCol="0" anchor="ctr">
            <a:normAutofit/>
          </a:bodyPr>
          <a:lstStyle/>
          <a:p>
            <a:r>
              <a:rPr lang="en-US" sz="1500" dirty="0">
                <a:solidFill>
                  <a:srgbClr val="1A1A1A"/>
                </a:solidFill>
                <a:latin typeface="Arial" pitchFamily="34" charset="0"/>
                <a:ea typeface="Arial" pitchFamily="34" charset="-122"/>
                <a:cs typeface="Arial" pitchFamily="34" charset="-120"/>
              </a:rPr>
              <a:t>White-box attack: attacker biết kiến trúc, tham số và gradient của mô hình.</a:t>
            </a:r>
            <a:endParaRPr lang="en-US" sz="1500" dirty="0"/>
          </a:p>
          <a:p>
            <a:r>
              <a:rPr lang="en-US" sz="1500" dirty="0">
                <a:solidFill>
                  <a:srgbClr val="1A1A1A"/>
                </a:solidFill>
                <a:latin typeface="Arial" pitchFamily="34" charset="0"/>
                <a:ea typeface="Arial" pitchFamily="34" charset="-122"/>
                <a:cs typeface="Arial" pitchFamily="34" charset="-120"/>
              </a:rPr>
              <a:t>Untargeted attack: chỉ cần làm mô hình dự đoán sai nhãn gốc.</a:t>
            </a:r>
            <a:endParaRPr lang="en-US" sz="1500" dirty="0"/>
          </a:p>
          <a:p>
            <a:r>
              <a:rPr lang="en-US" sz="1500" dirty="0">
                <a:solidFill>
                  <a:srgbClr val="1A1A1A"/>
                </a:solidFill>
                <a:latin typeface="Arial" pitchFamily="34" charset="0"/>
                <a:ea typeface="Arial" pitchFamily="34" charset="-122"/>
                <a:cs typeface="Arial" pitchFamily="34" charset="-120"/>
              </a:rPr>
              <a:t>FGSM/PGD dùng ràng buộc L∞ với ε = 2/255.</a:t>
            </a:r>
            <a:endParaRPr lang="en-US" sz="1500" dirty="0"/>
          </a:p>
        </p:txBody>
      </p:sp>
      <p:sp>
        <p:nvSpPr>
          <p:cNvPr id="26" name="Text 23"/>
          <p:cNvSpPr/>
          <p:nvPr/>
        </p:nvSpPr>
        <p:spPr>
          <a:xfrm>
            <a:off x="6400800" y="2971800"/>
            <a:ext cx="3108960" cy="274320"/>
          </a:xfrm>
          <a:prstGeom prst="rect">
            <a:avLst/>
          </a:prstGeom>
          <a:noFill/>
          <a:ln/>
        </p:spPr>
        <p:txBody>
          <a:bodyPr wrap="square" lIns="254" tIns="254" rIns="254" bIns="254" rtlCol="0" anchor="ctr"/>
          <a:lstStyle/>
          <a:p>
            <a:pPr marL="0" indent="0">
              <a:buNone/>
            </a:pPr>
            <a:r>
              <a:rPr lang="en-US" sz="1500" b="1" dirty="0">
                <a:solidFill>
                  <a:srgbClr val="003B6D"/>
                </a:solidFill>
                <a:latin typeface="Arial" pitchFamily="34" charset="0"/>
                <a:ea typeface="Arial" pitchFamily="34" charset="-122"/>
                <a:cs typeface="Arial" pitchFamily="34" charset="-120"/>
              </a:rPr>
              <a:t>Chỉ số đánh giá</a:t>
            </a:r>
            <a:endParaRPr lang="en-US" sz="1500" dirty="0"/>
          </a:p>
        </p:txBody>
      </p:sp>
      <p:sp>
        <p:nvSpPr>
          <p:cNvPr id="27" name="Text 24"/>
          <p:cNvSpPr/>
          <p:nvPr/>
        </p:nvSpPr>
        <p:spPr>
          <a:xfrm>
            <a:off x="6537960" y="3401568"/>
            <a:ext cx="4389120" cy="1463040"/>
          </a:xfrm>
          <a:prstGeom prst="rect">
            <a:avLst/>
          </a:prstGeom>
          <a:noFill/>
          <a:ln/>
        </p:spPr>
        <p:txBody>
          <a:bodyPr wrap="square" lIns="254" tIns="254" rIns="254" bIns="254" rtlCol="0" anchor="ctr">
            <a:normAutofit/>
          </a:bodyPr>
          <a:lstStyle/>
          <a:p>
            <a:r>
              <a:rPr lang="en-US" sz="1500" dirty="0">
                <a:solidFill>
                  <a:srgbClr val="1A1A1A"/>
                </a:solidFill>
                <a:latin typeface="Arial" pitchFamily="34" charset="0"/>
                <a:ea typeface="Arial" pitchFamily="34" charset="-122"/>
                <a:cs typeface="Arial" pitchFamily="34" charset="-120"/>
              </a:rPr>
              <a:t>Accuracy trên validation trước và sau khi bị attack.</a:t>
            </a:r>
            <a:endParaRPr lang="en-US" sz="1500" dirty="0"/>
          </a:p>
          <a:p>
            <a:r>
              <a:rPr lang="en-US" sz="1500" dirty="0">
                <a:solidFill>
                  <a:srgbClr val="1A1A1A"/>
                </a:solidFill>
                <a:latin typeface="Arial" pitchFamily="34" charset="0"/>
                <a:ea typeface="Arial" pitchFamily="34" charset="-122"/>
                <a:cs typeface="Arial" pitchFamily="34" charset="-120"/>
              </a:rPr>
              <a:t>Mức phục hồi accuracy sau khi áp dụng defense.</a:t>
            </a:r>
            <a:endParaRPr lang="en-US" sz="1500" dirty="0"/>
          </a:p>
          <a:p>
            <a:r>
              <a:rPr lang="en-US" sz="1500" dirty="0">
                <a:solidFill>
                  <a:srgbClr val="1A1A1A"/>
                </a:solidFill>
                <a:latin typeface="Arial" pitchFamily="34" charset="0"/>
                <a:ea typeface="Arial" pitchFamily="34" charset="-122"/>
                <a:cs typeface="Arial" pitchFamily="34" charset="-120"/>
              </a:rPr>
              <a:t>So sánh thêm về chi phí triển khai.</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4</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a:solidFill>
                  <a:srgbClr val="FFFFFF"/>
                </a:solidFill>
                <a:latin typeface="Arial" pitchFamily="34" charset="0"/>
                <a:ea typeface="Arial" pitchFamily="34" charset="-122"/>
                <a:cs typeface="Arial" pitchFamily="34" charset="-120"/>
              </a:rPr>
              <a:t>5. Baseline: RESNET-18 </a:t>
            </a:r>
            <a:r>
              <a:rPr lang="en-US" sz="2000" b="1" dirty="0" err="1">
                <a:solidFill>
                  <a:srgbClr val="FFFFFF"/>
                </a:solidFill>
                <a:latin typeface="Arial" pitchFamily="34" charset="0"/>
                <a:ea typeface="Arial" pitchFamily="34" charset="-122"/>
                <a:cs typeface="Arial" pitchFamily="34" charset="-120"/>
              </a:rPr>
              <a:t>trên</a:t>
            </a:r>
            <a:r>
              <a:rPr lang="en-US" sz="2000" b="1" dirty="0">
                <a:solidFill>
                  <a:srgbClr val="FFFFFF"/>
                </a:solidFill>
                <a:latin typeface="Arial" pitchFamily="34" charset="0"/>
                <a:ea typeface="Arial" pitchFamily="34" charset="-122"/>
                <a:cs typeface="Arial" pitchFamily="34" charset="-120"/>
              </a:rPr>
              <a:t> CIFAR-10</a:t>
            </a:r>
            <a:endParaRPr lang="en-US" sz="2000" dirty="0"/>
          </a:p>
        </p:txBody>
      </p:sp>
      <p:sp>
        <p:nvSpPr>
          <p:cNvPr id="28" name="AutoShape 2" descr="data:image/png;base64,iVBORw0KGgoAAAANSUhEUgAABBoAAALuCAYAAAAAD3VqAAAQAElEQVR4AeydCbxkVX3nT3XTr+kF+zW72GLTCJKgoLgAihF3BoMgrqiTIWbUjHFhNBFRMQjOiDs6aDSOisaIRB1Qg0titFFQIKCCkoBAC9qIbPZr6AVeb9Pf6r7NrfNuvVfLraq7fPnw63vP+Z/l///ef9Wre+reW7O2+J8EJCABCUhAAhKQgAQkIAEJSEACVScwtPhmBf+TgAQkIAEJSEACEpCABCQgAQlIYEQEqjetCw3VO6ZGJAEJSEACEpCABCQgAQlIQAL9ErB/zwRcaOgZnR0lIAEJSEACEpCABCQgAQlIYNgEnK/4BFxoKP4x0kMJSEACEpCABCQgAQlIQAJFJ6B/EthBwIWGHSjckYAEJCABCUhAAhKQgAQkUDUCxiOB4RNwoWH4zJ1RAhKQgAQkIAEJSEACEqg7AeOXQIUJuNBQ4YNraBKQgAQkIAEJSEACEpBAdwRsLQEJ9E/AhYb+GTqCBCQgAQlIQAISkIAEJDBYAo4uAQmUiIALDSU6WLoqAQlIQAISkIAEJCCBYhHQGwlIQAJTCbjQMJWJNRKQgAQkIAEJSEACEig3Ab2XgAQkMEICLjSMEL5TS0ACEpCABCQgAQnUi4DRSkACEqgDARca6nCUjVECEpCABCQgAQlIYDoC2iQgAQlIIEcCLjTkCNOhJCABCUhAAhKQgATyJOBYEpCABCRQRgIuNJTxqOmzBCQgAQlIQAISGCUB55aABCQgAQlMQ8CFhmngaJKABCQgAQlIQAJlIqCvEpCABCQggSIQcKGhCEdBHyQgAQlIQAISqDIBY5OABCQgAQnUioALDbU63AYrAQlIQAISkMCDBNyTgAQkIAEJSGAQBFxoGARVx5SABCQgAQlIoHcC9pSABCQgAQlIoNQEXGgo9eHTeQlIQAISkMDwCDiTBCQgAQlIQAIS6ISACw2dULKNBCQgAQlIoLgE9EwCEpCABCQgAQkUioALDYU6HDojAQlIQALVIWAkEpCABCQgAQlIoJ4EXGio53E3aglIQAL1JWDkEpCABCQgAQlIQAIDJeBCw0DxOrgEJCABCXRKwHYSkIAEJCABCUhAAtUg4EJDNY6jUZScwNKlS0Oj0ehb55133shInHzyyVP8v+WWW0bmTzIxTBqNVrZHH310YnY7M4HCtGg0Wo9jo9FanjdvXthrr73CkUceGd70pjeFyy+/vDC+z+RI1uun0WiEL3zhC227kseNRiuDIrzm2jrcgeG+++4LP/jBD8LZZ58dXvCCF4SHPexhU95XeL/sYKhmk/vvvz/wHvCiF70oHHTQQWHRokVhp512CgsWLAj77rtvePaznx3e9773hdtvv73ZPs9/Lrvssim+NxqNZt2VV16Z21Qc80Zj27iNxrbtySefnNv4DpQfgaOPPrp5/BuNbcep0WjkN3g00vLly6fMdcYZZ0Stpi+SR41GY8o4jUZ3dYwz/UyDs/L6bzRa/aVucDOGwHtUo/HgnJQHOZ9jS6CoBGYV1TH9koAEJCCB6QhoiwlwUnnnnXc2Fxg+9rGPNRccTjrppPDAAw/ETUtT5sRgw4YNhfA3jxOXmQJ5wxveEJ7xjGeE0047LVx00UXhd7/73Uxd2to5mT/wwAPDn//5n4evfe1r4YYbbgj33ntv2LRpU1i3bl347W9/G773ve+Ft73tbWH//fcPf/d3f9d2rF4M0y0STWfrZS77SEACEpCABIpGwIWGoh0R/ZGABMpNQO8LReDLX/5y8+qGQjnVhTO//vWvw2c+85kuetgUAixQPPe5z20uJlCeSevXrw+ve93rwte//vWZmnZkZ3Hrn/7pn9q2JS+LsoDU1kkNEpCABCQggT4IuNDQBzy7SiAvAv/n//yfcP7550/RX/7lX06Z4o/+6I+mtEv6Pu1pT5vSflgV/+N//I8pfu2xxx7Dmn7GeWxQTQJcuUD+f+5znwtvf/vbw+677z4l0P/7f/9vWLVq1ZT6slS85z3vCVytURZ/8/KTWxu45aGX8T71qU+FiYmJlq7cWnPKKaeEz372s+F//a//1bwto6XB1sL73//+rf/2//83v/nNKfOnR73nnnvCxRdfnK5yvwYE3vWud035O1nksLP+rvN+y/tult/YssQ4We2HUcfnotgn6gY5d/yZjvIg53NsCRSVgAsNRT0y+lUrAscdd1x42cteNkWHH374FA577rnnlHZJ3/32229K+2FV4GviR7LlPugZ5tcsgb4IJK8d7gHm5PGSSy5p3oOfHpRL5a+44op0Van2b7vttvDxj3+8VD736uxLXvKSwEn6HXfcEW699dbwla98paehfvrTn07p99GPfjR85CMfad5KwaLU97///Sltrrnmmil1vVT8wz/8Q0u3RmPb/drpSm+fSNOoxz63BSV/H5NtkSPP+ruO37zvZvmNLUuMk9V+GHV8Lop9om6Qc8MnPSflQc7n2BIoKgEXGop6ZPRLAl0SWL58+ZQHNp1xxhnNUVjNf85znhNYpJg9e3bggVRNw9Z/fv7znwc+gP+3//bfwhOe8ITAH+DFixc3T9Z4cNoBBxwQXvjCF4bzzjuveV/z1i6Z/5988slT5uchZenGjNFobPvA3Whs21JHm8RHroKYO3du82FKfAuycuVKzIXRddddF97ylreEJz3pSQFfx8bGmg+Ye9SjHhX+63/9r81Lrzdv3jytv9dee23gm9UnPvGJzW/gGYNFGR4YRd0rXvGK8KEPfShcffXVmeNwOT0nSk9+8pObDz/ceeedA9/WPvzhDw+HHXZY4GTtf//v/x1++MMfZvavcuUf//EfB3I2jnFiYiKuainfeOONzXv1n/KUpzSZckzGx8fDYx7zmMBzA375y1+2tM8qfOtb3wp/9md/Fg4++OBmTsyZMycwBv489alPDa997WsDV1fcuvUEOqv/dHU8HJEHJU7XZiYbV3WQV//lv/yXsGTJkmbOkHc8n+CVr3xl+Pa3v505RPLafvrTnz7F/u53v3vK6/68re8VUxp2WHHssceGP/3TP22+V3XYJbMZxy828HpJ1/H8hvgKmF122SXdpKf9u+++ewpLHlB6xBFHtIzHFQ1/+MMfWuqyCtxiwTfIvOfg30Me8pDmezXHkls0svqk63ivaDQaLcfp3//939NNWvbh1Gg82H7XXXfNvKKG21POPPPM5jM1HvrQhwbeh/DtoIMOCq9+9avDj3/845Zx48LSpUtbfKJMm//8z/9s9udvEWM2Go2Q/lvCIhRX+Rx99NFhn332aeYxfzN4cOihhx4aTjjhhPC3f/u34V/+5V/Cxo0bGXKH1q5dGy644ILAczn4m8j7ReI776E8TJb3gL/+678OvE/v6Bjt4E+j8SCjRqMRTj755Gar73znO00fGJcHjy5durRZzz9Hb/W50WjtR31aXO3CQtX//J//M/CaO2grT/wip+fPn9+MmXqujrj55pvTXQu732i0xgwHnOWBvS9/+csDf7uIr9FoUN0Uf/u5beyv/uqvwlFHHRV4vfI3l/fVhQsXNvtwe9RMD3Pl/ajRaLTkGnXNSbb/c8stt7TYG40Hj+dPfvKTgI+8Z5JnfI468cQTw3SL1xzzRuPBOSlvn2rHhnxpNB5s02hsy3OeH0NMfB7jMxjH/JBDDmlehcUtXjsGyNihLwvuvA54b1+8eHHgfYcrKngtLF++fEqcZ5xxRsZIVkkgHwKz8hnGUSQggaEQ6HIS/rBw6TF/JP/1X/813HXXXSE+CX7nO98ZOOnl2zVObPmDy0kZ3wLz4LSbbrop/L//9/+a3wJy0vWzn/2sSy+mb84cPPk98ZEP6ZOTk81vMz/5yU+Gxz/+8c2HuE0/yuCtfED9i7/4i/DoRz86fPjDHw58UMdXTgKI4Ve/+lX44he/2PyAycn+9ddfn+nUe9/73vDYxz62ubhz1VVXBT5UMgYfEDgBpe5LX/pS4IMuCzzxIHwAZVGDcfgAxMMPOdng0no+mHF8+Bb4He94Rxj05aGxb0Upc8IQ+8IJSVxHGXYsJPBhng93nBzBlGOyevXqwALDueeeG/igx+uE1xT90qLt85///PC85z0vcHz+4z/+o/nQQdoyBq+hSy+9NPz93/998wSKk6B0/3b7y5Yt22Ei184555wd5W53Pv3pTzd/ZYG84kSIqyTIGfJuxYoV4R//8R8DJ/nPfOYzm+8T3Y5ftPZ8SI994tim63jNwjVdx0lmutzLPoum5ES674tf/OLAe3G6jvc5TnrTdfE+CxGc+PMrKrznrFmzJrDgxHs1x5I4OeGP+6XLr3rVq9LF5j7Hu7kT/UMu8L6SrmYRihP+pI6/IZzoL126tHlCz6+E/P73v28+dBXfeOgmC2qw5Ftd3juTvjNteXbF4x73uOaC3C233NIcM92Hv2Ms3J1++umBq5f4tRDyGJZwYHGA52ywAMJJKO+J6f4sYuATr3XGopz4zji89skTFnF4n+Zkf8uWLekhpt3nOLGQhw+My9/RaTtkGOHJgiWvd04M4Ylf5BQnmsRM/VlnnRW4lfIDH/hAxijFr4IxOcLrheNEfGmvyYX//t//e/jEJz4R+AUXFoN5vfK+Sk7Rh8UkFo1YhODvb7p/v/sc91NPPTUkPvKeSZ7xOerCCy9sLn589atf7Xealv787WChmph4jfPZgmP+i1/8IvBZjStiyNOWTtsLfH4gZ2nH64D39omJieaCyBvf+MbmggOfN7Y3dyOBoRBwoWEomJ2k6gSKGh/fgvG09bz840MoJyP88cprTP6Q8+T3duPxAes1r3lNO/NQ6vlwwUkk93Z3MiGXX3NyEC828A0I3y7yAaaTceI2v/nNb5onqvEHsrhdnct8MOMEMs2AhQcWiNJ17POB9fjjjw8sJHDyRF07ccy48oerVuI2XI7P5f5xfb9lcoVv75Jx+GDOVQlJudMtJ4W8hjhJnakPtxNw9QULJDO1LbKdb0H5hjvtIyeBnDied955gSt++NCetvPtHwt46bpe9llsSvdrNBrNRYZ4oYE2LPCyzRI5yU98sviYZaeOhbCscbEleuQjHzll0ZGTuKyTYBY5k37JlpO9ZJ8tucSJfifvQyykcOLdSVuuVOAEm8U/5onFiRO/IsNiRmwbRJnXPCf7LEp0Mj4L8vzN7aRtXm3g+ta3vjVwPPMacxjjcGsTC2XkeB7z8d7GFQIsSOQxHmPwMFee2UIeUI7F3w9eG3l+HuLLBRbY4rmSMleAZL1HsRhxzDHHBBZjkrbxloULrjSK6y1LYJAEXGgYJF3HHjWB2s+ffCDjxIEPTJwo87NxfHubwGk0Gs1LEvm2nsugucSOD8p8+8oldVxRkLRly7c0fMPAfh5idZ4TQT50cAKAH/G43ALAtzpx/bDKXIrIt2fp+fCZb7jxmQ+iXH6etnNCyFUa6Q8p/Fxfug2XinJCxLfNnHBwIvv617++eVsGl9ym27LPpe3pD+GNRqN5qT5XfnDM6aExtAAAEABJREFUuI+fE6k/+ZM/aV7GTJ+6iDziWxyY86EzHTe34HD5d7qOfT5Efve732V3hzg55RshXivcrsC3pzuMW3f4QM+DJ7fu7vifb7d2FLbucMk0lzXTDpEffAjmSpSt5o7/J6fS30Zz8s9YHQ+wtSEfvDkp3Lq7438uqYUJr3FOjLiKYYdx6w6vNb4B27rb/J+2fOsYj4ORD8bY0irClTRcws8301xyjZ+ID+O8D/Jzl1zxwzeU1DcajcBl9FwxEB9v7N2IxUXGSffh0mUuu+bhltz+kLZx4tDu5IDXNO996faNRiNwmxt5xZVVfKPNN9zpNln7nBCl6zmp/7d/+7d0VXM/vtKBW7m4mqdp3PoPCxFczr51d8f/vLa4nYx6fIr/ZvzoRz8KLHbt6NBmh9cwJ87cJsDx4b2Vb+tZqOD9kHHib2RZKOR9D1b8PCkn3RxLLq1vM03AxlV0LHLzHsDVF5///OcDrwX+/vDenu7L+wCLHOm6rP3k7y2XrTMu/mf9Dc3qG9ex6MV9/Sw2fvCDHwwcb8SiJost3AKZ7sP7Tbpc9P2EFVdtcWUGrFj8i987yAWuBuI9mdziOPHeTF7AJx0nC2d8hknX9bNPPtL/pS99afMBslwlE+cG78ksptEuDzEn7xUsJhBnzIM5+LzANi148N6TruM1w3s3bPkMs/fee5f6ocjp2NwvDwEXGspzrCrkqaEMkwCXhfNhlW/z+IDNH3NOTBMf+CPJiQUftviwwokul8qy8s0l3ldeeeWUe9454U3657G96KKLAn8o+QCNH3xjFo/L1QBx3TDK/OHnw108F5fGUo/PfLjl5IKT1HQ7bmNIs4o/JMOYb9M5CeCbck7uWOghVi4RxZYeL+7P1SV88OLef44ZP8/Hh7FLLrkkcMl1nlezpP0o0v5+++3XvOeUD4B8wOe+97R/cMk6OWfBhpOBdFu++WWxgg++vFY4EeEYclluul180hQfF05Y3v3udwcWFxD5wUkCHwS5vJWTmfR40+1zcp++bJ384CRxuj5pW+wri1vLly9vXo5M/vH+wBVFLNCk+3HCybNAqONBblxuHl8BgI0rRbClxTHBNmpxYs+lzVwVMJ0v3H7AQicnPdO168TGCW/cjhOlpC69n9SxyJjsp7dZC7rkJicO5BWLirxXdMKbBaHx8fH08M3bZdIVfMtMjqbr4lxl/rR9t912C1xxwckwi2KJTyx2ptvxXhkvAKbtyT6La7wGyVveWzkuPPuEk6/4dcYl5vzt4H2P1zm/0sRrncVD3v9472URJBmbLYsmLAJzyT0LCH/zN38TiJErKXgt8PeHBTjaJuJkMr6dJLHFW3KNb44ZF//5G9rt+zDPKCHWb3zjG8378lnE4XgjFrdZ7DnjjDNapmaxqizPa0gcZwGOY80iAqz4EoT3psTOIjxfbHBlAXlHbnGceG8mL+DDsUvas+VvHwuK7OchfGJxmTl5L2YxLR6X12Bc12uZ1xOfubh1gjnJU95j0+OxsMjVjUkdX2awyJaUky2f83gPgS0LVixq8ryHxO5WAsMg4ELDMCiXZQ79rBwBHpzECfx0gfGHhw8pfCDiAVN8oOMbn1mzZjVP4PjmBHt6jPjDaNrW7T4fSPkGKt0v64SGDxzpNsPa51u05NuXZE6+JeUbsaTMlm+g+BDIflp8SE7Kj3jEI5Ld5pbFCk5M4MntGc3K7f/wECg+cG4vNjdxf+7758MEl0/HH6448eaBVc2OXf7D5fN8uBqU8LdLl7puTu5zDzZ8+WYnHgB2nECk67m/lQ926bi5JSI+AeUWIh4KmvSNjwsLDSx48GEwvjSYk1+uMEr6zrRl8YpvpZJ2fLPKt1NJebotbbnfO92GxRSeGZGOkX2+7Uq349vBdO6mbZ3uc5wZu51g2+lYvbTjhBHe8RUn8VgsEvIexC0I3Psd2zst84E/vk+80dh220QyBnMk+8mWPvRNymx5z+EEnv1EPAiSBeOkzDarjvpYvB/Ei0lwSb9vsLiU7seVL3x7ntRxIst7VVJmy0kQJ1rpY8wzYuLXBPFwEkif6cTiHw/by2oTj8nfJdqzGMj46T7ccsSl5FzZkq5noY0y/vLQXRYeeO+mvtHY9mA+Fn1pk1Ycd9qW7DMnJ3z8zUzqetmysMgCNye15AtXrbBIxPiNxjYfOemNx+7Ex7jPKMtciUKOtfOBnGVRiPdTrl7gvYvjCd9GYxsHGKX783eU9+d0Xa/7vLZYbE73H/RnExZXuCIumZO85PNGUk626c9DyXNGEhtbXissTLGfiDoWL5KyWwkMg8CsYUziHP0RsLcEeiXAyTBPSZ6uP98U8EGGywL5NoHLifmwHX/wTY/BH/90uZ/9rEsD+eAXj5n+QBzbBlnmao94/Pjy58SeVZ9+XgAf9PkQmbTnYVZ8QwN/PlRxQssHKr6V42QwaZdssXECnZQ5UeYklId08oGNJ3fzADS+7eKboqRdt1tygROMQYlvmbv1qdv2PLCLD1V8u5jVN+tDOX5lxczDE+MxOIlO6uJv1VicYpGID3Ys5PHNKyc1XPLKN61Jv063fKvG4l/S/lOf+lRgESMpt9tyRQJXbqTtPGwsK0auhEm3Yz8dI+Vu1Y5nMj/fIHc7Zqft+RaZK3048Uj68NwUvi3k/Y2TZuyJjS332POtPPu9iPfP+LhwNQivy2S8pUuXNn8xIimz5Z5scob9RJwsxYtUXFmTzoOkLQ+fTfan28Z5ysk53wrTh7k4+WY/EVdfcGKXlLNeMyweJMczvWWBL+mXbGfKJ04guU0iaR9v+QacX4lI6jm2nAgSP36yWMavGfBtMLfNJO3SW447iwv4ypUBPGSPe+y5ZSPdLt7v5G8et5lwqX/ct9syC1/cwsOVbuQx3Hmv55kA043ViY/T9R+mjYfzctymm5OFTv4msrj2z//8z4FjR86Sq9P1y4sDC88s+KfnGvRnk14+D7HglvaRfW5f4vXEflpZn1HSdvclkDcBFxp6J2pPCRSeACc60znJbRPcLsG3l9O1i23dto/7p8tcQZEus883N2zTmm7hI90u730+4MVjtvvGLetDJh9ik/5c4sy3uHzLmtQlWz48cWLIByo+KHNSwW0s1Cdt+DDNSS8nrkldsoUPCxd8I89l+9xGwLdho1qgSfwa9JZvu/hGmG/54ZueDx48xJNLTdP17KePC+Vuxa0tSR9uG+BBjSz2JHXJlhN9Tu45qeGWIF6T3Hub2DvZsriUvlqGEyyO8Ux984xxprmKZo/5sJDHN/icDLL4wwkM3z7HH7z5Np7bW3qJJ+vkmpP1eKysuvj2CU6o4n7kQVxHud37Eba0OLHjFx3Sdbx2KHMVE7/awH4iTnSTfbaDzifi4DgxV5Y4ceL9kQWjLDu3FLHwwUItvxTASVv6dcqJ+gknnBD4Bjir/3R19J3Ojo3XNtt+xN8bFpRZ8O92nE587HbMQbWfiRV/C/n71UvO5cVhFJ9Nepkz672C11LWscv6jJLVzjoJ5EWgggsNeaFxHAmUnwCX3U0XBfd7x3a+Hec5Dtz7nzzgjW/c43Z5lbN8bDQaeQ3f9zjxNxoMyC9hsI3FB924jkte03XPetazAt9WsmDAggInwjycM32lA+1ZOODSUu6xpJyIkwW+heO5G9zuwgdnLl/OOsnl27CsS2yTsaqw5UM5VwtwDyr3mKe/8SQ+jgn3S7OfVnxc0rZO9uNvQN/85jcHTtRYUODyV25DYuGDW5DS43GfOs9G6PaKE+5JTn+bxuuTD+PpseP9vGOMxy9qmcWd9K0t+MlrLP7w3Wg0mj9dhz0Rr7t2V8EkbbK2LOhxBUds4/76RqPRvA2t0di25Vv4uB19uVw+qeey7WQ/2XKVTrKf3rZ7P0q3Sfbjqxp4ngHPA4hvm4AXJ+tJP7aDzqesvwXMmxavKR5wyjHi7xSLNlnfPNOH90ie28A+4oqT+KoK5mRBhUWn5O9dr++ZjMU8/YiFLt6z0mOwwMzze7iSKfExHVe6bVn2Z2LFLRG8ptLxcJLMa4fnaCQcePZIuk2e+1k+NhqNPKeYMlYvc2a9V6QX2NKTxLmVtrkvgUEQGN5CwyC8d0wJSKAvAvHJDveDc2kxl2pzST/f1CJ+MrCviUrcOeuXAmCUFRKXvMb1XJkQ1/HNHLc48GRpvqHjGzYu52bc9GXW9OODJ9u0Go1G4D5/bpHgW1oWHvhWg5MrPnSn22b1T9uz9vlAzgnXoITfWfP2W8eJECcM8Tic/HMfd7o+67hwVUSnMaevMEjG5YSAS7J5iCffELOgxHMSeJhZesGBq1RYBEr6dbJlwSu9YMJVRfFl+vE4XKYff3DldqpOY7zoootahmw0uvuQzXGebi5uGWiZIKcCl07DOD0cCzzpcrKfVd/LN6Kw4jWYjNvtlm+yGSPpxwl1Omeo5zasLH856cbeiViUSy9qsmDGohW3jaT7xwsS2LJeMyyaTXeM07ZzzjmHYXIRC678neK1xWubb755vfGsjfQEXEHGwhN18d876rgSiVuaOHHnbx3KuuKMtsNQlo8sAvGLRFwRhX+IhwYOw59RzZHFgYfW8gBPchMGKJ3Lo/J11PNmvS75iW1ee7FvWZ9R4jaWJZAngVl5DuZYEpBAuQjwITPtMScl8W0LnDT1chlnetwy73NCH39jwIME45+G40Qh64N0+p5jHu7Gt3FZPDip4LLu+OqR9EOfuBeTbyDjkyjGazQagW/z40vB0/1pV3VlPVyUD1w8iyQdO+1YGEjXkeucrKTr0vucgPIkey7NTtezWJT1TA3a8IwUfoKPy/UpJ+rluPCtJt/qJWPMtOUqF+5ZT7djAQR/03XxPiduzBXXZ13WXsRvyHbfffcA97T/HJ/4tcdrlhPRdDv2eznRjG99YJxulb71gtzkPuv0GCxkcMKZrmPhgduH0nXT7bMYF38LzO1z6cVk/gbwpPp4HJ4bEJ/U8M3ydCcvvFfx/Al+rjIer9syV3SwQMetQ1l9WZyJ8522yXNR4r93jMFrhG0iFqni13diG8a2Ex9vueWWwEOAh+HPqObohAN/T7kSaFQ+FmVerj7imRdpf/iswGslXffb3/62+TOp6Tr360tgWJF7RcOwSDuPBApIID6p5VJsvmnnEk0u2eenugb5wLZRIeFSYx58Np1YTMA/vjHJ+vb6+c9/fuCyaE4w+Gk3fiKPZwLQJxFXF/ATlEmZD0Y8QZqnSvNtDA9d5DJQvrGCNycAPGMhac82/QGCh2HxJHVOpDg2XOLLk/Xpz5aHHzIe/RKl+yd1Vd/yc2lxjHxbzJUfST0notyOkJTZ8iwHHhTHAwE5oeP+dV4LjMfx5ltEjieLDbRPRDtOwng98Q0vv/TCz1lST25wCTonhEl7tr0cF06KuEWE/p0K39NtuRKChQ9u2cFP8pfLlLkMnW+7uUeYb4uzbqvKOgEnRn6KkBzk9dTLFTRp/7i0nSaohsAAABAASURBVHHSStvZ5+qftJ193ruwIX5lJP5mm8Um3tu4KoRjw9VEPK8gXvDh9goW/BinUzEGv3CSbs8JPSfh04k26T689tMLN3zLnrazz2v+5JNPDuedd15gYZOFxXTstJlJ3CqQbgPPdJlcb/c8iDifyGve01760pcGHihKPnCFAM/I4LYGFsZY1CM/0nP0ss8tHty3n7wOufWMK5iYk/c9/lbxnpoem8Vz2lPH65NtWvxkIkzhya1oLNayKJVuM8z9LB/56U5en+QtP5XL83dgMUy/hj1XFgf+9pFjvF9xexp5l1ytMmz/ijRfo9EIPBQ69olfTyG/WcDk/Y6Hqcav9biP5ZETqJwDLjRU7pAakAQ6J8BJUdyab+r5gMsf8osuuijwzdrSpUvjZqUuc6sCl7hPJ04QkyD5No4PNUmZLZfE86GHb/44eYk/nHISwSX7jcbUy805MeFBnHyw5RjwQRLe8eXLzMOHBbZp8a0bx4YTPJ6cT3+2fFjmG8R026z+aXsV97kKhZObdGycaMIrXceJCrcSpOv4IMYH+lNOOSXAjtcCt1TwzXf6W990n2Sfp8NzwsPJAIsV9Cc3WGBK2rDlG2NOzNjvVhzn+Paa6caABXmWbkOO8ER3/CR/OfEkx8nX6a5e4qn+nIilx+JEkxM1cpDXEzGn7d3u8w0l46QVj8H9x2k7+zwEMN2OE7P4CgyOLa9rjg0LNlkn6Cy+cGtTeqyZ9uHGAk66HQuBLCZOJ56vku7DFTOMldSdvHVBgUWqpMyWPOZWBxYVOYngvYz3aGydiock8lOB7dpzaXo7G8cXv9J2rhrgFgYWXrFziT+3zXAsOVbptnnsk3Ms9nHlwete97rm65T3Ua5ISj/ngrl4nbHYwD4LTfFiGVe18L4ATxYpeG9msZH2oxD5El9Bx7NfeH2St+Qn70Oj9HEYXIiVq/zSc3HrEDnG+xUL8ywy8EypdJu67rNozpUN6fh5LbAYyW2wvN+RRyz8pdu43ykB2/VKwIWGXsnZTwIVIMBJCx/S24XCB1i+oZzpCdHt+lelnm+/+WDLH+xOYuLhjFwRkfWtTCf9kzb8rBcfuJJyt1u+UYy/gex2jLK254N57DsnPpyYJfWc8PPzftwmEH+oTdrEW05COb5xfadlTn45UYw/FHban1zkUvdO29OOkz6ueIlPYLC1U7sTGb4Z65RVu7GHUc8x4jXb6aIMV4vw7Xinr/F0DFwVki6zzwku2+mU1SY9FpxZUOQKk3bj8N5MXrezZ9U3Go3Q7n0FXpyQZ/VL6lhM4+Q8OYFP6tttG41GaJdP7frkUc+CSvq2El47LPDyvJN24/NwWRaj2tkHXc8VNXwDja/t5mLxk0WmdvYq1PP65aoqXgNZ8TQajcBi4oknnphlrl0dV17ygOnpFhBZtMy65Ya/aaUFpuOFJ+BCQ+EPkQ5KYHAE+CPON2ic+PBHaOHChYE/WPz0G5fica92fAny4Lwp9siwgRMPWeLbbm6V4JJcLtPmBI4/8C9/+csDVyXQJusnKPlw/+Mf/zjwQZbbJPh2mA+9jMFJL+NxKTTj8wsKfBuRpsK37zz4jQ9gzMWH91133TXQH/GrBNyuwQLS8uXLA98ydnoykJ6nCvvkLSzTsfBNPidI6TryndskuCKFb+aPPvrowDf3fNDnmHCbCpfS840nVzrwjT/fnKbH4PYKTmrpz7y8fjhx5fW18847B26T4FcoeE4E80y3uJcet90+3yhzq0Y7e1Y93/hyjy65w6XxnKDiIx8yyUHylcvSP/KRjwR+jpMczhqHvlw9wAd8Hh4Lo6x2RajjRJOrTLjSh9h4vgCvVWLmmRncJsLxev/73x+4p5kTuG795nacmBU588xnPnPGofgFGtqmG/785z8P3D6S1GG//PLLA8eF9xzehzhufJN7xhlnBObvNhcYmytZ4MB+WuQ5eZuui/fpx0IeDyNl4YmFCXKBRTTeh3hP4n2I9ygWb7hyhAW9eJxuyzyYFzYsmvEaYAGGWzx4j8MnFsY5QWWxiPl+8IMfBK4sS8/D5eMw5qoLrm4gf3nfJVd4fX/9618P1KX7DHufW5t47gX8eC/CH76J5tYBFp5gOmyfRjEfV6vwXgMPXgdw4L2U9x6OLQ8DHYVfRZ2T93Tei/gbx/sDr0fe28l5rgCBJVcfxf7zeo3r+i3bXwIJARcaEhJuJVBAAnyY4lLZtDiBzHKVE6R0O/b5IJrVNq7jgxnfwPOwMX5SimcB8IeJEybaMifjpUV9WnyYT9vZX7p0abpJyIqHupZGWwv9xLK1e8v/jI8v3YoPdC0DbS9wcs+Hfj4IclkwD63iUlZOVLgPmUum231Q5wPxkUce2Xy2A99C8isRPC2dMfgAwHhXXHFF86SC+8dD9B8fpvlw/frXvz4wFx8quFeX/oiHnrE4xLcWfHCOupe+mHUMly5d2jYuWMZ94JbVgQfJcek0H2B5VgOXnXJMeAAdvwby2c9+NpBLfOCP+/NhjpMA+vOwTl4/XN7N5fS8nlic4CGMXF3CB+W4P+Ws1w+vA2yxOJnjMuI4NspLly6Nm+8o4ye5w8kUD5TDRy7XJwc5gePqJRa5ZroSh9uIeNAYzySBEfMmgtuOCXvY4T0rGaubLccmazoWFDipJrYbbrgh8FolZm6jYOGF48XtLTw3Jav/THV8oI/9JGc4RjP1pQ1t4/6cLKf7coLFceE9h/dojhtP5eeWGBZOOObxGORTeox4nzyEQ9yPZyvEbduVeS1w+xHfpJIL3E7G+xDvSbwP8Vpj8YYToKwxyMH0/JSz2iV1jUYjsCDGohmLAiy68rwdLqEnFm6DYOGFBWGuTGg0pt62xljwYnHw1ltvDeQv77vLly8P5FCj0Qi87tJ+sX/G1kUd+iZaunRpoD6t8847LzG33S5fvnxKv6zG5BX8eC/CR27pYDGTk27a42t6bvapw5aokziStt1us+LHh3bjYEsLDu3aput5r+FvMa8TOPBeyntP8vftjK3HJT0u+8SdHgMu1KdFXbpNVjztjmd6HPazYiGXsSWinJ6PfcZP7MkWP7Cl1UmMSXve71gE5P2B1yPv7T/5yU+az3CYPXt24O9b0jbZ8iVJsu9WAnkTcKEhb6KOJwEJSEACEpCABCQgAQlIYEYC+TRgAYarn9qNxhUNLNCl7VwdFT/PKG13XwL9EnChoV+C9peABCQgAQlIQAISkIAEqkOgZJFw5QJXTHI1DA/N5Ndf+EUWbsHkdhNu5+Lqn3RYPOuDWyzSde5LIE8CLjTkSdOxJCABCUhAAhKQgAQkIIGBEHDQ6QlwGxy/iMVzSPgVGBYTLrzwwsCtfOme3H7CbRbpOvclkDcBFxryJup4EpCABCQgAQlIQAISqA8BIy0JAZ4hxcO+L7744ubDv0vitm6WlIALDSU9cLotAQlIQAISkIAEJCCB9gS01IXAqaeeGr7whS8ErmLgodU84JYHyfIcBn4Vhl/Y4WGvPKyYh31TXxc2xjk6Ai40jI69M0tAAhKQgAQkIAEJ1I2A8UogZwJ77LFHc5GBxQZ+kep3v/td81dV+JUafhWGX9h517veFbJ+2SJnVxxOAjsIuNCwA4U7EpCABCQgAQlIQAJ1JWDcEpCABCSQHwEXGvJj6UgSkIAEJCABCUhAAvkScDQJSEACEighARcaSnjQdFkCEpCABCQgAQmMloCzS0ACEpCABNoTcKGhPRstEpCABCQgAQlIoFwE9FYCEpCABCRQAAIuNBTgIODC3nvvHXbZZZdw8MEHKxmYA+aAOWAOmAMVywH/vvv5xhwwB8wBc6BoOcA56POf/3xOR3OXCw25I+1twLVr14YNGzb01rnDXhs3bgyow+Y2k8DICZCvaOSO6IAEOiBArqIOmtqkOARq6wm5imoLwMBLRYBcRaVyWmdrS4BcRWUAwDkoP3s6CF9daBgE1R7G3HfffcP+++8frrvuuoHp29/+dkCDnMOxB3f86siWfEV1jN2Yy/daIleRxy6PY+cYg84jchUNeh7HN5fzyAFyFeUxlmOYk4POAXIVDXqePMbnHLSHU9eOurjQ0BEmG0lAAhKQgAQkEEQgAQlIQAISkIAEOiDgQkMHkGwiAQlIQAISKDIBfZOABCQgAQlIQAJFIuBCQ5GOhr5IQAISkECVCBiLBCQgAQlIQAISqCUBFxpqedgNWgISkECdCRi7BCQgAQlIQAISkMAgCbjQMEi6BRt7zz33DKhgbumOBNoSIF9R2wYaqkWg5NGQq6jkYeh+TQiQq6gm4RpmyQmQq6jkYeh+TQiQq6gm4bYN04WGtmiqZ1i4cGFA1YvMiKpKgHxFVY2vLHHpZ2cEyFXUWWtbSWC0BMhVNFovnF0CnREgV1FnrW0lgdESIFfRaL0Y/ewuNIz+GOiBBCQggV4I2EcCEpCABCQgAQlIQAKFJOBCQyEPy2CcWrFiRUCDGd1RJZA/AfIV5T/yIEd07LoSIFdRXeM37nIRIFdRubzW27oSIFdRXeM37nIRIFdRubzO31sXGvJn6ogSkEARCeiTBCQgAQlIQAISkIAEJDAUAi40DAWzk0hAAu0IWC8BCUhAAhKQgAQkIAEJVIuACw3VOp5GI4G8CDiOBCQgAQlIQAISkIAEJCCBngi40NATNjtJYFQEnFcCEpCABCQgAQlIQAISkECxCbjQUOzjo3dlIaCfEpCABCQgAQlIQAISkIAEJNAk4EJDE0M9/lmyZElA9Yh2W5T+W24C5CsqdxR6XxcC5CqqS7zGWW4C5CoqdxR6XxcC5CqqS7zGWW4C5CoqdxT9e+9CQ/8MSzPC2NhYQAVwWBck0BEB8hV11NhGEhgxAXIVjdgNp5dARwTIVdRRYxtJYMQEyFU0YjecXgIdESBXUUeNK9zIhYYKH9w4tMnJyYDi+gfL7kmgWATIV1Qsr/RGAtkEyFWUbbVWAsUiQK6iYnmlNxLIJkCuomyrtRIoFgFyFRXLq+F740LD8Jl3P2NOPVauXBlQTsM5jAQGToB8RQOfyAkkkAMBchXlMJRDSGDgBMhVNPCJnEACORAgV1EOQzmEBAZOgFxFA5+o4BO40NDHAbKrBCQgAQlIQAISkIAEJCABCUhAAq0EqrjQ0BqhJQlIQAISkIAEJCABCUhAAhKQgASGRmCICw1Di8mJJCABCUhAAhKQgAQkIAEJSEACEhgRgVlhRBM7rQQkIAEJSEACEpCABCQgAQlIQAJDJDCkqbyiYUigqzDNli1bwo9vvjuc+tVrw3///L83t5Spr0J8xiABCUhAAhKQgAQkIAEJSGAUBKo2pwsNVTui08SzbNmygKZp0ta0et2GcNKnLw8v//QV4YKrfhu+9593NreUqcfetrMGCfRIgHxFPXa3mwSGSoBcRUOd1Mkk0CMBchX12N1uEhgqAXIVDXVSJ5PANgJd/0uuoq47VqyDCw0VO6CDCIcrFl77xavC5Sv+kDnT1OvgAAAQAElEQVQ89dhpl9nASglIQAISkIAEJCABCUhAArkRcKCiE3ChoehHKEf/1qxZE1C3Q/5kxT1tFxmSsVhsQEnZrQTyIEC+ojzGcgwJDJoAuYoGPY/jSyAPAuQqymMsx5DAoAmQq2jQ8zh+DgQconm+Zb6G4EJDjV4Md955Z0Ddhvz1n/2uoy4X/ey2jtrZSAKdEiBfUaftbSeBURIgV9EofXBuCXRKgFxFnba3nQRGSYBcRaP0oexz6//wCJCraHgzFnMmFxqKeVwK5dU9ax/oyJ9O23U0mI0kIAEJSEACEpCABCRQbQJGJ4HKEnChobKHNr/Adlswt6PBOm3X0WA2koAEJCABCUhAAhKQwEgIOKkEJNAvARca+iVYg/7HP26fjqI84XEP66idjSQgAQlIQAISkIAEJNA1ATtIQAKlIeBCQ2kO1egcPXLZbuGIZbtO6wB2NG0jjRKQgAQkIAEJSEAClSNgQBKQgARiAi40xEQqXB4bGwuo2xAbjUb41CufEB778PHMriwwYG80Gpl2KyXQKwHyFfXa334SGCYBchUNc07nkkCvBMhV1Gt/+5WCQGWcJFdRZQIykEoTIFdRpYPsIDgXGjqAVJUmS5YsCaiXeBbNnxPO+/MnTul67kmPC+e/+oiAfYrRCgn0SYB8RX0OY3cJDIUAuYqGMpmTSKBPAuQq6nMYu/dEwE7dEiBXUbf9bC+BURAgV9Eo5i7SnC40FOloFNyXh+w8J8yKLlrYb48FodGIKgseh+5JQAISkIAEJCCBKQSskIAEJCCB3Ai40JAbyuIPtGrVqoB69XTW1lWGRfPmtHRfvW5DS9mCBPIkQL6iPMd0LAkMigC5igY1vuNKIE8C5CrKc8xBjeW4EiBXkSQkUAYC5Coqg6+D9NGFhkHSLdjYJDzqx63F88dauk+sd6GhBYiFXAmQryjXQR1MAgMiQK6iAQ3vsBLIlQC5ivoY1K4SGBoBchUNbUInkkAfBMhV1McQlejqQkMlDuPwgoifxbBq3eTwJncmCUhAAhKQgARmIKBZAhKQgAQkMHoCLjSM/hiUyoPx6NaJCW+dKNXx01kJSEACEhgRAaeVgAQkIAEJ1IiACw01Oth5hBrfOrHaWyfywOoYEpCABCQwIgJOKwEJSEACEpBA/gQqu9Bw9dVXh7PPPjuceOKJzZ90bDQauf06wo033hjmzZvXHO9Zz3pW/kelwCNOuXVirbdOFPhw6ZoEJCCBshLQbwlIQAISkIAESkygsgsNZ511VjjttNPChRdeGG677bZcD9FrXvOa8MADD+Q65jAGW7BgQUD9zDU+z4dB9sPPvt0RIF9Rd71sLYHRECBX0WhmH9aszlMVAuQqqko8xlFtAuQqqnaURlcVAuQqqko8vcZR2YWGI488Mpx++unhG9/4Rrj99tvD3Llze2XU0u8zn/lMWL58eXj1q1/dUl+Gwl577RVQP74uXtD685YTPgyyH5z2nYEA+YpmaKZZAoUgQK6ikTjjpBLokgC5irrsZnMJjIQAuYpGMrmTSqBLAuQq6rJb5ZpXdqHh1FNPDWeeeWY47rjjwt57753LgbvjjjvC3/zN34RnP/vZ4aSTTsplzLINssiHQZbtkOmvBCQwQgJOLQEJSEACEpCABOpIoLILDYM4mG9605vC+vXrwyc+8YlBDD/wMVkoQf1MND7fWyf64Wff7giQr6i7XraWwIwEBtKAXEUDGdxBJZAzAXIV5Tysw0lgIATIVTSQwR1UAjkTIFdRzsOWbjgXGjo8ZN/61rfCBRdcEN7+9reHRz7ykR32KlaztWvXBtSPV4vnT711YsuWLf0MaV8JtCVAvqK2DTRUjEC5wyFXUbmj0Pu6ECBXUV3iNc5yEyBXUbmj0Pu6ECBXUV3ibRenCw3tyKTqSZTXve514VGPelTgloyUqXa78cMgN2zaEtZNbqodBwOWQK0IGKwEJCABCUhAAhKQgAS6IOBCQwew3vnOd4Zbb701fPKTnwxjY623DnTQvaXJwQcfHLJ08803hw0bNoQVK1ZM0eTktp+QZJtlpy6ZZM2aNVP6Y1+5cmXSJKxatSqzTfoSH/bpFytMrt0xTrJz7Q03t4yHD4kt7p+UiYU2bJO6eIsdMV5so5xXTPBgHsSYjB0LH7Cj2JaUiQU726Qu3mJHjBfbKDM/doRf1MXi2GBH7Md2yvTFjhiTulj4gB3FtqRMLNjZJnXxFjtivNhGmfmxI/yiLhZxYEfsJ/Z77rknIMr0xY4Yk7pY+IAdxbakTCzY2SZ18RY7YrzYRpn5sSP8oi4WcWBH7Md2yvTFjhiTulj4gB3FtqRMLNjZJnXxFjtivNhGmfmxI/yiLhZxYEfsx3bK9MWOGJO6WPiAHcW2pEws2NkmdfEWO2K82EaZ+bEj/KIuFnFgR+zHdsr0xY4Yk7pY+IAdxbakTCzY2SZ18RY7YrzYRpn5sSP8oi4WcWBH7Md2yvTFjhiTulj4gB3FtqRMLNjZJnXxFjtivNhGmfmxI/yiLhZxYEfsx3bK9MWOGJO6WPiAHcW2pEws2NkmdfEWO2K82EaZ+bEj/KIuFnFgR+zHdsr0xY4Yk7pY+IAdxbakTCzY2SZ1vLeipIwdMV5Sl94yP3aEX2lbsk8c2BH7SX16S1/siDHTtmQfH7CjpC7eEgt2trEtKWNHjJfUpbfMjx3hV9qW7BMHdsR+Up/e0hc7Ysy0LdnHB+woqYu3xIKdbWxLytgR4yV16S3zY0f4lbYl+8SBHbGf1Ke39MWOGDNtS/bxATtK6uItsWBnG9uSMnbEeEldesv82BF+pW3JPnFgR+wn9ektfbEjxkzbkn18wI6SunhLLNjZxrakjB0xXlKX3jI/doRfaVuyTxzYEftJfXpLX+yIMdO2ZB8fsKOkLt4SC3a2sS0pY0eMl9Slt8yPHeFX2pbsEwd2xH5Sn97SFztizLQt2ccH7Cipi7fEgp1tbEvK2BHjJXXpLfNjR/iVtiX7xIEdsU89762IfURf7IgxqYuFD9hRbEvKxIKdbVIXb7EjxottlJkfO8Ivzj/ZH4RcaJiB6lVXXRU+9rGPhT/7sz8LRx999Aytq29eOHd2mD2r0RLovfd7RUMLEAt1J2D8EpCABCQgAQlIQAISqDWBWbWOfobgN27c2PwZy/Hx8fDBD35whtadma+77rqQpf333z/MmTMnLFu2bIqSqyjYZtmpS2ZfuHDhlP7YlyxZkjQJixcvzmyT/hkW9ukXa9dddw3xL08s3HXPlvHwIWz/L+6flImFJmyTuniLHTFebKOcV0zwYB7EmIwdCx+wo9iWlIkFO9ukLt5iR4wX2ygzP3aEX9TF4thgR+zHdsr0xY4Yk7pY+IAdxbakTCzY2SZ18RY7YrzYRpn5sSP8oi4WcWBH7Cf23XbbLSDK9MWOGJO6WPiAHcW2Zcu2vbaIBTvbdm2wI8bLasP82BF+ZbUhDuyI/aw29MWOGDOrDT5gR1l26ogFO1vKWcKOGC/LzvzYEX5ltSEO7Ij9rDb0xY4YM6sNPmBHWXbqiAU7W8pZwo4YL8vO/NgRfmW1IQ7siP2sNvTFjhgzqw0+YEdZduqIBTtbylnCjhgvy8782BF+ZbUhDuyI/aw29MWOGDOrDT5gR1l26ogFO1vKWcKOGC/LzvzYEX5ltSEO7Ij9rDb0xY4YM6sNPmBHWXbqiAU7W8pZwo4YL8vO/NgRfmW1IQ7siP2sNvTFjhgzqw0+YEdZduqIBTtbyoj3VsQ+wo4Yj3Is5seO8Cu2UyYO7Ih96mLRFztizNhOGR+wI8pZIhbsbLPs1GFHjEc5FvNjR/gV2ykTB3bEPnWx6IsdMWZsp4wP2BHlLBELdrZZduqwI8ajHIv5sSP8iu2UiQM7Yp+6WPTFjhgztlPGB+yIcpaIBTvbLDt12BHjUY7F/NgRfsV2ysSBHbFPXSz6YkeMGdsp4wN2RDlLxIKdbZadOuyI8SjHYn7sCL9iO2XiwI7Ypy4WfbEjxoztlPEBO6KcJWLBzjbLTh12xHiUYzE/doRfsZ0ycWBH7FMXi77YEWPGdsr4gB1RzhKxYGebZacOO2I8yrGYHzvCr9hOmTiwI/ap470VsY/oix0xJnWx8AE7im1JmViws03q4i12xHixjTLzY0f4xfkn+4OQCw3TUOXSkp///OfN2yVe/OIXN69o4KoGdMoppzR7Xn311TvqmxUF/odkQv26OD7lgZAb+h3S/nUmME3s5CuapokmCRSGALmKCuOQjkhgGgLkKpqmiSYJFIYAuYoK45COSGAaAuQqmqZJLUwuNHRwmH//+9+HSy65pEXXXHNNs+fExMSO+mZFgf8h4VG/Lo7Pa/3liVXrtj1Dot9x7V8sAkXwhnxFRfBFHyQwEwFyFc3UTrsEikCAXEVF8EUfJDATAXIVzdROuwSKQIBcRUXwZZQ+uNAwDf2lS5cGfroxSz/4wQ+aPZ/5zGfuaNOsqME/4/NbH4i5er1XNAzxsDuVBCQgAQlIQAISkIAEJCCBQhNwoWH74Tn33HPDQQcdFE477bTtNdXbcCsI6jeyqbdOeEVDCP1StX8WAfIVZdmsk0DRCJCrqGh+6Y8EsgiQqyjLZp0EikaAXEVF80t/JJBFgFxFWbY61VV2oeHiiy8ORxxxxA7xMyAc2HQdbahDd999d7jhhhvC7bffTrGSggHqN7jxea1XNKxaV+ArGvoN1v4jJUC+opE64eQS6JAAuYo6bG4zCYyUALmKRuqEk0ugQwLkKuqwuc0kMFIC5CoaqRMFmLyyCw133XVXuOKKK3aI2x/gna6jDXWqOwJTr2jofqGhuxltLQEJSEACEpCABCQgAQlIQAJlIVDZhYaTTz55x7MTWGTIEm2SA3XGGWc025933nlJ1bTbo48+utn+e9/73rTtSmbsyN3F0a9OrF7vrRMdgbORBCQgAQlIQAISkIAEJCCBGhCo7EJDtY5dsaJZFD0M0lsninV89EYCEpCABCQgAQlIQAISkMAoCbjQ0A/9mvYdnzenJfIJn9HQwsOCBCQgAQlIQAISkIAEJCCBOhOo5EJDnQ/odLHvueeeAU3XphPb4uiKhol1k83bSDrpaxsJdEOAfEXd9LGtBEZFgFxFo5rfeSXQDQFyFXXTx7YSGBUBchWNan7nlUA3BMhV1E2fKrYd5kJDFfmVKqaFCxcG1K/T49EzGjZu3hLWTm7qd1j7S2AKAfIVTTFYIYECEiBXUQFd0yUJTCFArqIpBiskUEAC5CoqoGu6JIEpBMhVNMVQs4pZIdQsYsPtm8CiaKGBAbmqga2SgAQkIAEJSEACEpCABCQggaISGI5fXtEwHM6FmGXFihUB9evMLnN3CrNnNVqGmfA5DS08LORDgHxF+YzmKBIYLAFyFQ12FkeXQD4EyFWUz2iOIoHBEiBX0WBncXQJ5EOAXEVdj1axDi40VOyADiOcRqMRfCDkMEg7hwQkIAEJSEACEpCA/N05oQAAEABJREFUBCQwSgLO3RsBFxp641b7XvFzGibWT9aeiQAkIAEJSEACEpCABCQggaEQcJKCE3ChoeAHqKjujUe/PLHKWyeKeqj0SwISkIAEJCABCUhAAkMi4DQS2EbAhYZtHPy3SwLxrROr13lFQ5cIbS4BCUhAAhKQgAQkIIHhEHAWCQyZgAsNQwZeleniKxp8GGRVjqxxSEACEpCABCQgAQkMi4DzSKCqBFxoqOqRzYhryZIlAWWYuq6Kn9HgrRNdI7RDBwTIV9RBU5tIYOQEyFU0ckd0QAIdECBXUQdNbSKBkRMgV9EQHXEqCfRMgFxFPQ9QkY4uNFTkQHYSxtjYWECdtJ2pzZRbJ3wY5EzItPdAgHxFPXS1iwSGToBcRUOf2Akl0AMBchX10NUuEhg6AXIVhTD0qZ1QAl0TIFdR1x0r1sGFhood0OnCmZycDGi6Np3axheMtTT11okWHBZyIkC+opyGcxgJDJQAuYoGOomDSyAnAuQqymk4h6k7gQHHT66iAU/j8BLIhQC5inIZrMSDuNBQ4oPXresrV64MqNt+We3jKxpW+TDILEzW9UmAfEV9DmN3CQyFALmKhjKZk0igTwLkKupzGLsXnEBV3CNXUVXiMY5qEyBXUbWjnDk6FxpmZmSLDALxMxpWr9+Q0coqCUhAAhKQgAQkIIGIgEUJSEAClSfgQkPlD/FgAlw8f+qtE1u2bBnMZI4qAQlIQAISkIAEBk7ACSQgAQlIIC8CLjTkRbJm4yyaN6cl4o2bt4Q1D2xsqbMgAQlIQAISkIAE+ibgABKQgAQkUDoCLjSU7pAVw+Hx+a0LDXjlAyGhoCQgAQlIQAL1IGCUEpCABCQggXYEXGhoR8b6aQksnLtT2GlWo6WNCw0tOCxIQAISkIAERkHAOSUgAQlIQAIjJ+BCw8gPwfAcWLZsWUB5zNhoNEJ8VcPE+sk8hnYMCewgQL6iHRXuSKDABMhVVGAXdW2kBIo1ObmKiuWV3kggmwC5irKt1kqgWATIVVQsr4bvjQsNw2demRnj5zR4RUNlDq2BSEACEqgPASOVgAQkIAEJSCB3Ai405I60uAOuWbMmoLw8XDzllye8oiEvto6zjQD5iraV/FcCxSZArqJie1ke7/R0sATIVTTYWRxdAvkQIFdRPqM5igQGS4BcRYOdpfiju9BQ/GOUm4d33nlnQHkNOB49ENIrGvIi6zgJAfIVJWW3EigyAXIVFdnHHHxziIoQIFdRRcIxjIoTIFdRxcM0vIoQIFdRRcLpOQwXGnpGZ8fx+IqG9RuEIgEJSEACIyHgpBKQgAQkIAEJSKA4BFxoKM6xKJ0n4/PmtPi8ap23TrQAsSABCUhAAhKQgAQkIAEJSKCGBFxoqOFBzyvk+NaJ1eu8oiEvto4jAQkMloCjS0ACEpCABCQgAQkMjoALDYNjW/mRvXWi8ofYACUwbALOJwEJSEACEpCABCRQAQIuNFTgIHYawtjYWECdtp+pXXxFg7dOzERMe7cEyFfUbT/b503A8TohQK6iTtraRgKjJkCuolH74fwS6IQAuYo6aWsbCYyaALmKRu3HqOd3oWHUR2CI8y9ZsiSgvKYcnzfWMpS3TrTgsJADAfIV5TBUNYcwqkIRIFdRoZzSGQm0IUCuojZmqyVQKALkKiqUUzojgTYEyFXUxlybahcaanOo8w80vqJhYv2GsGXLlvwnckQJlIyA7kpAAhKQgAQkIAEJSKDOBFxoqNHRX7VqVUB5hRwvNGzavCXc98DGvIZ3HAk08zXHnJWoBAZKgFxFA53EwSWQEwFyFeU0nMNIYKAEyFU00EkcXAI5ESBXUU7DlXYYFxpKe+i6d5yER933zO4RPwySVt4+AQXVHYH2rclX1L6FFgkUhwC5iorjkZ5IoD0BchW1b6FFAsUhQK6i4nikJxJoT4BcRe1b1MPiQkM9jvNAolwwNjvMmd1oGdsHQrbgKHdB7yUgAQlIQAISkIAEJCABCfRAwIWGHqDZZRuBRqMRFkUPhJxYt2Gb0X8HRsCBJSABCUhAAhKQgAQkIAEJFJmACw1FPjol8C1+TgMPhCyB24Nw0TElIAEJSEACEpCABCQgAQlIYCsBFxq2QvD/3gksnj+npfPEusmW8ugLeiABCUhAAhKQgAQkIAEJSEACwyTgQsMwaY94rgULFgSUpxs93zqRpxOOVVkC5CuqbIAGVikC5CqqVFAGU1kC5CqqbIAGVikC5CqqVFAGU1kC5CqqbIAdBuZCQ4egqtBsr732Cmi6WLq1Tb2iwWc0dMvQ9u0JkK+ofQstEigOAXIVFccjPZFAewLkKmrfQosEikOAXEXF8UhPJNCeALmK2reoh8WFhnIc58J6OeUZDd46UdhjpWMSkIAEJCABCUhAAhKQgASGQcCFhr4ol6vzHXfcEVCeXo/PH2sZzodBtuCw0CcB8hX1OYzdJTAUAuQqGspkTiKBPgmQq6jPYewugaEQIFfRUCZzEgn0SYBcRX0OU/ru1VxoKP1hGUwAa9euDSjP0b2iIU+ajhUTIF9RXG9ZAkUkQK6iIvqmTxKICZCrKK63LIEiEiBXURF90ycJxATIVRTX16081IWGusGtQ7zj86IrGtb5jIY6HHdjlIAEJCABCUhAAhKQgAQk0I4ACw3tbNZLYEYCU65oWO9Cw4zQbCABCUhAAhKQgAQkIAEJSGA0BIYyqwsNQ8Fc3UmmLDSsmwybN2+pbsBGJgEJSEACEpCABCQgAQlIIHcC1RrQhYZqHc+hRxM/DJI1hvse2Dh0P5xQAhKQgAQkIAEJSEACEpBA7gQcsCcCLjT0hK2cnRYvXhxQnt6Pz5szZbjVPqdhChMreiNAvqLeettLAsMlQK6i4c7qbBLojQC5inrrbS8JDJcAuYqGO6uzFZ1AUf0jV1FR/RuWXy40DIt0AeYh4VGerswfmx3GZrem0cT6yeB/EsiDAPmK8hjLMSQwaALkKhr0PI4vgTwIkKsoj7EcQwKDJkCuokHP4/i5EKj9IOQqqjuI1jPEutMw/q4JNBqNsGh+61UNq7yioWuOdpCABCQgAQlIQAISkMDgCDiyBIZLwIWG4fIe6WwrV64MKG8n4tsnJtZ5RUPejOs6HvmK6hq/cZeLALmKyuW13taVALmK6hq/cZeLALmKyuV1h97arHIEyFVUucC6DMiFhi6Blbn55ORkQHnHsHj+WMuQE17R0MLDQu8EyFfU+wj2lMDwCJCraHgzOpMEeidArqLeR7CnBIZHgFxFw5sxBOeSQK8EyFXUa/+q9HOhoSpHcoRxxLdOuNAwwoPh1BKQgAQkIAEJSKC6BIxMAhIoCQEXGkpyoIrs5pRbJ3wYZJEPl75JQAISkIAEJCCBnAk4nAQkIIFWAi40tPKw1AOBxQu8daIHbHaRgAQkIAEJSEACgyXg6BKQgARGRMCFhhGBr9K0i+a1/urEhA+DrNLhNRYJSEACEpCABHIm4HASkIAEqk7AhYaqH+FUfHvuuWdAqapcdqc8DHL9hlzGdRAJkK9IEhIoAwFyFZXBV32UALmKJNFCwEJBCZCrqKDu6ZYEWgiQq6ilsoYFFxpqdNAXLlwYUN4hj8+Pr2hwoSFvxnUdj3xFdY3fuMtFgFxF5fJab+tKgFxF5YhfL+tOgFxFdedg/OUgQK6icng7OC9daBgc29qMPOVhkN46UZtjb6ASkIAEJFBjAoYuAQlIQAISaEPAhYY2YKpYvWLFioDyjm18fuvDIFev3xA2b96S9zSOV0MC5CuqYeiGXEIC5Coqoeu6XDECnYRDrqJO2tpGAqMmQK6iUfvh/BLohAC5ijppW+U2lV1ouPrqq8PZZ58dTjzxxLBkyZLQaDSa6vZgTkxMhC996UvhpJNOCvvtt18YGxsLu+yySzj88MPDRz/60bBhg7cJxLdOsMZw3/0bg/9JQAISkIAEJLCDgDsSkIAEJCCB2hCo7ELDWWedFU477bRw4YUXhttuu63nA/rBD34wvOIVrwgXXHBBWLx4cXPh4klPelK45pprwimnnBKe8YxnhHXr1vU8fhU6xgsNxDSxfpKNkoAEJCABCRScgO5JQAISkIAEJJA3gcouNBx55JHh9NNPD9/4xjfC7bffHubOndsTuwULFoS3vvWt4ZZbbgk//elPw5e//OXwb//2b+EXv/hF2HfffcOll14a3vOe9/Q0dlU6zZszO4zt1JpKE+u80iP4nwQkIAEJ9E7AnhKQgAQkIAEJlJZA69lhacOY6vipp54azjzzzHDccceFvffee2qDDmu4KuJ973tfc1Eh3eWAAw5o3ppB3fnnn8+mtmo0GiF+IOQqHwhZ23wwcAlIoNoEjE4CEpCABCQgAQnMRKCyCw0zBZ6H/dBDD20O87vf/a65rfM/8e0TPBCyzjyMXQISkMCQCTidBCQgAQlIQAISKAwBFxr6OBTJ00T7uWKij+m77spDMVHXHTvoEP/yhLdOdADNJjMSIF/RjA1tIIECECBXUasrliRQTALkKiqmd3olgVYC5CpqrbUkgWISIFdRMb0bnlcuNPTBml+doPvxxx/PpvDiFzPQIBz11olBUHVM8hVJQgK5ExjAgOQqGsDQDimB3AmQqyj3gR1QAgMgQK6iAQztkBLInQC5inIfuGQDutDQ4wH75Cc/Gb73ve+F8fHx8La3va3jUQ4++OCQpZtvvrn5U5lcJRFrcnLbLziwjW1JOXFgzZo1IalLb1euXBnoj1atWpXZ5o477kiGCeyn+yf79E0aMWZSP3vT/Ul1c5tc0ZDY4y1+0JBtbEvK2NF0MWFH+JX0S2+JAztiP21L9umLHaVjSuxs8QE7opwlYsHONstOHXbEeJRjMT92hF+xnTJxYEfsUxeLvtgRY8Z2yviAHVHOErFgZ5tlpw47YjzKsZgfO8Kv2E6ZOLAj9qlDN954Y0Ds0xc7YkzqYuEDdhTbkjKxYGeb1MVb7IjxYhtl5seO8Iu6WMSBHbEf2ynTFztiTOpi4QN2FNuSMrFgZ5vUxVvsiPFiG2Xmx47wi7pYxIEdsR/bKdMXO2JM6mLhA3YU25IysWBnm9TFW+yI8WIbZebHjvCLuljEgR2xH9sp0xc7YkzqYuEDvqLYlpSxMQbbpC7eYkeMF9soMz92hF/UxSIO7Ij92E6ZvtgRY1IXCx+wo9iWlIkFO9ukLt5iR4wX2ygzP3aEX9TFIg7siP3YTpm+2BFjUhcLH7Cj2JaUiQU726Qu3mJHjBfbKDM/doRf1MUiDuyI/dhOmb7YEWNSFwsfsKPYlpSJBTvbpI73VpSUsSPGS+rSW+bHjvArbUv2iQM7Yj+pT2/pix0xZtqW7OMDdpTUxVtiwc42tiVl7Ijxkrr0lvmxI/xK25J94sCO2E/q01v6YkeMmbYl+/iAHSV18ZZYsLONbUkZO2K8pC69ZX7sCL/StmSfOLAj9pP69Ja+2BFjpm3JPj5gR0ldvCUW7GxjW1LGjhgvqdVAC/oAABAASURBVEtvmZ/+CL/StmSfOBgDsZ/Up7f0xY4YM21L9vEBO0rq4i1+YGcb25IydsR4SV16y/zYEX6lbck+cWBH7Cf16S19sSPGTNuSfXzAjpK6eEss2NnGtqSMHTFeUpfeMj92hF9pW7JPHNgR+0l9ektf7Igx07ZkHx+wo6Qu3hILdraxLSljR4yX1KW3zI8d4VfaluwTB3bEPvW8tyL2EX2xI8akLhY+YEexLSkTC3a2SV28xY4YL7ZRZn7sCL82bBjcA/xdaIByl/rRj34U3vSmN4VGoxE++9nPhn322afLEUbTnMRCg5j9IXNntww74cMgW3hY6I3AxMREmNiq3nrbK0cCDtUBAd5fUQdNbSKBkRPgvRWN3BEdkEAHBHhvRR00tYkERk6A91Y0ckdG7IALDV0egF/+8peBWyVYSeLWiRe84AVdjXDdddeFLO2///5hzpw5YdmyZVOUXHrDNstOXeLEwoULp/THnr5PaPHixZlt9tprr5D8xz79YtE3acOYif0R++yRVDe3E+u3rY4l9nhLLDRkG9uSMnY0qpgSP9jiA74gylkiFuxss+zUYUeMRzkWTLEjWMd2yhwb7Ih96mLRFztizNhOGR+wI8pZIhbsbLPs1GFHjEc5FvNjR/gV2ykTB3bEPnVot912C4h9+mJHjEldLHzAjmJbUiYW7GyTuniLHTFebKPM/NgRflEXiziwI/ZjO2X6YkeMSV0sfMCOYtuyZdveL4gFO9t2bbAjxstqw/zYEX5ltSEO7Ij9rDb0xY4YM6sNPmBHWXbqiAU7W8pZwo4YL8vO/NgRfmW1IQ7siP2sNvTFjhgzqw0+YEdZduqIBTtbylnCjhgvy8782BF+ZbUhDuyI/aw29MWOGDOrDT5gR1l26ogFO1vKWcKOGC/LzvzYEX5ltSEO7Ij9rDb0xY4YM6sNPmBHWXbqiAU7W8pZwo4YL8vO/NgRfmW1IQ7siP2sNvTFjhgzqw0+YEdZduqIBTtbyoj3VsQ+wo4Yj3Is5seO8Cu2UyYO7Ih96mLRFztizNhOGR+wI8pZIhbsbLPs1GFHjEc5FvNjR/gV2ykTB3bEPnWx6IsdMWZsp4wP2BHlLBELdrZZduqwI8ajHIv5sSP8iu2UiQM7Yp+6WPTFjhgztlPGB+yIcpaIBTvbLDt12BHjUY7F/NgRfsV2ysSBHbFPXSz6YkeMGdsp4wN2RDlLxIKdbZadOuyI8SjHYn7sCL9iO2XiwI7Ypy4WfbEjxoztlPEBO6KcJWLBzjbLTh12xHiUYzE/doRfsZ0ycWBH7FMXi77YEWPGdsr4gB1RzhKxYGebZacOO2I8yrGYHzvCr9hOmTiwI/ap470VsY/oix0xJnWx8AE7im1JmViws03q4i12xHixjTLzY0f4xfkn+4OQCw1dUP31r38dnvOc5wQuMznjjDPCG97whi56V7vp+LyxlgAn1m1baGiptCCBuhAwTglIQAISkIAEJCABCdSYgAsNHR7822+/PTz72c8ObLlt4m//9m877FmPZovnz2kJdMJbJ1p4WCgGAb2QgAQkIAEJSEACEpCABAZPwIWGDhhzBcNzn/vcwAMb//zP/zx85CMf6aBXvZosihcatt86US8KRtsjAbtJQAISkIAEJCABCUhAAhUi4ELD9oN57rnnhoMOOiicdtpp22u2bdatWxee97znhV/84hfhJS95Sfj0pz/dfAjkNqv/JgQWz2+9dWL11oWGzZu3JGa3pSSg0xKQgAQkIAEJSEACEpCABLonUNmFhosvvjgcccQRO8TDG8GTrqMNdejuu+8ON9xwQ/PWCMqJ3vGOd4Sf/OQnYfbs2WGnnXYKf/EXfxFOPvnkKUraF3nLA0DQIHwcj65o2LJ1jeHe+31OwyBYhxoNSr6iGoVsqCUmQK6iEoeg6zUiQK6iGoVsqCUmQK6iEoeg6zUiQK6iGoWcGWplFxruuuuucMUVV+zQFs58tyJI19Fma9W0/3PbBA02bdoUvvSlL4XPf/7zmaJNnRU/DBIWEzV7ICQxKwlIQAISkIAEJCABCUhAAnUnUNmFhpNPPjmwuDCdaJMkAL8iQdvzzjsvqWpuKVM/k5qNC/7PmjVrAhqEm/PGZoe5O7WmU/ITl2G0/zl7iQmQr6jEIeh6jQiQq6hGIRtqiQmQq6jEIeh6jQiQq6hGIRtqiQmQq6jEIeTieuuZYS5DOkhRCdx5550BDcq/+PaJVdP+8sSgvHDcKhEgX1GVYjKW6hIgV1F1IzSyKhEgV1GVYjKW6hIgV1F1IzSyKhEgV1GVYuolFhcaeqFW5T59xBbfPrHaWyf6oGlXCUhAAhKQgAQkIAEJSEAC5STgQkNJjlsZ3IyvaJjwioYyHDZ9lIAEJCABCUhAAhKQgAQkkCsBFxr6w2nvFIF4oWGVVzSk6LgrAQlIQAISkIAEJCABCUigHgQqutBQj4NXtCin3DqxfkPRXNQfCUhAAhKQgAQkIAEJSEACEhgwgeEuNAw4GIefnsDY2FhA07fq3Tq+YE5LZ2+daMFhoQcC5CvqoatdJDB0AuQqGvrETiiBHgiQq6iHrnaRwNAJkKto6BM7oQR6IECuoh66VqpLc6GhUhEZTFsCS5YsCahtgz4N8RUN3jrRJ1C7N/N1kDkrYgnkSYBcRXmO6VgSGBQBchUNanzHlUCeBMhVlOeYjiWBQREgV9Ggxs9j3GGM4ULDMCjXZI74GQ0T3jpRkyNvmBKQgAQkIAEJSEACEpBAnwQq1d2FhkodzumDWbVqVUDTt+rduni+t070Ts+eWQTIV5Rls04CRSNArqKi+aU/EsgiQK6iLJt1EigaAXIVFc0v/akLge7iJFdRd72q19qFhuod07YRkfCobYM+DYvmjbWMMOGvTrTwsNA9AfIVdd/THhIYPgFyFQ1/ZmeUQPcEyFXUfU97SGD4BMhVNPyZnbHQBArqHLmKCure0NxyoWFoqKs/0eLoYZD33r8hbNq8pfqBG6EEJCABCUhAAhKQgAQk0CTgPxKAgAsNUFC5EIgfBrll6xrDvT6nIRe2DiIBCUhAAhKQgAQkIIE+CNhVAkMl4ELDUHFXe7L4YZBE6wMhoaAkIAEJSEACEpCABCSQRcA6CVSTgAsN1TyuI4lq5zmzw85zWlNqYt3kSHxxUglIQAISkIAEJCABCfRMwI4SkEBfBFrPCvsays5FJ7BgwYKABulnfPvEhA+EHCTuyo9NvqLKB2qAlSBArqJKBGMQlSdArqLKB2qAlSBAriKCURIoOgFyFRXdz0H750LDoAkXaPy99toroEG6FN8+MbHeKxoGybvqY5OvqOpxGl81CJCrqBrRGEXVCZCrqOpxGt/QCAx0InIVDXQSB5dATgTIVZTTcKUdxoWG0h66Yjo+ZaHBKxqKeaD0SgISkIAEJCCBGhAwRAlIQAKjIeBCw2i4j2TWO+64I6BBTh7fOrHKhYZB4q782OQrqnygBlgJAuQqqkQwBlF5AuQqqnygRQ1Qv7oiQK6irjrZWAIjIkCuohFNX5hpXWgozKEYvCNr164NaJAzxVc0rPZhkIPEXfmxyVdU+UANsBIEyFVUiWAMovIEyFVU+UC7DNDmxSRArqJieqdXEmglQK6i1tr6lVxoqN8xH2jE4/PHWsafWL+hpWxBAhKQgAQkIAEJdEnA5hKQgAQkUDICLjSU7IAV3d34igZvnSj6EdM/CUhAAhKQQK8E7CcBCUhAAhLIJuBCQzYXa3skMD5vTktPb51owWFBAhKQgAQkMHgCziABCUhAAhIYMQEXGkZ8AKo2vbdOVO2IGo8EJCABCeRFwHEkIAEJSEACdSHgQkNdjvTWOBcvXhzQ1t2B/T/l1om1kwOby4GrT4B8RdWP1AirQIBcRVWIpWYx1DJcchXVMniDLh0BchWVznEdriUBchXVMvhU0C40pGBUfZeER4OMM15ouPf+jWHT5i2DnNKxK0yAfEUVDtHQKkSAXEUVCmnEoTj9IAmQq2iQczi2BPIiQK6ivMZzHAkMkgC5igY5RxnGdqGhDEepRD4ujn51AtdX+8sTYFASkIAEqkHAKCQgAQlIQAISkMAMBFxomAFQlcwrV64MaJAxLYoeBslcE+u8fQIOqnsC5Cvqvqc9JDB8AuQqGv7M22b0Xwl0Q4BcRd30sa0ERkWAXEWjmt95JdANAXIVddOnim1daKjiUW0T0+TkZEBtzLlU7zxndpi3VenBJryiIY3D/S4IkK+oiy42lcDICJCrKHLAogQKSYBcRYV0TqckEBEgV1FUbVEChSRArqJCOjdEp1xoGCLsukw1Pr/1Jy69oqEuR944JVAmAvoqAQlIQAISkIAEJDAoAi40DIpsjceNb5+YWLehxjQMXQIS6IqAjSUgAQlIQAISkIAESk/AhYbSH8LiBbA4eiCkCw3FO0Z6JIFuCdheAhKQgAQkIAEJSEACnRJwoaFTUrbrmMC4t050zMqGEuiTgN0lIAEJSEACEpCABCRQOAIuNBTukAzOoT333DOgwc2wbeQpCw0+DHIbGP/tmgD5irruOPIOOlBHAuQqqmPsxlw+AuQqKp/nelxHAuQqqmPsxlw+AuQqKp/n+XrsQkO+PAs92sKFCwMatJPj3joxaMS1GZ98RbkF7EASGCABchUNcAqHlkBuBMhVlNuADiSBARIgV9EAp3BoCeRGgFxFuQ1Y0oFcaCjpgSuy2+PzWn91YtW6ySK7q28FIKALEpCABCQgAQlIQAISkEB1CLjQUJ1jOWMkK1asCGjGhn02iG+dWO2tE30SHVn3kU9MvqKRO6IDEuiAALmKOmhqEwmMnAC5ikbuiA5IoAMC5CrqoKlNJDByAuQqGrkjI3bAhYYRH4AqTu+tE4M+qo4vAQlIQAISkIAEJCABCUiguARcaCjusSmtZ7W9daK0R0zHJSABCUhAAhKQgAQkIAEJ5EfAhYb8WDrSdgLxFQ333b8xbNy0ebt1+BtnlIAEJCABCUhAAhKQgAQkIIHhEXChYXisazPT4vmtD4Mk8Hu3LjawTcldCUhAAhKQgAQkIAEJSEACEqggARcaKnhQ+wup/96LMhYa/OWJ/rk6ggQkIAEJSEACEpCABCQggTIQcKGhDEcJH3PQkiVLAsphqGmHmLvT7DB/bHZLm4l1G1rKFiTQCQHyFXXS1jYSGDUBchWN2g/nl0AnBMhV1Elb20hg1ATIVTRqP5xfAp0QIFdRJ22r3MaFhj6Pbpm6j42NBTQMn+MHQk6smxzGtM5RMQLkK6pYWIZTUQLkKqpoeIZVMQLkKqpYWIZTUQLkKqpoeIZVMQLkKqpYWF2HU9WFhq5B1KHD5ORkQMOIddH8sZZpJryioYWHhc4IkK+os9a2ksBoCZCraLReOLsEOiNArqLOWttKAqMlQK6i0Xrh7BLojAC5ijprXd1WQ15oqC7IMkS2cuXKgIbha/xAyIn13joxDO5Vm4N8RVWLy3iqSYBcRdVgXlGhAAAQAElEQVSMzqiqRoBcRVWLy3iqSYBcRdWMzqiqRoBcRVWLq9t4ti00dNvL9hKYgcB49EDICW+dmIGYZglIQAISkIAEJCABCUhAAkMgMIQpXGgYAuQ6TrFonrdO1PG4G7MEJCABCUhAAhKQgAQk0BuBKvVyoaFKR7NAsXjrRIEOhq5IQAISkIAEJCABCUhAAr0SsF8PBFxo6AGaXWYm4K0TMzOyhQQkIAEJSEACEpCABCTQKwH7FZmACw1FPjol9m3cWydKfPR0XQISkIAEJCABCUhAAj0SsJsEthJwoWErhLr8v2zZsoCGEe+UKxrWTw5jWueoGAHyFVUsLMOpKAFyFVU0PMOqGAFyFVUsLMOpKAFyFVU0vKGF5UTDIUCuouHMVtxZXGgo7rEptWfj86OHQa715y1LfUB1XgISkIAEJCABCUhgEAQcUwKVJOBCQyUPa3ZQa9asCSjbmm9tfEXDfQ9sDBs2bc53EkerPAHyFVU+UAOsBAFyFVUiGIOoPAFyFVU+UAOsBAFyFQ03GGeTQG8EyFXUW+/q9HKhoTrHcsZI7rzzzoBmbJhDg3ihgSHvXe9VDXBQnRMgX1HnPWwpgdERIFfR6DxwZgl0ToBcRZ33sKUERkeAXEVND/xHAgUnQK6igrs5cPdcaBg44npOsGjenCmBr1rnQsMUKFZIQAISkIAEJCCBChAwBAlIQAJpAi40pGm4nxuBuTvNDvPHZreMt9oHQrbwsCABCUhAAhKQgAQGTMDhJSABCYyEgAsNI8Fej0kXxw+E9IqGehx4o5SABCQgAQlIYAYCmiUgAQlUm4ALDdU+viONLr59wlsnRno4nFwCEpCABCQggZkIaJeABCQggVwIuNCQC8ZyDDI2NhbQsLxdvGBOy1QT6yZbyhYkMBMB8hXN1E67BIpAgFxFRfBFHyQwEwFyFc3Urih2/ag3AXIV1ZuC0ZeFALmKyuLvoPys7ELD1VdfHc4+++xw4oknhiVLloRGo9FUryBXrVoV3vSmN4VHPOIRYe7cuc3tKaecEiYmJnodcuj94ICGNfH4vLGWqSa8daKFh4WZCZCvaOaWtpDA6AmQq2j0nuiBBGYmQK6imVtO20KjBIZCgFxFQ5nMSSTQJwFyFfU5TOm7V3ah4ayzzgqnnXZauPDCC8Ntt93W14G6++67w5Oe9KTwsY99LOy0007hhBNOCLvsskv46Ec/Gg4//PDwhz/8oa/xq9p50fzoigYfBlnVQ21cEpCABCRQKAI6IwEJSEACEhgtgcouNBx55JHh9NNPD9/4xjfC7bff3rwKoVfUXLlw0003Na+OuOGGG8IFF1wQfvnLX4Y3vOEN4Ve/+lV485vfHMrwH1dloGH5ujheaPCKhmGhr8w85CuqTEAGUmkC5CqqdJAG1x+BAvUmV1GBXNIVCbQlQK6itg00SKBABMhVVCCXRuJKZRcaTj311HDmmWeG4447Luy99949w2WR4vzzz28+2+ATn/hE84qGZLAPfOADYY899ghf/OIXw5133plUF3ZLwqNhOeitE8MiXd15yFdU3QiNrEoEyFVUpZjqEksd4yRXUR1jN+byESBXUfk81+M6EiBXUR1jT8dc2YWGdJD97H/nO98JmzdvDk996lPDXnvt1TIUz2pgIWPTpk3hW9/6VovNQgjeOmEWSEACEpBAHwTsKgEJSEACEpBASQm40DDDgbvmmmuaLQ477LDmNv4nqb/22mtjU+3Li+f7MMjaJ4EAJCCBChIwJAlIQAISkIAEJDA9ARcapucTfvOb3zRbtHtyaFJ/6623Ntv5z4MExudHD4P0GQ0PwnFPAhKQQN4EHE8CEpCABCQgAQkUhIALDTMciDVr1jRbzJ8/v7mN/1mwYEGz6r777mtuZ/rn4IMPDlm6+eabw4YNG8KKFSumaHJysjks2yw7dc0GW//BX8qxVq5cudW67X/uGYrtlO+4445tDbb+yz51sei71dz8nzFjO2V8oMH4vNaFhjUPbAy/uunmZnzEQhu29MkSdsR4WXbmx47wK6sNcWBH7Ge1oS92xJhZbfABO8qyU0cs2NlSzhJ2xHhZdubHjvArqw1xYEfsZ7WhL3bEmFlt8AE7yrJTRyzY2VLOEnbEeFl25seO8CurDXFgR+wnbe65556AKNMXO2JM6mLhA3YU25IysWBnm9TFW+yI8WIbZebHjvCLuljEgR2xH9sp0xc7YkzqYuEDdhTbkjKxYGeb1MVb7IjxYhtl5seO8Iu6WMSBHbEf2ynTFztiTOpi4QN2FNuSMrFgZ5vUxVvsiPFiG2Xmx47wi7pYxIEdsR/bKdMXO2JM6mLhA3YU25IysWBnm9TFW+yI8WIbZebHjvCLuljEgR2xH9sp0xc7YkzqYuEDdhTbkjKxYGeb1MVb7IjxYhtl5seO8Iu6WMSBHbEf2ynTFztiTOpi4QN2FNuSMrFgZ5vUxVvsiPFiG2Xmx47wi7pYxIEdsR/bKdMXO2JM6mLhA3YU25IysWBnm9Tx3oqSMnbEeEldesv82BF+pW3JPnFgR+wn9ektfbEjxkzbkn18wI6SunhLLNjZxrakjB0xXlKX3jI/doRfaVuyTxzYEftJfXpLX+yIMdO2ZB8fsKOkLt4SC3a2sS0pY0eMl9Slt8yPHeFX2pbsEwd2xH5Sn97SFztizLQt2ccH7Cipi7fEgp1tbEvK2BHjJXXpLfNjR/iVtiX7xIEdsZ/Up7f0xY4YM21L9vEBO0rq4i2xYGcb25IydsR4SV16y/zYEX6lbck+cWBH7Cf16S19sSPGTNuSfXzAjpK6eEss2NnGtqSMHTFeUpfeMj92hF9pW7JPHNgR+0l9ektf7Igx07ZkHx+wo6Qu3hILdraxLSljR4yX1KW3zI8d4VfaluwTB3bEPvW8tyL2EX2xI8akLhY+YEexLSkTC3a2SV28xY4YL7ZRZn7sCL84/2R/EHKhYRBUCzomiyJoWO6NR7dOMO99D2xioyTQEYGxsbHmg1g7amwjCXRHIPfWvL+i3Ad2QAkMgIDvrwOA6pADI8B7KxrYBA4sgRwJ+P66DaYLDds4tP134cKFTdu6deua2/iftWvXNqt22WWX5namf6677rqQpf333z/MmTMnLFu2bIpIVsZlm2WnDjvCX8qxuMWDh1mixYsXT5mD9tjC9v/Ypy4Wfbc3CYwZ2ynjA20WRVc0NOv2eGhzbmKhzJY+WcKOGC/LzvzYEX5ltSEO7Ij9rDb0xY4YM6sNPmBHWXbqiAU7W8pZwo4YL8vO/NgRfmW1IQ7siP2sNvTFjhgzqw0+YEdZduqIBTtbylnCjhgvy8782BF+ZbUhDuyI/aTNoYceGhBl+mJHjEldLHzAjmJbUiYW7GyTuniLHTFebKPM/NgRflEXiziwI/ZjO2X6YkeMSV0sfMCOYltSJhbsbJO6eIsdMV5so8z82BF+UReLOLAj9mM7ZfpiR4xJXSx8wI5i27Jl294DiQU723ZtsCPGy2rD/NgRfmW1IQ7siP2sNvTFjhgzqw0+0B9l2akjFsZgSzlL2BHjZdmZHzvCr6w2+IAdsZ/Vhr7YEWNmtcEH7CjLTh2xYGdLOUvYEeNl2ZkfO8KvrDbEgR2xn9WGvtgRY2a1wQfsKMtOHbFgZ0s5S9gR42XZmR87wq+sNsSBHbGf1Ya+2BFjZrXBB+woy04dsWBnSxnx3orYR9gR41GOxfzYEX7FdsrEgR2xT10s+mJHjBnbKeMDdkQ5S8SCnW2WnTrsiPEox2J+7Ai/Yjtl4sCO2KcuFn2xI8aM7ZTxATuinCViwc42y04ddsR4lGMxP3aEX7GdMnFgR+xTF4u+2BFjxnbK+IAdUc4SsWBnm2WnDjtiPMqxmB8/EX7FdsrYGAOxT10s+mJHjBnbKeMDdkQ5S8SCnW2WnTrsiPEox2J+7Ai/Yjtl4sCO2KcuFn2xI8aM7ZTxATuinCViwc42y04ddsR4lGMxP3aEX7GdMnFgR+xTF4u+2BFjxnbK+IAdUc4SsWBnm2WnDjtiPMqxmB87wq/YTpk4sCP2qeO9FbGP6IsdMSZ1sfABO4ptSZlYsLNN6uItdsR4sY0y82NH+MX5J/uDkAsNM1Ddd999my3Sl5k0K7b/k9Q/4hGP2F7jJiEwttOssGBsdlJsbid8TkOTg/9IoHQEdFgCEpCABCQgAQlIQAIdEnChYQZQrEbR5Kc//SmbKUrqDznkkCm2olVw3xAapl/x7RMuNAyTfvnnIl9R+SMZXASOXBwC5Coqjkd6IoH2BMhV1L6FFgkUhwC5iorjkZ5IoD0BchW1b1EPiwsNMxznY445JsyaNSv86Ec/CnfeeWdL6wceeCB885vfDLNnzw7HHntsi62IBW7zQMP0Lf7liVXrtj3Ycpg+OFd5CZCvqIQR6HINCZCrqIahG3IJCZCrqISu63INCZCrqIahG3IJCZCrqISu5+qyCw3bcZ577rnhoIMOCqeddtr2mm2bhz70oeGkk04KPN3zda97Xdi4ceM2w9Z/3/rWt4a77rorvPKVrwx77rnn1hr/jwksnj/WUrV6/YaWsgUJDJeAs0lAAhKQgAQkIAEJSEACgyZQ2YWGiy++OBxxxBE7xEIBMNN1tKEO3X333eGGG24It99+O8UWnXPOOYGHNX7ta19rLka87GUvC495zGPCxz72sXDAAQeED3/4wy3tLTxIYNH8OQ8Wtu5568RWCP4/lYA1EpCABCQgAQlIQAISkEBlCFR2oYErDa644oqQaMuWLc2DlpTZ0qZZOcM/u+++e7jyyivDG97whuaVDRdeeGFYvXp1eOMb39is33XXXWcYob7m8eiXJ7x1oly5oLcSkIAEJCABCUhAAhKQgAS6JVDZhYaTTz45sLgwnWiTADvjjDOa7c8777ykqmXLYgJXMPzmN78JPJuB7Uc/+tEwPj7e0s5CK4H41okJb51oBdRbyV4SkIAEJCABCUhAAhKQgAQKS6CyCw2FJT5Cx/itVDRMF8an3DpR5YdBDpNsPeYiX1E9ojXKshMgV1HZ49D/ehAgV1E9ojXKshMgV1HZ49D/ehAgV1E9om0fpQsN7dlUzkLCo2EGtii6dWIkz2gYZsDOlSsB8hXlOqiDSWBABMhVNKDhHVYCuRIgV1GugzqYBAZEgFxFAxreYSWQKwFyFeU6aAkHc6GhhAetTC4vjn51Ir3QUKY49FUCEpCABCQgAQlIQAISkIAEOiPgQkNnnCrRauXKlQHNEEyu5nFvnciVZ90GI19R3eI23nISIFdROb3X67oRIFdR3eI23nISIFdROb3X67oRIFdR3eKO43WhISZS2HL/jk1OTjZ/NaP/kTofIV5oWDu5KUxu3Nz5ALasNYFR5GytgRt8XwTM177w2XnIBMzXIQN3ur4ImK994bPzkAmYr9uAu9CwjUPv/9pzWgLj0a0TNF7tL0+AQUlAAhKQgAQkIAEJSEACEqgkgcouNFTyaJUwqPhh2VRX0wAAEABJREFUkIQwsc5fnoCDkoAEJCABCUhAAhKQgAQkUEUCw15oqCJDY5qGwJzZs8LCuTu1tJjwioYWHhYkIAEJSEACEpCABCQgAQlUicD2hYYqhWQsRSMQP6dhYt2GormoPxKQgAQkIAEJSEACEpCABGpCYPBhutAweMaFmWHPPfcMaNgOxQsNq7x1YtiHoLTzka+otAHoeK0IkKuoVkEbbGkJkKuotAHoeK0IkKuoVkEbbGkJkKuopwAq1MmFhgodzJlCWbhwYUAztcvbPj5vrGXI1V7R0MLDQnsC5Ctq30KLBIpDgFxFxfFITyTQngC5itq30CKB4hAgV1FxPNKTuhHoJl5yFXXTp4ptXWio4lEtWEzxFQ0T630YZMEOke5IQAISkIAEJCABCUigbAT0t8AEXGgo8MHJ27UVK1YElPe4M40XLzSs8oqGmZBp306AfEXbi24kUGgC5CoqtJM6J4HtBMhVtL3oRgKFJkCuokI7qXMpAvXeJVdRvSmE4EJD3TNgCPEvnu+tE0PA7BQSkIAEJCABCUhAAhJoT0CLBIZIwIWGIcKu61SL5s1pCd1bJ1pwWJCABCQgAQlIQAISqDEBQ5dAFQm40FDFo1qwmMajKxpWrfXnLQt2iHRHAhKQgAQkIAEJSKCVgCUJSKAPAi409AHPrp0RWDy/9YqG1etdaOiMnK0kIAEJSEACEpCABFoJWJKABMpAwIWGMhylkvs4Hi00rFrnr06U/JDqvgQkIAEJSEACEmglYEkCEpBAioALDSkYVd9dsmRJQMOOc9G81odBrpvcFB7YuGnYbjhfCQmQr6iErutyDQmQq6iGoRtyCQmQq6iErutylwSq0JxcRVWIxRiqT4BcRdWPdPoIXWiYnk+lrGNjYwENO6j41gnm9/YJKKiZCJCvaKZ22iVQBALkKiqCL/oggZkIkKtopnbaB0bAgbsgQK6iLrrYVAIjI0CuopE5UJCJXWgoyIEYhhuTk5MBDWOu9Bzxr05gm1jncxrgoKYnQL6i6VtplUAxCJCrqBje6IUEpidArqLpW9XRasxFJECuoiL6pk8SiAmQqyiur1vZhYYaHfGVK1cGNOyQd5o9K+wyd6eWaV1oaMFhoQ0B8hW1MVstgUIRIFdRoZzSGQm0IUCuojbm4lXrUa0JkKuo1hAMvjQEyFVUGocH5KgLDQMC67CtBMYXzGmpmPCBkC08LEhAAhKQgATKSECfJSABCUhAAlkEXGjIomJd7gTGowdCTnjrRO6MHVACEpCABCSwnYAbCUhAAhKQwEgJuNAwUvz1mTz+icuJ9f7EZX2OvpFKQAISkMA2Av4rAQlIQAISqAcBFxrqcZxHHuX4/NafuPSKhpEfEh2QgAQkIIGEgFsJSEACEpCABHIl4EJDrjgdrB2B8Xmtz2hY5a0T7VBZLwEJSEAC2wm4kYAEJCABCUignARcaCjncevJ62XLlgXUU+c+Oy2e37rQsNpbJ/okWo/u5CuqR7RGWXYC5Coqexwd+G+TChAgV1EFQjGEGhAgV1ENQjXEChAgV1EFQukrBBca+sJn504JLPLWiU5R2U4CEpBAjwTsJgEJSEACEpCABIpBwIWGYhyHoXixZs2agIYyWTSJt05EQCx2RIB8RR01tpEERkyAXEVT3LBCAgUkQK6iArqmSxKYQoBcRVMMVkiggATIVVRA14bqkgsNQ8U92snuvPPOgEbhxeIF0a0T6/zViVEch7LNSb6isvmtv+UgkLeX5CrKe1zHk8AgCJCraBBjO6YE8iZArqK8x3U8CQyCALmKBjF2mcZ0oaFMR6vEvi6a1/qrEz4MssQHU9clMFgCji4BCUhAAhKQgAQkUHICLjSU/ACWxf3x6GGQ6zdsCvdvVVn8108JSEACEpCABCQgAQlIQAIS6IyACw2dcbJVnwQWRw+DZLh7129goyQggX4I2FcCEpCABCQgAQlIQAIFI+BCQ8EOSFXdecjOO00JzdsnpiCxokIEDEUCEpCABCQgAQlIQAJ1JeBCQ42O/NjYWECjCHmn2bPCLtFiw4QPhBzFoSjVnOQrytFph5LAwAiQq2hgEziwBHIkQK6iHId0KAkMjAC5igY2gQNLIEcC5CrKcchSDuVCQykPW29OL1myJKDeevffK759YsJbJ/qHWpkRsgMhX1G21VoJFIsAuYqK5ZXeSCCbALmKsq3WSqBYBMhVVCyv9EYC2QTIVZRtrU+tCw31OdYjj3Q8eiCkVzSM/JDM7IAtJCABCUhAAhKQgAQkIAEJdEnAhYYugZW5+apVqwIaVQyL5s1pmXpinQ+DbAHSRaEuTclXVJd4jbPcBMhVVO4o9L4uBMhVVJd4jbPcBMhVVO4o9L4uBMhVVJd428XpQkM7MhWsJ+HRqEJbHP3yRAVvnRgV2srOS76iygZoYJUiQK6iSgVlMJUlQK6iygZoYJUiQK6iSgVlMJUlQK6iygbYYWAuNHQIymb9Exgf2a0T/fvuCBKQgAQkIAEJSEACEpCABCTQGQEXGjrjZKscCIzHt05460QOVB1CAhKQgAQkIAEJSEACEpBAsQi40FCs41EIbwblxHh864QLDYNC7bgSkIAEJCABCUhAAhKQgARGRsCFhpGh73ri0neIb51YtW6y9DEZgAQkIAEJSEACEpCABCQgAQm0EnChoZVHD6XydFmwYEFAo/J4cXRFw+r1/urEqI5FWeYlX1FZ/NXPehMgV1G9KRh9WQiQq6gs/upnvQmQq6jeFIy+LATIVVQWfwflZ3UXGgZFrMTj7rXXXgGNKoRFUx4G6ULDqI5FWeYlX1FZ/NXPehMgV1G9KRh9WQiQq6gs/upnvQmQq6jeFIy+LATIVVQWfwfl59AXGgYViOMWn0D8MMj1GzaF+7eq+J7roQQkIAEJSEACEpCABCQgAQl0SiBZaOi0ve1KTOCOO+4IaFQhxLdO4Ie3T0BBtSNAvqJ2duslUCQC5Coqkk/6IoF2BMhV1M5uvQSKRIBcRUXySV8k0I4AuYra2QtSP3A3XGgYOOLiTLB27dqARuXRQ+bNmTK1D4ScgsSKFAHyFaWq3JVAYQmQq6iwDuqYBFIEyFWUqnJXAoUlQK6iwjqoYxJIESBXUaqqi93qNHWhoTrHsvCRzJ7VCA/ZeacWPyf8icsWHhYkIAEJSEACEpCABCQggYIR0J2uCbjQ0DUyO/RDYPGCsZbuLjS04LAgAQlIQAISkIAEJCABCXRIwGbFJeBCQ3GPTSU9ix8IObFuspJxGpQEJCABCUhAAhKQgARqSsCwJRBcaDAJhkpg0fzoiob1/sTlUA+Ak0lAAhKQgAQkIAEJ1JSAYUtgeARcaBge65HPtHjx4oBG6cji+a0PhJzwGQ2jPByFn5t8RYV3VAclsJUAuYq27vq/BApPgFxFhXdUByWwlQC5irbuVvN/o6oUAXIVVSqoHoJxoaEHaGXtQsKjUfq/KHoY5L9c9/vw45vvDlu2bBmlW85dUALkKyqoe7olgRYC5CpqqbQggYISIFdRQd3TLQm0ECBXUUvlEApOIYFeCJCrqJe+VerjQkOVjmbBY1m9bkP4t+vvavFyxd1rw8s/fUU46dOXB+wtRgsSkIAEJCABCUhAAhJoJWBJAhIoAQEXGkpwkPJyceXKlQHlNV4343DFwmu/eFW4bWJ9ZrfLV/whYKddZgMra0mAfEW1DN6gS0eAXEWlc1yHa0mAXEW1DN6gB0RgcMOSq2hwMziyBPIjQK6i/EYs50guNJTzuPXk9eTkZEA9de6z009W3BNYTJhuGOxoujba6kWAfEX1itpoy0qAXEVl9V+/60WAXEX1irqm0VYgbHIVVSAUQ6gBAXIV1SDUaUN0oWFaPBrzIvD1n/2uo6Eu+tltHbWzkQQkIAEJSEACEigzAX2XgAQkUGUClV5oWL9+fXjXu94VDjzwwLDzzjuHffbZJ7zqVa8Kt93W/cnsv/7rv4bnPe95YY899ghz5swJu+22W3jOc54TLrzwwirnR26x3bP2gY7G6rRdR4PZSAISkIAEJCABCXRHwNYSkIAEJJADgcouNNx///3hGc94RjjrrLPCmjVrwvHHHx8e/vCHh8997nPhcY97XFixYkXH+M4555zmosK3v/3t5qLFC1/4wnDQQQeF733ve+HEE08M73jHOzoeq64Nd1swt6PQO23X0WA2koAEJCABCUigIgQMQwISkIAEykSgsgsN73nPe8Lll18ejjzyyPCrX/0qXHDBBeGKK64IH/rQh8Jdd93VvLKhkwNF27e97W3Nqxh+8IMfhMsuuyx8+ctfbm6XL18e5s6dG9773vd2tXDRybxVa3P84/bpKKQTHvewjtrZSAISkIAEJCCBAhDQBQlIQAISkEAGgUouNPDwjXPPPbcZ7sc//vGwcOHC5j7/vPnNbw6HHHJIuOSSS8LVV19N1bRiceKBBx5oXh3xtKc9raXtn/zJn4TnPve5gV9KuOqqq1psRSzsueeeAY3CtyOX7RaOWLbrtFNjR9M20lgrAuQrqlXQBltaAuQqKm0AOl4pAjMFQ66imdppl0ARCJCrqAi+6IMEZiJArqKZ2lXdXsmFBq46WL16ddh///2bt0nEB/FFL3pRs+qb3/xmczvdP1yxMJ09sfHMhmS/qFsWXNAo/Gs0GuFTr3xC28WGP37oLk17o9EYhXvOWVAC5CsqqHu6JYEWAuQqaqm0IIFWAoUpkauoMA7piASmIUCuommaaJJAYQiQq6gwDo3IkUouNFxzzTVNnIcddlhzG/+T1F977bWxaUr5SU96UhgfHw/f//73m1dBpBv88Ic/DN/97nfDAQccEJ761KemTe5nEFg0f044/9VHNLXr1v10kz85cI+APV3nvgQkIAEJSGA4BJxFAhKQgAQkIIE8CVRyoeE3v/lNk9GSJUua2/ifpP7WW2+NTVPKixYtCp/5zGfCrFmzwtOf/vRw1FFHhZe97GXN7dFHHx2e+MQnNhcbxsbGpvQtWgUPwESj9KvRaIQj998tnHT4vi1uXHbTPS1lCxKAAPmK2FcSKDoBchUV3c9S+aezAyNArqKBTeDAEsiRALmKchzSoSQwMALkKhrYBCUZuJILDfzKBPznz5/PZooWLFjQrLvvvvua25n+4Zcl+MUJbo/gtgweLMl2l112af4axcMe1vkDDA8++OCQpZtvvjls2LCh+VBJEjMtnjmBj2zT9el97IjY0/XJ/sqVKzE3tWrVqsx57rjjjqadf9hP+qa39MWOGDNtS/bxATtK6uLt4Y8Yx7xDv7xtdfjZf/yqxa/EyHhxf8rMn7TBL+piEUfShv3YTpm+SRvGpC4WPiRtYltS5vjQhm1SF2+xI8aLbZSZHzvCL+piEQd2xH5sp0xf7IgxqYuFD9hRbEvKxIKdbVIXb7EjxottlJkfO8Iv6mIRB3bEfmK/5557AqJMX+yIMamLhQ/YUWxLysSCnW1SF2+xI8aLbZSZHzvCL+ABTYIAABAASURBVOpiEQd2xH5sp0xf7IgxqYuFD9hRbEvKxIKdbVIXb7EjxottlJkfO8Iv6mIRB3bEfmynTF/siDGpi4UP2FFsS8rEgp1tUhdvsSPGi22UmR87wi/qYhEHdsR+bKdMX+yIMamLhQ/YUWxLysSCnW1SF2+xI8aLbZSZHzvCL+piEQd2xH5sp0xf7IgxqYuFD9hRbEvKxIKdbVIXb7EjxottlJkfO8Iv6mIRB3bEfmynTF/siDGpi4UP2FFsS8rEgp1tUhdvsSPGi22UmR87wi/qYhEHdsR+bKdMX+yIMamLhQ/YUWxLysSCnW1Sx3srSsrYEeMldekt82NH+JW2JfvEgR2xn9Snt/TFjhgzbUv28QE7SuriLbFgZxvbkjJ2xHhJXXrL/NgRfqVtyT5xYEfsJ/XpLX2xI8ZM25J9fMCOkrp4SyzY2ca2pIwdMV5Sl94yP3aEX2lbsk8c2BH7SX16S1/siDHTtmQfH7CjpC7eEgt2trEtKWNHjJfUpbfMjx3hV9qW7BMHdsR+Up/e0hc7Ysy0LdnHB+woqYu3xIKdbWxLytgR4yV16S3zY0f4lbYl+8SBHbGf1Ke39MWOGDNtS/bxATtK6uItsWBnG9uSMnbEeEldesv82BF+pW3JPnFgR+wn9ektfbEjxkzbkn18wI6SunhLLNjZxrakjB0xXlKX3jI/doRfaVuyTxzYEfvU896K2Ef0xY4Yk7pY+IAdxbakTCzY2SZ18RY7YrzYRpn5sSP84vyT/UGokgsNeYPilyqe9axnBR7+yO0WHDi2/Hzmu971ruZPXOY9Z9XHO2zf8TBvzuwdYW7Zuvez363b+q//S0ACEpBAjwTsJgEJSEACEpCABApBoJILDcnDN9atyz5xXbt2bRM+VyQ0d6b5Z/ny5eGv//qvw2Mf+9jwla98JTzmMY8JXBHB9qtf/Wqz/uKLLw5c8TDNMDtM1113XcgSD66cM2dOWLZs2RQlt2WwzbJTl0xA7JRjJbeL0G7x4sVT5qD9XnvtFZL/2KcuFn2TNowZ2ynjQ9KGcpYWzt85PGm/XZNmze2N985q8atZufUfxssag/m3mpv/41dWG+JoNtj6D/tZbei71dz8nzGz2uBDs8HWf7Ls1HF8tpoDW8pZwo4YL8vO/NgRfmW1IQ7siP2sNvTFjhgzqw0+YEdZduqIBTtbylnCjhgvy8782BF+ZbUhDuyI/aQNVxEhyvTFjhiTulj4gB3FtqRMLNjZJnXxFjtivNhGmfmxI/yiLhZxYEfsx3bK9MWOGJO6WPiAHcW2pEws2NkmdfEWO2K82EaZ+bEj/KIuFnFgR+zHdsr0xY4Yk7pY+IAdxbakTCzY2SZ18RY7YrzYRpn5sSP8oi4WcWBH7Md2yvTFjhiTulj4gB3FtmXLtr2vEwt2tu3aYEeMl9WG+bEj/MpqQxzYEftZbeiLHTFmVht8wI6y7NQRC3a2lLOEHTFelp35sSP8ympDHNgR+1lt6IsdMWZWG3zAjrLs1BELdraUs4QdMV6WnfmxI/zKakMc2BH7WW3oix0xZlYbfMCOsuzUEQt2tpQR762IfYQdMR7lWMyPHeFXbKdMHNgR+9TFoi92xJixnTI+YEeUs0Qs2Nlm2anDjhiPcizmx47wK7ZTJg7siH3qYtEXO2LM2E4ZH7AjylkiFuxss+zUYUeMRzkW82NH+BXbKRMHdsQ+dbHoix0xZmynjA/YEeUsEQt2tll26rAjxqMci/mxI/yK7ZSJAztin7pY9MWOGDO2U8YH7IhylogFO9ssO3XYEeNRjsX82BF+xXbKxIEdsU9dLPpiR4wZ2ynjA3ZEOUvEgp1tlp067IjxKMdifuwIv2I7ZeLAjtinLhZ9sSPGjO2U8QE7opwlYsHONstOHXbEeJRjMT92hF+xnTJxYEfsU8d7K2If0Rc7YkzqYuEDdhTbkjKxYGeb1MVb7IjxYhtl5seO8IvzT/YHoUouNOy7775NVulLQ5oV2/9J6h/xiEdsr2m/+Yd/+Iem8QUveEHzOQ3NwvZ/Zs+eveNqBh4Mub3aTYcEjnrk7i0tL73p7payBQlIQAIDJeDgEpCABCQgAQlIQAIDIVDJhYZDDz20CeunP/1pcxv/k9QfcsghsWlKOVmU4KGQU4xbK5J67nHZWvT/LggcdUDrQsNv/7A+3HrPtqtNuhjGphKQQMUIGI4EJCABCUhAAhKQQLkJVHKh4SlPeUpgAYAHLP785z+fcoS45YHK4447js202nvvvZv2q666qrmN//n3f//3ZtXSpUub2yL/w6UyqCg+HrT3LmH3hXNb3PnRjV7V0AKk5gXyFdUcQ1HC148ZCJCraIZmmiVQCALkKiqEMzohgRkIkKtohmaaJVAIAuQqKoQzI3SikgsN3Lfy+te/von1r/7qr0LyTAYqPvzhDwce5Pi0pz0tPP7xj6eqqXPPPTccdNBB4bTTTmuWk39OOOGE5u4//uM/hn/+539u7if/fP3rXw9f+tKXmrdUcGtFUl/ULVxQUfxrNBrhqEfu1uLOpS40tPCoe4F8RXXnMH38WotCgFxFRfFHPyQwHQFyFU3XRpsEikKAXEVF8Uc/JDAdAXIVTdemDrZKLjRw4N75zneGww8/PPz4xz8OBxxwQHjpS18ajjjiiPCWt7wl7LHHHuGzn/0szXbo7rvvDjfccEO4/fbbd9Sxw0LDi1/84rBp06bAFRBPfOITw0te8pLAFtvmzZvDWWedFR71qEfRvNDip1BQkZx8SvSchh/ffHfYtHlLkVzUlxESIF/RCF3ofWp71o4AuYpqF7gBl5IAuYpK6bxO144AuYpqF7gBl5IAuYpK6XyOTld2oWHnnXcOP/jBD8Lpp58e5s+fHy666KJw6623hpNPPjnwjAaeutkJx0ajES644ILwmc98pvnzljfddFO48MILwy233BKOPfbY5q9NvP3tb+9kqJG34XkTaOSOpBx46gF7pEoh3Hv/xvCL21a31FmoLwHyFeVJwLEkMCgC5Coa1PiOK4E8CZCrKM8xHUsCgyJArqJBje+4EsiTALmK8hyzjGMNfaGBn5z8zW9+03I7A+B4mOLb3va28Kd/+qfhda97XeD5CtT3o3nz5oUzzzwzsDjwwAMPNK9W+NznPheWLFkyZdgzzjgjbNmyJZx33nlTbI1GI7zqVa8Kl1xyScDPDRs2hLvuuivws5bHHHPMlPZWdE5g70U7h0fuubClw6U33tVStlALAgYpAQlIQAISkIAEJCABCVSEwKxhx8FtBvvtt1+4/vrrd0zNIgC3NXzgAx8I3/rWt8InP/nJcOSRRzYXBnY0cqeyBPyZyyIfWn2TgAQkIAEJSEACEpCABCTQHYGhLzR8//vfD/vvv3/Lgxi/+MUvhhtvvDE8/elPD9/97nfDG9/4xsAzEz7ykY90F42tS0kgXmi4+tZVYd3kxlLGMjSnnUgCEpCABCQgAQlIQAISkEBBCQx9oYHbJg444IAWHN/4xjdCo9EI3Nbw7Gc/O5xzzjnhwAMPbD7/oKWhhUoSOGL/3cLsWY0dsW3YtCVc8es/7CiXaUdfJSABCUhAAhKQgAQkIAEJ1J3A0BcaeMbB+Pj4Du48F+HSSy8NhxxySHj4wx++o/7QQw8Nv/3tb3eU3akugYVzdwqPe/iDOUGkl+X7M5cMqSQgAQlIQAISkIAEJCABCUhgCASGvtCw9957h1//+tc7Qrv66qubD1h82tOetqOOnUbjwW+4Kav+CfBLG6j/kfIa4cFxjjpg9wcLW/cuvenurf/6f90JkK+o7hyMvxwEyFVUDm/1su4EyFVUdw7GXw4C5Coqh7d6WXcC5CqqO4ehLzQ89rGPDVdeeWXz5ybvu+++wMMhG41G89cm0geDZzbss88+6Sr3h0VgBPM8NVpouP7394U777t/BJ44pQQkIAEJSEACEpCABCQgAQn0Q2DoCw1vfetbm/6+8IUvDNxC8c1vfjNwm8QznvGMZj3/3HHHHeGaa65peWAk9XVXv/GvWbMmoH7HGUT/Q5aMB26hSI99mVc1pHHUcp98RbUM3qBLR4BcRaVzXIdrSYBcRbUM3qBLR4BcRaVzXIdrSYBcRbUMPhX00BcanvzkJ4cLL7wwHHXUUeGggw4Kr3zlKwMPg5w160FXzj///LDLLruEY445JuVqYXdL49idd94ZUBEdnjN7Vjhi2W4trl164z0tZQv1I0C+ovpFbsRlJECuojL6rs/1I0CuovpFbsRlJECuojL6rs/1I0CuovpF3hrxg2f3rfUDLR133HHhkksuCdddd134whe+EJYsWdIy3ymnnNJ8bsMrXvGKlvruCrYuG4H49olLb7or8LDQssWhvxKQgAQkIAEJSEACEpCABOpMYPgLDXWmbezTEogfCHnHvQ+Em+5cM20fjRKQgAQkIAEJSEACEpCABCRQLAI7FhqG5RbPX/jhD38Y2KbnvPnmm8PLXvay8OhHPzoce+yx4Sc/+Una7H4NCCzbfUF46KKdWyL11ydacFiQgAQkIAEJSEACEpCABCTQN4FBDzD0hYazzz47PP3pTw+rV6/eEdu9997bfGbDV77ylfAf//Ef4Tvf+U541rOeFfjliR2N3Kk8gUajEY56ZPQzlzfeXfm4DVACEpCABCQgAQlIQAISkEAIoTIQhr7QsHz58vDHf/zH4cADD9wB8bzzzmte4XDSSSeFG264IXz4wx8O69evDx/60Id2tHGnfwJjY2MB9T/S4EaIb5+4fMU9YcOmzYOb0JELTYB8RYV2UucksJ0AuYq2F91IoNAEyFVUaCd1TgLbCZCraHvRjQRGQKDzKclV1HmParYc+kLDbbfdFpYtW9ZC8+KLLw477bRTOOecc8IBBxwQTjnllHDooYc2HxjZ0tBCXwSWLFky5cGbfQ04gM5Pia5oWDu5Kfz8txMDmMkhy0CgDDlbBo76OBwC5utwODtLPgTM13w4OspwCJivw+FcylkK6LT5uu2gDH2h4b777gvz58/fNvvWfzdt2tR8HsPjH//4sPvuD142f9BBB4WVK1dubeH/dSKw+8K54Y8e+pCWkH/k7RMtPCxIQAISkIAEJCABCUigyAT0TQJDX2jYZ599wvXXX7+D/KWXXhrWrFkTjj766B117GzcuLHwl/njZ5m0atWqgIru81MPeHDBCV8vvfEuNqqGBMhXVMPQDbmEBMhVVELXdbmGBMhVVMPQDbmEBMhVVELXi+ay/gyBALmKhjBVoacY+kLDkUceGa699tpwzjnnhF/84hfhne98Z2g0GuG4445rAfWf//mf4WEPe1hLnYX+CJDwqL9RBt87vn3impWrw733bxj8xM5QOALkKyqcYzokgQwC5CrKMFklgcIRIFdR4RzTIQlkECBXUYapIlWGUSUC5CqqUky9xDL0hYbTTjstzJ07N7zlLW8Jj33sY8Nll13WvJrhyU9+8g7/b7nlluavTxx++OG50R3xAAAQAElEQVQ76typD4EnLd01jM1+MDU3bd4SLr/5nvoAMFIJSEACEpCABCQggdET0AMJSKBnAg+ezfU8RHcdDz744MDtEq985SvDMccc07yi4aKLLmoZ5Lvf/W7zYZAnnHBCS72FehCYNzY7PGHp4pZgL73Jn7lsAWJBAhKQgAQkIAEJ1JSAYUtAAsUnMPSFBpAcdthh4fOf/3zg1ybOPPPMsMsuu1C9Q6997WvDz372s/C85z0v+F89CcQ/c3mpD4SsZyIYtQQkIAEJSEACZSGgnxKQgAR2EBjJQsOO2d2RQBsCR0U/c7ni7rXhton1bVpbLQEJSEACEpCABCSQTcBaCUhAAsMnMLKFhjvuuCO8973vDccee2zzNolDDz20uX/22WcHbMNHUf0ZFyxYEFAZIj14n0VhfP6cFlcv86qGFh51KJCvqA6xGmP5CZCrqPyRGEEdCJCrqA6xFjZGHeuYALmKOu5gQwmMkAC5ikboQiGmHslCw9e+9rVw4IEHNp/P8J3vfKf56xP8AgX773jHO8KjHvWoQJtCEKqQE3vttVdAZQhp9qxGeMr+rT9z+SOf01CGQ5erj+QrynVQB5PAgAiQq2hAwzusBHIlQK6iXAetyGCGUTwC5Coqnmd6JIGpBMhVNNVSr5qhLzRcddVV4aSTTgpr164NL3jBC8KFF17YfB7Dz3/+88BDIU888cSwZs2a8PKXvzzQtl6Hw2jTBOKfufzx1oWGzZu3pJu4LwEJSEACEpBAPQgYpQQkIAEJlIjA0BcauF1i06ZN4Stf+Ur46le/Go4//vjmrROHHHJIeP7zn9+sx7Zhw4bAbRQlYll4V7klBRXe0e0OPvWA1isa7lk7Gf7z9/dut7qpAwHyFdUhVmMsPwFyFZU/EiOoAwFyFfUfqyNIYPAEyFU0+JmcQQL9EyBXUf8jlXuEoS808NOWT37yk5tXM7RDx5UOT3nKU8KPfvSjdk2s74EAV5GgHrqOpMvDd50fHrHb/Ja5/fWJFhyVL5CvqPKBGmAlCJCrqBLBGET5CcwQAbmKZmimWQKFIECuokI4oxMSmIEAuYpmaFZ589AXGlavXh323XffGcHShrYzNrRBpQnEt09cetPdlY7X4CQgAQlIoNoEjE4CEpCABCRQBwJDX2jYe++9m89kmAkuz2yg7UzttFebwFOjn7m88td/CPdv2FTtoI1OAhKQgASGTcD5JCABCUhAAhLIkcDQFxqe+9znhhtuuCG8/e1vDzyrIY5ly5YtzV+juP7668MxxxwTmy3XjMCT9989NBoPBv3Axs3h6ltXPVjhngQkIAEJVJiAoUlAAhKQgAQkUEYCQ19oOP3008Ouu+4a3ve+94VHPvKR4dRTTw1/93d/19Tb3va2Zh0PjNxtt92aCw5lhKrP+RFYNH9OOORhi1oG/NGN3j7RAsSCBCQggWETcD4JSEACEpCABCQwDYGhLzQsWbIkfP/73w8HH3xwuPXWW8MHPvCB8PrXv76p97///eHXv/51ePSjH91sQ9tpfNfUJYHFixcH1GW3kTc/Kvr1ict8TsPIj8mwHCBf0bDmcx4J9EOAXEX9jNFvX/tLoFMC5CrqtL3tJDBKAuQqGqUPzi2BTgmQq6jT9lVtN/SFBkA+5jGPCddee21zMeHd7353eM1rXtMU+yxCXHPNNc3FBtqq/AiQ8Ci/EYcz0lGP3KNlol/+bnVYtXaypc5CNQmQr6ia0RlV1QiQqygjLqskUDgC5CoqnGM6JIEMAuQqyjBZJYHCESBXUeEcG7JDI1loSGI8+uijA7dSJLdOsE8d9s9+9rPhzDPPZFfVnMBhjxgP8+bM3kFhy5YQLrvZ2yd2AHFHAhLokYDdJCABCUhAAhKQgAQGQWCkCw3TBfTpT386cIXDdG20dUdg5cqVAXXXa/St5+40Ozxpv11bHLnU5zS08KhqgXxFVY3PuNoQKGk1uYpK6r5u14wAuYpqFrbhlpQAuYpK6r5u14wAuYpqFvaUcAu70DDFUyv6JjA5ORlQ3wONYICnRs9p4IGQ/ELJCFxxyiESIF/REKd0qmkIaJqeALmKpm+lVQLFIECuomJ4oxcSmJ4AuYqmb6VVAsUgQK6iYngzOi9caBgde2fugkD8QMjbJtaHW+9Z18UINpVAZQkYmAQkIAEJSEACEpCABApFwIWGQh0OnWlH4FF77RJ2Xzi3xfwjf32ihYeFohHQHwlIQAISkIAEJCABCdSTgAsN9TzupYu60WiEox65W4vfl/mchhYeFjokYDMJSEACEpCABCQgAQlIYKAEXGgYKF4Hz5PAUQe0/szlj2++O2zavCXPKRxrhAScWgISkIAEJCABCUhAAhKoBgEXGqpxHDuKYs899wyoo8YFbHTUI3dv8ere+zeGa1dOtNRZyJ3ASAckX9FInXByCXRIgFxFHTa3mQRGSoBcRSN1wskl0CEBchV12NxmEhgpAXIVjdSJAkw+8IWG2bNnh1505ZVXFgBPtVxYuHBhQGWNau9FO4dH7rmwxf3LavuchhYMlS2Qr6iyARpYpQiQq6hSQRlMZQmQq6iyARpYpQiQq6hSQRlMZQmQq6iyAXYY2KwO2/XcjJ8g7FU9T2rHyhKIr2rgZy4LFazOSEACEpCABCQgAQlIQAISqDmBgS80bN68OfSqTZs21fzw5Bv+ihUrAsp31OGO9tQDWm+fuPLXfwhv+aefB57XwIJWO2+sLycB8hWV03u9rhsBchXVLW7jLScBchWV03u9rhsBchXVLW7jLScBchWV0/v8vB74QkN+rjpSBQl0HdJBD31IaKR68SjIr/30tvDyT18RTvr05WH1ug0pq7sSkIAEJCABCUhAAhKQgAQkMGwCLjQMm3gp5iumk1yxwNULLC5keXj5ij+E137xqkC7LLt1EpCABCQgAQlIQAISkIAEJDB4Ai40DJ5xfjPUfKSfrLgnsJgwHQbsaLo22iQgAQlIQAISkIAEJCABCUhgcARcaMiBrUMMh8DXf/a7jia66Ge3ddTORhKQgAQkIAEJSEACEpCABCSQP4EqLzTkT8sRR0rgnrUPdDR/p+06GsxGEpCABCQgAQlIQAISkIAEJNAVgREsNHTln41zJLBkyZKAchxyqEPttmBuR/N12q6jwWw0UgLkKxqpE04ugQ4JkKuow+Y2k8BICZCraKROOLkEOiRArqIOm9tMAiMlQK6ikTpRgMkfXGgogDO6MFgCY2NjAQ12lsGNfvzj9ulo8BMe97CO2tmo+ATIV1R8T/VQAqH5/mq+mgllIUCuorL4q5/1JkCuonpTMPqyECBXUeH9HbCDLjQMGHCRhp+cnAyoSD5148uRy3YLRyzbddouuy8cm7HNtANoLBQB8hUVyimdkUAbAuQqamO2WgKFIkCuokI5pTMSaEOAXEVtzFZLoFAEyFXUq1NV6edCQ1WOZAdxrFy5MqAOmhaySaPRCJ965ROmXUi4e81kuPLXfyik/zrVPQHyFXXf0x4SGD4BchUNf2ZnlED3BMhV1H1Pe0hg+ATIVTT8mZ1RAjsIdLxDrqKOO1S0oQsNFT2wVQ1r0fw54fxXH9HUS5/w8PDUA3YPc2Y3WsL9229cFzZu2txSZ0ECEpCABCQgAQlIQAISqBoB4ykqARcainpk9KstgUajEY7cf7fwvhcdEv7hLw4P7zj2j1raXv/7+8IXfnJrS50FCUhAAhKQgAQkIAEJSGBIBJym9gRcaKh9CpQfwCuPeEQ4aO9dWgL5yL/+Ktx53/0tdRYkIAEJSEACEpCABCRQZwLGLoFhEXChYViknWdgBHaaPSucdcKjW8a/74GN4exvXd9SZ0ECEpCABCQgAQlIQAIFJKBLEqgcARcaKndI6xnQE5fuGk48rPVnLf/fz24LPhiynvlg1BKQgAQkIAEJSKB/Ao4gAQn0SsCFhl7JlbDfsmXLAiqh6x25fNp/+aOwy9ydWtq+6+u/9MGQLUTKVSBfUbm81tu6EiBXUV3jN+5yESBXUbm81tu6EiBX0Y743ZFAgQmQq6jALg7FNRcahoLZSYZBYI9d5oa3POfAlql8MGQLDgsSkIAEJCABCUhgYAQcWAISkEBCoNILDevXrw/vete7woEHHhh23nnnsM8++4RXvepV4bbbbkvi72p7yy23hL/8y78M++23X5g7d27Yfffdw5FHHhk+8IEPdDXOqBqvWbMmoFHNP4x5fTDkMCgPbw7yFQ1vRmeSQO8EyFXU+wj2lMDwCJCraHgzOtMICZR+anIVlT4QA6gFAXIV1SLYaYKs7ELD/fffH57xjGeEs846q3lyffzxx4eHP/zh4XOf+1x43OMeF1asWDENlqmmb3/72+Hggw8Of//3fx922223cOKJJ4bDDjsssPjwqU99amqHAtbceeedARXQtdxc8sGQuaEsxEDkKyqEMzohgRkIkKtohmaaJVAIAuQqKoQztXXCwDslQK6iTtvbTgKjJECuolH6UIS5K7vQ8J73vCdcfvnlzSsOfvWrX4ULLrggXHHFFeFDH/pQuOuuu5pXNnR6AK6//vrmwsKCBQvCpZdeGq666qpw/vnnh3/5l39pXh3x5S9/udOhbDcEAj4YcgiQnUICEpCABCRQVQLGJQEJSEACfROo5ELD5ORkOPfcc5twPv7xj4eFCxc29/nnzW9+czjkkEPCJZdcEq6++mqqZhR9uELivPPOC09+8pNb2s+aNSs84QlPaKmzMHoCPhhy9MdADyQgAQlIQAJ5EnAsCUhAAhIoD4FKLjRcdtllYfXq1WH//fdv3iYRH44XvehFzapvfvObze10//z2t78N3/3ud5u/1nDsscdO11RbgQjwYMg3+2DIAh0RXZGABCQggYoSMCwJSEACEpDAFAKVXGi45pprmoHyDIXmTvRPUn/ttddGlqnF5cuXh82bNzevZNi4cWP4p3/6p/CmN70pvP71rw+f/OQnw6pV/5+984CTqrr++Hn0KgICijRBsKAgSBURROwiakgQoxF7L9GowRZrYk9UNBpUMPqXmCAaNcYCIgoIUqSqKKD0IlV6/+/34SNv387OzsxOeTPzy8ff3nvPueWc77tu4Dpz35qig2QJBYELOjW2Q/evXiiWP3/0ra1Yv6WQTQ0REAEREAEREAEREAEREAEREIHkEcjJg4YFCxaYFTBq0KBBwc+i/3j2+fPnF3UGLF999ZVr4esXXbt2tb59+9pTTz1lfCXjqquusoMPPthGjRrl9gn7jwoVKhgKe5zJik8XQyaLZObmYb+izEWglUUgdgLsVRT7CPUUgcwRYK+izEWglUUgdgLsVRT7CPUUgcwRYK+izEUQjpXTftCQjrS914lUqVIl4nJc6ohj/fr1FFHlfWLhhRdeMC6FfO2112z16tU2e/ZsO//889362Wef7V4KGXWin528uSKS5s6da9u3b3ffhsEbMfzizgmGU/rt/jp+RO5+u1dftGiRccCCyMmz+8vlagYQdgAAEABJREFUy5czhSvqfp9XZ6zboeAHc3p2f0kMBW73H7/dXycXOlD67f46fsR8frtXZ338iLg8u79sVHm7ndP2QLrs1fAvF9tbY2fuZc1Yz8mc/vFenRi8Pp4tWJILfSiDPq+NHzGfZ/OXrI8fEZff59V5NvgRdc/uLxmLHzGn3+fViQE/8mzBklzwUwZ9Xhs/Yj7P5i9ZHz8iLr/Pq5MHfkTds7Muos1Y/Ig5sQVFDPhR0Oe1mQ8/pWcLlvgR8wV9tFkfPyIubEGRB35EPeinzVj8iDmxBUUM+FHQ57XJBT+lZwuW+BHzBX20WR8/Ii5sQZEHfkQ96KfNWPyIObEFRQz4UdDntckFP6VnC5b4EfMFfbRZHz8iLmxBkQd+RD3op81Y/Ig5sQVFDPx+RUGf1yYX5qD0bMESP2K+oI826+NHxIUtKPLAj6gH/bQZix8xJ7agiAE/Cvq8Nrngp/RswRI/Yr6gjzbr40fEhS0o8sCPqAf9tBmLHzEntqCIAT8K+rw2ueCn9GzBEj9ivqCPNuvjR8SFLSjywI+oB/20GYsfMSe2oIgBPwr6vDa54Kf02/xt/Ij5vD7+kvXxI+Ly+7w6eeBH1D27v2QsfsScfp9XJwb8yLMFS2LHTxn0eW38iPk8m79kffyIuPw+r04e+BF1z+4vGYsfMaff59WJAT/ybMGSXPBTBn1eGz9iPs/mL1kfPyIuv8+rkwd+RN2z+0vG4kfM6fd5dWLAjzxbsCQX/JRBn9fGj5jPs/lL1ud3KyIuv8+rkwdzIOqe3V8yFj9iTr/PqxMDfuTZgiW54KcM+rw2fsR8ns1fsj5+RFx+n1cnD/yIumf3l4zFj5jT7/PqxIAfebZgSS74KYM+r40fMZ9n85esjx8Rl9/n1ckDP6Lu2f0lY/Ej5vT7vDox4EeeLViSC37KoM9r40fM59n8JevjR8Tl93l18sCPqGNnTUQdMRY/Yk5sQREDfhT0eW3mxE/p2YIlfsR8QR9t1sePiIu/f1JPhbyDhlTMnRNz8rUJEuFrE88//7z169fPatasaS1atLBXXnnF2rdv794H8eyzz9JNCiGBSBdDPjV2me3ctTuE0SokERABERABERABERABERABEUgpgZRPXiblK2RgAb7mwLKbNm2iKKKNGze6turVC39/3zUGfnhzUf7yl78MeM0uuugi18ZbLNxKCT9mzZplkcTFleXLl3cvnWzatGmh0vvoDWXQ57W9ZYnTs/lL7xSYkysOSvw+r16vXj1vGqPu2f0lY71OzOn3eXVi8Pp4tmBJLvShDPq8Nn7EfJ7NX7I+fkRcfp9XJ49IF0POW73Vxiwv43JmLHMg5vTG+ktiwI/8dn+dXPBT+u3+On7EfH67V2d9/Ii4PLu/JCf8iLrf59UZix8xp2f3l8SAH/nt/jq54Kf02/11/Ij5/Havzvr4EXF5dn9JHvgRdc9Hf0SbEj9iTmxBEQN+FPR5bXLBT+nZgiV+xHxBH23Wx4+IC1tQ5IEfUQ/6aTMWP2JObEERA34U9HltcsFP6dmCJX7EfEEfbdbHj4gLW1DkgR9RD/ppMxY/Yk5sQREDfhT0eW1ywU/p2YIlfsR8QR9t1sePiAtbUOSBH1EP+mkzFj9iTmxBEQO/X1HQ57XJhTkoPVuwxI+YL+ijzfr4EXFhC4o88CPqQT9txuJHzIktKGLAj4I+r00u+Ck9W7DEj5gv6KPN+vgRcWELijzwI+pBP23G4kfMiS0oYsCPgj6vTS74KT1bsMSPmC/oo836+BFxYQuKPPAj6kE/bcbiR8yJLShiwI+CPq9NLvgpPRtzI6+NHzGfZ/OXrI8f+cf5+5AHfkTd7/PqjMWPmNOz+0tiwI/8dn+dXPBT+u3+On7EfH67V2d9/Ii4PLu/JA/8iLrf59UZix8xp2f3l8SAH/nt/jq54Kf02/11/Ij5/Havzvr4EXF5dn9JHvgRdb/PqzMWP2JOz+4viQE/8tv9dXLBT+m3++v4EfP57V6d9fndiojLs/tL8mAORN3v8+qMxY+Y07P7S2LAj/x2f51c8FP67f46fsR8frtXZ338iLg8u78kD/yIut/n1RmLHzGnZ/eXxIAf+e3+Orngp/Tb/XX8iPn8dq/O+vgRcXl2f0ke+BF1v8+rMxY/Yk7P7i+JAT/y2/11csFP6bf76/gR8/ntXp318SPi8uz+kjzwI+r46IuoI+r4EXNiC4oY8JuZ+/eToJ82udCHknYk4UfMF8nP+vgRcfH3T+qpUE4eNDRq1Mhl5f9oiGv4+Ydnb9y48c+W4guvD3M6jlOkY5MmTVzbihUr3DLMP/gFjcIcY6pii3Qx5BMf6mLIVPFO1rzsV5Ss+TSPCKSSAHsVpXINzS0CySLAXkXJmk/ziEAqCbBXUSrX0NwiEJVAHE72KopjSE52zcmDhtatW7sPa8qUKW4Z/OHZW7VqFXQVabdp08a1FbdZuK+BDpwaUUrhJFDsxZD//SacASsqERABERABERABERABERCBqATkDC+BnDxo6NKli9WoUcO4YHHq1KlF6A8bNsy19erVyy2j/TjmmGOsdu3atmzZMvcCyGBf7ysT3oFE0K92eAi0b1Kr6MWQUxbbL/46zm4bNt3GzV1pu3fr3obwPDFFIgIiIAIiIAIiIAIikIUEFLIIWE4eNPC9lWuvvdZ9vNdcc415dzJgeOKJJ2z69OnWrVs3O/roozG5GjhwoB166KE2YMAAt+39KFeunN10003uX0CZ66effvJcNmLECBsyZIg5jmNXXHHFXrsq4SXAxZDVKpQtFODk+Wvs9UkL7bxBE6zfoPG2btP2Qn41REAEREAEREAEREAERCD7CSgDEUgfgZw8aADfnXfeaR07drRx48ZZ8+bNrW/fvtapUye7+eabrU6dOvbSSy/Rba9WrlzpfmJh6dKle21e5ZZbbrGePXvayJEj3bdNnHXWWXbsscfaKaec4r6S8oEHHrAOHTp43VWGmMB+1SrYftUrFhvh+Hmr7YpXJ7kHS8V2kkMEREAEREAEREAEREAEkkVA84hADhLI2YOGSpUq2ahRo+yuu+6yKlWq2FtvvWXz58+3/v37G3c0cAtnrM+T2zjfe+89e/jhh22//fazDz74wGbMmOF+KuKdd96x22+/PdapMtqvatWqhjIaRIYX/3zeKvthVeS3kXihcdiAvLbKzBFgv6LMRaCVRSB2AuxVFPsI9RSBzBFgr6LMRaCVRSB2AuxVFPuI5PTULCKQCAH2KkpkbC6NydmDBh5S5cqV7b777rM5c+bY1q1bjU8rDB482Pyv9aAfuueee9z/is1XIWgHxWHDrbfeajNnzrTNmzfbunXr3E84nHHGGcGuoW3zyhUU2gDTENi/v1wS0ypvfbk4pn7qlFoC7FeU2lU0uwgkhwB7FSVnNs0iAqklwF5FqV1Fs4tAcgiwV9HPs6kQgVATYK+iUAeZhuBy+qAhDfy0RJYRWLVxa0wRx9ovpsnUSQREQAREQAREQARynoASFAEREIH/EdBBw/9Y5Hxt+fLlhnI+0SgJ1q5aMYr3f65aVSv8r6FaxgiwX1HGAtDCIhAHAfYqimOIuopAxgiwV1HGAtDC6SOQAyuxV1EOpKIU8oAAexXlQapRU9RBQ1Q8ueXk7Rsot7KKL5veberHNGDnrt0x9VOn1BJgv6LUrqLZRSA5BNirKDmzaRYRSC0B9ipK7SqaPRoB+WInwF5FsY9QTxHIHAH2KspcBOFYWQcN4XgOiiJNBDo3rW2dmtYqcbU3piy2NyYvKrGfOoiACIiACIiACOQUASUjAiIgAiKQBAI6aEgCRE2RPQQcx7Hnz28X02HD74dPt/HzVmVPcopUBERABERABHKWgBITAREQARHIJgI6aMimp6VYk0KgRpXyNvSyTq76tmtoPQ+ra5QXd2lSaP7tO3fbFa9Mtrk/bihkV0MEREAEREAEROBnAipEQAREQAREIAIBHTREgCJT7hNwHMc6N6ttD/dpZS9c2N4t7+7V0i459qBCya/bvN0uHjLRVm/cVsiuhgiIgAiIgAiEmYBiEwEREAEREIFMEtBBQybpp3ntmjVrGkrzslm13O2nHWYnHl6vUMzzV22yy/8+ybZs31nIrkbqCbBfUepX0goiUHoC7FVU+pk0Qw4TCE1q7FUUmoAUiAhEIcBeRVG6yCUCoSHAXkWhCShDgeigIUPgM7EsGx5lYu1sWbNsGceePPcoO/LAGoVCnjR/jd0ybLrt0tsoCnFJdYP9ilK9juYXgWQQYK+iZMylOdJNIP/WY6+i/MtcGWcjAfYqysbYFXP+EWCvovzLvHDGOmgozEMtEbAqFcrZixe2s/o1KhWi8c60JfbnEd8WsqkhAiIgAiKQQgKaWgREQAREQAREICsJ6KAhKx9bYkEvWrTIUGKj82tU3X0q2UsXtbdqFcsVSvzpj+fYvyYtLGRTI3UE2K8odStoZhFIHgH2KkrejOGdSZFlPwH2Ksr+TJRBPhBgr6J8yFU5Zj8B9irK/kxKl4EOGkrHL6tGb9u2zVBWBZ3BYA/dfx975tdtja9T+MMYMHyGjZuz0m9SPUUE2K8oRdNrWhFIKgH2KkrqpPFNpt4iEDMB9iqKeYA6ikAGCbBXUQZD0NIiEDMB9iqKeUCOdtRBQ44+WKWVHALdWtSx+3q3LDTZjl277cpXJ9ucFesL2dUQAREQgcgEZBUBERABERABERCB/CKgg4b8et7KNgECv+7Y2C4/rmmhkT9t2WEXDZloKzdsLWRXQwREIIsIKFQREAEREAEREAEREIGUENBBQ0qwatJcI/D7Uw61U1ruXyithas322V67WUhJmqIQDIIaA4REAEREAEREAEREIHsJqCDhux+foo+TQTKlHHsz32PstYNCr/28ssFa+3EJ0bbJUMm2m3Dptu4uStt9+7daYpKy4hAWgloMREQAREQAREQAREQARGIiYAOGmLClBud6tatayg3skl/FpUrlLVBF7azA/etXGjxhWs228hvVtjrkxbaeYMmWL9B423dpu2F+qiRGAH2K0psdL6MUp5hIcBeRWGJR3GIQDQC7FUUrY98IhAWAuxVFJZ4FIcIRCPAXkXR+uSDTwcN+fCUf86xWrVqhn5uqkiAQN3qleyl/u2srOMUO3r8vNV2xauT9MmGYgnF7mC/othHhKinQsk7AuxVlHeJK+GsJMBeRVkZvILOOwLsVZR3iSvhrCTAXkVZGXwSg9ZBQxJhaqr8ILBq4zbbWcLXIzhsQPlBJLuyVLQiIAIiIAIiIAIiIAIiIAKpJaCDhtTyDdXs8+bNMxSqoLIwmH9/uSSmqN/6cnFM/dTJJRDxB/sVRXTKKAIhI8BeRSELS+GIQEQC7FUU0SmjCISMAHsVhSwshSMCEQmwV1FEZx4ZddCQRw9bqSaHwKqNsb3SctlPW5KzYEZn0eIiIAIiIAIiIAIiIAIiIAIiEB8BHTTEx0u9RdSv5ogAABAASURBVMBqV60YE4UpC9bYvB83xNQ37k4aIAIiIAIiIAIiIAIiIAIiIAIhJaCDhpA+GIUVXgK929QvNji/Y/2WHXbWM2NtzHcr/WbVRUAEREAEREAEREAEREAERCCnCeigIacfr5L7mUBSi85Na1unprVimvOngsOGCwd/YX///IeY+quTCIiACIiACIiACIiACIiACGQ7AR00ZPsTzOr4szN4x3Hs+fPbFXvYUKVC2UKJ7dy12+7+9yy7860Ztn3nrkI+NURABERABERABERABERABEQg1wjooCHXnmiUfBo0aGAoSpc9Lv0skUCNKuVt6GWdXPVt19B6HlbXKLFNvOMEO/WI/YvM8er4BfabF7+wNRu3FfHJEJkA+xVF9soqAuEiwF5F4YpK0YhAZALsVRTZK6sIhIsAexWFKypFIwKRCbBXUWRv/lh10JBFz7q0oVaoUMFQaefR+D0EHMexzs1q28N9WtkLF7Z3S9pVK5a3Z85ra9f3OHhPR9/Pz+etsrOeHWtzVqz3WVUtjgD7FRXnl10EwkSAvYrCFJNiEYHiCLBXUXF+2UUgTATYqyhMMSkWESiOAHsVFefPF7sOGkr/pLNmhm3bthnKmoCzONAyZRy76aRD7Ol+baxiucL/ms1ftcnOfmacjZq9IoszTE/o7FeUntW0igiUjgB7FZVuFo0WgfQQYK+i9KymVUSgdATYq6h0s2i0CKSHAHsVpWe18K5S+G9A4Y0zgcg0JEhg0aJFhoJ2tVNHoFfr+vavKztbvX0qFlpk/dYddsmQifbCZ/Ns9+7dhXxq/I8A+xX9z6KaCISXAHsVhTdCRSYC/yPAXkX/s6gmAuElwF5F4Y1QkYnA/wiwV9H/LPlZS/9BQ35yVtZ5TKBVg33t7WuPtdYNahSisKvgfOGB/3xttw6bZqO/XWG3DZtul7480S3HzV2pA4hCtNQQAREQAREQAREQAREQARHIFgJ7DxqyJWDFKQLZSKDePpXs9Ss6G59wCMb/r8mL7cKXJtrrkxbaiK9XuOV5gyZYv0Hjbd2m7cHuaouACIiACIiACIiACIiACIhAqQikerAOGlJNWPOLwM8EKpUva0+de5T97qQWP1uiF+PnrbYrXp2kTzZExySvCIiACIiACIiACIiACOQKgZzJQwcNOfMolUg2EHAcx67t0dyeO/9oq1C25H/9OGxA2ZCbYhQBERABERABERABERCB3CSgrOIlUPLfdOKdUf1FQARKJHDKEftb90PqlNiPDm99uZhCEgEREAEREAEREAEREAER8BNQPbQEdNAQ2keT/MCaNm1qKPkza8ZECOyK8W0TY+astIWrNyWyRNaPYb+irE9ECeQFAfYqyotklWTWE2CvoqxPRAnkBQH2KsqLZHMkyXxOg72K8pkBueugAQqSCGSAQO2qhV95WVwIi9dutu6PfWI3/3Oazf1xQ3HdZBcBERABERABERABERCBaATkE4G0EdBBQ9pQZ36hDRs2GMp8JIoAAr3b1KeISTt37bY3piyynk+Mtmtfm2LfLPsppnHZ3on9irI9D8WfHwTYqyg/slWW2U6AvYqyPQ/Fnx8E2Ksod7NVZrlEgL2KcimnRHLRQUMi1LJ0zIoVKwxlafg5F3bnprWtU9NaceXFty3enb7UTvnLZ3bZ3yfZtIVr3fG7Cxzj5q6024ZNt0tfnuiWtLG7HbL0B/sVZWn4CjvPCLBXUZ6lrXSzlAB7FWVp+Ao7zwiwV1Ha09aCIpAAAfYqSmBoTg3RQUNOPU4lk00EHMex589vV+xhQ9tG+9oFnRpZ5fJlI6b10VfLrfczY63foPF2xtNj7LxBE+z1SQttxNcr3JI2vnWbtkccL6MIiIAIiIAIiIAIZCMBxSwCIhB+AjpoCP8zUoQ5TKBGlfI29LJOrvq2a2g9D6trlNjeuOoYu/+sI23MbcfbNcc3s2oVy0Uk8fncVTZrSeSvUvBqzCtenWTZ/smGiInLKAIiIAIiIAIiECYCikUEREAE9hLQQcNeFKqIQGYIOI5jnZvVtof7tLIXLmzvlrQdx3EDql2tot1y8qE29rYedtOJLWzfgsMJ1xHjDw4bUIzd1U0EREAEREAERCCnCCgZERABEUg/AR00pJ+5VhSBhAjw6YfrT2huYwoOHAaceqjtV61CzPO89eXimPuqowiIgAiIgAiIQBoIaAkREAERyGECOmjI4YcbTK1ChQqGgna1s4sAX6G4olsz98ChRb1qMQX/w+qNMfULWyf2KwpbXIpHBCIRYK+iSD7ZRCBsBNirKGxxhSEexRA+AuxVFL7IFJEIFCXAXkVFPfll0UFDHj3vBg0aGMqjlHM61Urly1qbhjVjynHCvNV24z++tPmrsuvAgf2KYkpSnUQgwwTYqyjDYWh5EYiJAHsVxdQ5HJ0URR4TYK+iPEag1LOIAHsVZVHIKQlVBw0pwapJRSA9BHq3qR/zQm9NXWInPD7a7nhzhi3/aUvM49RRBERABERABIonII8IiIAIiIAIFCWgg4aiTHLWsmbNGkM5m2AeJta5ae1iX48ZCceOXbvt/yYssOMeGWV/eu9rW7NxW6RuobGxX1FoAlIgIhCFAHsVRekilwikj0AJK7FXUQnd5BaBUBBgr6JQBKMgRKAEAuxVVEK3nHfroCHnH/H/EmTDo/9ZVMt2Ao7j2PPntyv2sKFBzcpWrULZImlu3bHLnv90nnvg8NTI72zD1h3uKzDHzV1ptw2bbpe+PNEtaWfy1ZjsV1QkARlEIIQE2KsohKEppBARCEso7FUUlngUhwhEI8BeRdH6yCcCYSHAXkVhiSdTceigIVPkta4IJIkAb6MYelknQ33bNbSeh9U1Stqf3Xq8fXZbD7viuKZWsVzRf93XFxwwPPHRt9b14Y+t+2Of2HmDJtjrkxbaiK9XuCXtfoPG27pN25MUraYRAREQgVASUFAiIAIiIAIiIAJJJFD0bx5JnFxTiYAIpIeA4zjWuVlte7hPK3vhwvZuSdtxHKtZtYINOO0wG33L8XZex0ZWroxTJKg1BQcJ81dtKmLHMH7earvi1UnuJx5oSyIgAiKQPgJaSQREQAREQAREIBsJ6KAhG5+aYhaBBAjsX6OS/fHsI23ETd2s91H1reAMIuZZOGxAMQ9QRxEQgdwmoOxEQAREQAREQAREIAoBHTREgSOXCOQigSb7VbUnz21j713f1f2aRaw5vjFlUaxd1U8ERCBDBLSsCIiACIiACIiACISBgA4awvAU0hRD1apVDaVpOS0TcgKHHbCP+zWLdo1rxhTpv6cutnvenmUzFq1L29co2K8opgDVSQQyTIC9iiKEIZMIhI4AexWFLjAFJAIRCLBXUQSXTCIQOgLsVRS6wNIckA4a0gw8k8vVq1fPUCZj0NrhI9CsTrWYgtq+c7cNGfeD9Ro4xk7686f23Oi5tmzdlpjGJtqJ/YoSHa9xIhCdQHK97FWU3Fk1mwikhgB7FaVmds0qAsklwF5FyZ1Vs4lAagiwV1FqZs+eWXXQkD3PSpGKQEoI9G5TP+55v1uxwR767zd2zEMj7YIXJ9hbXy62zdt2up904JWYYXpFZtzJaUDmCSgCERABERABERABERCBrCagg4asfnzxBb98+XJD8Y1S71wn0LlpbevUtFZCae7abfbZdyvtxten2tH3f2gdHhyZ1Fdksl9RQsFpUNIJaMLoBNirKHoveUUgHATYqygc0SgKEYhOgL2KoveSVwTCQYC9isIRTeai0EFD5tinfeWNGzcaSvvCWjDUBBzHsefPb1fsYQOHEO9c28WuP6G5NahZudhcNm3fZT9u2BrRzxsrEnlFJvsVRZxURo+AypAQYK+ikISjMEQgKgH2KoraSU4RCAkB9ioKSTgKQwSiEmCvoqid8sCpg4Y8eMhKUQRKIlCjSnkbelknV33bNXTfRkHp2Y5ssK/ddGIL+/SW4+31yzvZr9o1sGoVy5U0bSE/hw0jv1lRyJbbDWUnAiIgAiIgAiIgAiIgAvlJQAcN+fnclbUIFCHgOI51blbbHu7Tyn0bBSVtx3H29i1TxrGOTWvbI31a28Q7etqT5x5lx7Wos9dfUuWylyfZL58bZwM//s5mLl5nu/juRUmDku3XfCIgAiIgAiIgAiIgAiIgAikloIOGlOLV5CKQuwQqVyhrvY860P5+cQfr2ny/mBLdXdBr4g9r7LEPv7Uznh5jHf440m7651R7e9oSW7tpW4F3zz+7d+82LpV8bPQSu+P9hcblkrSx7+mhnyIgAiIgAiIgAiIgAiIgAmElkNMHDZs3b7a7777bWrRoYZUqVbL69evbxRdfbIsXLy7V8/juu++scuXK5jiO9ezZs1RzabAIhJxATOHVr1E5pn7BTis3bLXhUxbb9UO/tLb3f2TnPDvWHv7vN9Zr4Bj3Usn3Zq+zzxdssNcnLXTb/QaNt3WbtgenUVsEREAEREAEREAEREAERCBEBHL2oGHLli3Wo0cPu//++23Dhg3Wu3dva9iwoQ0ePNjatGlj8+bNS/gxXH755bZ169aEx2dqYM2aNQ1lan2tm0wC4Zqrd5v6pQ6Ib1FMWbDW/jp6rs1c/FPE+bjnIZFLJSNOJqMIJJkAv19RkqfVdCKQEgLsVZSSyTWpCCSZAHsVJXlaTScCKSHAXkUpmTyLJs3Zg4YHHnjAxo8fb507d7Zvv/3WXn/9dZswYYI9/vjj9uOPP7qfbEjkOb344ov2ySef2GWXXZbI8IyOYcOjjAaR64vnaX6dm9Yu9q0VHpIOTWrZSxe2s/7HNLEmtat45rhLDhvueHOGjflupa3e+L+vWwQn4msWfN2Cr11c+vJEff0iCEjtpBPg9ytK+sSaUARSQIC9ilIwtaYUgaQTYK+ipE+sCUUgBQTYqygFU2fVlDl50LBt2zYbOHCg+yCeeeYZq1atmlvnx0033WStWrWy0aNH2+TJkzHFLN6Hesstt9iJJ55o/fr1i3mcOmaegCJILQHHcez589sVe9jQqWktG/SbdtbjsHp2z5kt7ZNbjrdPftfd7i2oH39IHatUPr5fRa99sdDOf3GC+3WLTn8caRcPmWiPfTDb/jtjqc1ftdHWFBxA8DWL8wZNcL92MeLrFW5JG7u+fmH6nwiIgAiIgAiIgAiIgAikjEB8f7pPWRjJnXjs2LG2bt06a9asmfs1ieDsffr0cU3vvPOOW8b644YbbjDufXj22WdjHRKqfosWLTIUoqAUSg4RqFGlvA29rJOrvu0aWs/D6hqlZ8PvT7fJflXtwmOa2OCLOtjUu0+yly/uYA1rxv9Jh2U/bbGPv1lhA0fNsav+b4p1e/QTa/fACOOTD/71vDp2ff3Co6EymQT4/YqSOafmEoFUEWCvolTNr3lFIJkE2KsomXNqLhFIFQH2KkrV/Nkyb04eNEybNs3l37ZtW7cM/vDs06dPD7qKbb/33nvu1y9uv/12O/jgg4vtF2YHn/Tq7MhyAAAQAElEQVRAJceoHiKQGAHHcaxzs9r2cJ9W9sKF7d2StuM4USesVL6sdWtRx44pGBu1Y4zOnbt5v0XxnTlsGD9vVfEd5BGBBAjw+xUlMFRDRCDtBNirKO0La0ERSIAAexUlMFRDRCDtBNirKO0Lh2zBnDxoWLBggYu5QYMGbhn84dnnz58fdEVsb9y40a6++mo75JBD7LbbbovYJy1GLSICOU4g1kslm9WpahXLle7X10VDJtp1Q7+01yYssO9XbjTudAjixaZ7HoJU1BYBERABERABERABERCB6ARK9yf16HNnzMtbJli8SpXIH8OuWrUqblu/fr1blvTjzjvvNA4lnnvuOatQoUKR7vEYWrZsaZE0d+5c2759u/s2DN6I4Zd3Ikbpt/vrXgzk7rd7df/Hd9asWRNxneXLl3vTGHVvrL9krNeJOf0+r04MXh/PFizJhT6UQZ/Xxo+Yz7P5S9bHj4jL7/Pq5IEfUffs/pKx+BFz+n1enRjwI88WLMkFP2XQ57XxI+bzbP6S9fEj4vL7vDp54EfUPbu/ZCx+xJx+n1cnBvzIswVLcsFPGfR5bfyI+Tybv2R9/Ii4/D6vTh74uVSybYPqVIsV9z0M+VUze7d/C3vpl03tjh71rW+rWnb0gVWtZpXyxY4LOrZs32XvTFtit785w45/7BPr8MCHdtmLY+yZ/06xhas3ua/R/NVzY93XavJ6Tf89D+cMHO36mbOknOhDfl6u/pKx+BGc/D6vDlf8yLMFS54Pfsqgz2vjR8zn2fwl6+NHxOX3eXXywI+oe3Z/yVj8iDn9Pq9ODPiRZwuW5IKfMujz2vgR83k2f8n6+BFx+X1enTzwI+qe3V8yFj9iTr/PqxMDfuTZgiW54KcM+rw2fsR8ns1fsj5+RFx+n1cnD/yIumf3l4zFj5jT7/PqxIAfebZgSS74KYM+r40fMZ9n85esjx8Rl9/n1ckDP6Lu2f0lY/Ej5vT7vDox4EeeLViSC37KoM9r40fM59n8JevjR8Tl93l18sCPqHt2f8lY/Ig5/T6vTgz4kWcLluSCn9LzrVq1ypDXxo+Yz7P5S9bHj4jL7/Pq5IEfUffs/pKx+BFz+n1enRjwI88WLMkFP2XQ57XxI+bzbP6S9fEj4vL7vDp54EfUPbu/ZCx+xJx+n1cnBvzIswVLcsFPGfR5bfyI+Tybv2R9/Ii4/D6vTh74EXXP7i8Zix8xp9/n1YkBP/JswZJc8FMGfV4bP2I+z+YvWR8/Ii6/z6uTB35E3bP7S8biR8zp93l1YsCPPFuwJBf8lEGf18aPmM+z+UvWx4+Iy+/z6uSBH1H37P6SsfgRc/p9Xp0Y8CPPFizJBT9l0Oe18SPm82z+kvXxI+Ly+7w6eeBH1D27v2QsfsScfp9XJwb8yLMFS3LBTxn0eW38iPk8m79kffyIuPw+r04e+BF17PxuRdQRY/Ej5sQWFDHgR0Gf1yYX/JSeLVjiR8wX9NFmffyIuPj7J/VUKCcPGn4GlZRi0qRJ9tRTT9lvfvMb6969e1Lm1CQiIAKRCTiOYw/3amZHHRD5kJBDBi6ddBzHypZxrEnNinbCwTXsik717NHTG9mnv+1svVon9qrNHzfusI++W2ePjl5qXR8ZZR3+OMImzl9nkf735eKNpnseIpGRTQREQAREQAREQAREQATMMnDQkHrs3lsmNm3aFHGxjRs3uvbq1aP/l9MdO3bYZZddZvvuu6899thj7pjS/pg1a5ZFEhdXli9f3po2bVpE3qcoKCP5sXlxkTvtoLyvi9CP160E/bTr1auH2xV1bEEx1u1Q8IM5g37axFDgdv+hHUnkQgfKSH5s+BHz0Q6K9fEj4gr6aZMHfkQdW1CMxY+YM+inTQz4Ee1IIhf8lJH82PAj5qMdFOvjR8QV9NMmD/yIOragGIsfMWfQT5sY8CPakUQu+Ckj+bHhR8xHOyjWx4+IK+inTR74UfPGB9qb13d3L5U87ZAa1rlRtSKXSjIn44Li3+l+HRoyTam1dceuqHPsuedhtcWSE/kFY6XNWG+R4nKCq9eHMZHE86EPZSQ/NvyI+WgHxfr4EXEF/bTJAz+iji0oxuJHzBn00yYG/Ih2JJELfspIfmz4EfPRDor18SPiCvppkwd+RB1bUIzFj5gz6KdNDPgR7UgiF/yUkfzY8CPmox0U6+NHxBX00yYP/Ig6tqAYix8xZ9BPmxjwI9qRRC74KSP5seFHzEc7KNbHj4gr6KdNHvgRdWxBMRY/Ys6gnzYx4Ee0I4lc8FNG8mPDj5iPdlCsjx8RV9BPmzzwI+rYgmIsfsScQT9tYsCPaEcSueCn9Py1a9c25LXxI+bzbP6S9fEj4vL7vDp54EfUPbu/ZCx+xJx+n1cnBvzIswVLcsFPGfR5bfyI+Tybv2R9/Ii4/D6vTh74EXXP7i8Zix8xp9/n1YkBP/JswZJc8FMGfV4bP2I+z+YvWR8/Ii6/z6uTB35E3bP7S8biR8zp93l1YsCPPFuwJBf8lEGf18aPmM+z+UvWx4+Iy+/z6uSBH1H37P6SsfgRc/p9Xp0Y8CPPFizJBT9l0Oe18SPm82z+kvXxI+Ly+7w6eeBH1D27v2QsfsScfp9XJwb8yLMFS3LBTxn0eW38iPk8m79kffyIuPw+r04e+BF1z+4vGYsfMaff59WJAT/ybMGSXPBTBn1eGz9iPs/mL1kfPyIuv8+rkwd+RB07v1sRdcRY/Ig5sQVFDPhR0Oe1yQU/pWcLlvgR8wV9tFkfPyIu/v5JPRX630FDKmbP0JyNGjVyV/Z/NMQ1/PzDszdu3PhnS+SCflOnTnW/LvHLX/7S/UQDn2pAN954ozto8uTJe+2uIcQ/6tatayjEISo0EXAJOI7jXir5yC+PskG/OTrmSyUZzNcv+OQD9eJ0VMN97Y9nH2Fntq5vdapXLK5bifa7/z3TPpy1zNZt3l5iX3XIfQL8fkW5n6kyzAUC7FWUC7koh9wnwF5FuZ+pMswFAuxVFPpcUhxgTh40tG7d2sU2ZcoUtwz+8OytWrUKuiK2ly1bZqNHjy4k780Wa9eu3WuPODhERk62UIhCUigiEJUA+xVF7RRwOo5jfL2iuMMG7C9f1MHO69jYnurXxr64/QQbcdNxdn/vlnbakftbraqx38Py3YoNdvkrk63NfR/amQPH2J/e+9o+mb3CNm7dsTcqXSi5F0XOV9irKOcTVYI5QYC9inIiGSWR8wTYqyjnE1WCOUGAvYoSTSZXxuXkQUOXLl2sRo0axgWLfCIh+LCGDRvmmnr16uWWxf1o0qSJexM9f1EIatSoUe6wE044YW8f16AfIiACGSdQo0p596sXQy/r5H7toudhdd2SNsLvBek4jh1ct7pd0LmJPfvro23SHT3t5Jb/+xqR1y9auWu32fRF6+z5T+dZ/8ETrfW9H1qfv46zP/7nKzv9qTERL5TsN2i8rdukT0JE4yqfCIiACIiACIiACISEgMKIk0BOHjTwvZVrr73WRXHNNdeYdycDhieeeMKmT59u3bp1s6OPPhqTq4EDB9qhhx5qAwYMcNu5+IObRlEu5qaccpMA+xUlkp3jOO7XLx7u08peuLB9zF+/KFPGsQuPaZLIknvH7Cg4eZg0f4397bPv7aulP+21+yvc8aALJf1Esr/OXkXZn4kyyAcC7FWUD7kqx+wnwF5F2Z+JMkg+gfDNyF5F4YssvRHl5EEDCO+8807r2LGjjRs3zpo3b259+/a1Tp062c0332x16tSxl156iW57tXLlSps9e7YtXbp0r00VERCB/CQQyz0PDWtWtmOa1bKK5RL/Ncphw0tjv7ct23fmJ2hlLQIiIAIiIAIikJsElFXeE0j8T8ghR1epUiXj6w133XWXValSxd566y2bP3++9e/f37ijgVs3Q56CwhMBEcgQAcdxSrzn4d3rutprl3W2aX84yf2axvU9DrZ2jWtauTJOXFHf/+7X1ureD63v85/bEx99a+PmrLTN2wofPPDVrXFzV9ptw6bbpS9PdEva2ONaTJ1FQAREQAREQATymoCSF4F0EcjZgwYAVq5c2e677z6bM2eObd261f20wuDBg83/Wg/6oXvuuce9a2HIkCE0S1T37t3d/iNGjCixrzqIgAhkHwHuceA+B9S3XUMr7p6HSuXLWudmte2mkw6xYVcd4x48vHxxB2tcu0rMSW/bscsmfL/anhr5nZ33woSCg4cP3DseHv3gG3t/5lL3EOK8QRPs9UkLbcTXK9yStu55iBmxOoqACIiACIhAmAkoNhHIOQI5fdCQc09LCYmACKSVgOPEf89D1YrlrFuLOtbpoNoJx7p9527jjodnRs21K1+dYl/8sCbiXHz14opXJ7mHnhE7yCgCIiACIiACIlAKAhoqAiKQKAEdNCRKTuNEQAREIAqB3m3qR/Emz8Vhw3OfzLUV67eUOClfteArF/oKRomo1EEEREAERCDMBBSbCIhA6AnooCH0jyh5AfKVEZS8GTWTCKSWAPsVpXaV1Mwey4WSnZrWsql3n2gvXtjOLj+uqbVuUMPKxnnHA9E//MFs6/DgyAKNsIuHTLTHP5xt789cZovWbNr7aQdepclXLfjKhb6CAbXki72Kkj+zZhSB5BNgr6Lkz6wZ85lAqnJnr6JUza95RSCZBNirKJlzZuNcOmjIxqeWYMy89hMlOFzDRCDtBNivKO0LJ2FBxyn5Qsnnz29n+1apYCccVs9uP+0w+/e1x7p3PAy5qL1d2a2Z7VO5XFyRrFi/1T7+ZoU9/fEcu/LVyXbsw6Oszf0f2a8HjbdTn/zU+PRDpAmx6ysYkcjEZ2OvovhGqbcIZIYAexVlZnWtmmYCWb8cexVlfSJKIC8IsFdRXiQbJUkdNESBk2uubdu2Gcq1vJRP7hJgv6JszTDWCyX9+VWrWM66H1LXfn/qoXZqywP8roTqazdtt7FzV9mSddG/WsFhA0poEQ1yCbBXkdvQDxEIOQH2Kgp5mDkentKLlQB7FcXaX/1EIJME2KsokzGEYW0dNIThKaQphkWLFhlK03JaRgRKTYD9iko9UQYncJz4L5T0wo31noeK5ZLzq/y2N6bb4LHf27SFa403YXhx+Evd8+CnUbjOXkWFrWqJQDgJsFdROKPLcFRaPnQE2KsodIEpIBGIQIC9iiK48sqUnD+d5hUyJSsCIiAC6SEQ6z0PX917so28uZs9ee5RdsVxTa3LwbWtRuXycQe5YPUmu/edr6z3M2PtiHs+sF/8dZw9+J+v7L0ZS23pus2mex7iRqoBIiACSSSgqURABERABLKHgA4asudZKVIREIE8I+A4sd3zULZsGWtWp5r1PupAG3DaYfZ/l3YyLpn87Nbj7bnz29rhB+wTNzk+0TB5/hob9Nn3dvX/TbHOf/rY2j84Qvc8xE1SA0Qg5wkoQREQAREQAREoQkAHDUWQyCACIiAC4SGQyD0PRO84jjWsVcVOOeIAu/OMJG4pbgAAEABJREFUwzCVWtt27oo6B3c8oKid5BQBEUgTAS0jAiIgAiIgApkjoIOGzLHXyiIgAiIQEwHHSfyeBxaI5SsYB+1X1fq0PdCa1anKkIR12d8n2k3/nGqvTVhg3y5fb7t27S4yl+55KIJEhnwioFxFQAREQAREIA8I6KAhDx6yUhQBEchvAo5T8lcw3rq6iz32q6Ns5M3dbdrdJ9nLF3ewG05obse1qGP7VIr9NZsbtu604VMW2+1vzrCT/vyp+3rNiwZ/Yc+MmmPj562yZeu2WL9B4+28QRPs9UkLbcTXK9ySNnbugcjvp6XsM0VA64qACIiACIiACCSPgA4akscy9DM1bdrUUOgDVYAi8DMB9iv6uamiFATi+QoGfbsVHDD89sQW9veCA4epBQcPpx6xf0Krr9u83UbN/tEe/WC2nfu38db5TyMLDhxWR5yLr11c8eok4xMPETuE3MheRSEPM9vCU7wpIsBeRSmaXtOKQFIJsFdRUifVZCKQIgLsVZSi6bNmWh00ZM2jUqAiIAIiUDoCjpPYVzDKlHHsgs6NS7f4z6OLfpHiZ8fPBYcN6OemitASUGAiIAIiIAIiIAIiUDwBHTQUzybnPBs2bDCUc4kpoZwlwH5FOZtgFiUWyz0PRx5Yw+7pdbj1al3f6teolHB2l78yye54c4a9M22JrVi/JeI8fOph3NyVdtuw6XbpyxPdkjb2iAPSYGSvojQsVfwS8ohAjATYqyjG7uomAhklwF5FGQ1Ci4tAjATYqyjG7jnbTQcNOftoiya2YsUKQ0U9sohAOAmwX1E4o8uvqByn5HseXr2ko/XvcpA93a+NjRtwgo37fQ97qqB+YefG1rJ+7K/YXL9lh/3fhAV23dAvrcODI+2Exz8pdPDAPQ7c58C9DmG654G9iiLtDNlEIGwE2KsobHEpHhGIRIC9iiL5ZBOBsBFgr6KwxZXueHTQkG7iWk8EREAEspQAdzcMvayTob7tGlrPw+oaJW2E359a/X0r25mt69u9vY+w/1zf1c5pe6DfHXN97o8bCx08dErePQ/ufRB8EiJMn4yIGYw6ioAIiIAIiIAIiEBICeigIaQPRmGJgAiIQBgJOI5jnZvVtof7tLIXLmzvlrQdxykx3D5HNyixz54O0X9u3r4zagfueOATESs3bHUPEorrHNZPRhQXr+wiIAIiIAIiIAIikC0EdNCQLU9KcYqACIhApgmUcv3Y7nnYxwaceoj1OLSuVatYLuEV73xrprV7YIQddvf71uPxT+yCFyfYgOHTbeDH39mbXy6yCfNWWf8hX+TsGzASBqeBIiACIiACIiACIpAEAjpoSAJETSECIiACmSSQLWs7Tiz3PHSyK7odbC/1b29T7z7R3r62i91+2qEJHzxs2b7L5v240T77bqUN/WKhPfbht/bb16dZ37+Nty8XrI2Kbvy81cUeREQdKKcIiIAIiIAIiIAI5DkBHTTk0QaoUKGCoTxKWalmOQH2K8rSNBR2BALc48B9Doj7HaLd81CubBlr1WBfu/y4ZnsPHk48vG6EWVNnemPKopgnZ6+imAeoowhkkAB7FWUwBC0tAjETYK+imAeoowhkkAB7FWUwhFAsrYOGUDyG9ATRoEEDQ+lZTauIQOkJsF9R6Wfyz6B6pgk4TmL3PHDwcFGXg2IKv0zJV0bENM/wgoOGy/8+yf41aaGt3rgt6hj2KoraSU4RCAkB9ioKSTgKQwSiEmCvoqid5BSBkBBgr6KQhJOxMHTQkDH0WlgERKAQATVEIAYCsdzz0KlpLfv2gVNt3O972L+u7Gx/6XuU3XLyIdavQyM7rkUda1anqpV1YlisoMuu3WYffrXcbhk23do98JH96rnPbdCn8+yHlRsLvHv+2b17t+nNFXtY6KcIiIAIiIAIiIAIQEAHDVDIE61Zs8ZQnqSrNJNEIJPTsF9RJmPQ2uEi4Dgl3/Pw/PntjE8/1N+3srVvUsvOanOgXXP8wfanc460v1/cwUbe3N1euaRj3Ilx6PDFD6vtwfe+tu6PfWInPjHa7ntnlvV6eoydN2iCvT5poY34eoVb0u43aLzxZou4F9IAEUgDAX63ojQspSVEoNQE2Kuo1BNpAhFIAwH2KkrDUqFeQgcNoX48yQ2ODY+SO6tmyxCBvFiW/YryIlklGTOBeO55KG7Szs1qW6emtYpzx2T/bsUGe2nsDzZzyU8R+3OZ5BWvTor6is2IA2UUgTQQ4HcrSsNSWkIESk2AvYpKPZEmEIE0EGCvojQsFeoldNAQ6sej4LKPgCIWARFIBwHHSeyeBy82xyn5kxGf/K67PfbL1nZyy3pWuXxZb2hcJYcN789cFtcYdRYBERABERABERCBbCegg4Zsf4KKPzYC6iUCIiACAQIlfTKiyX5Vrc/RDez5C9rZl3efaC9e2M7Obd/Q9qtWMTBT9OZV/zfFuj86ym4dNs2GTV5kC1dvKvIpB93zEJ2hvCIgAiIgAiIgAtlFQAcN2fW8ci5aJSQCIiACmSTgOLF9MqJS+bJ2wmH17KFftLIvbj/B3rjqGGtcu0rMof+wapP9c9Ii+92/plnXR0bZMQ99bNcP/dJeHT/fpsxfbdznwL0Or+ueh5iZqqMIiIAIiIAIiEB4CeigIbzPJpORaW0REAEREIFiCJQp49jRjWtap4NqF9OjZPPSdVvs7WlL7M63Zto5f/3c+IpFpFHYdc9DJDKyiYAIiIAIiIAIhJmADhrC/HSKxFY6Q9WqVQ2VbhaNFoH0EWC/ovStqJVEIHYCvdvUj71zKXpy2PDxNytKMYOGikBRAvxuRUU9sohA+AiwV1H4IlNEIlCUAHsVFfXkl0UHDcl43lkyR7169QxlSbgKUwTc/ao9q40QVgKdm5b85oqOB9Wyd67tYnefcbid0nJ/q121QkLpXPLyJDvlL5/a7W/OsOFTFtmCVZt0z0NCJDXII8DvVuS1VYpAmAmwV1GYY1RsIuARYK8ir52vZU4fNOTrQ1XeIiACIiACqSfgOCW/ueJvF7SzIxvsaxcfe5A9d8HRNunOnjbipm72x7OPtLOOqm8Vy8X+f8PfLFtvr01YYDf9c5od9+go6/DHkXbVq5Pthc/m2Wff/mjn/m286Z6H1D93rSACIiACIiACIlAygdj/hFPyXLH2UL8MEVi+fLmhDC2vZUUgbgLsVxT3QA0QgTQR8L+54swj9rOuTWtY33YNbehlnVzh94fiOI4dXLeandexkf3l3DYFhw0H+t1x1X9cv9X+O3OZPfCfr+2Cl76wCd+vjjier17onoeIaPLayO9WlNcQlHzWEGCvoqwJWIHmNQH2KsprCAXJ+w4aClr6J6cJbNy40VBOJ6nkcooA+xXlVFJKJucIOM6eN1fceEwdu7dnfXu4Tyvr3Ky2OY5TYq7pvOdh6BcLbPvOXSXGpA75QYDfrSg/slWW2U6AvYqyPQ/Fnx8E2Kso/NmmNkIdNKSWr2YXAREQAREQgWIJxHLPQ4eDatmwKzvZgFMPtZMOr5fwPQ+3vznTjrznA/vVc5/bn/77tb0/c5mt+GlLodh2795t4+autNuGTbdLX57olrSxF+qohgiIgAiIgAiIQGoI5MisOmjIkQepNERABERABLKPgOOUfM/DoAvaWbsmte2Kbs3sb79p597zMOp33e3RPq2sX4eGVrVC2ZgT37J9l33xw2p7fvQ8u/LVye49D10e+tiueW2KPf3xd3bG02NM9zzEjFMdRUAEREAE8oiAUo2PQJn4uqu3CIiACIiACIhAMglwj4N3pwP3O/Q8rG6J9zwctF9V+2W7hvanc1rZGa3qlyqcxWs323+mL7XHP/zWZi35KeJcuuchIhYZRUAEREAEMk9AEYSUgA4aQvpgFJYIiIAIiED+EHCcPfc8cL/DCxe2D+09D8MmLyryWs38eUrKVAREQAREIHYC6pnvBHTQkEc7oGbNmobyKGWlmuUE2K8oy9NQ+HlCgL2K0p1uLPc8dGpay6bc2dMG929v1/c42Lo238+qVywXd6i3DJtufNViwPAZ9sGsZbZh646Ic3CnA3c76K6HiHhCYWSvolAEoyBEoAQC7FVUQje5YyGgPiknwF5FKV8o5AuUCXl8Ci+JBNjwKIlTaioRSCkB9itK6SKaXASSRIC9ipI0XczTOE7J9zw8f347q1Wtoh1/aF276aRD7JVLOtrUP5xkH/72OHv4F0da/X0rxbzeknVbjDdYXPHKZDvq3g/t3L99bs+NnmvfLPvJ/bTDuk3brd+g8brrIWaimenIXkWZWV2rikB8BNirKL5R2dVb0eYOAfYqyp2MEstEBw2JcdMoERABERABEQgNgXjveSDwsmUca1GvuvVt38i6HlzHEvnfjl27jfsbHvrvN3bKXz6zzn8aaSf+ebRrizQffa94dZJ7IBHJL5sIiIAIhIyAwhEBEUiQgA4aEgSXjcMWLVpkKBtjV8z5SYD9ivIze2WdbQTYqyhTcTtO5u95WPbTVluxfmtUBBw2oKid5Ew5AfYqSvlCWkAEkkCAvYr+N5VqIhBeAuxVFN4I0xOZDhrSwzkUq2zbts1QKIJRECIQAwH2K4qhq7qIQMYJsFdRxgNJIIBY73n44Maudvtph9oxzWpb+bKOJfq/l8f9oE81JAovSePYqyhJ02kaEdhDIEU/2asoRdNrWhFIKgH2KkrqpFk4mQ4asvChKWQREAEREAERSCYBx4ntnodD9t/HLj+umb12WSf78u6T7G8XHG3ndWxkB+5bOa5w3p+1zNo/OMKuG/ql/eOLBbZw9aYi43WhZBEkMohAwgQ0UAREQATSTUAHDekmrvVEQAREQAREIIQE4r3noVrFcnZSy/3tj2cfaWNuO94++u1x1rpBjZgzW7lhm70zbYn9fvgM6/rIKDv24Y+Nt1T8e+pim7NivS6UjJmkOmYxAYUuAiIgAjlLQAcNOftolZgIiIAIiIAIxEfAcRK758FxHGter7rdduqh8S3o671ozWZ7fdJCu+EfU63nE5/qQkkfG1XTTUDriYAIiIAIlJaADhpKS1DjRUAEREAEREAEXAKx3PVQoVzp/+jBZZLIXVQ/8oeAMhUBERABEcgaAqX/f/usSVWB1q1b15BIiEC2EGC/omyJV3HmNwH2KspnCo5T8l0PX9x+go2+pbv7lYszWh1gtatWSAjZLf+aZv83YX7E+x0SmjDPBrFXUTLS1hwikGoC7FWU6nU0vwgkgwB7FSVjrmyeQwcN2fz04oy9WrVqhuIcpu4ikDEC7FeUsQC0sAjEQYC9iuIYkpNdS7rrYd8qFaxx7aruJZIDz2trE+/oae/f2NXuOuNwO+HQula2TGxvs1i0drPd8eZM936H7o+Osrvemmkfzlpm67ds38s1zy+U3MshUoW9iiL5ZBOBsBFgr6KwxaV4RCASAfYqiuTLJ5sOGvLpaStXERABERABEUgDAcdxrHOz2vZwn1b2woXt3ZK248RsvYoAABAASURBVBQ9RChTcLBw6P772CXHHmQv9m9v57Q5MO4If1i1yV4ZP98uf2WyHXXfR9bnr+Pskfe/sV5Pj7HzBk1w734Y8fUKt6Tdb9B4W7fpfwcScS9YqgEaLAIiIAIiIAK5T0AHDbn/jPdmOG/ePEN7DaqIQMgJsF9RyMNUeCLgEmCvIrehHwkTOLtt/AcN/sV27tptk+avsWc/mWszl/zkd+2tc7/DFa9OMj7xsNeYZxX2KsqztJVulhJgr6IsDV9h5xkB9irKs7SLpKuDhiJIZBABERABERABEcgUgeCFkpHiaFanqvVufYDtVy2x+x2Yk8OGMd+tpCqJgAiIgAiIgAgkmYAOGpIMVNOJgAiIgAiIQB4QSFmKjlPyhZLDr+piT/Zra1/c3tP+c/2x9vtTD7UuB9e2CmXj+2PNRUMm2uV/n2SvTVhgS9ZuNv1PBERABERABEQgOQTi+3/k5KypWURABERABERABFJCIDcmLelCSfxkyv0OLevXsCu7NbP/u7STTfvDSTbkovbWqFYV3CVqx67d9uFXy+32N2fYMQ99bCf/+VP703tf27i5K23bjl3ueL5eQfu2YdPt0pcnGiVt7G4H/RABERABERABEShCQAcNRZDIIAIiIAIiIAJJJqDp4ibgOLFfKOlNXrlCWet+SF3j6xeeLZ5y9vL19vyn89wLJNve/5FdNPgLO+Hx0W779UkLTRdKxkNTfUVABERABPKZgA4a8vnpK3cREAERyHMCSj83CfRuU7/UiW3YusNGzf7R5q3cGHEu7njI9wslI4KRUQREQAREQAQKCOigoQBCvvzToEEDQ/mSr/LMfgLsV5T9mSiDOAlkZXf2KsrK4HMsaD7R0KlprahZHd24pj3Wp5X1al3falQuH7VvcU4OG8bNXVWcO9R29ioKdZAKTgR+JsBeRT83VYhAqAmwV1Gog0xDcDpoSAPksCxRoUIFQ2GJR3GIQEkE2K+opH7yp4uA1olGgL2KovWRLz0EHKfkCyVfurC99WnX0J7u18am3HWivXHVMXZdj4PtyANrxBXkxUMm2h1vzrCxc1bajp177nWIa4IMdWavogwtr2VFIC4C7FUU1yB1FoEMEWCvogwtH5plddAQmkeR+kC2bdtmKPUraQURSA4B9itKzmw5PItSCwUB9ioKRTAKwrgwcuhlnQz1bdfQeh5W1yhpI/weprJlHOMTDjefdIi9c92xNvGOnnb4Aft47qjl1h277P8mLLBfvzDB2j84wr0s8pPZK/ZeJukN5vLIcXNXuv5LQ3CpJHsVefGpFIEwE2CvojDHqNhEwCPAXkVeO19LHTTk0ZNftGiRoTxKWalmOQH2K8rWNBR3fhFgr6L8yjrc2TqOY52b1baH+7SyFy5s75a0HceJGnid6hXj/mQDE67ZtN24NLL/4InW7oGP7KZ/TrURXy235T9tsX6DxofqUkn2KiJuSQTCToC9isIep+ITAQiwVxH1fFZOHzRs3rzZ7r77bmvRooVVqlTJ6tevbxdffLEtXrw45me+du1ae+2116xfv3520EEHuV89qF69unXs2NGefPJJ2759e8xzqaMIiEAoCCgIERABESiRQGkvlPxpyw4bPmWxXfr3SXbMnz427nOItCh2XSoZiYxsIiACIiAC2UwgZw8atmzZYj169LD777/fNmzYYL1797aGDRva4MGDrU2bNjZv3ryYnttjjz1mv/71r+3111+3mjVr2jnnnGMdOnSwadOm2Y033uiusWnTppjmUicREIFoBOQTAREQgfAQiOVCyaMa7mu3nnyItWpQI2rgO3fvjurnsAFF7SSnCIiACIiACGQRgZw9aHjggQds/Pjx1rlzZ/v222/dg4IJEybY448/bj/++KP7yYZYnlPVqlXt1ltvtR9++MGmTJli//jHP2zkyJE2Y8YMa9SokY0ZM8ZYK5a51EcEspKAghYBERCBPCTgOCVfKPnyRR3s6uMPtrevPdY+u/V4u+O0w6xto30TojV8yqKExmmQCIiACIiACISRQE4eNHD5xsCBA13ezzzzjFWrVs2t8+Omm26yVq1a2ejRo23y5MmYomrAgAH28MMPu4cK/o7Nmze3hx56yDUNHTrULfVDBNJJQGuJgAiIgAiklkCNKuXdyyS5PJKLJKNdKNmwVhW77LimNvzqLvb5gB72h16HW4cm0V+x6Y/+31MX293/nmmTflhtu3ZF/wSEf5zqIiACIiACIhBGAjl50DB27Fhbt26dNWvWzP2aRBB8nz59XNM777zjlon+aN26tTt0yZIlbqkfImBmgiACIiACIpBDBBzHiftCyQNqVLaLuhxk/7yys53Zun5MNLbt3G1//3y+9Xnuc+v6yCj703tf28zF64y3VXgTUA/Tmyu8uFSKgAiIgAiIQJBATh40cH8CibZt25aiiDz79OnTi/jiMXj3POy///7xDMtY36ZNmxrKWAAZXViLZyMB9ivKxtgVc/4RYK+i/MtcGUcjcG6HhtHcEX2L12625z+dZ2c8PcZOeGK0/fmjb23qwjVJfXMFexVFDEBGEQgZAfYqCllYCkcEIhJgr6KIzjwy5uRBw4IFC9xH2KBBA7cM/vDs8+fPD7riavPWCQZw0SSllAABDREBERABERCBHCYQy6WS0dKf9+NGe3Lkd3bWM+P05opooOQTAREQAREIFYGcPGjgLRNQrlKlCkURccEjxvXr11MkpOeee85GjBhh++67r/3+97+PeY6WLVtaJM2dO9d9VSafkgiKOydYgDLo89r4Ebl7Nn/Ju1zxoTVr1rhv3fD7qS9fvpwpXFHHFhRj3Q4FP5gz6KfNGgVu9x/akUQudKCM5MeGHzEf7aBYHz8irqCfNnngR9SxBcVY/Ig5g37axIAf0Y4kcsFPGcmPDT9iPtpBsT5+RFxBP23ywI+oYwuKsfgRcwb9tIkBP6IdSeSCnzKSHxt+xHy0g2J9/Ii4gn7a5IEfUceGvv76a0PUGYsfMSe2oIgBPwr6vDa54Kf0bMESP2K+oI826+NHxIUtKPLAj6gH/bQZix8xJ7agiAE/Cvq8Nrngp/RswRI/Yr6gjzbr40fEhS0o8sCPqAf9tBmLHzEntqCIAT8K+rw2ueCn9GzBEj9ivqCPNuvjR8SFLSjywI+oB/20GYsfMSe2oIjBU9DntcmFOSg9W7DEj5gr6KPN+vgRcWELijzwI+pBP23G4kfMiS0oYsCPgj6vTS74KT1bsMSPmC/oo836+BFxYQuKPPAj6kE/bcbiR8yJLShiwI+CPq9NLvgpPVuwxI+YL+ijzfr40dq1a21A1/3sqAMi/5mkU9NaNrjfYXZRuzrWuGYFhiQk3lrx5tiZEf//nVyYlJL4EL9bEXWEH8WSE6wZExTPhjkQ9aCfNmPxIzhhC4oY8KOgz2uTC35KzxYs8SPmC/posz5+RFzYgiIP/Ih60E+bsfgRc2ILihjwo6DPa5MLfkrPFizxI+YL+mizPn5EXNiCIg/8iHrQT5ux+BFzYguKGPCjoM9rkwt+Ss8WLPEj5gv6aLM+PkRc2IIiD+ZA1IN+2ozFj5gTW1CsgR8FfV6bXPBTerZgiR8xX9BHm/XxI+LCFhR54EfUg37ajMWPmBNbUMSAHwV9Xptc8FN6tmCJHzFf0Eeb9fEj4sIWFHngR9SDftqMxY+YE1tQxIAfBX1em1zwU3q2YIkfMV/QR5v18SPiwhYUeeBH1PHzuxVRR4zFj5gTW1DEgB8FfV6bXPBTerZgiR8xX9BHm/XxI+Lavn071ZQoJw8aUkLKN+lnn31mN9xwgzmOYy+99JLVr1/f501ptVSTr1ixwlCpJtFgEUgjAX5JojQuqaVEIGEC/H5FCU+ggTlLoHrFsvb4GY3siQKddkgN69yomp15xH57L5o8fP+qdkHb/eylPk1t0C8OsvOOqm37Vy8fN4+/jFlmI+essx83FP8HR+55+HLJRnt09BK788NF9lhBSRt73AtqgAikiQC/W1GaltMyIlAqAvzZFZVqkhwYnJMHDd5bJjZt2hTxEW3cuNG1V69e3S3j+TFz5kzjqxKcJPHVibPPPtvMYp9h1qxZFklcXFm+fHn3DgW+0+NXhQp7/gsHpd/ur3sRkLvf7tW9r4vQr2bNmhHXqVevnnn/o+6N9ZeM9fowp9/n1YnB6+PZgiW50Icy6PPa+BHzeTZ/yfr4EXH5fV6dPPAj6p7dXzIWP2JOv8+rEwN+5NmCJbngpwz6vDZ+xHyezV+yPn5EXH6fVycP/Ii6Z/eXjMWPmNPv8+rEgB95tmBJLvgpgz6vjR8xn2fzl6yPHxGX3+fVyQM/ou7Za9eubYg2Y/Ej5sQWFDHgR0Gf1yYX/JSeLVjiR8wX9NFmffyIuLAFRR74EfWgnzZj8SPmxBYUMeBHQZ/XJhf8lJ4tWOJHzBf00WZ9/Ii4sAVFHvgR9aCfNmPxI+bEFhQx4EdBn9cmF/yUni1Y4kfMF/TRZn38iLiwBUUe+BH1oJ82Y/Ej5sQWFDHgR0Gf1yYX/JSeLVjiR8wX9NFmffyIuLAFRR74EfWgnzZj8SPmxBYUMeBHQZ/XJhf8lJ4tWOJHzBf00WZ9/Ii4sAVFHvgR9aCfNmPxI+bEFhQx4EdBn9cmF/yUni1Y4kfMF/TRZn38iLiw8f/z5xx7pD170bE29Opu9tT5Hd1LJh3HMS8n+pzY/nD747md7PPbT7ThVx9j/Y9pYhXKxvbHtQVrt9mDHy+xvq/NsQuH/WADJ/1kX6wsZ4vWbXMvldy8w7E7Rq6wm99dYB//sMUmL91m781e57b7DRpv6zZtd9/URbxBRcop2Ic8yBlRD/ppwwM/Yk5sQcEVPwr6vDbPBz+lZwuW+BHzBX20WR8/Ii5sQZEHfkQ96KfNWPyIObEFRQz4UdDntckFP6VnC5b4EfMFfbRZHz8iLmxBkQd+RD3op81Y/Ig5sQVFDPhR0Oe1yQU/pWcLlvgR8wV9tFkfPyIubEGRB35EPeinzVj8iDmxBUUM+FHQ57XJBT+lZwuW+BHzBX20WR8/Ii5sQZEHfkQ96KfNWPyIObEFRQz4UdDntckFP6VnC5b4EfMFfbRZHz8iLmxBkQd+RD3op81Y/Ig5sQVFDPhR0Oe1yQU/pWcLlvgR8wV9tFkfPyIubEGRB35EHT9/dkXUEWPxI+bEFhQx4EdBn9cmF/yUni1Y4kfMF/TRZn38iLj4+yf1VCi2/+dKxcopnLNRo0bu7IsWLXLL4I9FP9sbN24cdEVtf//993bSSScZHzO555577LrrrovaX04REAEREAEREAERSISA4zjWtlFNu+fMlnZWm/pxT7Fw9WYbPmWx/X74DOvx+Ghr98AIO/7xT3TPQ9wkNUAEREAERCARAhk5aEgk0HjGtG7d2u0+ZcoUtwz+8OytWrUKuoptL1261E488USj5GsTf/jDH4rtK4cIiIAIiIAIiIAIJIvAWW0OLPVUqzZQXQ3oAAAQAElEQVRus9UFijYR9zygaH3kEwEREAEREIFYCPgPGmLpnxV9unTpYjVq1DAuWJw6dWqRmIcNG+baevXq5ZYl/eATDCeffLI730UXXWR//vOfSxoivwiIgAiIgAiIgAgkhUAsb65oVKuK9Tikju1TqVyp1nzzy8ifBi3VpBosAiIgAiIQRgIpjSknDxr43sq1117rgrvmmmvMu5MBwxNPPGHTp0+3bt262dFHH43J1cCBA+3QQw+1AQMGuG3vB/c8nH766TZjxgz71a9+ZYMGDXIvgfT82VTCBWVTzIo1vwmwX1F+U1D22UKAvYqyJV7FmT0EHMex589vZ7yhIlLU2N+59lh76aIONvXuk+y/N3S1+3q3tDNaHWB1q1eMNKRY21tfLrEH//OVfbXkp2L7yCEC6SbA71aU7nW1nggkQoC9ihIZu2dMbvzMyYMGHs2dd95pHTt2tHHjxlnz5s2tb9++1qlTJ7v55putTp067tsi6Odp5cqVNnv2bPerEZ6N8o477rDPP//cypYta+XKlbNLLrnE+vfvX0T0Dbu4/AOFPU7FJwIeAfYr8toqRSDMBNirKMwxKrbsJVCjSvm9b6no266h9TysrlEOvayTa8dPdmXKOHbYAfvYbzo3sYHntbUJt59go2/pbh2a1MRdorbt3GWDPvveTnvqMzvlL5/ac6Pn2tJ1m0scpw4ikEoC/G5FqVxDc4tAiQRi7MBeRTF2z9luOXvQUKlSJRs1apTdddddVqVKFXvrrbds/vz57gEBdzRw62YsT5WvTdBv586d9tprr9nLL78cUfSRREAEREAEREAERCBVBBzHcd9U8XCfVvbChe2NsnOz2lE/aek4jjWuXdVuPLFF3GF9s2y9PfTfb+yYhz62X78w3v41aaFt2LrDeBXmuLkr7bZh0+3Slye6JW3scS+iASIgAiJQSgIaHk4COXvQAO7KlSvbfffdZ3PmzLGtW7e6n1YYPHiwRTphuueee9z/4xwyZAhD94o2/8dZkvYOCHGFQxMU4hAVmggUIsB+RYWMaohASAmwV1FIw1NYeU4glnseikO0e7fZ2Dmr7JaCg4Wj7//QfYPFeYMm2OsFBw8jvl7hlrS9V2QWN4/sIpAoAX63okTHa1xGCOTtouxVlLcAfk48pw8afs5Rxc8E2PDo56YKEQg9AfYrCn2gClAECgiwV1FBVf+IQOgIOE7J9zwMv6qzXdW9mdWvUanY+Lfu2G28wSJSB95YccWrk9z/cBPJL5sIJEqA360o0fEa5yegeqoJsFdRqtcJ+/w6aAj7E1J8IiACIiACIiACIpAEAtzj4N3pcNohNaxzo2qF7nlo27iW3XbKoTbmth7uvQ+/atfAqleM7y0WHDaM+W5lEqLVFCKQZwSUrgjkGAEdNOTYA1U6IiACIiACIiACIlAcAcfZc8/D77rVtwdPaRjxngculOTuh0f6tLaJd/a0gee1sRMOrWtOcZMG7Be/PNFuen2qvT9zmW3etjPgVVMEsouAohUBEUiMgA4aEuOmUSIgAiIgAiIgAiKQ8wQqlS9rZ7Sqby/2b29dm+8XU77bd+624V8utitfnWxt7v/Qrnxlsr355SJbt3n73vHcfcUFkrcN04WSe6GoEg8B9RUBEQg5AR00hPwBKTwREAEREAEREAERCAOBA2pUjjuMLdt32fuzltlvX59mR9//kf3mpS/sxc++tz7PfW7n6ULJuHmGf4AiFAEREIE9BHTQsIdDXvysWrWqobxIVknmBAH2K8qJZJREzhNgr6KcT1QJ5gQB9iqKJ5neberH071I3x27dtun3/5o9//nK5s8f00RPwbueNCFkpBIsrJ8OvYqyvI0FH6eEGCvojxJt9g0ddBQLJrcc9SrV89Q7mWmjHKVAPsV5Wp+yiu3CLBXUW5lpWxylQB7FcWTXyyvyGzbaF+7p9fhRt8ysV7qEAiCwwYUMOdkU0nFRoC9imLrrV4ikFkC7FWU2Sgyv7oOGjL/DBSBCIiACIiACIiACISegOOU/IrMwf07WP8uB9nQyzvZpDtPtEf6tHIvkqxQNr4/cj7+4Wxbt+l/dzpYev+n1URABERABEpJIL7f+qVcTMMzS2D58uWGMhuFVheB2AmwX1HsI9RTBDJHgL2KMheBVhaB2AmwV1HsI/b09L8is2+7htbzsLqFXpGJf09Ps1pVK9ivCvpwkeSUu090315Rr3pFzx21nDR/jbV78CO77O+T7J1pS35+e0XUIXLmMAH2KsrhFJVaDhFgr6IcSimhVHTQkBC27By0ceNGQ9kZvaLORwLsV5SPuSvn7CPAXkXZF7kizkcC7FWUSO6O4xivv3y4Tyt74cL29nBBSdtxiv+uRLWK5dy3V3Q/pG7MS/L2io++Wm7XDf3Sjn7gI7vxH1/aqG9W2Padu/bOobdX7EWR0xX2KsrpJJVczhBgr6KcSSjBRHTQkCA4DRMBERABERABERCBMBMIY2yJXii5adtOe2vqErtoyETr8OAIu+PNGfZxwaFDv7+NN729IoxPWjGJgAjkOwEdNOT7DlD+IiACIiACIiAC6SSQ12txSWSnprWiMqhVpYKVj3KT5JpN2+3/JiywiwsOHcZ/vzriXFwmqbdXREQjowiIgAikhYAOGtKCWYuIgAiIgAiIgAiEm4CiSwcBxyn5QslRv+tuk+460b1Ismvz/SzKmYNF+x+HDShaH/lEQAREQARSQ0AHDanhqllFQAREQAREQASSQUBz5BwBLowcelknQ8VdKFmjcnn3IslXLulo428/wf7Q63Br02jfuFk8N3qubdvxvzsd4p5AA0RABERABBIioIOGhLBl56CaNWsays7oFXU+EmC/onzMXTlnHwH2Ksq+yBOLWKOymwB7FWUqC8eJ/ULJutUr2UVdDrI3r+5in95yvP3upBZWtULZmEIf/e2PdvT9H9n1Q7+0/0xfahu27igyThdKFkESOgN7FYUuMAUkAhEIsFdRBFdemXTQkEePmw2P8ihlpZrlBNivKMvTUPh5QoC9ijKcrpYXgZgIsFdRTJ1D1KlR7Sp2bY/mdnqrAyzW/60vOFx4e9oSu+a1Kda24NCBux3+8cUCW7lhq63btN36DdKFkrGyzFQ/9irK1PpaVwTiIcBeRfGMycW+OmjIxaeqnERABERABEJGQOGIgAgkk8BZbQ5MaDq+RsHbKn4/fIa1f2CEHfvIx1bcPQ7YdaFkQpg1SAREQARMBw15tAkWLVpkKI9SVqpZToD9irI8DYUfZgJJjI29ipI4paYSgZQRYK+ilC2Q4oljeXtFtYrlokaxu8C7fkvRr1IUmPf+w2ED2mtQJSME2KsoI4trURGIkwB7FcU5LOe666Ah5x5p8Qlt27bNUPE95BGBcBFgv6JwRaVo0kEgG9dgr6JsjF0x5x8B9irK1swdp+S3V4y9rYeNH3CC3X/WEcbbK8ol+PqKf01emK2YciZu9irKmYSUSE4TYK+inE4yhuTKxNBHXURABERABEQAApIIiIAIhIZALG+v2L9GJbugU2Pj7RWT7zrRnjz3KDvtyP2tSoyXSZLsm1MW2wUvTrDBY7+3Bas2YZJEQAREQARKIKCDhhIAyS0CIiAC4SegCEVABEQgPwk4jmOdm9W2h/u0shcubO+WtB3HKQKEV2b2PupAe/bXR9uUgkMHPuVQpFMEA1+x+Oy7lXbvO1/ZcY+Osp5PjLY/vfe1TZi3ynbs3PPqTL25IgI4mURABPKagA4a8vrxK3kREIGUEtDkIiACIiACoSRQqXxZu6p7s4Rim7Nigz3/6Tzr+7fx7lssrnxlsp3450/tvEET7PVJC23E1yvckjZvtODNFgktpEEiIAIikMUEdNCQxQ9PoYuACCRGQKNEQAREQAREIJYLJYt+LqIwt5+27LD3Zy0zDh8Ke/a0xs9bbXpzxR4W+ikCIpBfBHTQkEfPu27duobyKGWlml0EikTLfkVFHDKIQAgJsFdRCENTSCJQhAB7FRVx5JHBcUq+UPKz2463v/66rfU5uoHVrlohITocNqCEBmuQS4C9ityGfohAyAmwV1HIw0x5eDpoSDni8CxQrVo1Q+GJSJFkB4HMRcl+RZmLQCuLQOwE2Kso9hHqKQKZI8BeRZmLIBwrl3ShZIOaVezUIw+wx37Z2ibe0dPevPoYu67HwXb4AfvElcBvX59qb365yDZsjf46zbgmzaPO7FWURykr1SwmwF5FWZxCUkLXQUNSMGoSEcgAAS0pAiIgAiIgAiJQagKO48R0oWSZMo61aVTTbj7pEHvvhq72+YAeduj+1WNaf9lPW+y3r0+zdg98ZNe+NsU++mq5bdux5yLJmCZQJxEQARHIMgI6aMiyB1aacOfNm2eoNHNobMkE1CN5BNivKHkzaiYRSB0B9ipK3QqaWQSSR4C9ipI3Y/7NdECNyta6wb5xJb5l+y57d/pSu+zvk6z9gyNswPAZNn7eKtu1a7fpzRXFo2SvouJ7yCMC4SHAXkXhiSgzkeigITPctWr6CWhFERABERABERABEUgqgd5t6ic837rN223oFwvs3L+Nt84PjbQuD32sN1ckTFMDRUAEwkZABw1heyJ5F48SFgEREAEREAEREIHsJBDLmysOrlvNurfYz8qWKf4dFst/2mpL1m2JCIGLJPXmiohoZBQBEQgxAR00hPjhZDQ0LS4CIiACIiACIiACIhCVgOOU/OaKN648xoZc3NG+uP0Eu793S2vXuGbUOSM5OWxAkXyyiYAIiEAYCZQJY1CKqXgC8oiACIiACIiACIiACISHQElvrsBPtLWrVbQLOjexYVcdY5/derzdcvIh1qJeNVwx6fJXJtnjH862r5b85N7nENMgdRIBERCBDBHQQUNywGsWERABERABERABERCBPCXgOLG9ucLD07BWFbvm+IPtw992s45Na3nmqOX6LTvs6Y/n2GlPfWbdH/vEHvrvNzZt4dpChw66UDIqQjlFQATSSCDHDxrSSDILlmrQoIGhLAhVIYqAS4D9ityGfohAyAmwV1HIw1R4IuASYK8it6EfGSXQpFbVuNefv2qTPTd6rvV+Zqwd+/Aoe+Ddr2z0tyus39/G5+SFkuxVFDcoDRCBDBBgr6IMLB2qJTNz0BAqBPkTTIUKFQzlT8bKNNsJsF9Rtueh+PODAHsV5Ue2yjLbCbBXUbbnkQvxl+bNFeS/eO1me2HM93bhSxNt/PerMRUR9ztk84WS7FVUJDEZRCCEBNirKIShpTWkQgcNaV1Zi6WdwLZt2wylfWEtKAIJEmC/ogSHa5gIpJUAexWldVEtJgIJEmCvogSHa1gSCcTy5oqW9fexS7o0sQP3rZzwyhw2oIQnyOBA9irKYAhaWgRiJsBeRTEPyGDHVC6tg4ZU0g3Z3IsWLTIUsrAUjggUS4D9iortIIcIhIgAexWFKCSFIgLFEmCvomI7yJE2Ao5T8psrXru0k93Vq6WNue14cH+QDgAAEABJREFUe/vaLnZlt2bWpHaVuGN87INvbNGaTXGPy/QA9irKdBxaXwRiIcBeRbH0LaZPTph10JATj1FJiIAIiIAIiIAIiIAIZCsB3kwx9LJOhvq2a2g9D6trlLQRfnJzHMdaNdjXfn/qoTbqd93tveu72vU9DrYqFcriLlGTF6x173Q45S+f2iPvf2OT56+2nbt2FxmnSyWLIJFBBMxMEOIhoIOGeGiprwiIgAiIgAiIgAiIgAikgIDjxPfmCsdx7PD6+9hNJx1ivVrVjyuib5att2c/mWu/+Ovn1v7BEXbTP6faf6YvtZ+2bLd1m7Zbv0G5ealkXJDUOXsIKNJQEtBBQygfi4ISAREQAREQAREQAREQgdgIlOZCydUbt9nwKYvtmtemWJt7P7Suj3xsxd3lgD2bL5WMjaZ6JYuA5slvAjpoyO/nr+xFQAREQAREQAREQASynEAsF0ruV62C1ahcLmqmO3eb/bRlR9Q+HDagqJ3kDDMBxSYCaSGgg4a0YNYiIiACIiACIiACIiACIpAaAo5T8oWSI2/qblPuOsmGXdnZrurezFrUq5ZwMMOnLEp4rAYWR0B2EcgtAjpoyK3nGTWbpk2bGoraSU4RCBEB9isKUUgKRQSKJcBeRcV2kEMEQkSAvYpCFJJCKSWBGlXKu5dJcnkkF0lGulCybBnH2jWpZbedcqh9+Ntu9tmtx9u9Z7a041rUsQplY/9rwVtTF9vv35huo2avsG07dpUy8pKHs1dRyT1T0ENTikCcBNirKM5hOdc99t8oOZe6EhIBERABERABERABERCB3CHgOPFdKNmwVhW78Jgm9veLO9iXd59oXQ6uHROM7Tt32z8mLrSLBk+0ox/4yH77+lT7YNYy27J9597xqX5zxd6FVBEBEQglAR00hPKxpCaoDRs2GErN7JpVBJJPgP2Kkj+zZhSB5BNgr6Lkz6wZRSD5BNirKPkza8ZsJVC1Yjm75viD4w5//ZYd9uaXi+2KVyZbm/s+sqv/b3LBIcQC+9Xzn9t5gybY65MW2oivV7glbd5owZst4lmIvYriGaO+IpApAuxVlKn1w7KuDhrC8iTSEMeKFSsMpWEpLSECSSHAfkVJmUyTiECKCbBXUYqX0fQikBQC7FWUlMk0SRYQiC3EWC6VjDbT5u077b0Zy+z3b8ywiT+sidiViyTjfXMFexVFnFBGEQgZAfYqCllYaQ9HBw1pR64FRUAEREAEREAEREAERMDMQgbBcUq+VPI/1x1rt592qLVttG/C0XPYgBKeQANFQARCT0AHDaF/RApQBERABERABERABEQgnQTyea2SLpVseWANu/y4Zjb86i42fsAJ7mWSnZrWsjJOfNTufWeWTfxhte3ctTu+geotAiKQFQR00JAVj0lBioAIiIAIiIAIiEDeExCANBFwnNguldy/RiX3Msl/XN7ZJt7R0x4650irXbWCxfK/b5att18+97m1e+Aju+mfU+29GUttw9YdhYZ6F0o+NnqJ3fH+Qrtt2HQbN3elYS/UUQ0REIHQEdBBQ+geiQISAREQAREQAREQgWwioFhFwKx2tYp2bodG1vOwenHhWLNpuw2fstiu/r8p1ua+D+2CFyfYy+N+sK+WrrN+g8a7F0q+N3udfb5gg3GxZKIXSsYVlDqLgAiUmoAOGkqNMHsmqFChgqHsiViR5jsB9ivKdw7KPzsIsFdRdkSrKPOCQJQk2asoShe5RCAhAr3b1E9oHIO279xtn3230v7w9iw77ckxVtw9DtjjvVCS+SURSAcBfreidKwV5jV00BDmp5Pk2Bo0aGAoydNqOhFIGQH2K0rZAppYBJJIgL2KkjilpspRAmFIi72KwhCLYsgtArG8ueLAfSvbIfWqlSpxDhtQqSbRYBFIAQF+t6IUTJ1VU+qgIasel4IVAREQAREQARFIEQFNKwIikAQCjlPymyveu76rffDbbjbmtuPdyyS7Nt/Pypd14l79ylcn24DhM+yfkxbad8vX264IF0tynwP3OnC/w6UvT9Q9D3FT1gARSIyADhoS45aVo9asWWMoK4NX0HlJgP2K8jJ5JZ11BNirKOsCD33ACjAVBNirKBVza04RKOnNFfih1KBmFfcyyVcu6WhT7jrRnjmvrZ3T5kArF+Ohw7rN223oFwvs1mHT7cQ/f2qt7/3Qzn9hgj32wWwb+fVy+/7HDXvveeB+hxFfr9A9D4CXUkqA360opYtkweQ6aMiCh5SsENnwKFnzaR4RSDUB9itK9TqaXwSSQYC9ipIxV1bMoSCzmgB7FWV1Ego+1AQcJ7Y3V3hJVK9U3k5vdYA90fcoO/uoAz1zXOX6rTtszJyVNnDUHLvk5Ul2/OOjdc9DXATVORkE+N2KkjFXNs+hg4ZsfnqKXQREQAREQAQCBNQUAREQgWwncHbbxA4a4s2bOx4+++7HeIepvwiIQAwEdNAQAyR1EQEREAEREIFSEtBwERABERCBGAnEcqFky/r72IBTD7FTj9jfDqhRKcaZi3brP3ii9fvbeHtyxHc2ft4q27J9Z9FOBRbd9VAAQf+IQBwEdNAQByx1FQEREAERyDUCykcEREAERCBsBByn5AslX7u0k13R7WD76/lH2+cDTrDxBXru/LYFtqbW8aBaVsaJLSvuj/y84IDhzyO+tXMLDhxa3fuh/er5z+2Jj761cXNWugcP6zZtt36Dxtt5gya4dzzorofY2KpXfhPQQUN+P39lLwIiIALhJKCoREAEREAE8poAF0YOvayTodMOqWGdG1Wzvu0aum1s+P2A9q9RyU454gAbcOph9voVne0XbRv43THXt+3YZV98v9qeGvmdnffCBDviD+/bsY98bHzNItIk2K94dZLxiYdIfr+NPnoDhp+I6rlMQAcNufx0A7lVrVrVUMCspgiElgD7FYU2wDwMTCkXT4C9iorvIY8IhIcAexWFJyJFIgJFCTjOngsl/3Bac/vLLw61h/u0ss7NapvjlPxxhbOTdM9DwbmDrd+yo2hwPguHDbz9grdg+MyFqvpURCEcOd3gdyvK6SRjSC6nDxo2b95sd999t7Vo0cIqVapk9evXt4svvtgWL14cA5rCXbg59IYbbrDGjRtbxYoV3fLGG2+0tWvXFu4Y4la9evUMhThEhSYChQiwX1EhoxqRCMgWAgLsVRSCUBSCCJRIgL2KSuyoDiIQAgLsVRRPKLHc89CucU372wVH2yXHHmRHHLhPzF+3iBTH7W/OdF+v2eqeD+z0pz6zK1+ZbA/+5yv7++c/2MdfL7ffvDRBn4qIBC4HbexVlIOpxZVSmbh6Z1HnLVu2WI8ePez++++3DRs2WO/eva1hw4Y2ePBga9Omjc2bNy/mbFauXGkdOnSwp556ysqVK2dnnXWWVa9e3Z588knr2LGjrV69Oua51FEERCCfCChXERABERABERCBTBBwnJLveXjxwvZ2Usv97a4zDrd3r+tqX959kr14YTu7/Lim1rpBjYQOHn7assNmLfnJ3p+1zAZ99r3d/e9ZdvHLk2zaonVRMfCpiGGTF9naTduK/RpGsj4VkYyvcCRjjqhA5Mx6Ajl70PDAAw/Y+PHjrXPnzvbtt9/a66+/bhMmTLDHH3/cfvzxR/eTDbE+PT65MGfOHDvnnHNs9uzZ7lwzZ8606667zp37pptusmz43/Llyw1lQ6yKUQQgwH5F1JMqTSYCKSDAXkUpmFpTikDSCbBXUdIn1oQikAIC7FUU79Q1qpTfe6cD9zv0PKxu1HsealQubyccVs9uP+0w+/e1x9q0P5xkXZvvF++yCfe/Zdh0O+q+j+yQu963Lg99bGc/O9aueGWS3fXWTHtqxLd29l/HlvpTEck4rEjGHB6kZBxYhG2O61+dYBf8bYzdVvA8uZOD+Lx886nMyYOGbdu22cCBA93n+Mwzz1i1atXcOj84FGjVqpWNHj3aJk+ejCmqli5dakOHDrUKFSrYs88+636iwRvw6KOPWp06dezVV1+1FStWeObQlhs3bjQU2gAVWN4TCAJgv6KgXW0RCCMB9ioKY2yKSQSCBNirKGhXWwTCSIC9ihKJzXH23PPA/Q4vXNg+rnseqlcqb1d1b5bIsqUaw4WUi9duti8XrLUPZi23V8bPtydGfGfzftwYdV4+FXHWM2Pt2tem2IDhM+xP731tT4/8zoaM/d7emLzIPpi51H17Bv0iTYS9pIst+Uszfeib6BzeuGQcWIRxjrdnrrTP5q1z31DCm0p4YwlxennnS5mTBw1jx461devWWbNmzdyvSQQfZp8+fVzTO++845bRfrz//vu2a9cu69q1a5H7DbiroVevXrZz50577733ok0jnwhkMwHFLgIiIAIiIAIiIAJ5SSCWux46Na1ls+8/xT75XXd75ZIO9sezj3QPKM5odYC1brivVSyXvr9y8RWNd6cvNS6nfP7Tefb4R9/aPe98ZTf/a5pd8eoU+2rpT1GfIwcIbe//yI59+GPr8fgndspfPrUzB46xX/x1nPX723jrXXCQQZ9ok+C/5V/T7ZlRc+xvn861l8Z8b698/oMb078mLbR/T11s705bYr98flzUT2ic98J4m/TDapuyYE3Bocsam7pwrU0r0IxF62zm4nU2Y9FaO//F6HdfcDfGnBXrbe6PGwoOajbY9ys32g8Fmr9qoy1YtcnmF9T7D/4iahwXDfnClq3bbMt/2mIrPK3fYj+u3/qzttjFL0+MOgeHMxzSROOWa7707fo0kps2bZq7Wtu2bd0y+MOzT58+Pegq0k7mXEUml0EESkVAg0VABERABERABERABFJJwHEce/78dsZhQqR1sOOvWL6sNdmvqnVtXsfO69jIbjvlUBt4Xlv79zVdbPBF7SMNDa1tzabttmjN5oK/mG+0b5att+kFf7GfPH+NfT5vlVuPJfBhUxbZox/Mtj++943d9+5Xdte/Z7mfsuDrITf8Y6pdO/RL+3b5hqhTcddFn+c+t3OeHWdnF4hPa3DQ0avg4OOMp8dYr4FjbUbBgUO0STh46fnEp3bC46MLDk5G2/GPfWLdC9Tt0U/suEdHWbeC+pcLo1/uP2XBWuv0p4+t4x9HWgdPD4609g+O+FkjDT7R4uDwBUXrk2u+nDxoWLBggfucGjRo4JbBH559/vz5QVeRdjLnKjK5DLlJQFmJgAiIgAiIgAiIgAjkDIF473oIJh7PpyLG/r6HvXn1Mfb8BUfb/WcdYdf3ONjObd/QDqhRKTit2llG4K0vF2dZxKULNycPGnjLBFiqVKlCUUTee03Xr19fxBc0JHMu5m7ZsqVF0ty5c2379u3u2zDmzZtXqOTOCcZSBn1eGz8iXs/mLxctWoTbFa/q9Pu8+vLly10/P6h7dn/JWPyIOf0+r04M+JFnC5bkgp8y6PPa+BHzeTZ/yfr4EXH5fV6dPPAj6p7dXzIWP2JOv8+rEwN+5NmCJbngpwz6vDZ+xHyezV+yPn5EXL4pOvsAABAASURBVH6fVycP/Ii6Z/eXjMWPmNPv8+rEgB95tmBJLvgpgz6vjR8xn2fzl6yPHxGX3+fVyQM/ou7ZV61aZYg2Y/Ej5sQWFDHgR0Gf1yYX/JSeLVjiR8wX9NFmffyIuLAFRR74EfWgnzZj8SPmxBYUMeBHQZ/XJhf8lJ4tWOJHzBf00WZ9/Ii4sAVFHvgR9aCfNmPxI+bEFhQx4EdBn9cmF/yUni1Y4kfMF/TRZn38iLiwBUUe+BH1oJ82Y/Ej5sQWFDHgR0Gf1yYX/JSeLVjiR8wX9NFmffyIuLAFRR74EfWgnzZj8SPmxBYUMeBHQZ/XJhf8lJ4tWOJHzBf00WZ9/Ii4sAVFHvgR9aCfNmPxI+bEFhQx4EdBn9cmF/yUni1Y4kfMF/TRZn38iLiwBUUe+BH1oJ82Y/Ej5sQWFDHgR0Gf1yYX/JSejd+tyGvjR8zn2fwl6+NHxOX3eXXywI+oe3Z/yVj8iDn9Pq9ODPiRZwuW5IKfMujz2vgR83k2f8n6+BFx+X1enTzwI+qe3V8yFj9iTr/PqxMDfuTZgiW54KcM+rw2fsR8ns1fsj5+RFx+n1cnD/yIumf3l4zFj5jT7/PqxIAfebZgSS74KYM+r40fMZ9n85esjx8Rl9/n1ckDP6Lu2f0lY/Ej5vT7vDox4EeezSu///57q+ess/vPPNS464GSNnavj1cyHjEfNvoM6LqfHXVA5L+bYMe/eOF827p6qdXYscaO2s+xCzo1tptOOsR+e2w9+13XukxZos44bF/7dZvadlbLmnZi8xp2fIva1vGgWnb4AftY5fJOiePVIXUEVm3caonsPfYQ4t8joqOkHUn4kbf3gn1YHz/i3wn+/kk9FcrJg4ZUgMqFOWvWrGkoZLkoHBEolgCHhajYDnKIQIgI8PsVhSgkhSICxRLgdysqtoMcIhAiAvxuRSEKKe5Qqlcsa4+f0cieKNAZh9cy7w0Yg/q1dO34o03KYQQqqc9vj93fLmlf167vsr8NOL6+Pf2rI+z1Kzrbezd0tQdObhht+F7f5R3r2IMnN7B7eh5od/Sob7d2O8C9d+LeM1var9oeYLH878h6la1zo2rWvkFVa1O/ih25f2U74oCqduSBNezQ/atbtQIescxTtuBspFI5x1DFgkaFvSpjToEvljnC0qd21YphCSUtcZRJyyppXsR7y8SmTZsiruzdWlu9evWIfr8xmXMx76xZsyySuLiyfPny1rRp0yLijReMpYzkx4YfES/toPi6CL+gPQX9tOvVq8cUrurVq1ckDvow3u1Q8IM5sQVFDAVu95+gz2uTCx0oPVuwxI+YL+ijzfr4EXFhC0o5mcEpyIU2XGGHaEcSzwc/ZSQ/NvyI+WgHxfr4UbzPyfv0D3MyljkQc2ILihjwo6DPa5MLfkrPFizxI+YL+mizPn5EXNiC0t7L7r3nf548Y5414tn7fV6dvUI/5NmCJXuOOSiDPq+NHzGfZ/OXrI8fFbeW9l7+7T32A/LvFX+dPYef0rP7f79iw4+09wr/OUz/PoXj3yd+33livwaVLc+JP++fc+yRNvA3nd1PRfAmjBNbN3EvsC8pJ8a+fNmxUe+KwE8//1z8O82/2+icLkcUOx4/4s6JAWe1t18f39r69zzKLjupjV19alv33okLj2liD/+yTUxzvH3j8Tb06m72r2u725vXH2/v3NjD3r2hu71z3bH2/o3H2d9+047lStSrl3aybx44zdXsB0+zb/fqVPu/SzuWOJ4Or17Swb578FT79oE9mv3AKfbN/Xs0pH9s92e8UBDvtLtPsql3n2hf3rVHUwpK9Nz5ke8FZG2/zmpzYOj+XM7fP/0xJrNeJpmThWWuRo0auaH4PxriGn7+4dkbN278s6X4IplzFb9KHB51FQEREAEREAEREAEREAERyDsCpb0rwnFiu9jScYr/qIDjlH4OHlys91Zw8EH/SIp1ji4H72fly5axCuX2qGK5slap/B51O6ROTAcnJxxW1+C/b5UKVrPqHtUqKNHJLfePaY5ouUTKL9ttOXnQ0Lp1a/e5TJkyxS2DPzx7q1atgq4i7VjnimWuIpOn2cABC0rzslpOBBImwH5FCU+ggSKQRgLsVZTGJbWUCCRMgL2KEp5AA0UgjQTYqyiNS4Z2KcdxrHOz2sanIbgrgpK24zgxxcxflode1slQ33YN936FgzbCX9JE9KEvSnQOxyn9gYXj5M4cJTHPRn9OHjR06dLFatSoYXPnzrWpU6cWeS7Dhg1zbb169XLLaD9OOeUUK1OmjH322We2YsWKQl23bt1q77zzjpUtW9ZOO+20Qr4wNrg4BIUxNsUkApEIsF9RJJ9sIhA2AuxVFLa4FI8IRCLAXkWRfLKJQNgIsFdR2OLK1ngcp3SHFeTtOKWfIxkHFmGc47RDarj3U3AIw2EMIk645ZMydNCQWsR8B/Haa691F7nmmmvMu5MBwxNPPGHTp0+3bt262dFHH43J1cCBA+3QQw+1AQMGuG3vxwEHHGD9+vUzfrldffXVtmPHDs9lt956q/344492/vnnW926dffaVREBERABERABERABERABERABEYhOwHFKf2DhOOGa43fd6tuDpzR0P3USz6dNopPKPm/hg4bsi7/YiO+8807r2LGjjRs3zpo3b259+/a1Tp062c0332x16tSxl156qdDYlStX2uzZs23p0qWF7DT+8pe/uJe0vPHGG+5hxLnnnmtHHnmkPfXUU+7cHF7QTxIBERABERABERABERABERABERCBrCCQwiBz9qChUqVKNmrUKLvrrruM1ze99dZbNn/+fOvfv79xRwO3scbKdb/99rMvvvjCrrvuOveTDW+++aatW7fOrr/+etdeq1atWKdSPxEQAREQAREQAREQAREQAREQAREolkAuOHL2oIGHU7lyZbvvvvtszpw5xn0KfFph8ODB7mtF8Pt1zz332O7du23IkCF+8946hwl8gmHBggXuXJRPPvmk7bvvvnv7qCICIiACIiACIiACIiACIiACIpCTBJRUHARy+qAhDg550ZV7JFBeJKskc4IA+xXlRDJKIucJsFdRzieqBHOCAHsV5UQySiLnCbBXUc4nqgQTJBCuYexVFK6o0h+NDhrSzzxjK1arVs1QxgLQwiIQJwH2K4pzmLqLQEYIsFdRRhbXoiIQJwH2KopzmLqLQEYIsFdRRhbXookTyNOR7FWUp+nvTVsHDXtRqCICIiACIiACIiACIiACIiACuU1A2YlAOgjooCEdlEOyxrx58wyFJByFIQIlEmC/ohI7qoMIhIAAexWFIBSFIAIlEmCvohI7qoMIhIAAexWFIJRUhqC5c4QAexXlSDoJp6GDhoTRaaAIiIAIiIAIiIAIiIAIiEBuE1B2IiACiRDQQUMi1DRGBERABERABERABERABEQgcwS0sgiIQKgJ6KAh1I9HwYmACIiACIiACIiACIhA9hBQpCIgAiIAAR00QEESAREQAREQAREQAREQgdwloMxEQAREIK0EdNCQVtxaTAREQAREQAREQAREQAQ8AipFQAREIDcJ6KAhN59rxKwaNGhgKKJTRhEIIQH2KwphaApJBIoQYK+iIg4ZRCCEBNirKIShhSMkRREqAuxVFKqgFIwIFEOAvYqKceeNWQcNefOozSpUqOAqj1JWqllOQHs2yx9gnoWv/ZpnDzzL083W/Zrl2BV+ggS0XxMEp2EZIaD9uge7Dhr2cMiLn9u2bTOUF8kqyZwgwH5FOZGMksh5AuxVlPOJKsGcIMBeRUlKRtOIQEoJsFdRShfR5CKQJALsVZSk6bJ2Gh00ZO2jiz/wRYsWGYp/pEaIQGYIsF9RZlbXqiIQHwH2KopvlHqLQCoJFD83exUV30MeEQgPAfYqCk9EikQEiifAXkXF98gPjw4a8uM5K0sREAEREAEREIGwEFAcIiACIiACIpDjBHTQkOMPWOmJgAiIgAiIgAjERkC9REAEREAEREAEkkNABw3J4ahZREAEREAEREAEUkNAs4qACIiACIiACGQZAR00ZNkDU7giIAIiIAIiEA4CikIEREAEREAEREAEIhPQQUNkLmm3LliwwObOnWstW7ZMmU455RRDqVxDc6fu+eUjW/YrysfclXP2/bvEXkUZf3Yp/P8R5ZZ9+7K4Z8ZeRcX5Zc+dZ50Lz5K9inIhF+WQ+/9usVdRNjxr/g6aqr/46qAhVWTjnLdq1apWvnz5OEfF152NhOIbpd4ikDkC7FeUuQi0sgjEToC9ioobIbsIhIkAexWFKSbFIgLFEWCvouL8sotAmAiwV1GYYiouFv4O2qxZs+LcpbLroKFU+JI3eNmyZbZ+/XqbNWtWysQmQqlcQ3On7vnlI1v2K8rH3JVz2v5dStrvXPYq0rPLvmeXj8+MvYryMXflnH3/jrJXkZ5d9j27fHxm7FWUDbnzd9C33347eX+p9c2kgwYfDFVFQAREQATCQkBxiIAIiIAIiIAIiIAIZCsBHTRk65NT3CIgAiKQCQJaUwREQAREQAREQAREQARKIKCDhhIAyS0CIiAC2UBAMYqACIiACIiACIiACIhAWAjooCEsT0JxiIAI5CIB5SQCIiACIiACIiACIiACeUdABw1598iVsAiIgJkYiIAIiIAIiIAIiIAIiIAIpIqADhpSRTaE83o3n4YwNIUkAnsIBH5qzwaAqBlqAtqvoX48Ci5AQPs1AETNUBPQfg3141FwAQLar3uA6KBhDwf9FAERiEJALhEQAREQAREQAREQAREQARGIlYAOGmIlpX4iED4CikgEREAEREAEREAEREAEREAEQkdABw2heyQKKPsJKAMREAEREAEREAEREAEREAERyF8COmjI32eff5krYxEQAREQAREQAREQAREQAREQgZQT0EFDyhFrgZIIyC8CIiACIiACIiACIiACIiACIpA7BHTQkDvPMtmZaD4REAEREAEREAEREAEREAEREAERiJuADhriRpbpAfGvv3nzZrv77rutRYsWVqlSJatfv75dfPHFtnjx4vgn0wgRSAKByZMn20MPPWTnnHOONWjQwBzHcVXS1EOGDLEOHTpYtWrVrFatWnbaaafZuHHjShomvwgkTGDTpk321ltv2SWXXGKHHHKI+zu0atWq1rp1a7vvvvtsw4YNxc6t/VosGjlSSOCJJ55wf7c2b97catSoYRUrVrTGjRvbb37zG5sxY0axK2u/FotGjjQSWLVqldWtW9f9M8HBBx8cdWXt2ah45EwRge7du7v703H2/NnVcQqX77//fsSV83G/6qAh4lZIwBjSIVu2bLEePXrY/fff7/6BuHfv3tawYUMbPHiwtWnTxubNmxfSyBVWLhNgPw4YMMDefPPNmA+8brzxRrvooots5syZ1rNnT/fA4aOPPrLjjjvO/YtgLvNSbpkj8Nprr9nZZ59tL730kpUtW9bOPPNM69q1q33//ff2hz/8wdq3b28yR8YCAAAQAElEQVQrVqwoEqD2axEkMqSJwB//+Ef773//6x7GnnDCCXb66ae7B2SvvPKKHX300fbuu+8WiUT7tQgSGTJE4Oabb7aVK1eWuLr2bImI1CHFBH7xi1/YhRdeWEQHHnhgkZXzdb/m/EFDkSedZ4YHHnjAxo8fb507d7Zvv/3WXn/9dZswYYI9/vjj9uOPP7qfbMgzJEo3BATYj3fddZe9/fbbtnTpUve/uEULa8SIEfbkk09a7dq1bdq0ae7BAifGn376qfuXv4sKDiDWrl0bbQr5RCAhAuXLl7fLL7/cvvrqK1f//Oc/jb03e/Zs97D2m2++Mf4A4Z9c+9VPQ/V0E/j3v/9ta9ascf+/fvjw4YbYr88884xt377dLr30UtuxY8fesLRf96JQJcMERo4caS+//LJddtllUSPRno2KR840EXjsscdsyJAhRXTkkUcWiiCf92umDhoKPQA1UkNg27ZtNnDgQHdy/oDBx83dRsGPm266yVq1amWjR482PsZeYNI/IpA2Arfddpv7sfNevXrZ/vvvX+K6fBSYTnfeeafxcWDqiAOLK6+80jhkePHFFzFJIpBUAvzXiueff94OO+ywQvMecMABxu9VjPxFjt+31JH2KxSkTBHo0qWL+wmG4PpXX321NWvWzJYvX+4emnl+7VePhMpMEuBrvldccYUdfvjh9rvf/S5qKNqzUfHIGTIC+bxfAwcNIXsyCqdUBMaOHWvr1q1z/2DB1ySCk/Xp08c1vfPOO26pHyIQRgL84ePjjz92Q/P2rNv4+Ydn0z7+GYiKtBHgngYW27p1q/G9Yurar1CQwkqAT+gQW4UKFShM+9XFoB8hIHDvvfe6X+d97rnnzNunkcLSno1ERbawEsiO/Zo6ejpoSB3bjM/MR8wJom3bthRF5NmnT59exCeDCISFAB/55S9yderUcS+ODMalfRwkona6CHh33PCHYi4nZV3tVyhIYSTAHQ3sTz4VhoiRtn6/QkLKJAH+HMpXevkaJHfgRItFezYaHfnSSYBP0vJJsWuvvdaeeuopW7BgQZHlS7Vfi8yWfQYdNGTfM4s5Ym/Dc6t/pEGeff78+ZHcsolAKAiUtI95A8C+++7rfid5/fr1oYhZQeQHAe4NIdNTTjll7z0j2q8QkcJA4NFHH7X+/fvbL3/5SzviiCPct07wlZ+hQ4e6d9sQo/YrFKRMEti1a5d7bwj/P/7II4+UGIr2bImI1CHFBLzpuQfvr3/9q/s1yhtuuMF4SwqXnXt+ynzfrzpoYBfkqLzXrlWpUiVihvwFDYf+cgYFKawEStrHxK29DAUpnQTee+89479m8GkG/x8stF/T+RS0VjQCH3zwgXux3rBhw2zWrFnuKy45ZODNE9447VePhMpMEXj66adt4sSJxsEYFz6XFIf2bEmE8taftsR52xmfEJs7d65t2rTJ+NTCgw8+aOXKlbO7777bvbzcCybf96sOGrydoFIEREAEREAEYiDAmybOP/982717t/uHY++uhhiGqosIpI0AN52zR3kDBW/o4esS3bp1M/5AnLYgtJAIRCHAf+3lkmf2JZ++idJVrqwlkHuB33fffcafAZo2bWqVK1e2Fi1a2O233+6+EY1s77nnHvf+G+r5Lh005PAO8N4ywWlbpDQ3btzomqtXr+6W+iECYSRQ0j4mZu1lKEjpILB48WLjqxL85Y239/BxSf+62q9+GqqHgQAfSed773wKh08z8Gph/gsysWm/QkHKFIFrrrnGeGMPF0DGGoP2bKykSugnd9IJnHTSSdauXTv3TWgTJkxw58/3/aqDBncb5OaPRo0auYktWrTILYM/PHvjxo2DLrVFIDQEStrHHDLwesuaNWuaDs1C89hyMpDVq1cbf5DgXhsuLXvssceK5Kn9WgSJDCEhwNd8+vbt634Sx3tLj/ZrSB5Onobx7rvvGl/v5TXV3bt3t+4/69xzz3WJcLDr2ZYtW+bacn3PuknqR9YS4JNjBL906VIKy/f9qoMGdxvk5g/v47xTpkyJmKBnb9WqVUS/jCIQBgKHHHKIe9Hejz/+aPyhIxiT9nGQiNqpIMD3LE899VT76quv7JxzzrFBgwaZ4zhFltJ+LYJEhhAR2G+//dxo+H1KRfsVClImCfAfCkaPHm1+ef81eMuWLXvt1IkzQ3uWpSURKJEAn3akk3d3WL7vVx00sBtyVF26dLEaNWoYl5VMnTq1SJZcEIWxV69eFJIIhJIA33/r0aOHG9u//vUvt/T/0D7201A9FQR4/V/v3r3tiy++sJNPPtm4UK9s2bIRl9J+jYhFxpAQ4C9zhNKsWTMK9/vF+v3qotCPDBDgDpFI+v77791o2Keev0mTJq6t8O9Y/ZnAhaIfoSDAAe5nn33mxtK2bVu3zPf9qoMGdxvk5o8KFSrYtdde6ybH9+D4iLnbKPjxxBNP2PTp040LePjOZoFJ/4hAaAnwXXiC41VC3333HVVXn3/+uT3//PPGd5AvueQS16YfIpBMAjt37rR+/frZxx9/bHzPffjw4cbv1mhraL9GoyNfKgmMHTvW3n//feOVgf51tm/fbtzuz03p/MGXr1B4fu1Xj4TKpBFI8UTasykGrOmLJTBu3Dh76623jD8b+Dv98MMPdvbZZxt/1zrzzDOtQYMGe935vF910LB3G+Rmhdt8O3bsaPyLwfeG+MNFp06d7Oabb7Y6derYSy+9lJuJK6tQE/jPf/5j7ENPXAZFwF6bkj7YUM+ePY1L91atWmVHHXWUnXXWWXbaaacZrxjasWOHDR482D1soK8kAskkMHDgQHvzzTfdKfnY+dVXX239+/cvopUrV7p9+KH9CgUpEwQ4iOUrPvXq1TMuLf31r3/tfgqHu5iuv/5695BsyJAh1rBhw73hab/uRZHzlVxJUHs2V55k9uXx7bffugcKHCScfvrpxu/YY4891g477DDjoLdly5buVyv9meXzftVBg38n5GC9UqVKNmrUKOOWaS7c4RSOi8z6F/xBme+282qWHExbKYWcAB8v4zuYnvhoJCF7bUr6YPP0l7/8xT1Q4Jf5Rx99ZHyagV/evLbtrLPO8rqpFIGkEvC+b8mkHDi8/PLLFknc4UAfT3/RfvVQqEwjAT6lyGvW+F4wn1rk62b84bdWrVp23XXX2YwZM+xXv/pVkYi0X4sgSadBayVAQHs2AWgaUmoC/Mfbq666yurXr2+8veef//ynzZw504466ih7/PHHXVvdunWLrJOv+1UHDUW2Qu4Z+Jgk73ydM2eO8V1jbkLlvwBzGpd72SqjbCDQv+Cgi8OFaKJPMBdskyZNcj+axl8A//vf/9oxxxwT7Ka2CCSNwD333OPe0h9tr+Jr0qRJkTW1X4sgkSHFBA466CB78MEHbcyYMbZkyRL31YEcgvEH4aeeesoOPvjgYiPQfg2iUTtTBPh9yu9V/twaLQbt2Wh05EsFAf5j17PPPmuTJ0+2FStWGF9L40JT/uMXX5Hg71zFrZuP+1UHDcXtBtlFQAREQAREQAREQATCRUDRiIAIiIAIZAUBHTRkxWNSkCIgAiIgAiIgAiIQXgKKTAREQAREQAT8BHTQ4KehugiIgAiIgAiIgAjkDgFlIgIiIAIiIAIZIaCDhoxg16IiIAIiIAIiIAL5S0CZi4AIiIAIiEBuE9BBQ24/X2UnAiIgAiIgAiIQKwH1EwEREAEREAERSAoBHTQkBaMmEQEREAEREAERSBUBzSsCIiACIiACIpBdBHTQkF3PS9GKgAiIgAiIQFgIKA4REAEREAEREAERiEhABw0RscgoAiIgAiIgAtlKQHGLgAiIgAiIgAiIQGYJ6KAhs/y1ugiIgAiIQL4QUJ4iIAIiIAIiIAIikCcEdNCQJw9aaYqACIiACEQmIKsIiIAIiIAIiIAIiEByCeigIbk8NZsIiIAIiEByCGgWERABERABERABERCBLCWgg4YsfXAKWwREQAQyQ0CrioAIiIAIiIAIiIAIiEB0AjpoiM5HXhEQARHIDgKKUgRCQsBxHHOc6Orfv39Ioi0+jHvuucfNY8iQIcV3kkcEREAEREAERCAiAR00RMQiowiIgAgkh4BmEYF8JXDhhRdacTr22GPzFYvyFgEREAEREIG8IKCDhrx4zEpSBEQgQEBNERCBFBPgkwDF6dJLL03x6ppeBERABERABEQgkwR00JBJ+lpbBEQgQEBNERABERABERABERABERCBbCegg4Zsf4KKXwTSQUBriIAIiEAKCTiOY02aNLFt27bZH/7wB2vWrJlVqlTJmjZtanfffbdt2bIl4uqrVq2yW265xZo3b+72r1Wrlp1yyin24YcfRuyPkTF33HGHHXnkkVa1alXbZ5993Pqtt95qS5cupUsRzZgxw84880yrWbOmO6Zbt242bty4Iv1kEAEREAEREAER2EOgzJ5CP0VABLKRgGIWAREQgVwhsHv3bvvFL35hjz76qB1++OF2+umn2+rVq+3++++3M844w3bu3Fko1cWLF1uHDh3ssccecw8ozjrrLGvTpo2NGDHCTj75ZPvzn/9swf99/fXXdtRRR9kf//hHW7lypduvZ8+extqsO2HChOAQmzRpknXq1Ml++OEHtz+HGp9++qmdcMIJNnPmzCL9ZRABERABERABETDTQYN2gQgkn4BmFAEREAERiJPAggULbOrUqe5f3t955x1744037LvvvrMjjjjCRo4caU8//XShGa+88kqbN2+enXfeeW6/f/zjH26/Tz75xKpUqeJ+0oH5vEE7duyws88+2xYtWmQ33nijzZ8/34YPH+6KAwPEpxws8L9nnnnG/vSnP9n06dONNZiT8XzK4pFHHgn0VlMEREAEREAERAACOmiAgpQnBJSmCIiACIhAugg4juO+HtJxipZvvfVWxDD4mgRfl/CcderUcT/hQHvgwIEUrjhgePfdd61atWruAUSFChVcOz94owWHEHwCgkMCbIhDhdmzZ1vLli3dT0H4x+DHzlc2qPvVpUsXu/766/0mu/POO902n2xwK/ohAiIgAiIgAiJQiIAOGgrhUCMjBLSoCIiACIhAzhEo7tWW2Bs1ahQx33PPPbeInTsXuBth7ty5e+9QGDNmjNsPH/cyuA3fjwsuuMBtffbZZ27JD75SQckbL8qWLUs1Jp100klF+tWuXdtYt7g7HYoMkEEEREAEREAE8oyADhry7IHHk676ioAIiIAIiECiBIYMGWJDilHbtm2LTMthQvXq1YvYMTRu3JjClixZUqhs0qSJ2w7+8Ozc4+D5Fi5c6FYjfWrBdRTzo0GDBhE9xMrllRGdMoqACIiACIhAnhPQQUP2bQBFLAIiIAIiIAIiEIWA4zhRvPG5ypTRH5XiI6beIiACIiACImC6DDJ5m0AziYAIiIAIiIAIJEpgzZo1tn79+ojDuSgSR/369SnMK7nQ0TUEfvCGCEwHHngghauGDRu6JV/BcCv6IQIidwp1HgAABd9JREFUIAIiIAIikDICuX9MnzJ0mlgEREAEREAERCCZBP75z38Wme7DDz90X3PJJZEHHHCA6+fCRyrvv/++rV27lmohvfrqq267a9eubskPXmNJ+eKLL9quXbuoSiIgAiIgAiIgAikikLGDhhTlo2lFQAREQAREQASylMC9995r3qcRSGHlypXuayqpX3PNNRSuOHQ4/fTT3U9A3HDDDbZ9+3bXzo/PP//c/vrXvxoXPvrHnHPOOdaiRQv39Zm33nproTGMmzVrlvu6TOqSCIiACIiACIhA6QgEDxpKN5tGi4AIiIAIiIAIiEABgf79+1v/YsRrLAu6FPqHN1G0bt3aff3kmWeeab/4xS+sefPmNn36dDv++OOLvGLy+eeft4MOOsj+/ve/u/369etnfGqBTzFs3LjRHnnkETvqqKP2rlGuXDl74403bP/997fHH3/cuGCSNTiAOPLII+2II45w19o7QBUREAEREAERyH0CKctQBw0pQ6uJRUAEREAERCB/Cbz88stWnN5+++0iYBzHsWHDhtmNN95oM2bMsHfffddq1Khhd9xxh/3nP/8xDgr8g7h/YeLEiXbzzTe7vuHDh9vkyZPthBNOsA8++MBuuukmf3e3zmHCtGnT7He/+53x1oj33nvPPv74Y3Mcx2677Tbr1KmT208/REAEREAERCCzBLJ/dR00ZP8zVAYiIAIiIAIiEBoCu3fvtpI0derUiPFWrFjRHnzwQfv+++9t69atxtcoHnjgAatcuXLE/rVr17bHHnvM5syZ4/bnQkkOGU466aSI/THWrVvXHn30UZs9e7Zt3rzZveOBT0089NBD7qcd6IPuueceNw8+lUE7KGIjz6BdbREQAREQgRwmoNRiJqCDhphRqaMIiIAIiIAIiIAIiIAIiIAIiEDYCCie8BHQQUP4nokiEgEREAEREAEREAEREAEREIFsJ6D485iADhry+OErdREQAREQAREQAREQAREQgXwjoHxFIPUEdNCQesZaQQREQAREQAREIAoB7jrgzoMoXeQSAREQgdwnoAxFIIcI6KAhhx6mUhEBERABERABERABERABEUguAc0mAiIQPwEdNMTPTCNEQAREQAREQAREQAREQAQyS0Cri4AIhJiADhpC/HAUmgiIgAiIgAiIgAiIgAhkFwFFKwIiIAJmOmjQLhABERABERABERABERCBXCeg/ERABEQgjQR00JBG2FpKBERABERABERABERABPwEVBcBERCBXCSgg4ZcfKrKSQREQAREQAREQAREoDQENFYEREAERKAUBHTQUAp4GioCIiACIiACIiACIpBOAlpLBERABEQgGwjooCEbnpJiFAEREAEREAEREIEwE1BsIiACIiACIuAjoIMGHwxVRUAEREAEREAERCCXCCgXERABERABEcgEAR00ZIK61hQBERABERABEchnAspdBERABERABHKagA4acvrxKjkREAEREAEREIHYCainCIiACIiACIhAMgjooCEZFDWHCIiACIiACIhA6ghoZhEQAREQAREQgawioIOGrHpcClYEREAEREAEwkNAkYiACIiACIiACIhAJAI6aIhERTYREAEREAERyF4CilwEREAEREAEREAEMkpABw0Zxa/FRUAEREAE8oeAMhUBERABERABERCB/CCgg4b8eM7KUgREQAREoDgCsouACIiACIiACIiACCSVgA4akopTk4mACIiACCSLgOYRAREQAREQAREQARHITgI6aMjO56aoRUAERCBTBLSuCIiACIiACIiACIiACEQloIOGqHjkFAEREIFsIaA4RUAEREAEREAEREAERCAcBHTQEI7noChEQARylYDyEgEREAEREAEREAEREIE8I6CDhjx74EpXBERgDwH9FAEREAEREAEREAEREAERSA0BHTSkhqtmFQERSIyARomACIiACIiACIiACIiACGQ5AR00ZPkDVPgikB4CWkUEREAEREAEREAEREAEREAEYiPw/wAAAP//tvTxewAAAAZJREFUAwDSaWymi8TIpQAAAABJRU5ErkJggg=="/>
          <p:cNvSpPr>
            <a:spLocks noChangeAspect="1" noChangeArrowheads="1"/>
          </p:cNvSpPr>
          <p:nvPr/>
        </p:nvSpPr>
        <p:spPr bwMode="auto">
          <a:xfrm>
            <a:off x="130175" y="-1804988"/>
            <a:ext cx="5943600" cy="423862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29" name="Picture 28"/>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77048" y="1350803"/>
            <a:ext cx="5818952" cy="4156394"/>
          </a:xfrm>
          <a:prstGeom prst="rect">
            <a:avLst/>
          </a:prstGeom>
        </p:spPr>
      </p:pic>
      <p:pic>
        <p:nvPicPr>
          <p:cNvPr id="30" name="Picture 29"/>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73048" y="1350803"/>
            <a:ext cx="5818952" cy="415639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4</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a:solidFill>
                  <a:srgbClr val="FFFFFF"/>
                </a:solidFill>
                <a:latin typeface="Arial" pitchFamily="34" charset="0"/>
                <a:ea typeface="Arial" pitchFamily="34" charset="-122"/>
                <a:cs typeface="Arial" pitchFamily="34" charset="-120"/>
              </a:rPr>
              <a:t>6. Baseline: RESNET-18 </a:t>
            </a:r>
            <a:r>
              <a:rPr lang="en-US" sz="2000" b="1" dirty="0" err="1">
                <a:solidFill>
                  <a:srgbClr val="FFFFFF"/>
                </a:solidFill>
                <a:latin typeface="Arial" pitchFamily="34" charset="0"/>
                <a:ea typeface="Arial" pitchFamily="34" charset="-122"/>
                <a:cs typeface="Arial" pitchFamily="34" charset="-120"/>
              </a:rPr>
              <a:t>trên</a:t>
            </a:r>
            <a:r>
              <a:rPr lang="en-US" sz="2000" b="1" dirty="0">
                <a:solidFill>
                  <a:srgbClr val="FFFFFF"/>
                </a:solidFill>
                <a:latin typeface="Arial" pitchFamily="34" charset="0"/>
                <a:ea typeface="Arial" pitchFamily="34" charset="-122"/>
                <a:cs typeface="Arial" pitchFamily="34" charset="-120"/>
              </a:rPr>
              <a:t> CIFAR-10</a:t>
            </a:r>
            <a:endParaRPr lang="en-US" sz="2000" dirty="0"/>
          </a:p>
        </p:txBody>
      </p:sp>
      <p:sp>
        <p:nvSpPr>
          <p:cNvPr id="5" name="Shape 2"/>
          <p:cNvSpPr/>
          <p:nvPr/>
        </p:nvSpPr>
        <p:spPr>
          <a:xfrm>
            <a:off x="640080" y="1412748"/>
            <a:ext cx="2057400" cy="1115568"/>
          </a:xfrm>
          <a:prstGeom prst="roundRect">
            <a:avLst>
              <a:gd name="adj" fmla="val 8197"/>
            </a:avLst>
          </a:prstGeom>
          <a:solidFill>
            <a:srgbClr val="F7F7F7"/>
          </a:solidFill>
          <a:ln w="6350">
            <a:solidFill>
              <a:srgbClr val="E0E0E0"/>
            </a:solidFill>
            <a:prstDash val="solid"/>
          </a:ln>
        </p:spPr>
        <p:txBody>
          <a:bodyPr/>
          <a:lstStyle/>
          <a:p>
            <a:endParaRPr/>
          </a:p>
        </p:txBody>
      </p:sp>
      <p:sp>
        <p:nvSpPr>
          <p:cNvPr id="6" name="Text 3"/>
          <p:cNvSpPr/>
          <p:nvPr/>
        </p:nvSpPr>
        <p:spPr>
          <a:xfrm>
            <a:off x="640080" y="1577340"/>
            <a:ext cx="2057400" cy="411480"/>
          </a:xfrm>
          <a:prstGeom prst="rect">
            <a:avLst/>
          </a:prstGeom>
          <a:noFill/>
          <a:ln/>
        </p:spPr>
        <p:txBody>
          <a:bodyPr wrap="square" lIns="254" tIns="254" rIns="254" bIns="254" rtlCol="0" anchor="ctr"/>
          <a:lstStyle/>
          <a:p>
            <a:pPr marL="0" indent="0" algn="ctr">
              <a:buNone/>
            </a:pPr>
            <a:r>
              <a:rPr lang="en-US" sz="2400" b="1" dirty="0">
                <a:solidFill>
                  <a:srgbClr val="003B6D"/>
                </a:solidFill>
                <a:latin typeface="Arial" pitchFamily="34" charset="0"/>
                <a:ea typeface="Arial" pitchFamily="34" charset="-122"/>
                <a:cs typeface="Arial" pitchFamily="34" charset="-120"/>
              </a:rPr>
              <a:t>94.54%</a:t>
            </a:r>
            <a:endParaRPr lang="en-US" sz="2400" dirty="0"/>
          </a:p>
        </p:txBody>
      </p:sp>
      <p:sp>
        <p:nvSpPr>
          <p:cNvPr id="7" name="Text 4"/>
          <p:cNvSpPr/>
          <p:nvPr/>
        </p:nvSpPr>
        <p:spPr>
          <a:xfrm>
            <a:off x="713232" y="2034540"/>
            <a:ext cx="191109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Validation accuracy</a:t>
            </a:r>
            <a:endParaRPr lang="en-US" sz="1050" dirty="0"/>
          </a:p>
        </p:txBody>
      </p:sp>
      <p:sp>
        <p:nvSpPr>
          <p:cNvPr id="8" name="Shape 5"/>
          <p:cNvSpPr/>
          <p:nvPr/>
        </p:nvSpPr>
        <p:spPr>
          <a:xfrm>
            <a:off x="3063240" y="1412748"/>
            <a:ext cx="2057400" cy="1115568"/>
          </a:xfrm>
          <a:prstGeom prst="roundRect">
            <a:avLst>
              <a:gd name="adj" fmla="val 8197"/>
            </a:avLst>
          </a:prstGeom>
          <a:solidFill>
            <a:srgbClr val="F7F7F7"/>
          </a:solidFill>
          <a:ln w="6350">
            <a:solidFill>
              <a:srgbClr val="E0E0E0"/>
            </a:solidFill>
            <a:prstDash val="solid"/>
          </a:ln>
        </p:spPr>
        <p:txBody>
          <a:bodyPr/>
          <a:lstStyle/>
          <a:p>
            <a:endParaRPr/>
          </a:p>
        </p:txBody>
      </p:sp>
      <p:sp>
        <p:nvSpPr>
          <p:cNvPr id="9" name="Text 6"/>
          <p:cNvSpPr/>
          <p:nvPr/>
        </p:nvSpPr>
        <p:spPr>
          <a:xfrm>
            <a:off x="3063240" y="1577340"/>
            <a:ext cx="2057400" cy="411480"/>
          </a:xfrm>
          <a:prstGeom prst="rect">
            <a:avLst/>
          </a:prstGeom>
          <a:noFill/>
          <a:ln/>
        </p:spPr>
        <p:txBody>
          <a:bodyPr wrap="square" lIns="254" tIns="254" rIns="254" bIns="254" rtlCol="0" anchor="ctr"/>
          <a:lstStyle/>
          <a:p>
            <a:pPr marL="0" indent="0" algn="ctr">
              <a:buNone/>
            </a:pPr>
            <a:r>
              <a:rPr lang="en-US" sz="2400" b="1" dirty="0">
                <a:solidFill>
                  <a:srgbClr val="C91F35"/>
                </a:solidFill>
                <a:latin typeface="Arial" pitchFamily="34" charset="0"/>
                <a:ea typeface="Arial" pitchFamily="34" charset="-122"/>
                <a:cs typeface="Arial" pitchFamily="34" charset="-120"/>
              </a:rPr>
              <a:t>94.54%</a:t>
            </a:r>
            <a:endParaRPr lang="en-US" sz="2400" dirty="0"/>
          </a:p>
        </p:txBody>
      </p:sp>
      <p:sp>
        <p:nvSpPr>
          <p:cNvPr id="10" name="Text 7"/>
          <p:cNvSpPr/>
          <p:nvPr/>
        </p:nvSpPr>
        <p:spPr>
          <a:xfrm>
            <a:off x="3136392" y="2034540"/>
            <a:ext cx="191109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Precision</a:t>
            </a:r>
            <a:endParaRPr lang="en-US" sz="1050" dirty="0"/>
          </a:p>
        </p:txBody>
      </p:sp>
      <p:sp>
        <p:nvSpPr>
          <p:cNvPr id="11" name="Shape 8"/>
          <p:cNvSpPr/>
          <p:nvPr/>
        </p:nvSpPr>
        <p:spPr>
          <a:xfrm>
            <a:off x="5486400" y="1412748"/>
            <a:ext cx="2057400" cy="1115568"/>
          </a:xfrm>
          <a:prstGeom prst="roundRect">
            <a:avLst>
              <a:gd name="adj" fmla="val 8197"/>
            </a:avLst>
          </a:prstGeom>
          <a:solidFill>
            <a:srgbClr val="F7F7F7"/>
          </a:solidFill>
          <a:ln w="6350">
            <a:solidFill>
              <a:srgbClr val="E0E0E0"/>
            </a:solidFill>
            <a:prstDash val="solid"/>
          </a:ln>
        </p:spPr>
        <p:txBody>
          <a:bodyPr/>
          <a:lstStyle/>
          <a:p>
            <a:endParaRPr/>
          </a:p>
        </p:txBody>
      </p:sp>
      <p:sp>
        <p:nvSpPr>
          <p:cNvPr id="12" name="Text 9"/>
          <p:cNvSpPr/>
          <p:nvPr/>
        </p:nvSpPr>
        <p:spPr>
          <a:xfrm>
            <a:off x="5486400" y="1577340"/>
            <a:ext cx="2057400" cy="411480"/>
          </a:xfrm>
          <a:prstGeom prst="rect">
            <a:avLst/>
          </a:prstGeom>
          <a:noFill/>
          <a:ln/>
        </p:spPr>
        <p:txBody>
          <a:bodyPr wrap="square" lIns="254" tIns="254" rIns="254" bIns="254" rtlCol="0" anchor="ctr"/>
          <a:lstStyle/>
          <a:p>
            <a:pPr marL="0" indent="0" algn="ctr">
              <a:buNone/>
            </a:pPr>
            <a:r>
              <a:rPr lang="en-US" sz="2400" b="1" dirty="0">
                <a:solidFill>
                  <a:srgbClr val="003B6D"/>
                </a:solidFill>
                <a:latin typeface="Arial" pitchFamily="34" charset="0"/>
                <a:ea typeface="Arial" pitchFamily="34" charset="-122"/>
                <a:cs typeface="Arial" pitchFamily="34" charset="-120"/>
              </a:rPr>
              <a:t>94.53%</a:t>
            </a:r>
            <a:endParaRPr lang="en-US" sz="2400" dirty="0"/>
          </a:p>
        </p:txBody>
      </p:sp>
      <p:sp>
        <p:nvSpPr>
          <p:cNvPr id="13" name="Text 10"/>
          <p:cNvSpPr/>
          <p:nvPr/>
        </p:nvSpPr>
        <p:spPr>
          <a:xfrm>
            <a:off x="5559552" y="2034540"/>
            <a:ext cx="191109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Recall</a:t>
            </a:r>
            <a:endParaRPr lang="en-US" sz="1050" dirty="0"/>
          </a:p>
        </p:txBody>
      </p:sp>
      <p:sp>
        <p:nvSpPr>
          <p:cNvPr id="14" name="Shape 11"/>
          <p:cNvSpPr/>
          <p:nvPr/>
        </p:nvSpPr>
        <p:spPr>
          <a:xfrm>
            <a:off x="7909560" y="1412748"/>
            <a:ext cx="2057400" cy="1115568"/>
          </a:xfrm>
          <a:prstGeom prst="roundRect">
            <a:avLst>
              <a:gd name="adj" fmla="val 8197"/>
            </a:avLst>
          </a:prstGeom>
          <a:solidFill>
            <a:srgbClr val="F7F7F7"/>
          </a:solidFill>
          <a:ln w="6350">
            <a:solidFill>
              <a:srgbClr val="E0E0E0"/>
            </a:solidFill>
            <a:prstDash val="solid"/>
          </a:ln>
        </p:spPr>
        <p:txBody>
          <a:bodyPr/>
          <a:lstStyle/>
          <a:p>
            <a:endParaRPr/>
          </a:p>
        </p:txBody>
      </p:sp>
      <p:sp>
        <p:nvSpPr>
          <p:cNvPr id="15" name="Text 12"/>
          <p:cNvSpPr/>
          <p:nvPr/>
        </p:nvSpPr>
        <p:spPr>
          <a:xfrm>
            <a:off x="7909560" y="1577340"/>
            <a:ext cx="2057400" cy="411480"/>
          </a:xfrm>
          <a:prstGeom prst="rect">
            <a:avLst/>
          </a:prstGeom>
          <a:noFill/>
          <a:ln/>
        </p:spPr>
        <p:txBody>
          <a:bodyPr wrap="square" lIns="254" tIns="254" rIns="254" bIns="254" rtlCol="0" anchor="ctr"/>
          <a:lstStyle/>
          <a:p>
            <a:pPr marL="0" indent="0" algn="ctr">
              <a:buNone/>
            </a:pPr>
            <a:r>
              <a:rPr lang="en-US" sz="2400" b="1" dirty="0">
                <a:solidFill>
                  <a:srgbClr val="C91F35"/>
                </a:solidFill>
                <a:latin typeface="Arial" pitchFamily="34" charset="0"/>
                <a:ea typeface="Arial" pitchFamily="34" charset="-122"/>
                <a:cs typeface="Arial" pitchFamily="34" charset="-120"/>
              </a:rPr>
              <a:t>94.53%</a:t>
            </a:r>
            <a:endParaRPr lang="en-US" sz="2400" dirty="0"/>
          </a:p>
        </p:txBody>
      </p:sp>
      <p:sp>
        <p:nvSpPr>
          <p:cNvPr id="16" name="Text 13"/>
          <p:cNvSpPr/>
          <p:nvPr/>
        </p:nvSpPr>
        <p:spPr>
          <a:xfrm>
            <a:off x="7982712" y="2034540"/>
            <a:ext cx="191109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F1-score</a:t>
            </a:r>
            <a:endParaRPr lang="en-US" sz="1050" dirty="0"/>
          </a:p>
        </p:txBody>
      </p:sp>
      <p:sp>
        <p:nvSpPr>
          <p:cNvPr id="17" name="Text 14"/>
          <p:cNvSpPr/>
          <p:nvPr/>
        </p:nvSpPr>
        <p:spPr>
          <a:xfrm>
            <a:off x="685800" y="2926080"/>
            <a:ext cx="2011680" cy="274320"/>
          </a:xfrm>
          <a:prstGeom prst="rect">
            <a:avLst/>
          </a:prstGeom>
          <a:noFill/>
          <a:ln/>
        </p:spPr>
        <p:txBody>
          <a:bodyPr wrap="square" lIns="254" tIns="254" rIns="254" bIns="254" rtlCol="0" anchor="ctr"/>
          <a:lstStyle/>
          <a:p>
            <a:pPr marL="0" indent="0">
              <a:buNone/>
            </a:pPr>
            <a:r>
              <a:rPr lang="en-US" sz="1500" b="1" dirty="0">
                <a:solidFill>
                  <a:srgbClr val="C91F35"/>
                </a:solidFill>
                <a:latin typeface="Arial" pitchFamily="34" charset="0"/>
                <a:ea typeface="Arial" pitchFamily="34" charset="-122"/>
                <a:cs typeface="Arial" pitchFamily="34" charset="-120"/>
              </a:rPr>
              <a:t>Nhận xét</a:t>
            </a:r>
            <a:endParaRPr lang="en-US" sz="1500" dirty="0"/>
          </a:p>
        </p:txBody>
      </p:sp>
      <p:sp>
        <p:nvSpPr>
          <p:cNvPr id="18" name="Text 15"/>
          <p:cNvSpPr/>
          <p:nvPr/>
        </p:nvSpPr>
        <p:spPr>
          <a:xfrm>
            <a:off x="822960" y="3337560"/>
            <a:ext cx="5669280" cy="1554480"/>
          </a:xfrm>
          <a:prstGeom prst="rect">
            <a:avLst/>
          </a:prstGeom>
          <a:noFill/>
          <a:ln/>
        </p:spPr>
        <p:txBody>
          <a:bodyPr wrap="square" lIns="254" tIns="254" rIns="254" bIns="254" rtlCol="0" anchor="ctr">
            <a:normAutofit/>
          </a:bodyPr>
          <a:lstStyle/>
          <a:p>
            <a:r>
              <a:rPr lang="en-US" sz="1500" dirty="0">
                <a:solidFill>
                  <a:srgbClr val="1A1A1A"/>
                </a:solidFill>
                <a:latin typeface="Arial" pitchFamily="34" charset="0"/>
                <a:ea typeface="Arial" pitchFamily="34" charset="-122"/>
                <a:cs typeface="Arial" pitchFamily="34" charset="-120"/>
              </a:rPr>
              <a:t>Loss giảm ổn định trong 50 epochs, không có dao động bất thường.</a:t>
            </a:r>
            <a:endParaRPr lang="en-US" sz="1500" dirty="0"/>
          </a:p>
          <a:p>
            <a:r>
              <a:rPr lang="en-US" sz="1500" dirty="0">
                <a:solidFill>
                  <a:srgbClr val="1A1A1A"/>
                </a:solidFill>
                <a:latin typeface="Arial" pitchFamily="34" charset="0"/>
                <a:ea typeface="Arial" pitchFamily="34" charset="-122"/>
                <a:cs typeface="Arial" pitchFamily="34" charset="-120"/>
              </a:rPr>
              <a:t>Training accuracy và validation accuracy tăng đều, chênh lệch nhỏ → chưa có dấu hiệu overfitting nghiêm trọng.</a:t>
            </a:r>
            <a:endParaRPr lang="en-US" sz="1500" dirty="0"/>
          </a:p>
          <a:p>
            <a:r>
              <a:rPr lang="en-US" sz="1500" dirty="0">
                <a:solidFill>
                  <a:srgbClr val="1A1A1A"/>
                </a:solidFill>
                <a:latin typeface="Arial" pitchFamily="34" charset="0"/>
                <a:ea typeface="Arial" pitchFamily="34" charset="-122"/>
                <a:cs typeface="Arial" pitchFamily="34" charset="-120"/>
              </a:rPr>
              <a:t>Các lớp automobile, ship, truck đạt tốt; cat/dog thấp hơn do đặc trưng dễ nhầm lẫn.</a:t>
            </a:r>
            <a:endParaRPr lang="en-US" sz="1500" dirty="0"/>
          </a:p>
        </p:txBody>
      </p:sp>
      <p:sp>
        <p:nvSpPr>
          <p:cNvPr id="19" name="Shape 16"/>
          <p:cNvSpPr/>
          <p:nvPr/>
        </p:nvSpPr>
        <p:spPr>
          <a:xfrm>
            <a:off x="7040880" y="3154680"/>
            <a:ext cx="4160520" cy="1417320"/>
          </a:xfrm>
          <a:prstGeom prst="roundRect">
            <a:avLst>
              <a:gd name="adj" fmla="val 5161"/>
            </a:avLst>
          </a:prstGeom>
          <a:solidFill>
            <a:srgbClr val="FFFFFF"/>
          </a:solidFill>
          <a:ln w="10160">
            <a:solidFill>
              <a:srgbClr val="D8D8D8"/>
            </a:solidFill>
            <a:prstDash val="solid"/>
          </a:ln>
        </p:spPr>
        <p:txBody>
          <a:bodyPr/>
          <a:lstStyle/>
          <a:p>
            <a:endParaRPr/>
          </a:p>
        </p:txBody>
      </p:sp>
      <p:sp>
        <p:nvSpPr>
          <p:cNvPr id="20" name="Shape 17"/>
          <p:cNvSpPr/>
          <p:nvPr/>
        </p:nvSpPr>
        <p:spPr>
          <a:xfrm>
            <a:off x="7040880" y="3154680"/>
            <a:ext cx="73152" cy="1417320"/>
          </a:xfrm>
          <a:prstGeom prst="rect">
            <a:avLst/>
          </a:prstGeom>
          <a:solidFill>
            <a:srgbClr val="003B6D"/>
          </a:solidFill>
          <a:ln w="12700">
            <a:solidFill>
              <a:srgbClr val="003B6D"/>
            </a:solidFill>
            <a:prstDash val="solid"/>
          </a:ln>
        </p:spPr>
        <p:txBody>
          <a:bodyPr/>
          <a:lstStyle/>
          <a:p>
            <a:endParaRPr/>
          </a:p>
        </p:txBody>
      </p:sp>
      <p:sp>
        <p:nvSpPr>
          <p:cNvPr id="21" name="Text 18"/>
          <p:cNvSpPr/>
          <p:nvPr/>
        </p:nvSpPr>
        <p:spPr>
          <a:xfrm>
            <a:off x="7205472" y="3264408"/>
            <a:ext cx="386791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Vai trò của baseline</a:t>
            </a:r>
            <a:endParaRPr lang="en-US" sz="1400" dirty="0"/>
          </a:p>
        </p:txBody>
      </p:sp>
      <p:sp>
        <p:nvSpPr>
          <p:cNvPr id="22" name="Text 19"/>
          <p:cNvSpPr/>
          <p:nvPr/>
        </p:nvSpPr>
        <p:spPr>
          <a:xfrm>
            <a:off x="7205472" y="3593592"/>
            <a:ext cx="3867912" cy="91440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Mô hình đủ mạnh trên dữ liệu sạch, nên các thí nghiệm attack/defense phản ánh rõ vấn đề robustness thay vì lỗi do mô hình yếu.</a:t>
            </a:r>
            <a:endParaRPr lang="en-US" sz="1250" dirty="0"/>
          </a:p>
        </p:txBody>
      </p:sp>
    </p:spTree>
    <p:extLst>
      <p:ext uri="{BB962C8B-B14F-4D97-AF65-F5344CB8AC3E}">
        <p14:creationId xmlns:p14="http://schemas.microsoft.com/office/powerpoint/2010/main" val="3547987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5</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r>
              <a:rPr lang="en-US" sz="2000" b="1" dirty="0" smtClean="0">
                <a:solidFill>
                  <a:srgbClr val="FFFFFF"/>
                </a:solidFill>
                <a:latin typeface="Arial" pitchFamily="34" charset="0"/>
                <a:ea typeface="Arial" pitchFamily="34" charset="-122"/>
                <a:cs typeface="Arial" pitchFamily="34" charset="-120"/>
              </a:rPr>
              <a:t>7. </a:t>
            </a:r>
            <a:r>
              <a:rPr lang="en-US" sz="2000" b="1" dirty="0">
                <a:solidFill>
                  <a:srgbClr val="FFFFFF"/>
                </a:solidFill>
                <a:latin typeface="Arial" pitchFamily="34" charset="0"/>
                <a:ea typeface="Arial" pitchFamily="34" charset="-122"/>
                <a:cs typeface="Arial" pitchFamily="34" charset="-120"/>
              </a:rPr>
              <a:t>Các </a:t>
            </a:r>
            <a:r>
              <a:rPr lang="en-US" sz="2000" b="1" dirty="0" err="1">
                <a:solidFill>
                  <a:srgbClr val="FFFFFF"/>
                </a:solidFill>
                <a:latin typeface="Arial" pitchFamily="34" charset="0"/>
                <a:ea typeface="Arial" pitchFamily="34" charset="-122"/>
                <a:cs typeface="Arial" pitchFamily="34" charset="-120"/>
              </a:rPr>
              <a:t>phương</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pháp</a:t>
            </a:r>
            <a:r>
              <a:rPr lang="en-US" sz="2000" b="1" dirty="0">
                <a:solidFill>
                  <a:srgbClr val="FFFFFF"/>
                </a:solidFill>
                <a:latin typeface="Arial" pitchFamily="34" charset="0"/>
                <a:ea typeface="Arial" pitchFamily="34" charset="-122"/>
                <a:cs typeface="Arial" pitchFamily="34" charset="-120"/>
              </a:rPr>
              <a:t> ATTACK</a:t>
            </a:r>
            <a:endParaRPr lang="en-US" sz="2000" dirty="0"/>
          </a:p>
        </p:txBody>
      </p:sp>
      <p:sp>
        <p:nvSpPr>
          <p:cNvPr id="5" name="Shape 2"/>
          <p:cNvSpPr/>
          <p:nvPr/>
        </p:nvSpPr>
        <p:spPr>
          <a:xfrm>
            <a:off x="594360" y="1143000"/>
            <a:ext cx="3337560" cy="1828800"/>
          </a:xfrm>
          <a:prstGeom prst="roundRect">
            <a:avLst>
              <a:gd name="adj" fmla="val 4000"/>
            </a:avLst>
          </a:prstGeom>
          <a:solidFill>
            <a:srgbClr val="FFFFFF"/>
          </a:solidFill>
          <a:ln w="10160">
            <a:solidFill>
              <a:srgbClr val="D8D8D8"/>
            </a:solidFill>
            <a:prstDash val="solid"/>
          </a:ln>
        </p:spPr>
        <p:txBody>
          <a:bodyPr/>
          <a:lstStyle/>
          <a:p>
            <a:endParaRPr/>
          </a:p>
        </p:txBody>
      </p:sp>
      <p:sp>
        <p:nvSpPr>
          <p:cNvPr id="6" name="Shape 3"/>
          <p:cNvSpPr/>
          <p:nvPr/>
        </p:nvSpPr>
        <p:spPr>
          <a:xfrm>
            <a:off x="594360" y="1143000"/>
            <a:ext cx="73152" cy="1828800"/>
          </a:xfrm>
          <a:prstGeom prst="rect">
            <a:avLst/>
          </a:prstGeom>
          <a:solidFill>
            <a:srgbClr val="C91F35"/>
          </a:solidFill>
          <a:ln w="12700">
            <a:solidFill>
              <a:srgbClr val="C91F35"/>
            </a:solidFill>
            <a:prstDash val="solid"/>
          </a:ln>
        </p:spPr>
        <p:txBody>
          <a:bodyPr/>
          <a:lstStyle/>
          <a:p>
            <a:endParaRPr/>
          </a:p>
        </p:txBody>
      </p:sp>
      <p:sp>
        <p:nvSpPr>
          <p:cNvPr id="7" name="Text 4"/>
          <p:cNvSpPr/>
          <p:nvPr/>
        </p:nvSpPr>
        <p:spPr>
          <a:xfrm>
            <a:off x="758952" y="1252728"/>
            <a:ext cx="3044952" cy="256032"/>
          </a:xfrm>
          <a:prstGeom prst="rect">
            <a:avLst/>
          </a:prstGeom>
          <a:noFill/>
          <a:ln/>
        </p:spPr>
        <p:txBody>
          <a:bodyPr wrap="square" lIns="254" tIns="254" rIns="254" bIns="254" rtlCol="0" anchor="ctr"/>
          <a:lstStyle/>
          <a:p>
            <a:pPr marL="0" indent="0">
              <a:buNone/>
            </a:pPr>
            <a:r>
              <a:rPr lang="en-US" sz="1400" b="1" dirty="0" smtClean="0">
                <a:solidFill>
                  <a:srgbClr val="C91F35"/>
                </a:solidFill>
                <a:latin typeface="Arial" pitchFamily="34" charset="0"/>
                <a:ea typeface="Arial" pitchFamily="34" charset="-122"/>
                <a:cs typeface="Arial" pitchFamily="34" charset="-120"/>
              </a:rPr>
              <a:t>Fast Gradient Sign Method (FGSM)</a:t>
            </a:r>
            <a:endParaRPr lang="en-US" sz="1400" dirty="0"/>
          </a:p>
        </p:txBody>
      </p:sp>
      <p:sp>
        <p:nvSpPr>
          <p:cNvPr id="8" name="Text 5"/>
          <p:cNvSpPr/>
          <p:nvPr/>
        </p:nvSpPr>
        <p:spPr>
          <a:xfrm>
            <a:off x="758952" y="1581912"/>
            <a:ext cx="3044952" cy="132588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Tấn công một bước theo dấu gradient.</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Nhanh, đơn giản, dùng làm baseline để đo độ nhạy của mô hình.</a:t>
            </a:r>
            <a:endParaRPr lang="en-US" sz="1250" dirty="0"/>
          </a:p>
        </p:txBody>
      </p:sp>
      <p:sp>
        <p:nvSpPr>
          <p:cNvPr id="9" name="Shape 6"/>
          <p:cNvSpPr/>
          <p:nvPr/>
        </p:nvSpPr>
        <p:spPr>
          <a:xfrm>
            <a:off x="4434840" y="1143000"/>
            <a:ext cx="3337560" cy="1828800"/>
          </a:xfrm>
          <a:prstGeom prst="roundRect">
            <a:avLst>
              <a:gd name="adj" fmla="val 4000"/>
            </a:avLst>
          </a:prstGeom>
          <a:solidFill>
            <a:srgbClr val="FFFFFF"/>
          </a:solidFill>
          <a:ln w="10160">
            <a:solidFill>
              <a:srgbClr val="D8D8D8"/>
            </a:solidFill>
            <a:prstDash val="solid"/>
          </a:ln>
        </p:spPr>
        <p:txBody>
          <a:bodyPr/>
          <a:lstStyle/>
          <a:p>
            <a:endParaRPr/>
          </a:p>
        </p:txBody>
      </p:sp>
      <p:sp>
        <p:nvSpPr>
          <p:cNvPr id="10" name="Shape 7"/>
          <p:cNvSpPr/>
          <p:nvPr/>
        </p:nvSpPr>
        <p:spPr>
          <a:xfrm>
            <a:off x="4434840" y="1143000"/>
            <a:ext cx="73152" cy="1828800"/>
          </a:xfrm>
          <a:prstGeom prst="rect">
            <a:avLst/>
          </a:prstGeom>
          <a:solidFill>
            <a:srgbClr val="003B6D"/>
          </a:solidFill>
          <a:ln w="12700">
            <a:solidFill>
              <a:srgbClr val="003B6D"/>
            </a:solidFill>
            <a:prstDash val="solid"/>
          </a:ln>
        </p:spPr>
        <p:txBody>
          <a:bodyPr/>
          <a:lstStyle/>
          <a:p>
            <a:endParaRPr/>
          </a:p>
        </p:txBody>
      </p:sp>
      <p:sp>
        <p:nvSpPr>
          <p:cNvPr id="11" name="Text 8"/>
          <p:cNvSpPr/>
          <p:nvPr/>
        </p:nvSpPr>
        <p:spPr>
          <a:xfrm>
            <a:off x="4599432" y="1252728"/>
            <a:ext cx="3044952" cy="256032"/>
          </a:xfrm>
          <a:prstGeom prst="rect">
            <a:avLst/>
          </a:prstGeom>
          <a:noFill/>
          <a:ln/>
        </p:spPr>
        <p:txBody>
          <a:bodyPr wrap="square" lIns="254" tIns="254" rIns="254" bIns="254" rtlCol="0" anchor="ctr"/>
          <a:lstStyle/>
          <a:p>
            <a:pPr marL="0" indent="0">
              <a:buNone/>
            </a:pPr>
            <a:r>
              <a:rPr lang="en-US" sz="1400" b="1" dirty="0" smtClean="0">
                <a:solidFill>
                  <a:srgbClr val="003B6D"/>
                </a:solidFill>
                <a:latin typeface="Arial" pitchFamily="34" charset="0"/>
                <a:ea typeface="Arial" pitchFamily="34" charset="-122"/>
                <a:cs typeface="Arial" pitchFamily="34" charset="-120"/>
              </a:rPr>
              <a:t>Projected Gradient Descent (</a:t>
            </a:r>
            <a:r>
              <a:rPr lang="en-US" sz="1400" b="1" dirty="0" smtClean="0">
                <a:solidFill>
                  <a:srgbClr val="003B6D"/>
                </a:solidFill>
                <a:latin typeface="Arial" pitchFamily="34" charset="0"/>
                <a:ea typeface="Arial" pitchFamily="34" charset="-122"/>
                <a:cs typeface="Arial" pitchFamily="34" charset="-120"/>
              </a:rPr>
              <a:t>PGD)</a:t>
            </a:r>
            <a:endParaRPr lang="en-US" sz="1400" dirty="0"/>
          </a:p>
        </p:txBody>
      </p:sp>
      <p:sp>
        <p:nvSpPr>
          <p:cNvPr id="12" name="Text 9"/>
          <p:cNvSpPr/>
          <p:nvPr/>
        </p:nvSpPr>
        <p:spPr>
          <a:xfrm>
            <a:off x="4599432" y="1581912"/>
            <a:ext cx="3044952" cy="132588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Mở rộng FGSM thành nhiều bước lặp.</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Sau mỗi bước, ảnh được chiếu lại vào miền nhiễu cho phép.</a:t>
            </a:r>
            <a:endParaRPr lang="en-US" sz="1250" dirty="0"/>
          </a:p>
        </p:txBody>
      </p:sp>
      <p:sp>
        <p:nvSpPr>
          <p:cNvPr id="13" name="Shape 10"/>
          <p:cNvSpPr/>
          <p:nvPr/>
        </p:nvSpPr>
        <p:spPr>
          <a:xfrm>
            <a:off x="8275320" y="1143000"/>
            <a:ext cx="3337560" cy="1828800"/>
          </a:xfrm>
          <a:prstGeom prst="roundRect">
            <a:avLst>
              <a:gd name="adj" fmla="val 4000"/>
            </a:avLst>
          </a:prstGeom>
          <a:solidFill>
            <a:srgbClr val="FFFFFF"/>
          </a:solidFill>
          <a:ln w="10160">
            <a:solidFill>
              <a:srgbClr val="D8D8D8"/>
            </a:solidFill>
            <a:prstDash val="solid"/>
          </a:ln>
        </p:spPr>
        <p:txBody>
          <a:bodyPr/>
          <a:lstStyle/>
          <a:p>
            <a:endParaRPr/>
          </a:p>
        </p:txBody>
      </p:sp>
      <p:sp>
        <p:nvSpPr>
          <p:cNvPr id="14" name="Shape 11"/>
          <p:cNvSpPr/>
          <p:nvPr/>
        </p:nvSpPr>
        <p:spPr>
          <a:xfrm>
            <a:off x="8275320" y="1143000"/>
            <a:ext cx="73152" cy="1828800"/>
          </a:xfrm>
          <a:prstGeom prst="rect">
            <a:avLst/>
          </a:prstGeom>
          <a:solidFill>
            <a:srgbClr val="C91F35"/>
          </a:solidFill>
          <a:ln w="12700">
            <a:solidFill>
              <a:srgbClr val="C91F35"/>
            </a:solidFill>
            <a:prstDash val="solid"/>
          </a:ln>
        </p:spPr>
        <p:txBody>
          <a:bodyPr/>
          <a:lstStyle/>
          <a:p>
            <a:endParaRPr/>
          </a:p>
        </p:txBody>
      </p:sp>
      <p:sp>
        <p:nvSpPr>
          <p:cNvPr id="15" name="Text 12"/>
          <p:cNvSpPr/>
          <p:nvPr/>
        </p:nvSpPr>
        <p:spPr>
          <a:xfrm>
            <a:off x="8439912" y="1252728"/>
            <a:ext cx="3044952" cy="256032"/>
          </a:xfrm>
          <a:prstGeom prst="rect">
            <a:avLst/>
          </a:prstGeom>
          <a:noFill/>
          <a:ln/>
        </p:spPr>
        <p:txBody>
          <a:bodyPr wrap="square" lIns="254" tIns="254" rIns="254" bIns="254" rtlCol="0" anchor="ctr"/>
          <a:lstStyle/>
          <a:p>
            <a:pPr marL="0" indent="0">
              <a:buNone/>
            </a:pPr>
            <a:r>
              <a:rPr lang="en-US" sz="1400" b="1" dirty="0" err="1" smtClean="0">
                <a:solidFill>
                  <a:srgbClr val="C91F35"/>
                </a:solidFill>
                <a:latin typeface="Arial" pitchFamily="34" charset="0"/>
                <a:ea typeface="Arial" pitchFamily="34" charset="-122"/>
                <a:cs typeface="Arial" pitchFamily="34" charset="-120"/>
              </a:rPr>
              <a:t>Carlini</a:t>
            </a:r>
            <a:r>
              <a:rPr lang="en-US" sz="1400" b="1" dirty="0" smtClean="0">
                <a:solidFill>
                  <a:srgbClr val="C91F35"/>
                </a:solidFill>
                <a:latin typeface="Arial" pitchFamily="34" charset="0"/>
                <a:ea typeface="Arial" pitchFamily="34" charset="-122"/>
                <a:cs typeface="Arial" pitchFamily="34" charset="-120"/>
              </a:rPr>
              <a:t> &amp; Wagner Attack (C&amp;W)</a:t>
            </a:r>
            <a:endParaRPr lang="en-US" sz="1400" dirty="0"/>
          </a:p>
        </p:txBody>
      </p:sp>
      <p:sp>
        <p:nvSpPr>
          <p:cNvPr id="16" name="Text 13"/>
          <p:cNvSpPr/>
          <p:nvPr/>
        </p:nvSpPr>
        <p:spPr>
          <a:xfrm>
            <a:off x="8439912" y="1581912"/>
            <a:ext cx="3044952" cy="132588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Tấn công dựa trên tối ưu hóa, cân bằng giữa độ nhỏ của nhiễu và khả năng đánh lừa mô hình.</a:t>
            </a:r>
            <a:endParaRPr lang="en-US" sz="1250" dirty="0"/>
          </a:p>
        </p:txBody>
      </p:sp>
      <p:sp>
        <p:nvSpPr>
          <p:cNvPr id="17" name="Text 14"/>
          <p:cNvSpPr/>
          <p:nvPr/>
        </p:nvSpPr>
        <p:spPr>
          <a:xfrm>
            <a:off x="640080" y="3749040"/>
            <a:ext cx="2743200" cy="274320"/>
          </a:xfrm>
          <a:prstGeom prst="rect">
            <a:avLst/>
          </a:prstGeom>
          <a:noFill/>
          <a:ln/>
        </p:spPr>
        <p:txBody>
          <a:bodyPr wrap="square" lIns="254" tIns="254" rIns="254" bIns="254" rtlCol="0" anchor="ctr"/>
          <a:lstStyle/>
          <a:p>
            <a:pPr marL="0" indent="0">
              <a:buNone/>
            </a:pPr>
            <a:r>
              <a:rPr lang="en-US" sz="1500" b="1" dirty="0">
                <a:solidFill>
                  <a:srgbClr val="003B6D"/>
                </a:solidFill>
                <a:latin typeface="Arial" pitchFamily="34" charset="0"/>
                <a:ea typeface="Arial" pitchFamily="34" charset="-122"/>
                <a:cs typeface="Arial" pitchFamily="34" charset="-120"/>
              </a:rPr>
              <a:t>Mức độ mạnh tăng dần</a:t>
            </a:r>
            <a:endParaRPr lang="en-US" sz="1500" dirty="0"/>
          </a:p>
        </p:txBody>
      </p:sp>
      <p:sp>
        <p:nvSpPr>
          <p:cNvPr id="18" name="Shape 15"/>
          <p:cNvSpPr/>
          <p:nvPr/>
        </p:nvSpPr>
        <p:spPr>
          <a:xfrm>
            <a:off x="914400" y="4343400"/>
            <a:ext cx="9418320" cy="0"/>
          </a:xfrm>
          <a:prstGeom prst="line">
            <a:avLst/>
          </a:prstGeom>
          <a:noFill/>
          <a:ln w="25400">
            <a:solidFill>
              <a:srgbClr val="A5A5A5"/>
            </a:solidFill>
            <a:prstDash val="solid"/>
            <a:headEnd type="none"/>
            <a:tailEnd type="triangle"/>
          </a:ln>
        </p:spPr>
        <p:txBody>
          <a:bodyPr/>
          <a:lstStyle/>
          <a:p>
            <a:endParaRPr/>
          </a:p>
        </p:txBody>
      </p:sp>
      <p:sp>
        <p:nvSpPr>
          <p:cNvPr id="19" name="Text 16"/>
          <p:cNvSpPr/>
          <p:nvPr/>
        </p:nvSpPr>
        <p:spPr>
          <a:xfrm>
            <a:off x="594360" y="4526280"/>
            <a:ext cx="1097280" cy="411480"/>
          </a:xfrm>
          <a:prstGeom prst="rect">
            <a:avLst/>
          </a:prstGeom>
          <a:noFill/>
          <a:ln/>
        </p:spPr>
        <p:txBody>
          <a:bodyPr wrap="square" lIns="254" tIns="254" rIns="254" bIns="254" rtlCol="0" anchor="ctr"/>
          <a:lstStyle/>
          <a:p>
            <a:pPr marL="0" indent="0" algn="ctr">
              <a:buNone/>
            </a:pPr>
            <a:r>
              <a:rPr lang="en-US" sz="1100" dirty="0">
                <a:solidFill>
                  <a:srgbClr val="555555"/>
                </a:solidFill>
                <a:latin typeface="Arial" pitchFamily="34" charset="0"/>
                <a:ea typeface="Arial" pitchFamily="34" charset="-122"/>
                <a:cs typeface="Arial" pitchFamily="34" charset="-120"/>
              </a:rPr>
              <a:t>Nhanh</a:t>
            </a:r>
            <a:endParaRPr lang="en-US" sz="1100" dirty="0"/>
          </a:p>
          <a:p>
            <a:pPr marL="0" indent="0" algn="ctr">
              <a:buNone/>
            </a:pPr>
            <a:r>
              <a:rPr lang="en-US" sz="1100" dirty="0">
                <a:solidFill>
                  <a:srgbClr val="555555"/>
                </a:solidFill>
                <a:latin typeface="Arial" pitchFamily="34" charset="0"/>
                <a:ea typeface="Arial" pitchFamily="34" charset="-122"/>
                <a:cs typeface="Arial" pitchFamily="34" charset="-120"/>
              </a:rPr>
              <a:t>ít tối ưu</a:t>
            </a:r>
            <a:endParaRPr lang="en-US" sz="1100" dirty="0"/>
          </a:p>
        </p:txBody>
      </p:sp>
      <p:sp>
        <p:nvSpPr>
          <p:cNvPr id="20" name="Text 17"/>
          <p:cNvSpPr/>
          <p:nvPr/>
        </p:nvSpPr>
        <p:spPr>
          <a:xfrm>
            <a:off x="4800600" y="4526280"/>
            <a:ext cx="2011680" cy="411480"/>
          </a:xfrm>
          <a:prstGeom prst="rect">
            <a:avLst/>
          </a:prstGeom>
          <a:noFill/>
          <a:ln/>
        </p:spPr>
        <p:txBody>
          <a:bodyPr wrap="square" lIns="254" tIns="254" rIns="254" bIns="254" rtlCol="0" anchor="ctr"/>
          <a:lstStyle/>
          <a:p>
            <a:pPr marL="0" indent="0" algn="ctr">
              <a:buNone/>
            </a:pPr>
            <a:r>
              <a:rPr lang="en-US" sz="1100" dirty="0">
                <a:solidFill>
                  <a:srgbClr val="555555"/>
                </a:solidFill>
                <a:latin typeface="Arial" pitchFamily="34" charset="0"/>
                <a:ea typeface="Arial" pitchFamily="34" charset="-122"/>
                <a:cs typeface="Arial" pitchFamily="34" charset="-120"/>
              </a:rPr>
              <a:t>Lặp nhiều bước</a:t>
            </a:r>
            <a:endParaRPr lang="en-US" sz="1100" dirty="0"/>
          </a:p>
          <a:p>
            <a:pPr marL="0" indent="0" algn="ctr">
              <a:buNone/>
            </a:pPr>
            <a:r>
              <a:rPr lang="en-US" sz="1100" dirty="0">
                <a:solidFill>
                  <a:srgbClr val="555555"/>
                </a:solidFill>
                <a:latin typeface="Arial" pitchFamily="34" charset="0"/>
                <a:ea typeface="Arial" pitchFamily="34" charset="-122"/>
                <a:cs typeface="Arial" pitchFamily="34" charset="-120"/>
              </a:rPr>
              <a:t>khai thác tốt hơn</a:t>
            </a:r>
            <a:endParaRPr lang="en-US" sz="1100" dirty="0"/>
          </a:p>
        </p:txBody>
      </p:sp>
      <p:sp>
        <p:nvSpPr>
          <p:cNvPr id="21" name="Text 18"/>
          <p:cNvSpPr/>
          <p:nvPr/>
        </p:nvSpPr>
        <p:spPr>
          <a:xfrm>
            <a:off x="9464040" y="4526280"/>
            <a:ext cx="1325880" cy="411480"/>
          </a:xfrm>
          <a:prstGeom prst="rect">
            <a:avLst/>
          </a:prstGeom>
          <a:noFill/>
          <a:ln/>
        </p:spPr>
        <p:txBody>
          <a:bodyPr wrap="square" lIns="254" tIns="254" rIns="254" bIns="254" rtlCol="0" anchor="ctr"/>
          <a:lstStyle/>
          <a:p>
            <a:pPr marL="0" indent="0" algn="ctr">
              <a:buNone/>
            </a:pPr>
            <a:r>
              <a:rPr lang="en-US" sz="1100" dirty="0">
                <a:solidFill>
                  <a:srgbClr val="555555"/>
                </a:solidFill>
                <a:latin typeface="Arial" pitchFamily="34" charset="0"/>
                <a:ea typeface="Arial" pitchFamily="34" charset="-122"/>
                <a:cs typeface="Arial" pitchFamily="34" charset="-120"/>
              </a:rPr>
              <a:t>Tối ưu hóa</a:t>
            </a:r>
            <a:endParaRPr lang="en-US" sz="1100" dirty="0"/>
          </a:p>
          <a:p>
            <a:pPr marL="0" indent="0" algn="ctr">
              <a:buNone/>
            </a:pPr>
            <a:r>
              <a:rPr lang="en-US" sz="1100" dirty="0">
                <a:solidFill>
                  <a:srgbClr val="555555"/>
                </a:solidFill>
                <a:latin typeface="Arial" pitchFamily="34" charset="0"/>
                <a:ea typeface="Arial" pitchFamily="34" charset="-122"/>
                <a:cs typeface="Arial" pitchFamily="34" charset="-120"/>
              </a:rPr>
              <a:t>chi phí cao</a:t>
            </a:r>
            <a:endParaRPr lang="en-US" sz="1100" dirty="0"/>
          </a:p>
        </p:txBody>
      </p:sp>
      <p:sp>
        <p:nvSpPr>
          <p:cNvPr id="22" name="Text 19"/>
          <p:cNvSpPr/>
          <p:nvPr/>
        </p:nvSpPr>
        <p:spPr>
          <a:xfrm>
            <a:off x="1828800" y="5532120"/>
            <a:ext cx="8595360" cy="320040"/>
          </a:xfrm>
          <a:prstGeom prst="rect">
            <a:avLst/>
          </a:prstGeom>
          <a:noFill/>
          <a:ln/>
        </p:spPr>
        <p:txBody>
          <a:bodyPr wrap="square" lIns="254" tIns="254" rIns="254" bIns="254" rtlCol="0" anchor="ctr">
            <a:normAutofit/>
          </a:bodyPr>
          <a:lstStyle/>
          <a:p>
            <a:pPr marL="0" indent="0">
              <a:buNone/>
            </a:pPr>
            <a:r>
              <a:rPr lang="en-US" sz="1100" i="1" dirty="0">
                <a:solidFill>
                  <a:srgbClr val="555555"/>
                </a:solidFill>
                <a:latin typeface="Arial" pitchFamily="34" charset="0"/>
                <a:ea typeface="Arial" pitchFamily="34" charset="-122"/>
                <a:cs typeface="Arial" pitchFamily="34" charset="-120"/>
              </a:rPr>
              <a:t>C&amp;W dùng chuẩn L2 nên được xem như kịch bản attack mạnh bổ sung, không so sánh trực tiếp tuyệt đối với FGSM/PGD L∞.</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5</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r>
              <a:rPr lang="en-US" sz="2000" b="1" dirty="0">
                <a:solidFill>
                  <a:schemeClr val="bg1"/>
                </a:solidFill>
                <a:latin typeface="Arial" pitchFamily="34" charset="0"/>
                <a:ea typeface="Arial" pitchFamily="34" charset="-122"/>
                <a:cs typeface="Arial" pitchFamily="34" charset="-120"/>
              </a:rPr>
              <a:t>8</a:t>
            </a:r>
            <a:r>
              <a:rPr lang="en-US" sz="2000" b="1" dirty="0" smtClean="0">
                <a:solidFill>
                  <a:schemeClr val="bg1"/>
                </a:solidFill>
                <a:latin typeface="Arial" pitchFamily="34" charset="0"/>
                <a:ea typeface="Arial" pitchFamily="34" charset="-122"/>
                <a:cs typeface="Arial" pitchFamily="34" charset="-120"/>
              </a:rPr>
              <a:t>. </a:t>
            </a:r>
            <a:r>
              <a:rPr lang="en-US" b="1" dirty="0" err="1">
                <a:solidFill>
                  <a:schemeClr val="bg1"/>
                </a:solidFill>
              </a:rPr>
              <a:t>Trực</a:t>
            </a:r>
            <a:r>
              <a:rPr lang="en-US" b="1" dirty="0">
                <a:solidFill>
                  <a:schemeClr val="bg1"/>
                </a:solidFill>
              </a:rPr>
              <a:t> </a:t>
            </a:r>
            <a:r>
              <a:rPr lang="en-US" b="1" dirty="0" err="1">
                <a:solidFill>
                  <a:schemeClr val="bg1"/>
                </a:solidFill>
              </a:rPr>
              <a:t>quan</a:t>
            </a:r>
            <a:r>
              <a:rPr lang="en-US" b="1" dirty="0">
                <a:solidFill>
                  <a:schemeClr val="bg1"/>
                </a:solidFill>
              </a:rPr>
              <a:t> </a:t>
            </a:r>
            <a:r>
              <a:rPr lang="en-US" b="1" dirty="0" err="1">
                <a:solidFill>
                  <a:schemeClr val="bg1"/>
                </a:solidFill>
              </a:rPr>
              <a:t>hóa</a:t>
            </a:r>
            <a:r>
              <a:rPr lang="en-US" b="1" dirty="0">
                <a:solidFill>
                  <a:schemeClr val="bg1"/>
                </a:solidFill>
              </a:rPr>
              <a:t> </a:t>
            </a:r>
            <a:r>
              <a:rPr lang="en-US" b="1" dirty="0" err="1">
                <a:solidFill>
                  <a:schemeClr val="bg1"/>
                </a:solidFill>
              </a:rPr>
              <a:t>các</a:t>
            </a:r>
            <a:r>
              <a:rPr lang="en-US" b="1" dirty="0">
                <a:solidFill>
                  <a:schemeClr val="bg1"/>
                </a:solidFill>
              </a:rPr>
              <a:t> </a:t>
            </a:r>
            <a:r>
              <a:rPr lang="en-US" b="1" dirty="0" err="1">
                <a:solidFill>
                  <a:schemeClr val="bg1"/>
                </a:solidFill>
              </a:rPr>
              <a:t>mẫu</a:t>
            </a:r>
            <a:r>
              <a:rPr lang="en-US" b="1" dirty="0">
                <a:solidFill>
                  <a:schemeClr val="bg1"/>
                </a:solidFill>
              </a:rPr>
              <a:t> Tấn </a:t>
            </a:r>
            <a:r>
              <a:rPr lang="en-US" b="1" dirty="0" err="1">
                <a:solidFill>
                  <a:schemeClr val="bg1"/>
                </a:solidFill>
              </a:rPr>
              <a:t>công</a:t>
            </a:r>
            <a:r>
              <a:rPr lang="en-US" b="1" dirty="0">
                <a:solidFill>
                  <a:schemeClr val="bg1"/>
                </a:solidFill>
              </a:rPr>
              <a:t> (Visualizing Attacks)</a:t>
            </a:r>
            <a:endParaRPr lang="en-US" sz="2000" dirty="0">
              <a:solidFill>
                <a:schemeClr val="bg1"/>
              </a:solidFill>
            </a:endParaRPr>
          </a:p>
        </p:txBody>
      </p:sp>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40146" y="1909696"/>
            <a:ext cx="6431121" cy="1607781"/>
          </a:xfrm>
          <a:prstGeom prst="rect">
            <a:avLst/>
          </a:prstGeom>
        </p:spPr>
      </p:pic>
      <p:pic>
        <p:nvPicPr>
          <p:cNvPr id="25" name="Picture 2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0146" y="4280046"/>
            <a:ext cx="6431121" cy="1607780"/>
          </a:xfrm>
          <a:prstGeom prst="rect">
            <a:avLst/>
          </a:prstGeom>
        </p:spPr>
      </p:pic>
      <p:sp>
        <p:nvSpPr>
          <p:cNvPr id="6" name="TextBox 5">
            <a:extLst>
              <a:ext uri="{FF2B5EF4-FFF2-40B4-BE49-F238E27FC236}">
                <a16:creationId xmlns:a16="http://schemas.microsoft.com/office/drawing/2014/main" id="{FFE26E51-B69D-94B2-D793-C02BEA9ADF8C}"/>
              </a:ext>
            </a:extLst>
          </p:cNvPr>
          <p:cNvSpPr txBox="1"/>
          <p:nvPr/>
        </p:nvSpPr>
        <p:spPr>
          <a:xfrm>
            <a:off x="7399867" y="2043032"/>
            <a:ext cx="4570133" cy="738664"/>
          </a:xfrm>
          <a:prstGeom prst="rect">
            <a:avLst/>
          </a:prstGeom>
          <a:noFill/>
        </p:spPr>
        <p:txBody>
          <a:bodyPr wrap="square">
            <a:spAutoFit/>
          </a:bodyPr>
          <a:lstStyle/>
          <a:p>
            <a:r>
              <a:rPr lang="vi-VN" sz="1400" b="1" i="0" dirty="0">
                <a:effectLst/>
                <a:latin typeface="Segoe WPC"/>
              </a:rPr>
              <a:t>Mắt người bị đánh lừa:</a:t>
            </a:r>
            <a:r>
              <a:rPr lang="vi-VN" sz="1400" b="0" i="0" dirty="0">
                <a:effectLst/>
                <a:latin typeface="Segoe WPC"/>
              </a:rPr>
              <a:t> Các bức ảnh bị tấn công (hàng dưới) gần như </a:t>
            </a:r>
            <a:r>
              <a:rPr lang="vi-VN" sz="1400" b="1" i="0" dirty="0">
                <a:effectLst/>
                <a:latin typeface="Segoe WPC"/>
              </a:rPr>
              <a:t>không có bất kỳ sự khác biệt nào</a:t>
            </a:r>
            <a:r>
              <a:rPr lang="vi-VN" sz="1400" b="0" i="0" dirty="0">
                <a:effectLst/>
                <a:latin typeface="Segoe WPC"/>
              </a:rPr>
              <a:t> so với ảnh gốc (hàng trên) đối với thị giác con người.</a:t>
            </a:r>
            <a:endParaRPr lang="en-US" sz="1400" dirty="0"/>
          </a:p>
        </p:txBody>
      </p:sp>
      <p:sp>
        <p:nvSpPr>
          <p:cNvPr id="8" name="TextBox 7">
            <a:extLst>
              <a:ext uri="{FF2B5EF4-FFF2-40B4-BE49-F238E27FC236}">
                <a16:creationId xmlns:a16="http://schemas.microsoft.com/office/drawing/2014/main" id="{0E990278-63FB-0AF9-DE7A-A2DA0EB733AA}"/>
              </a:ext>
            </a:extLst>
          </p:cNvPr>
          <p:cNvSpPr txBox="1"/>
          <p:nvPr/>
        </p:nvSpPr>
        <p:spPr>
          <a:xfrm>
            <a:off x="7556500" y="4458328"/>
            <a:ext cx="4711700" cy="738664"/>
          </a:xfrm>
          <a:prstGeom prst="rect">
            <a:avLst/>
          </a:prstGeom>
          <a:noFill/>
        </p:spPr>
        <p:txBody>
          <a:bodyPr wrap="square">
            <a:spAutoFit/>
          </a:bodyPr>
          <a:lstStyle/>
          <a:p>
            <a:r>
              <a:rPr lang="vi-VN" sz="1400" b="1" i="0" dirty="0">
                <a:effectLst/>
                <a:latin typeface="Segoe WPC"/>
              </a:rPr>
              <a:t>Mô hình sụp đổ:</a:t>
            </a:r>
            <a:r>
              <a:rPr lang="vi-VN" sz="1400" b="0" i="0" dirty="0">
                <a:effectLst/>
                <a:latin typeface="Segoe WPC"/>
              </a:rPr>
              <a:t> Dù ảnh trông hoàn toàn bình thường, mô hình AI lại tự tin đưa ra dự đoán </a:t>
            </a:r>
            <a:r>
              <a:rPr lang="vi-VN" sz="1400" b="1" i="0" dirty="0">
                <a:effectLst/>
                <a:latin typeface="Segoe WPC"/>
              </a:rPr>
              <a:t>sai lệch hoàn toàn</a:t>
            </a:r>
            <a:r>
              <a:rPr lang="vi-VN" sz="1400" b="0" i="0" dirty="0">
                <a:effectLst/>
                <a:latin typeface="Segoe WPC"/>
              </a:rPr>
              <a:t> (từ Nhãn xanh chuyển hết sang Nhãn đỏ).</a:t>
            </a:r>
            <a:endParaRPr lang="en-US" sz="1400" dirty="0"/>
          </a:p>
        </p:txBody>
      </p:sp>
    </p:spTree>
    <p:extLst>
      <p:ext uri="{BB962C8B-B14F-4D97-AF65-F5344CB8AC3E}">
        <p14:creationId xmlns:p14="http://schemas.microsoft.com/office/powerpoint/2010/main" val="6616575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6</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a:solidFill>
                  <a:srgbClr val="FFFFFF"/>
                </a:solidFill>
                <a:latin typeface="Arial" pitchFamily="34" charset="0"/>
                <a:ea typeface="Arial" pitchFamily="34" charset="-122"/>
                <a:cs typeface="Arial" pitchFamily="34" charset="-120"/>
              </a:rPr>
              <a:t>9</a:t>
            </a:r>
            <a:r>
              <a:rPr lang="en-US" sz="2000" b="1" dirty="0" smtClean="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Kết</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quả</a:t>
            </a:r>
            <a:r>
              <a:rPr lang="en-US" sz="2000" b="1" dirty="0">
                <a:solidFill>
                  <a:srgbClr val="FFFFFF"/>
                </a:solidFill>
                <a:latin typeface="Arial" pitchFamily="34" charset="0"/>
                <a:ea typeface="Arial" pitchFamily="34" charset="-122"/>
                <a:cs typeface="Arial" pitchFamily="34" charset="-120"/>
              </a:rPr>
              <a:t> ATTACK: ACCURACY </a:t>
            </a:r>
            <a:r>
              <a:rPr lang="en-US" sz="2000" b="1" dirty="0" err="1">
                <a:solidFill>
                  <a:srgbClr val="FFFFFF"/>
                </a:solidFill>
                <a:latin typeface="Arial" pitchFamily="34" charset="0"/>
                <a:ea typeface="Arial" pitchFamily="34" charset="-122"/>
                <a:cs typeface="Arial" pitchFamily="34" charset="-120"/>
              </a:rPr>
              <a:t>giảm</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mạnh</a:t>
            </a:r>
            <a:endParaRPr lang="en-US" sz="2000" dirty="0"/>
          </a:p>
        </p:txBody>
      </p:sp>
      <p:graphicFrame>
        <p:nvGraphicFramePr>
          <p:cNvPr id="5" name="Chart 0"/>
          <p:cNvGraphicFramePr/>
          <p:nvPr>
            <p:extLst>
              <p:ext uri="{D42A27DB-BD31-4B8C-83A1-F6EECF244321}">
                <p14:modId xmlns:p14="http://schemas.microsoft.com/office/powerpoint/2010/main" val="1911352632"/>
              </p:ext>
            </p:extLst>
          </p:nvPr>
        </p:nvGraphicFramePr>
        <p:xfrm>
          <a:off x="685800" y="1051560"/>
          <a:ext cx="6400800" cy="393192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7543800" y="1143000"/>
            <a:ext cx="3749040" cy="1965960"/>
          </a:xfrm>
          <a:prstGeom prst="roundRect">
            <a:avLst>
              <a:gd name="adj" fmla="val 3721"/>
            </a:avLst>
          </a:prstGeom>
          <a:solidFill>
            <a:srgbClr val="FFFFFF"/>
          </a:solidFill>
          <a:ln w="10160">
            <a:solidFill>
              <a:srgbClr val="D8D8D8"/>
            </a:solidFill>
            <a:prstDash val="solid"/>
          </a:ln>
        </p:spPr>
        <p:txBody>
          <a:bodyPr/>
          <a:lstStyle/>
          <a:p>
            <a:endParaRPr/>
          </a:p>
        </p:txBody>
      </p:sp>
      <p:sp>
        <p:nvSpPr>
          <p:cNvPr id="7" name="Shape 3"/>
          <p:cNvSpPr/>
          <p:nvPr/>
        </p:nvSpPr>
        <p:spPr>
          <a:xfrm>
            <a:off x="7543800" y="1143000"/>
            <a:ext cx="73152" cy="1965960"/>
          </a:xfrm>
          <a:prstGeom prst="rect">
            <a:avLst/>
          </a:prstGeom>
          <a:solidFill>
            <a:srgbClr val="003B6D"/>
          </a:solidFill>
          <a:ln w="12700">
            <a:solidFill>
              <a:srgbClr val="003B6D"/>
            </a:solidFill>
            <a:prstDash val="solid"/>
          </a:ln>
        </p:spPr>
        <p:txBody>
          <a:bodyPr/>
          <a:lstStyle/>
          <a:p>
            <a:endParaRPr/>
          </a:p>
        </p:txBody>
      </p:sp>
      <p:sp>
        <p:nvSpPr>
          <p:cNvPr id="8" name="Text 4"/>
          <p:cNvSpPr/>
          <p:nvPr/>
        </p:nvSpPr>
        <p:spPr>
          <a:xfrm>
            <a:off x="7708392" y="1252728"/>
            <a:ext cx="345643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Ý chính</a:t>
            </a:r>
            <a:endParaRPr lang="en-US" sz="1400" dirty="0"/>
          </a:p>
        </p:txBody>
      </p:sp>
      <p:sp>
        <p:nvSpPr>
          <p:cNvPr id="9" name="Text 5"/>
          <p:cNvSpPr/>
          <p:nvPr/>
        </p:nvSpPr>
        <p:spPr>
          <a:xfrm>
            <a:off x="7708392" y="1581912"/>
            <a:ext cx="3456432" cy="146304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Mô hình đạt 94.54% trên dữ liệu sạch, nhưng giảm xuống 43.48% với FGSM, 9.36% với PGD và 0% với C&amp;W.</a:t>
            </a:r>
            <a:endParaRPr lang="en-US" sz="1250" dirty="0"/>
          </a:p>
          <a:p>
            <a:pPr marL="0" indent="0">
              <a:buNone/>
            </a:pP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Kết quả này cho thấy accuracy cao trên dữ liệu sạch chưa đủ để đảm bảo độ tin cậy.</a:t>
            </a:r>
            <a:endParaRPr lang="en-US" sz="1250" dirty="0"/>
          </a:p>
        </p:txBody>
      </p:sp>
      <p:sp>
        <p:nvSpPr>
          <p:cNvPr id="10" name="Shape 6"/>
          <p:cNvSpPr/>
          <p:nvPr/>
        </p:nvSpPr>
        <p:spPr>
          <a:xfrm>
            <a:off x="7543800" y="3474720"/>
            <a:ext cx="3749040" cy="1005840"/>
          </a:xfrm>
          <a:prstGeom prst="roundRect">
            <a:avLst>
              <a:gd name="adj" fmla="val 7273"/>
            </a:avLst>
          </a:prstGeom>
          <a:solidFill>
            <a:srgbClr val="FFFFFF"/>
          </a:solidFill>
          <a:ln w="10160">
            <a:solidFill>
              <a:srgbClr val="D8D8D8"/>
            </a:solidFill>
            <a:prstDash val="solid"/>
          </a:ln>
        </p:spPr>
        <p:txBody>
          <a:bodyPr/>
          <a:lstStyle/>
          <a:p>
            <a:endParaRPr/>
          </a:p>
        </p:txBody>
      </p:sp>
      <p:sp>
        <p:nvSpPr>
          <p:cNvPr id="11" name="Shape 7"/>
          <p:cNvSpPr/>
          <p:nvPr/>
        </p:nvSpPr>
        <p:spPr>
          <a:xfrm>
            <a:off x="7543800" y="3474720"/>
            <a:ext cx="73152" cy="1005840"/>
          </a:xfrm>
          <a:prstGeom prst="rect">
            <a:avLst/>
          </a:prstGeom>
          <a:solidFill>
            <a:srgbClr val="C91F35"/>
          </a:solidFill>
          <a:ln w="12700">
            <a:solidFill>
              <a:srgbClr val="C91F35"/>
            </a:solidFill>
            <a:prstDash val="solid"/>
          </a:ln>
        </p:spPr>
        <p:txBody>
          <a:bodyPr/>
          <a:lstStyle/>
          <a:p>
            <a:endParaRPr/>
          </a:p>
        </p:txBody>
      </p:sp>
      <p:sp>
        <p:nvSpPr>
          <p:cNvPr id="12" name="Text 8"/>
          <p:cNvSpPr/>
          <p:nvPr/>
        </p:nvSpPr>
        <p:spPr>
          <a:xfrm>
            <a:off x="7708392" y="3584448"/>
            <a:ext cx="3456432" cy="256032"/>
          </a:xfrm>
          <a:prstGeom prst="rect">
            <a:avLst/>
          </a:prstGeom>
          <a:noFill/>
          <a:ln/>
        </p:spPr>
        <p:txBody>
          <a:bodyPr wrap="square" lIns="254" tIns="254" rIns="254" bIns="254" rtlCol="0" anchor="ctr"/>
          <a:lstStyle/>
          <a:p>
            <a:pPr marL="0" indent="0">
              <a:buNone/>
            </a:pPr>
            <a:r>
              <a:rPr lang="en-US" sz="1400" b="1" dirty="0">
                <a:solidFill>
                  <a:srgbClr val="C91F35"/>
                </a:solidFill>
                <a:latin typeface="Arial" pitchFamily="34" charset="0"/>
                <a:ea typeface="Arial" pitchFamily="34" charset="-122"/>
                <a:cs typeface="Arial" pitchFamily="34" charset="-120"/>
              </a:rPr>
              <a:t>Kết luận tạm thời</a:t>
            </a:r>
            <a:endParaRPr lang="en-US" sz="1400" dirty="0"/>
          </a:p>
        </p:txBody>
      </p:sp>
      <p:sp>
        <p:nvSpPr>
          <p:cNvPr id="13" name="Text 9"/>
          <p:cNvSpPr/>
          <p:nvPr/>
        </p:nvSpPr>
        <p:spPr>
          <a:xfrm>
            <a:off x="7708392" y="3913632"/>
            <a:ext cx="3456432" cy="50292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Các attack càng tối ưu mạnh thì accuracy càng giảm. Cần áp dụng defense để tăng robustness.</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rPr lang="en-US" sz="600" dirty="0">
                <a:solidFill>
                  <a:srgbClr val="003B6D"/>
                </a:solidFill>
                <a:latin typeface="Arial" pitchFamily="34" charset="0"/>
                <a:ea typeface="Arial" pitchFamily="34" charset="-122"/>
                <a:cs typeface="Arial" pitchFamily="34" charset="-120"/>
              </a:rPr>
              <a:t>7</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pPr>
            <a:r>
              <a:rPr lang="en-US" sz="2000" b="1" dirty="0" smtClean="0">
                <a:solidFill>
                  <a:srgbClr val="FFFFFF"/>
                </a:solidFill>
                <a:latin typeface="Arial" pitchFamily="34" charset="0"/>
                <a:ea typeface="Arial" pitchFamily="34" charset="-122"/>
                <a:cs typeface="Arial" pitchFamily="34" charset="-120"/>
              </a:rPr>
              <a:t>10. </a:t>
            </a:r>
            <a:r>
              <a:rPr lang="en-US" sz="2000" b="1" dirty="0">
                <a:solidFill>
                  <a:srgbClr val="FFFFFF"/>
                </a:solidFill>
                <a:latin typeface="Arial" pitchFamily="34" charset="0"/>
                <a:ea typeface="Arial" pitchFamily="34" charset="-122"/>
                <a:cs typeface="Arial" pitchFamily="34" charset="-120"/>
              </a:rPr>
              <a:t>Các </a:t>
            </a:r>
            <a:r>
              <a:rPr lang="en-US" sz="2000" b="1" dirty="0" err="1">
                <a:solidFill>
                  <a:srgbClr val="FFFFFF"/>
                </a:solidFill>
                <a:latin typeface="Arial" pitchFamily="34" charset="0"/>
                <a:ea typeface="Arial" pitchFamily="34" charset="-122"/>
                <a:cs typeface="Arial" pitchFamily="34" charset="-120"/>
              </a:rPr>
              <a:t>phương</a:t>
            </a:r>
            <a:r>
              <a:rPr lang="en-US" sz="2000" b="1" dirty="0">
                <a:solidFill>
                  <a:srgbClr val="FFFFFF"/>
                </a:solidFill>
                <a:latin typeface="Arial" pitchFamily="34" charset="0"/>
                <a:ea typeface="Arial" pitchFamily="34" charset="-122"/>
                <a:cs typeface="Arial" pitchFamily="34" charset="-120"/>
              </a:rPr>
              <a:t> </a:t>
            </a:r>
            <a:r>
              <a:rPr lang="en-US" sz="2000" b="1" dirty="0" err="1">
                <a:solidFill>
                  <a:srgbClr val="FFFFFF"/>
                </a:solidFill>
                <a:latin typeface="Arial" pitchFamily="34" charset="0"/>
                <a:ea typeface="Arial" pitchFamily="34" charset="-122"/>
                <a:cs typeface="Arial" pitchFamily="34" charset="-120"/>
              </a:rPr>
              <a:t>pháp</a:t>
            </a:r>
            <a:r>
              <a:rPr lang="en-US" sz="2000" b="1" dirty="0">
                <a:solidFill>
                  <a:srgbClr val="FFFFFF"/>
                </a:solidFill>
                <a:latin typeface="Arial" pitchFamily="34" charset="0"/>
                <a:ea typeface="Arial" pitchFamily="34" charset="-122"/>
                <a:cs typeface="Arial" pitchFamily="34" charset="-120"/>
              </a:rPr>
              <a:t> DEFENSE</a:t>
            </a:r>
            <a:endParaRPr lang="en-US" sz="2000" dirty="0"/>
          </a:p>
        </p:txBody>
      </p:sp>
      <p:sp>
        <p:nvSpPr>
          <p:cNvPr id="5" name="Shape 2"/>
          <p:cNvSpPr/>
          <p:nvPr/>
        </p:nvSpPr>
        <p:spPr>
          <a:xfrm>
            <a:off x="594360" y="1316736"/>
            <a:ext cx="3429000" cy="1965960"/>
          </a:xfrm>
          <a:prstGeom prst="roundRect">
            <a:avLst>
              <a:gd name="adj" fmla="val 3721"/>
            </a:avLst>
          </a:prstGeom>
          <a:solidFill>
            <a:srgbClr val="FFFFFF"/>
          </a:solidFill>
          <a:ln w="10160">
            <a:solidFill>
              <a:srgbClr val="D8D8D8"/>
            </a:solidFill>
            <a:prstDash val="solid"/>
          </a:ln>
        </p:spPr>
        <p:txBody>
          <a:bodyPr/>
          <a:lstStyle/>
          <a:p>
            <a:endParaRPr/>
          </a:p>
        </p:txBody>
      </p:sp>
      <p:sp>
        <p:nvSpPr>
          <p:cNvPr id="6" name="Shape 3"/>
          <p:cNvSpPr/>
          <p:nvPr/>
        </p:nvSpPr>
        <p:spPr>
          <a:xfrm>
            <a:off x="594360" y="1316736"/>
            <a:ext cx="73152" cy="1965960"/>
          </a:xfrm>
          <a:prstGeom prst="rect">
            <a:avLst/>
          </a:prstGeom>
          <a:solidFill>
            <a:srgbClr val="003B6D"/>
          </a:solidFill>
          <a:ln w="12700">
            <a:solidFill>
              <a:srgbClr val="003B6D"/>
            </a:solidFill>
            <a:prstDash val="solid"/>
          </a:ln>
        </p:spPr>
        <p:txBody>
          <a:bodyPr/>
          <a:lstStyle/>
          <a:p>
            <a:endParaRPr/>
          </a:p>
        </p:txBody>
      </p:sp>
      <p:sp>
        <p:nvSpPr>
          <p:cNvPr id="7" name="Text 4"/>
          <p:cNvSpPr/>
          <p:nvPr/>
        </p:nvSpPr>
        <p:spPr>
          <a:xfrm>
            <a:off x="758952" y="1426464"/>
            <a:ext cx="313639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Input Preprocessing</a:t>
            </a:r>
            <a:endParaRPr lang="en-US" sz="1400" dirty="0"/>
          </a:p>
          <a:p>
            <a:pPr marL="0" indent="0">
              <a:buNone/>
            </a:pPr>
            <a:r>
              <a:rPr lang="en-US" sz="1400" b="1" dirty="0">
                <a:solidFill>
                  <a:srgbClr val="003B6D"/>
                </a:solidFill>
                <a:latin typeface="Arial" pitchFamily="34" charset="0"/>
                <a:ea typeface="Arial" pitchFamily="34" charset="-122"/>
                <a:cs typeface="Arial" pitchFamily="34" charset="-120"/>
              </a:rPr>
              <a:t>(JPEG Compression)</a:t>
            </a:r>
            <a:endParaRPr lang="en-US" sz="1400" dirty="0"/>
          </a:p>
        </p:txBody>
      </p:sp>
      <p:sp>
        <p:nvSpPr>
          <p:cNvPr id="8" name="Text 5"/>
          <p:cNvSpPr/>
          <p:nvPr/>
        </p:nvSpPr>
        <p:spPr>
          <a:xfrm>
            <a:off x="758952" y="1755648"/>
            <a:ext cx="3136392" cy="146304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Nén JPEG trước khi đưa ảnh vào mô hình.</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Mục tiêu: làm suy yếu nhiễu tần số cao nhưng vẫn giữ đặc trưng quan trọng.</a:t>
            </a:r>
            <a:endParaRPr lang="en-US" sz="1250" dirty="0"/>
          </a:p>
        </p:txBody>
      </p:sp>
      <p:sp>
        <p:nvSpPr>
          <p:cNvPr id="9" name="Shape 6"/>
          <p:cNvSpPr/>
          <p:nvPr/>
        </p:nvSpPr>
        <p:spPr>
          <a:xfrm>
            <a:off x="4370832" y="1316736"/>
            <a:ext cx="3429000" cy="1965960"/>
          </a:xfrm>
          <a:prstGeom prst="roundRect">
            <a:avLst>
              <a:gd name="adj" fmla="val 3721"/>
            </a:avLst>
          </a:prstGeom>
          <a:solidFill>
            <a:srgbClr val="FFFFFF"/>
          </a:solidFill>
          <a:ln w="10160">
            <a:solidFill>
              <a:srgbClr val="D8D8D8"/>
            </a:solidFill>
            <a:prstDash val="solid"/>
          </a:ln>
        </p:spPr>
        <p:txBody>
          <a:bodyPr/>
          <a:lstStyle/>
          <a:p>
            <a:endParaRPr/>
          </a:p>
        </p:txBody>
      </p:sp>
      <p:sp>
        <p:nvSpPr>
          <p:cNvPr id="10" name="Shape 7"/>
          <p:cNvSpPr/>
          <p:nvPr/>
        </p:nvSpPr>
        <p:spPr>
          <a:xfrm>
            <a:off x="4370832" y="1316736"/>
            <a:ext cx="73152" cy="1965960"/>
          </a:xfrm>
          <a:prstGeom prst="rect">
            <a:avLst/>
          </a:prstGeom>
          <a:solidFill>
            <a:srgbClr val="C91F35"/>
          </a:solidFill>
          <a:ln w="12700">
            <a:solidFill>
              <a:srgbClr val="C91F35"/>
            </a:solidFill>
            <a:prstDash val="solid"/>
          </a:ln>
        </p:spPr>
        <p:txBody>
          <a:bodyPr/>
          <a:lstStyle/>
          <a:p>
            <a:endParaRPr/>
          </a:p>
        </p:txBody>
      </p:sp>
      <p:sp>
        <p:nvSpPr>
          <p:cNvPr id="11" name="Text 8"/>
          <p:cNvSpPr/>
          <p:nvPr/>
        </p:nvSpPr>
        <p:spPr>
          <a:xfrm>
            <a:off x="4535424" y="1426464"/>
            <a:ext cx="3136392" cy="256032"/>
          </a:xfrm>
          <a:prstGeom prst="rect">
            <a:avLst/>
          </a:prstGeom>
          <a:noFill/>
          <a:ln/>
        </p:spPr>
        <p:txBody>
          <a:bodyPr wrap="square" lIns="254" tIns="254" rIns="254" bIns="254" rtlCol="0" anchor="ctr"/>
          <a:lstStyle/>
          <a:p>
            <a:pPr marL="0" indent="0">
              <a:buNone/>
            </a:pPr>
            <a:r>
              <a:rPr lang="en-US" sz="1400" b="1" dirty="0">
                <a:solidFill>
                  <a:srgbClr val="C91F35"/>
                </a:solidFill>
                <a:latin typeface="Arial" pitchFamily="34" charset="0"/>
                <a:ea typeface="Arial" pitchFamily="34" charset="-122"/>
                <a:cs typeface="Arial" pitchFamily="34" charset="-120"/>
              </a:rPr>
              <a:t>Randomized Smoothing</a:t>
            </a:r>
            <a:endParaRPr lang="en-US" sz="1400" dirty="0"/>
          </a:p>
        </p:txBody>
      </p:sp>
      <p:sp>
        <p:nvSpPr>
          <p:cNvPr id="12" name="Text 9"/>
          <p:cNvSpPr/>
          <p:nvPr/>
        </p:nvSpPr>
        <p:spPr>
          <a:xfrm>
            <a:off x="4535424" y="1755648"/>
            <a:ext cx="3136392" cy="146304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Thêm nhiễu Gaussian nhiều lần khi suy luận, sau đó tổng hợp dự đoán bằng soft voting.</a:t>
            </a:r>
            <a:endParaRPr lang="en-US" sz="1250" dirty="0"/>
          </a:p>
        </p:txBody>
      </p:sp>
      <p:sp>
        <p:nvSpPr>
          <p:cNvPr id="13" name="Shape 10"/>
          <p:cNvSpPr/>
          <p:nvPr/>
        </p:nvSpPr>
        <p:spPr>
          <a:xfrm>
            <a:off x="8147304" y="1316736"/>
            <a:ext cx="3429000" cy="1965960"/>
          </a:xfrm>
          <a:prstGeom prst="roundRect">
            <a:avLst>
              <a:gd name="adj" fmla="val 3721"/>
            </a:avLst>
          </a:prstGeom>
          <a:solidFill>
            <a:srgbClr val="FFFFFF"/>
          </a:solidFill>
          <a:ln w="10160">
            <a:solidFill>
              <a:srgbClr val="D8D8D8"/>
            </a:solidFill>
            <a:prstDash val="solid"/>
          </a:ln>
        </p:spPr>
        <p:txBody>
          <a:bodyPr/>
          <a:lstStyle/>
          <a:p>
            <a:endParaRPr/>
          </a:p>
        </p:txBody>
      </p:sp>
      <p:sp>
        <p:nvSpPr>
          <p:cNvPr id="14" name="Shape 11"/>
          <p:cNvSpPr/>
          <p:nvPr/>
        </p:nvSpPr>
        <p:spPr>
          <a:xfrm>
            <a:off x="8147304" y="1316736"/>
            <a:ext cx="73152" cy="1965960"/>
          </a:xfrm>
          <a:prstGeom prst="rect">
            <a:avLst/>
          </a:prstGeom>
          <a:solidFill>
            <a:srgbClr val="003B6D"/>
          </a:solidFill>
          <a:ln w="12700">
            <a:solidFill>
              <a:srgbClr val="003B6D"/>
            </a:solidFill>
            <a:prstDash val="solid"/>
          </a:ln>
        </p:spPr>
        <p:txBody>
          <a:bodyPr/>
          <a:lstStyle/>
          <a:p>
            <a:endParaRPr/>
          </a:p>
        </p:txBody>
      </p:sp>
      <p:sp>
        <p:nvSpPr>
          <p:cNvPr id="15" name="Text 12"/>
          <p:cNvSpPr/>
          <p:nvPr/>
        </p:nvSpPr>
        <p:spPr>
          <a:xfrm>
            <a:off x="8311896" y="1426464"/>
            <a:ext cx="313639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Adversarial Training</a:t>
            </a:r>
            <a:endParaRPr lang="en-US" sz="1400" dirty="0"/>
          </a:p>
        </p:txBody>
      </p:sp>
      <p:sp>
        <p:nvSpPr>
          <p:cNvPr id="16" name="Text 13"/>
          <p:cNvSpPr/>
          <p:nvPr/>
        </p:nvSpPr>
        <p:spPr>
          <a:xfrm>
            <a:off x="8311896" y="1755648"/>
            <a:ext cx="3136392" cy="146304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Đưa ảnh adversarial vào quá trình huấn luyện để mô hình học trực tiếp cách kháng nhiễu.</a:t>
            </a:r>
            <a:endParaRPr lang="en-US" sz="1250" dirty="0"/>
          </a:p>
        </p:txBody>
      </p:sp>
      <p:sp>
        <p:nvSpPr>
          <p:cNvPr id="17" name="Text 14"/>
          <p:cNvSpPr/>
          <p:nvPr/>
        </p:nvSpPr>
        <p:spPr>
          <a:xfrm>
            <a:off x="685800" y="3703320"/>
            <a:ext cx="2743200" cy="274320"/>
          </a:xfrm>
          <a:prstGeom prst="rect">
            <a:avLst/>
          </a:prstGeom>
          <a:noFill/>
          <a:ln/>
        </p:spPr>
        <p:txBody>
          <a:bodyPr wrap="square" lIns="254" tIns="254" rIns="254" bIns="254" rtlCol="0" anchor="ctr"/>
          <a:lstStyle/>
          <a:p>
            <a:pPr marL="0" indent="0">
              <a:buNone/>
            </a:pPr>
            <a:r>
              <a:rPr lang="en-US" sz="1500" b="1" dirty="0">
                <a:solidFill>
                  <a:srgbClr val="C91F35"/>
                </a:solidFill>
                <a:latin typeface="Arial" pitchFamily="34" charset="0"/>
                <a:ea typeface="Arial" pitchFamily="34" charset="-122"/>
                <a:cs typeface="Arial" pitchFamily="34" charset="-120"/>
              </a:rPr>
              <a:t>Chiến lược tiếp cận</a:t>
            </a:r>
            <a:endParaRPr lang="en-US" sz="1500" dirty="0"/>
          </a:p>
        </p:txBody>
      </p:sp>
      <p:sp>
        <p:nvSpPr>
          <p:cNvPr id="18" name="Text 15"/>
          <p:cNvSpPr/>
          <p:nvPr/>
        </p:nvSpPr>
        <p:spPr>
          <a:xfrm>
            <a:off x="868680" y="4096512"/>
            <a:ext cx="10012680" cy="1005840"/>
          </a:xfrm>
          <a:prstGeom prst="rect">
            <a:avLst/>
          </a:prstGeom>
          <a:noFill/>
          <a:ln/>
        </p:spPr>
        <p:txBody>
          <a:bodyPr wrap="square" lIns="254" tIns="254" rIns="254" bIns="254" rtlCol="0" anchor="ctr">
            <a:normAutofit/>
          </a:bodyPr>
          <a:lstStyle/>
          <a:p>
            <a:r>
              <a:rPr lang="en-US" sz="1500" dirty="0">
                <a:solidFill>
                  <a:srgbClr val="1A1A1A"/>
                </a:solidFill>
                <a:latin typeface="Arial" pitchFamily="34" charset="0"/>
                <a:ea typeface="Arial" pitchFamily="34" charset="-122"/>
                <a:cs typeface="Arial" pitchFamily="34" charset="-120"/>
              </a:rPr>
              <a:t>Bắt đầu từ phương pháp nhẹ, không đổi mô hình: JPEG Compression.</a:t>
            </a:r>
            <a:endParaRPr lang="en-US" sz="1500" dirty="0"/>
          </a:p>
          <a:p>
            <a:r>
              <a:rPr lang="en-US" sz="1500" dirty="0">
                <a:solidFill>
                  <a:srgbClr val="1A1A1A"/>
                </a:solidFill>
                <a:latin typeface="Arial" pitchFamily="34" charset="0"/>
                <a:ea typeface="Arial" pitchFamily="34" charset="-122"/>
                <a:cs typeface="Arial" pitchFamily="34" charset="-120"/>
              </a:rPr>
              <a:t>Thử phương pháp có cơ sở lý thuyết: Randomized Smoothing.</a:t>
            </a:r>
            <a:endParaRPr lang="en-US" sz="1500" dirty="0"/>
          </a:p>
          <a:p>
            <a:r>
              <a:rPr lang="en-US" sz="1500" dirty="0">
                <a:solidFill>
                  <a:srgbClr val="1A1A1A"/>
                </a:solidFill>
                <a:latin typeface="Arial" pitchFamily="34" charset="0"/>
                <a:ea typeface="Arial" pitchFamily="34" charset="-122"/>
                <a:cs typeface="Arial" pitchFamily="34" charset="-120"/>
              </a:rPr>
              <a:t>Cuối cùng can thiệp trực tiếp vào quá trình học: Adversarial Training.</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550000" y="6473952"/>
            <a:ext cx="4200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l">
              <a:defRPr sz="800">
                <a:solidFill>
                  <a:srgbClr val="000000"/>
                </a:solidFill>
                <a:latin typeface="Arial"/>
              </a:defRPr>
            </a:pPr>
            <a:r>
              <a:t>8</a:t>
            </a:r>
          </a:p>
        </p:txBody>
      </p:sp>
      <p:sp>
        <p:nvSpPr>
          <p:cNvPr id="4" name="Rectangle 3"/>
          <p:cNvSpPr/>
          <p:nvPr/>
        </p:nvSpPr>
        <p:spPr>
          <a:xfrm>
            <a:off x="329184" y="118872"/>
            <a:ext cx="110000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255B95"/>
                </a:solidFill>
                <a:latin typeface="Arial"/>
              </a:defRPr>
            </a:pPr>
            <a:r>
              <a:rPr lang="en-US" sz="2000" dirty="0" smtClean="0">
                <a:solidFill>
                  <a:schemeClr val="bg1"/>
                </a:solidFill>
              </a:rPr>
              <a:t>11</a:t>
            </a:r>
            <a:r>
              <a:rPr sz="2000" dirty="0" smtClean="0">
                <a:solidFill>
                  <a:schemeClr val="bg1"/>
                </a:solidFill>
              </a:rPr>
              <a:t>. </a:t>
            </a:r>
            <a:r>
              <a:rPr sz="2000" dirty="0" err="1">
                <a:solidFill>
                  <a:schemeClr val="bg1"/>
                </a:solidFill>
              </a:rPr>
              <a:t>K</a:t>
            </a:r>
            <a:r>
              <a:rPr lang="en-US" sz="2000" dirty="0" err="1">
                <a:solidFill>
                  <a:schemeClr val="bg1"/>
                </a:solidFill>
              </a:rPr>
              <a:t>ết</a:t>
            </a:r>
            <a:r>
              <a:rPr lang="en-US" sz="2000" dirty="0">
                <a:solidFill>
                  <a:schemeClr val="bg1"/>
                </a:solidFill>
              </a:rPr>
              <a:t> </a:t>
            </a:r>
            <a:r>
              <a:rPr lang="en-US" sz="2000" dirty="0" err="1">
                <a:solidFill>
                  <a:schemeClr val="bg1"/>
                </a:solidFill>
              </a:rPr>
              <a:t>quả</a:t>
            </a:r>
            <a:r>
              <a:rPr sz="2000" dirty="0">
                <a:solidFill>
                  <a:schemeClr val="bg1"/>
                </a:solidFill>
              </a:rPr>
              <a:t> DEFENSE 1: JPEG COMPRESSION</a:t>
            </a:r>
          </a:p>
        </p:txBody>
      </p:sp>
      <p:graphicFrame>
        <p:nvGraphicFramePr>
          <p:cNvPr id="5" name="Chart 4"/>
          <p:cNvGraphicFramePr>
            <a:graphicFrameLocks noGrp="1"/>
          </p:cNvGraphicFramePr>
          <p:nvPr>
            <p:extLst>
              <p:ext uri="{D42A27DB-BD31-4B8C-83A1-F6EECF244321}">
                <p14:modId xmlns:p14="http://schemas.microsoft.com/office/powerpoint/2010/main" val="1214619144"/>
              </p:ext>
            </p:extLst>
          </p:nvPr>
        </p:nvGraphicFramePr>
        <p:xfrm>
          <a:off x="600000" y="1193822"/>
          <a:ext cx="6600000" cy="3150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7435000" y="1300000"/>
            <a:ext cx="3700000" cy="15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435000" y="1300000"/>
            <a:ext cx="73152" cy="15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600000" y="1410000"/>
            <a:ext cx="3400000" cy="300000"/>
          </a:xfrm>
          <a:prstGeom prst="rect">
            <a:avLst/>
          </a:prstGeom>
          <a:noFill/>
        </p:spPr>
        <p:txBody>
          <a:bodyPr wrap="none">
            <a:spAutoFit/>
          </a:bodyPr>
          <a:lstStyle/>
          <a:p>
            <a:pPr>
              <a:defRPr sz="1400" b="1">
                <a:solidFill>
                  <a:srgbClr val="255B95"/>
                </a:solidFill>
                <a:latin typeface="Arial"/>
              </a:defRPr>
            </a:pPr>
            <a:r>
              <a:t>Kết quả chính</a:t>
            </a:r>
          </a:p>
        </p:txBody>
      </p:sp>
      <p:sp>
        <p:nvSpPr>
          <p:cNvPr id="9" name="TextBox 8"/>
          <p:cNvSpPr txBox="1"/>
          <p:nvPr/>
        </p:nvSpPr>
        <p:spPr>
          <a:xfrm>
            <a:off x="7600000" y="1740000"/>
            <a:ext cx="3400000" cy="980000"/>
          </a:xfrm>
          <a:prstGeom prst="rect">
            <a:avLst/>
          </a:prstGeom>
          <a:noFill/>
        </p:spPr>
        <p:txBody>
          <a:bodyPr wrap="square">
            <a:spAutoFit/>
          </a:bodyPr>
          <a:lstStyle/>
          <a:p>
            <a:pPr>
              <a:spcAft>
                <a:spcPts val="400"/>
              </a:spcAft>
              <a:defRPr sz="1200">
                <a:solidFill>
                  <a:srgbClr val="1E2D41"/>
                </a:solidFill>
                <a:latin typeface="Arial"/>
              </a:defRPr>
            </a:pPr>
            <a:r>
              <a:rPr dirty="0"/>
              <a:t>Q = 75 </a:t>
            </a:r>
            <a:r>
              <a:rPr dirty="0" err="1"/>
              <a:t>cho</a:t>
            </a:r>
            <a:r>
              <a:rPr dirty="0"/>
              <a:t> </a:t>
            </a:r>
            <a:r>
              <a:rPr dirty="0" err="1"/>
              <a:t>kết</a:t>
            </a:r>
            <a:r>
              <a:rPr dirty="0"/>
              <a:t> </a:t>
            </a:r>
            <a:r>
              <a:rPr dirty="0" err="1"/>
              <a:t>quả</a:t>
            </a:r>
            <a:r>
              <a:rPr dirty="0"/>
              <a:t> </a:t>
            </a:r>
            <a:r>
              <a:rPr dirty="0" err="1"/>
              <a:t>tốt</a:t>
            </a:r>
            <a:r>
              <a:rPr dirty="0"/>
              <a:t> </a:t>
            </a:r>
            <a:r>
              <a:rPr dirty="0" err="1"/>
              <a:t>nhất</a:t>
            </a:r>
            <a:r>
              <a:rPr dirty="0"/>
              <a:t> </a:t>
            </a:r>
            <a:r>
              <a:rPr dirty="0" err="1"/>
              <a:t>trên</a:t>
            </a:r>
            <a:r>
              <a:rPr dirty="0"/>
              <a:t> </a:t>
            </a:r>
            <a:r>
              <a:rPr dirty="0" err="1"/>
              <a:t>cả</a:t>
            </a:r>
            <a:r>
              <a:rPr dirty="0"/>
              <a:t> 3 attack.</a:t>
            </a:r>
          </a:p>
          <a:p>
            <a:pPr>
              <a:spcAft>
                <a:spcPts val="400"/>
              </a:spcAft>
              <a:defRPr sz="1200">
                <a:solidFill>
                  <a:srgbClr val="1E2D41"/>
                </a:solidFill>
                <a:latin typeface="Arial"/>
              </a:defRPr>
            </a:pPr>
            <a:r>
              <a:rPr dirty="0"/>
              <a:t>PGD </a:t>
            </a:r>
            <a:r>
              <a:rPr dirty="0" err="1"/>
              <a:t>phục</a:t>
            </a:r>
            <a:r>
              <a:rPr dirty="0"/>
              <a:t> </a:t>
            </a:r>
            <a:r>
              <a:rPr dirty="0" err="1"/>
              <a:t>hồi</a:t>
            </a:r>
            <a:r>
              <a:rPr dirty="0"/>
              <a:t> </a:t>
            </a:r>
            <a:r>
              <a:rPr dirty="0" err="1"/>
              <a:t>từ</a:t>
            </a:r>
            <a:r>
              <a:rPr dirty="0"/>
              <a:t> 9.36% </a:t>
            </a:r>
            <a:r>
              <a:rPr dirty="0" err="1"/>
              <a:t>lên</a:t>
            </a:r>
            <a:r>
              <a:rPr dirty="0"/>
              <a:t> 74.54%.</a:t>
            </a:r>
          </a:p>
          <a:p>
            <a:pPr>
              <a:spcAft>
                <a:spcPts val="400"/>
              </a:spcAft>
              <a:defRPr sz="1200">
                <a:solidFill>
                  <a:srgbClr val="1E2D41"/>
                </a:solidFill>
                <a:latin typeface="Arial"/>
              </a:defRPr>
            </a:pPr>
            <a:r>
              <a:rPr dirty="0"/>
              <a:t>C&amp;W </a:t>
            </a:r>
            <a:r>
              <a:rPr dirty="0" err="1"/>
              <a:t>phục</a:t>
            </a:r>
            <a:r>
              <a:rPr dirty="0"/>
              <a:t> </a:t>
            </a:r>
            <a:r>
              <a:rPr dirty="0" err="1"/>
              <a:t>hồi</a:t>
            </a:r>
            <a:r>
              <a:rPr dirty="0"/>
              <a:t> </a:t>
            </a:r>
            <a:r>
              <a:rPr dirty="0" err="1"/>
              <a:t>từ</a:t>
            </a:r>
            <a:r>
              <a:rPr dirty="0"/>
              <a:t> 0.00% </a:t>
            </a:r>
            <a:r>
              <a:rPr dirty="0" err="1"/>
              <a:t>lên</a:t>
            </a:r>
            <a:r>
              <a:rPr dirty="0"/>
              <a:t> 77.52%.</a:t>
            </a:r>
          </a:p>
        </p:txBody>
      </p:sp>
      <p:sp>
        <p:nvSpPr>
          <p:cNvPr id="10" name="Rounded Rectangle 9"/>
          <p:cNvSpPr/>
          <p:nvPr/>
        </p:nvSpPr>
        <p:spPr>
          <a:xfrm>
            <a:off x="7435000" y="3020000"/>
            <a:ext cx="3700000" cy="14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435000" y="3020000"/>
            <a:ext cx="73152" cy="14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600000" y="3130000"/>
            <a:ext cx="3400000" cy="300000"/>
          </a:xfrm>
          <a:prstGeom prst="rect">
            <a:avLst/>
          </a:prstGeom>
          <a:noFill/>
        </p:spPr>
        <p:txBody>
          <a:bodyPr wrap="none">
            <a:spAutoFit/>
          </a:bodyPr>
          <a:lstStyle/>
          <a:p>
            <a:pPr>
              <a:defRPr sz="1400" b="1">
                <a:solidFill>
                  <a:srgbClr val="255B95"/>
                </a:solidFill>
                <a:latin typeface="Arial"/>
              </a:defRPr>
            </a:pPr>
            <a:r>
              <a:t>Chi phí inference</a:t>
            </a:r>
          </a:p>
        </p:txBody>
      </p:sp>
      <p:sp>
        <p:nvSpPr>
          <p:cNvPr id="13" name="TextBox 12"/>
          <p:cNvSpPr txBox="1"/>
          <p:nvPr/>
        </p:nvSpPr>
        <p:spPr>
          <a:xfrm>
            <a:off x="7600000" y="3460000"/>
            <a:ext cx="3400000" cy="880000"/>
          </a:xfrm>
          <a:prstGeom prst="rect">
            <a:avLst/>
          </a:prstGeom>
          <a:noFill/>
        </p:spPr>
        <p:txBody>
          <a:bodyPr wrap="square">
            <a:spAutoFit/>
          </a:bodyPr>
          <a:lstStyle/>
          <a:p>
            <a:pPr>
              <a:spcAft>
                <a:spcPts val="400"/>
              </a:spcAft>
              <a:defRPr sz="1200">
                <a:solidFill>
                  <a:srgbClr val="1E2D41"/>
                </a:solidFill>
                <a:latin typeface="Arial"/>
              </a:defRPr>
            </a:pPr>
            <a:r>
              <a:t>Baseline: 1.71s / 5.000 ảnh.</a:t>
            </a:r>
          </a:p>
          <a:p>
            <a:pPr>
              <a:spcAft>
                <a:spcPts val="400"/>
              </a:spcAft>
              <a:defRPr sz="1200">
                <a:solidFill>
                  <a:srgbClr val="1E2D41"/>
                </a:solidFill>
                <a:latin typeface="Arial"/>
              </a:defRPr>
            </a:pPr>
            <a:r>
              <a:t>JPEG: 2.16–2.29s / 5.000 ảnh.</a:t>
            </a:r>
          </a:p>
          <a:p>
            <a:pPr>
              <a:spcAft>
                <a:spcPts val="400"/>
              </a:spcAft>
              <a:defRPr sz="1200">
                <a:solidFill>
                  <a:srgbClr val="1E2D41"/>
                </a:solidFill>
                <a:latin typeface="Arial"/>
              </a:defRPr>
            </a:pPr>
            <a:r>
              <a:t>Overhead chỉ khoảng 27–34%.</a:t>
            </a:r>
          </a:p>
        </p:txBody>
      </p:sp>
      <p:sp>
        <p:nvSpPr>
          <p:cNvPr id="14" name="Rounded Rectangle 13"/>
          <p:cNvSpPr/>
          <p:nvPr/>
        </p:nvSpPr>
        <p:spPr>
          <a:xfrm>
            <a:off x="600000" y="4500000"/>
            <a:ext cx="10500000" cy="9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0000" y="4500000"/>
            <a:ext cx="73152" cy="9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5000" y="4610000"/>
            <a:ext cx="10200000" cy="300000"/>
          </a:xfrm>
          <a:prstGeom prst="rect">
            <a:avLst/>
          </a:prstGeom>
          <a:noFill/>
        </p:spPr>
        <p:txBody>
          <a:bodyPr wrap="none">
            <a:spAutoFit/>
          </a:bodyPr>
          <a:lstStyle/>
          <a:p>
            <a:pPr>
              <a:defRPr sz="1400" b="1">
                <a:solidFill>
                  <a:srgbClr val="255B95"/>
                </a:solidFill>
                <a:latin typeface="Arial"/>
              </a:defRPr>
            </a:pPr>
            <a:r>
              <a:t>Nhận xét</a:t>
            </a:r>
          </a:p>
        </p:txBody>
      </p:sp>
      <p:sp>
        <p:nvSpPr>
          <p:cNvPr id="17" name="TextBox 16"/>
          <p:cNvSpPr txBox="1"/>
          <p:nvPr/>
        </p:nvSpPr>
        <p:spPr>
          <a:xfrm>
            <a:off x="765000" y="4940000"/>
            <a:ext cx="10200000" cy="380000"/>
          </a:xfrm>
          <a:prstGeom prst="rect">
            <a:avLst/>
          </a:prstGeom>
          <a:noFill/>
        </p:spPr>
        <p:txBody>
          <a:bodyPr wrap="square">
            <a:spAutoFit/>
          </a:bodyPr>
          <a:lstStyle/>
          <a:p>
            <a:pPr>
              <a:spcAft>
                <a:spcPts val="400"/>
              </a:spcAft>
              <a:defRPr sz="1200">
                <a:solidFill>
                  <a:srgbClr val="1E2D41"/>
                </a:solidFill>
                <a:latin typeface="Arial"/>
              </a:defRPr>
            </a:pPr>
            <a:r>
              <a:t>JPEG Compression là defense nhẹ, dễ thêm vào pipeline, phù hợp khi cần triển khai nhanh. Điểm yếu là có thể bị attacker thiết kế attack để vượt qua bước tiền xử lý.</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550000" y="6473952"/>
            <a:ext cx="4200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l">
              <a:defRPr sz="800">
                <a:solidFill>
                  <a:srgbClr val="000000"/>
                </a:solidFill>
                <a:latin typeface="Arial"/>
              </a:defRPr>
            </a:pPr>
            <a:r>
              <a:t>9</a:t>
            </a:r>
          </a:p>
        </p:txBody>
      </p:sp>
      <p:sp>
        <p:nvSpPr>
          <p:cNvPr id="4" name="Rectangle 3"/>
          <p:cNvSpPr/>
          <p:nvPr/>
        </p:nvSpPr>
        <p:spPr>
          <a:xfrm>
            <a:off x="329184" y="118872"/>
            <a:ext cx="110000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255B95"/>
                </a:solidFill>
                <a:latin typeface="Arial"/>
              </a:defRPr>
            </a:pPr>
            <a:r>
              <a:rPr lang="en-US" sz="2000" dirty="0" smtClean="0">
                <a:solidFill>
                  <a:schemeClr val="bg1"/>
                </a:solidFill>
              </a:rPr>
              <a:t>12</a:t>
            </a:r>
            <a:r>
              <a:rPr sz="2000" dirty="0" smtClean="0">
                <a:solidFill>
                  <a:schemeClr val="bg1"/>
                </a:solidFill>
              </a:rPr>
              <a:t>. </a:t>
            </a:r>
            <a:r>
              <a:rPr sz="2000" dirty="0" err="1">
                <a:solidFill>
                  <a:schemeClr val="bg1"/>
                </a:solidFill>
              </a:rPr>
              <a:t>K</a:t>
            </a:r>
            <a:r>
              <a:rPr lang="en-US" sz="2000" dirty="0" err="1">
                <a:solidFill>
                  <a:schemeClr val="bg1"/>
                </a:solidFill>
              </a:rPr>
              <a:t>ết</a:t>
            </a:r>
            <a:r>
              <a:rPr lang="en-US" sz="2000" dirty="0">
                <a:solidFill>
                  <a:schemeClr val="bg1"/>
                </a:solidFill>
              </a:rPr>
              <a:t> </a:t>
            </a:r>
            <a:r>
              <a:rPr lang="en-US" sz="2000" dirty="0" err="1">
                <a:solidFill>
                  <a:schemeClr val="bg1"/>
                </a:solidFill>
              </a:rPr>
              <a:t>quả</a:t>
            </a:r>
            <a:r>
              <a:rPr sz="2000" dirty="0">
                <a:solidFill>
                  <a:schemeClr val="bg1"/>
                </a:solidFill>
              </a:rPr>
              <a:t> DEFENSE 2: RANDOMIZED SMOOTHING</a:t>
            </a:r>
          </a:p>
        </p:txBody>
      </p:sp>
      <p:graphicFrame>
        <p:nvGraphicFramePr>
          <p:cNvPr id="5" name="Chart 4"/>
          <p:cNvGraphicFramePr>
            <a:graphicFrameLocks noGrp="1"/>
          </p:cNvGraphicFramePr>
          <p:nvPr>
            <p:extLst>
              <p:ext uri="{D42A27DB-BD31-4B8C-83A1-F6EECF244321}">
                <p14:modId xmlns:p14="http://schemas.microsoft.com/office/powerpoint/2010/main" val="152531801"/>
              </p:ext>
            </p:extLst>
          </p:nvPr>
        </p:nvGraphicFramePr>
        <p:xfrm>
          <a:off x="673152" y="1340000"/>
          <a:ext cx="6400000" cy="3100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7335000" y="1300000"/>
            <a:ext cx="3900000" cy="13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7335000" y="1300000"/>
            <a:ext cx="73152" cy="13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500000" y="1410000"/>
            <a:ext cx="3600000" cy="300000"/>
          </a:xfrm>
          <a:prstGeom prst="rect">
            <a:avLst/>
          </a:prstGeom>
          <a:noFill/>
        </p:spPr>
        <p:txBody>
          <a:bodyPr wrap="none">
            <a:spAutoFit/>
          </a:bodyPr>
          <a:lstStyle/>
          <a:p>
            <a:pPr>
              <a:defRPr sz="1400" b="1">
                <a:solidFill>
                  <a:srgbClr val="255B95"/>
                </a:solidFill>
                <a:latin typeface="Arial"/>
              </a:defRPr>
            </a:pPr>
            <a:r>
              <a:t>Kết quả chính</a:t>
            </a:r>
          </a:p>
        </p:txBody>
      </p:sp>
      <p:sp>
        <p:nvSpPr>
          <p:cNvPr id="9" name="TextBox 8"/>
          <p:cNvSpPr txBox="1"/>
          <p:nvPr/>
        </p:nvSpPr>
        <p:spPr>
          <a:xfrm>
            <a:off x="7500000" y="1740000"/>
            <a:ext cx="3600000" cy="780000"/>
          </a:xfrm>
          <a:prstGeom prst="rect">
            <a:avLst/>
          </a:prstGeom>
          <a:noFill/>
        </p:spPr>
        <p:txBody>
          <a:bodyPr wrap="square">
            <a:spAutoFit/>
          </a:bodyPr>
          <a:lstStyle/>
          <a:p>
            <a:pPr>
              <a:spcAft>
                <a:spcPts val="400"/>
              </a:spcAft>
              <a:defRPr sz="1200">
                <a:solidFill>
                  <a:srgbClr val="1E2D41"/>
                </a:solidFill>
                <a:latin typeface="Arial"/>
              </a:defRPr>
            </a:pPr>
            <a:r>
              <a:rPr dirty="0"/>
              <a:t>σ = 0.25 </a:t>
            </a:r>
            <a:r>
              <a:rPr dirty="0" err="1"/>
              <a:t>là</a:t>
            </a:r>
            <a:r>
              <a:rPr dirty="0"/>
              <a:t> </a:t>
            </a:r>
            <a:r>
              <a:rPr dirty="0" err="1"/>
              <a:t>điểm</a:t>
            </a:r>
            <a:r>
              <a:rPr dirty="0"/>
              <a:t> </a:t>
            </a:r>
            <a:r>
              <a:rPr dirty="0" err="1"/>
              <a:t>tốt</a:t>
            </a:r>
            <a:r>
              <a:rPr dirty="0"/>
              <a:t> </a:t>
            </a:r>
            <a:r>
              <a:rPr dirty="0" err="1"/>
              <a:t>nhất</a:t>
            </a:r>
            <a:r>
              <a:rPr dirty="0"/>
              <a:t> </a:t>
            </a:r>
            <a:r>
              <a:rPr dirty="0" err="1"/>
              <a:t>hoặc</a:t>
            </a:r>
            <a:r>
              <a:rPr dirty="0"/>
              <a:t> </a:t>
            </a:r>
            <a:r>
              <a:rPr dirty="0" err="1"/>
              <a:t>gần</a:t>
            </a:r>
            <a:r>
              <a:rPr dirty="0"/>
              <a:t> </a:t>
            </a:r>
            <a:r>
              <a:rPr dirty="0" err="1"/>
              <a:t>tốt</a:t>
            </a:r>
            <a:r>
              <a:rPr dirty="0"/>
              <a:t> </a:t>
            </a:r>
            <a:r>
              <a:rPr dirty="0" err="1"/>
              <a:t>nhất</a:t>
            </a:r>
            <a:r>
              <a:rPr dirty="0"/>
              <a:t>.</a:t>
            </a:r>
          </a:p>
          <a:p>
            <a:pPr>
              <a:spcAft>
                <a:spcPts val="400"/>
              </a:spcAft>
              <a:defRPr sz="1200">
                <a:solidFill>
                  <a:srgbClr val="1E2D41"/>
                </a:solidFill>
                <a:latin typeface="Arial"/>
              </a:defRPr>
            </a:pPr>
            <a:r>
              <a:rPr dirty="0"/>
              <a:t>PGD </a:t>
            </a:r>
            <a:r>
              <a:rPr dirty="0" err="1"/>
              <a:t>tăng</a:t>
            </a:r>
            <a:r>
              <a:rPr dirty="0"/>
              <a:t> </a:t>
            </a:r>
            <a:r>
              <a:rPr dirty="0" err="1"/>
              <a:t>từ</a:t>
            </a:r>
            <a:r>
              <a:rPr dirty="0"/>
              <a:t> 9.36% </a:t>
            </a:r>
            <a:r>
              <a:rPr dirty="0" err="1"/>
              <a:t>lên</a:t>
            </a:r>
            <a:r>
              <a:rPr dirty="0"/>
              <a:t> 48.94%.</a:t>
            </a:r>
          </a:p>
          <a:p>
            <a:pPr>
              <a:spcAft>
                <a:spcPts val="400"/>
              </a:spcAft>
              <a:defRPr sz="1200">
                <a:solidFill>
                  <a:srgbClr val="1E2D41"/>
                </a:solidFill>
                <a:latin typeface="Arial"/>
              </a:defRPr>
            </a:pPr>
            <a:r>
              <a:rPr dirty="0"/>
              <a:t>C&amp;W </a:t>
            </a:r>
            <a:r>
              <a:rPr dirty="0" err="1"/>
              <a:t>tăng</a:t>
            </a:r>
            <a:r>
              <a:rPr dirty="0"/>
              <a:t> </a:t>
            </a:r>
            <a:r>
              <a:rPr dirty="0" err="1"/>
              <a:t>từ</a:t>
            </a:r>
            <a:r>
              <a:rPr dirty="0"/>
              <a:t> 0.00% </a:t>
            </a:r>
            <a:r>
              <a:rPr dirty="0" err="1"/>
              <a:t>lên</a:t>
            </a:r>
            <a:r>
              <a:rPr dirty="0"/>
              <a:t> 55.60%.</a:t>
            </a:r>
          </a:p>
        </p:txBody>
      </p:sp>
      <p:sp>
        <p:nvSpPr>
          <p:cNvPr id="10" name="Rounded Rectangle 9"/>
          <p:cNvSpPr/>
          <p:nvPr/>
        </p:nvSpPr>
        <p:spPr>
          <a:xfrm>
            <a:off x="7335000" y="2820000"/>
            <a:ext cx="3900000" cy="16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35000" y="2820000"/>
            <a:ext cx="73152" cy="16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500000" y="2930000"/>
            <a:ext cx="3600000" cy="300000"/>
          </a:xfrm>
          <a:prstGeom prst="rect">
            <a:avLst/>
          </a:prstGeom>
          <a:noFill/>
        </p:spPr>
        <p:txBody>
          <a:bodyPr wrap="none">
            <a:spAutoFit/>
          </a:bodyPr>
          <a:lstStyle/>
          <a:p>
            <a:pPr>
              <a:defRPr sz="1400" b="1">
                <a:solidFill>
                  <a:srgbClr val="255B95"/>
                </a:solidFill>
                <a:latin typeface="Arial"/>
              </a:defRPr>
            </a:pPr>
            <a:r>
              <a:t>Chi phí inference</a:t>
            </a:r>
          </a:p>
        </p:txBody>
      </p:sp>
      <p:sp>
        <p:nvSpPr>
          <p:cNvPr id="13" name="TextBox 12"/>
          <p:cNvSpPr txBox="1"/>
          <p:nvPr/>
        </p:nvSpPr>
        <p:spPr>
          <a:xfrm>
            <a:off x="7500000" y="3260000"/>
            <a:ext cx="3600000" cy="1080000"/>
          </a:xfrm>
          <a:prstGeom prst="rect">
            <a:avLst/>
          </a:prstGeom>
          <a:noFill/>
        </p:spPr>
        <p:txBody>
          <a:bodyPr wrap="square">
            <a:spAutoFit/>
          </a:bodyPr>
          <a:lstStyle/>
          <a:p>
            <a:pPr>
              <a:spcAft>
                <a:spcPts val="400"/>
              </a:spcAft>
              <a:defRPr sz="1200">
                <a:solidFill>
                  <a:srgbClr val="1E2D41"/>
                </a:solidFill>
                <a:latin typeface="Arial"/>
              </a:defRPr>
            </a:pPr>
            <a:r>
              <a:t>Mỗi ảnh forward n = 50 lần.</a:t>
            </a:r>
          </a:p>
          <a:p>
            <a:pPr>
              <a:spcAft>
                <a:spcPts val="400"/>
              </a:spcAft>
              <a:defRPr sz="1200">
                <a:solidFill>
                  <a:srgbClr val="1E2D41"/>
                </a:solidFill>
                <a:latin typeface="Arial"/>
              </a:defRPr>
            </a:pPr>
            <a:r>
              <a:t>Baseline: 1.80s / 5.000 ảnh.</a:t>
            </a:r>
          </a:p>
          <a:p>
            <a:pPr>
              <a:spcAft>
                <a:spcPts val="400"/>
              </a:spcAft>
              <a:defRPr sz="1200">
                <a:solidFill>
                  <a:srgbClr val="1E2D41"/>
                </a:solidFill>
                <a:latin typeface="Arial"/>
              </a:defRPr>
            </a:pPr>
            <a:r>
              <a:t>Smoothing: 61.7–63.0s / 5.000 ảnh.</a:t>
            </a:r>
          </a:p>
          <a:p>
            <a:pPr>
              <a:spcAft>
                <a:spcPts val="400"/>
              </a:spcAft>
              <a:defRPr sz="1200">
                <a:solidFill>
                  <a:srgbClr val="1E2D41"/>
                </a:solidFill>
                <a:latin typeface="Arial"/>
              </a:defRPr>
            </a:pPr>
            <a:r>
              <a:t>Chậm hơn hơn 34 lần so với inference thường.</a:t>
            </a:r>
          </a:p>
        </p:txBody>
      </p:sp>
      <p:sp>
        <p:nvSpPr>
          <p:cNvPr id="14" name="Rounded Rectangle 13"/>
          <p:cNvSpPr/>
          <p:nvPr/>
        </p:nvSpPr>
        <p:spPr>
          <a:xfrm>
            <a:off x="600000" y="4500000"/>
            <a:ext cx="10500000" cy="9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00000" y="4500000"/>
            <a:ext cx="73152" cy="9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65000" y="4610000"/>
            <a:ext cx="10200000" cy="300000"/>
          </a:xfrm>
          <a:prstGeom prst="rect">
            <a:avLst/>
          </a:prstGeom>
          <a:noFill/>
        </p:spPr>
        <p:txBody>
          <a:bodyPr wrap="none">
            <a:spAutoFit/>
          </a:bodyPr>
          <a:lstStyle/>
          <a:p>
            <a:pPr>
              <a:defRPr sz="1400" b="1">
                <a:solidFill>
                  <a:srgbClr val="255B95"/>
                </a:solidFill>
                <a:latin typeface="Arial"/>
              </a:defRPr>
            </a:pPr>
            <a:r>
              <a:t>Nhận xét</a:t>
            </a:r>
          </a:p>
        </p:txBody>
      </p:sp>
      <p:sp>
        <p:nvSpPr>
          <p:cNvPr id="17" name="TextBox 16"/>
          <p:cNvSpPr txBox="1"/>
          <p:nvPr/>
        </p:nvSpPr>
        <p:spPr>
          <a:xfrm>
            <a:off x="765000" y="4940000"/>
            <a:ext cx="10200000" cy="380000"/>
          </a:xfrm>
          <a:prstGeom prst="rect">
            <a:avLst/>
          </a:prstGeom>
          <a:noFill/>
        </p:spPr>
        <p:txBody>
          <a:bodyPr wrap="square">
            <a:spAutoFit/>
          </a:bodyPr>
          <a:lstStyle/>
          <a:p>
            <a:pPr>
              <a:spcAft>
                <a:spcPts val="400"/>
              </a:spcAft>
              <a:defRPr sz="1200">
                <a:solidFill>
                  <a:srgbClr val="1E2D41"/>
                </a:solidFill>
                <a:latin typeface="Arial"/>
              </a:defRPr>
            </a:pPr>
            <a:r>
              <a:t>Randomized Smoothing có cơ sở lý thuyết nhưng không phù hợp lắm với CIFAR-10 kích thước 32×32: thêm nhiễu dễ làm mất đặc trưng ảnh, trong khi chi phí suy luận tăng rất lớn.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descr="image.png"/>
          <p:cNvPicPr>
            <a:picLocks noChangeAspect="1"/>
          </p:cNvPicPr>
          <p:nvPr/>
        </p:nvPicPr>
        <p:blipFill>
          <a:blip r:embed="rId2"/>
          <a:stretch>
            <a:fillRect/>
          </a:stretch>
        </p:blipFill>
        <p:spPr>
          <a:xfrm>
            <a:off x="0" y="0"/>
            <a:ext cx="12192000" cy="6858000"/>
          </a:xfrm>
          <a:prstGeom prst="rect">
            <a:avLst/>
          </a:prstGeom>
        </p:spPr>
      </p:pic>
      <p:sp>
        <p:nvSpPr>
          <p:cNvPr id="3" name="Rectangle 2"/>
          <p:cNvSpPr/>
          <p:nvPr/>
        </p:nvSpPr>
        <p:spPr>
          <a:xfrm>
            <a:off x="11550000" y="6473952"/>
            <a:ext cx="420000" cy="10972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wrap="none" lIns="0" rIns="0" rtlCol="0" anchor="ctr"/>
          <a:lstStyle/>
          <a:p>
            <a:pPr algn="l">
              <a:defRPr sz="800">
                <a:solidFill>
                  <a:srgbClr val="000000"/>
                </a:solidFill>
                <a:latin typeface="Arial"/>
              </a:defRPr>
            </a:pPr>
            <a:r>
              <a:t>10</a:t>
            </a:r>
          </a:p>
        </p:txBody>
      </p:sp>
      <p:sp>
        <p:nvSpPr>
          <p:cNvPr id="4" name="Rectangle 3"/>
          <p:cNvSpPr/>
          <p:nvPr/>
        </p:nvSpPr>
        <p:spPr>
          <a:xfrm>
            <a:off x="329184" y="118872"/>
            <a:ext cx="11000000" cy="384048"/>
          </a:xfrm>
          <a:prstGeom prst="rect">
            <a:avLst/>
          </a:prstGeom>
          <a:noFill/>
          <a:ln>
            <a:noFill/>
          </a:ln>
        </p:spPr>
        <p:style>
          <a:lnRef idx="1">
            <a:schemeClr val="accent1"/>
          </a:lnRef>
          <a:fillRef idx="3">
            <a:schemeClr val="accent1"/>
          </a:fillRef>
          <a:effectRef idx="2">
            <a:schemeClr val="accent1"/>
          </a:effectRef>
          <a:fontRef idx="minor">
            <a:schemeClr val="lt1"/>
          </a:fontRef>
        </p:style>
        <p:txBody>
          <a:bodyPr rtlCol="0" anchor="ctr"/>
          <a:lstStyle/>
          <a:p>
            <a:pPr>
              <a:defRPr sz="2200" b="1">
                <a:solidFill>
                  <a:srgbClr val="255B95"/>
                </a:solidFill>
                <a:latin typeface="Arial"/>
              </a:defRPr>
            </a:pPr>
            <a:r>
              <a:rPr lang="en-US" sz="2000" dirty="0" smtClean="0">
                <a:solidFill>
                  <a:schemeClr val="bg1"/>
                </a:solidFill>
              </a:rPr>
              <a:t>13</a:t>
            </a:r>
            <a:r>
              <a:rPr sz="2000" dirty="0" smtClean="0">
                <a:solidFill>
                  <a:schemeClr val="bg1"/>
                </a:solidFill>
              </a:rPr>
              <a:t>. </a:t>
            </a:r>
            <a:r>
              <a:rPr sz="2000" dirty="0" err="1">
                <a:solidFill>
                  <a:schemeClr val="bg1"/>
                </a:solidFill>
              </a:rPr>
              <a:t>K</a:t>
            </a:r>
            <a:r>
              <a:rPr lang="en-US" sz="2000" dirty="0" err="1">
                <a:solidFill>
                  <a:schemeClr val="bg1"/>
                </a:solidFill>
              </a:rPr>
              <a:t>ết</a:t>
            </a:r>
            <a:r>
              <a:rPr lang="en-US" sz="2000" dirty="0">
                <a:solidFill>
                  <a:schemeClr val="bg1"/>
                </a:solidFill>
              </a:rPr>
              <a:t> </a:t>
            </a:r>
            <a:r>
              <a:rPr lang="en-US" sz="2000" dirty="0" err="1">
                <a:solidFill>
                  <a:schemeClr val="bg1"/>
                </a:solidFill>
              </a:rPr>
              <a:t>quả</a:t>
            </a:r>
            <a:r>
              <a:rPr sz="2000" dirty="0">
                <a:solidFill>
                  <a:schemeClr val="bg1"/>
                </a:solidFill>
              </a:rPr>
              <a:t> DEFENSE 3: ADVERSARIAL TRAINING</a:t>
            </a:r>
          </a:p>
        </p:txBody>
      </p:sp>
      <p:graphicFrame>
        <p:nvGraphicFramePr>
          <p:cNvPr id="5" name="Chart 4"/>
          <p:cNvGraphicFramePr>
            <a:graphicFrameLocks noGrp="1"/>
          </p:cNvGraphicFramePr>
          <p:nvPr>
            <p:extLst>
              <p:ext uri="{D42A27DB-BD31-4B8C-83A1-F6EECF244321}">
                <p14:modId xmlns:p14="http://schemas.microsoft.com/office/powerpoint/2010/main" val="3061400789"/>
              </p:ext>
            </p:extLst>
          </p:nvPr>
        </p:nvGraphicFramePr>
        <p:xfrm>
          <a:off x="673152" y="1383795"/>
          <a:ext cx="6900000" cy="3000000"/>
        </p:xfrm>
        <a:graphic>
          <a:graphicData uri="http://schemas.openxmlformats.org/drawingml/2006/chart">
            <c:chart xmlns:c="http://schemas.openxmlformats.org/drawingml/2006/chart" xmlns:r="http://schemas.openxmlformats.org/officeDocument/2006/relationships" r:id="rId3"/>
          </a:graphicData>
        </a:graphic>
      </p:graphicFrame>
      <p:sp>
        <p:nvSpPr>
          <p:cNvPr id="6" name="Rounded Rectangle 5"/>
          <p:cNvSpPr/>
          <p:nvPr/>
        </p:nvSpPr>
        <p:spPr>
          <a:xfrm>
            <a:off x="7900000" y="1380000"/>
            <a:ext cx="1550000" cy="850000"/>
          </a:xfrm>
          <a:prstGeom prst="round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950000" y="1470000"/>
            <a:ext cx="1450000" cy="250000"/>
          </a:xfrm>
          <a:prstGeom prst="rect">
            <a:avLst/>
          </a:prstGeom>
          <a:noFill/>
        </p:spPr>
        <p:txBody>
          <a:bodyPr wrap="none">
            <a:spAutoFit/>
          </a:bodyPr>
          <a:lstStyle/>
          <a:p>
            <a:pPr algn="l">
              <a:defRPr sz="2000" b="1">
                <a:solidFill>
                  <a:srgbClr val="255B95"/>
                </a:solidFill>
                <a:latin typeface="Arial"/>
              </a:defRPr>
            </a:pPr>
            <a:r>
              <a:t>45k→180k</a:t>
            </a:r>
          </a:p>
        </p:txBody>
      </p:sp>
      <p:sp>
        <p:nvSpPr>
          <p:cNvPr id="8" name="TextBox 7"/>
          <p:cNvSpPr txBox="1"/>
          <p:nvPr/>
        </p:nvSpPr>
        <p:spPr>
          <a:xfrm>
            <a:off x="7960000" y="1760000"/>
            <a:ext cx="1430000" cy="430000"/>
          </a:xfrm>
          <a:prstGeom prst="rect">
            <a:avLst/>
          </a:prstGeom>
          <a:noFill/>
        </p:spPr>
        <p:txBody>
          <a:bodyPr wrap="none">
            <a:spAutoFit/>
          </a:bodyPr>
          <a:lstStyle/>
          <a:p>
            <a:pPr algn="l">
              <a:defRPr sz="1000">
                <a:solidFill>
                  <a:srgbClr val="505050"/>
                </a:solidFill>
                <a:latin typeface="Arial"/>
              </a:defRPr>
            </a:pPr>
            <a:r>
              <a:t>Mở rộng tập train</a:t>
            </a:r>
          </a:p>
        </p:txBody>
      </p:sp>
      <p:sp>
        <p:nvSpPr>
          <p:cNvPr id="9" name="Rounded Rectangle 8"/>
          <p:cNvSpPr/>
          <p:nvPr/>
        </p:nvSpPr>
        <p:spPr>
          <a:xfrm>
            <a:off x="9650000" y="1380000"/>
            <a:ext cx="1550000" cy="850000"/>
          </a:xfrm>
          <a:prstGeom prst="roundRect">
            <a:avLst/>
          </a:prstGeom>
          <a:solidFill>
            <a:srgbClr val="FFFFFF"/>
          </a:solidFill>
          <a:ln>
            <a:solidFill>
              <a:srgbClr val="DCE1E6"/>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9700000" y="1470000"/>
            <a:ext cx="1450000" cy="250000"/>
          </a:xfrm>
          <a:prstGeom prst="rect">
            <a:avLst/>
          </a:prstGeom>
          <a:noFill/>
        </p:spPr>
        <p:txBody>
          <a:bodyPr wrap="none">
            <a:spAutoFit/>
          </a:bodyPr>
          <a:lstStyle/>
          <a:p>
            <a:pPr algn="l">
              <a:defRPr sz="2000" b="1">
                <a:solidFill>
                  <a:srgbClr val="368D5F"/>
                </a:solidFill>
                <a:latin typeface="Arial"/>
              </a:defRPr>
            </a:pPr>
            <a:r>
              <a:t>94%+</a:t>
            </a:r>
          </a:p>
        </p:txBody>
      </p:sp>
      <p:sp>
        <p:nvSpPr>
          <p:cNvPr id="11" name="TextBox 10"/>
          <p:cNvSpPr txBox="1"/>
          <p:nvPr/>
        </p:nvSpPr>
        <p:spPr>
          <a:xfrm>
            <a:off x="9710000" y="1760000"/>
            <a:ext cx="1430000" cy="430000"/>
          </a:xfrm>
          <a:prstGeom prst="rect">
            <a:avLst/>
          </a:prstGeom>
          <a:noFill/>
        </p:spPr>
        <p:txBody>
          <a:bodyPr wrap="none">
            <a:spAutoFit/>
          </a:bodyPr>
          <a:lstStyle/>
          <a:p>
            <a:pPr algn="l">
              <a:defRPr sz="1000">
                <a:solidFill>
                  <a:srgbClr val="505050"/>
                </a:solidFill>
                <a:latin typeface="Arial"/>
              </a:defRPr>
            </a:pPr>
            <a:r>
              <a:t>Accuracy sau attack</a:t>
            </a:r>
          </a:p>
        </p:txBody>
      </p:sp>
      <p:sp>
        <p:nvSpPr>
          <p:cNvPr id="12" name="Rounded Rectangle 11"/>
          <p:cNvSpPr/>
          <p:nvPr/>
        </p:nvSpPr>
        <p:spPr>
          <a:xfrm>
            <a:off x="7900000" y="2480000"/>
            <a:ext cx="3300000" cy="145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900000" y="2480000"/>
            <a:ext cx="73152" cy="145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65000" y="2590000"/>
            <a:ext cx="3000000" cy="300000"/>
          </a:xfrm>
          <a:prstGeom prst="rect">
            <a:avLst/>
          </a:prstGeom>
          <a:noFill/>
        </p:spPr>
        <p:txBody>
          <a:bodyPr wrap="none">
            <a:spAutoFit/>
          </a:bodyPr>
          <a:lstStyle/>
          <a:p>
            <a:pPr>
              <a:defRPr sz="1400" b="1">
                <a:solidFill>
                  <a:srgbClr val="255B95"/>
                </a:solidFill>
                <a:latin typeface="Arial"/>
              </a:defRPr>
            </a:pPr>
            <a:r>
              <a:t>Kết quả chính</a:t>
            </a:r>
          </a:p>
        </p:txBody>
      </p:sp>
      <p:sp>
        <p:nvSpPr>
          <p:cNvPr id="15" name="TextBox 14"/>
          <p:cNvSpPr txBox="1"/>
          <p:nvPr/>
        </p:nvSpPr>
        <p:spPr>
          <a:xfrm>
            <a:off x="8065000" y="2920000"/>
            <a:ext cx="3000000" cy="930000"/>
          </a:xfrm>
          <a:prstGeom prst="rect">
            <a:avLst/>
          </a:prstGeom>
          <a:noFill/>
        </p:spPr>
        <p:txBody>
          <a:bodyPr wrap="square">
            <a:spAutoFit/>
          </a:bodyPr>
          <a:lstStyle/>
          <a:p>
            <a:pPr>
              <a:spcAft>
                <a:spcPts val="400"/>
              </a:spcAft>
              <a:defRPr sz="1200">
                <a:solidFill>
                  <a:srgbClr val="1E2D41"/>
                </a:solidFill>
                <a:latin typeface="Arial"/>
              </a:defRPr>
            </a:pPr>
            <a:r>
              <a:t>FGSM: 43.48% → 94.34%.</a:t>
            </a:r>
          </a:p>
          <a:p>
            <a:pPr>
              <a:spcAft>
                <a:spcPts val="400"/>
              </a:spcAft>
              <a:defRPr sz="1200">
                <a:solidFill>
                  <a:srgbClr val="1E2D41"/>
                </a:solidFill>
                <a:latin typeface="Arial"/>
              </a:defRPr>
            </a:pPr>
            <a:r>
              <a:t>PGD: 9.36% → 94.72%.</a:t>
            </a:r>
          </a:p>
          <a:p>
            <a:pPr>
              <a:spcAft>
                <a:spcPts val="400"/>
              </a:spcAft>
              <a:defRPr sz="1200">
                <a:solidFill>
                  <a:srgbClr val="1E2D41"/>
                </a:solidFill>
                <a:latin typeface="Arial"/>
              </a:defRPr>
            </a:pPr>
            <a:r>
              <a:t>C&amp;W: 0.00% → 94.46%.</a:t>
            </a:r>
          </a:p>
          <a:p>
            <a:pPr>
              <a:spcAft>
                <a:spcPts val="400"/>
              </a:spcAft>
              <a:defRPr sz="1200">
                <a:solidFill>
                  <a:srgbClr val="1E2D41"/>
                </a:solidFill>
                <a:latin typeface="Arial"/>
              </a:defRPr>
            </a:pPr>
            <a:r>
              <a:t>Dữ liệu sạch gần như không giảm: 94.54% → 94.24%.</a:t>
            </a:r>
          </a:p>
        </p:txBody>
      </p:sp>
      <p:sp>
        <p:nvSpPr>
          <p:cNvPr id="16" name="Rounded Rectangle 15"/>
          <p:cNvSpPr/>
          <p:nvPr/>
        </p:nvSpPr>
        <p:spPr>
          <a:xfrm>
            <a:off x="600000" y="4550000"/>
            <a:ext cx="10500000" cy="900000"/>
          </a:xfrm>
          <a:prstGeom prst="roundRect">
            <a:avLst/>
          </a:prstGeom>
          <a:solidFill>
            <a:srgbClr val="FFFFFF"/>
          </a:solidFill>
          <a:ln>
            <a:solidFill>
              <a:srgbClr val="D7E1EB"/>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600000" y="4550000"/>
            <a:ext cx="73152" cy="900000"/>
          </a:xfrm>
          <a:prstGeom prst="rect">
            <a:avLst/>
          </a:prstGeom>
          <a:solidFill>
            <a:srgbClr val="255B9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65000" y="4660000"/>
            <a:ext cx="10200000" cy="300000"/>
          </a:xfrm>
          <a:prstGeom prst="rect">
            <a:avLst/>
          </a:prstGeom>
          <a:noFill/>
        </p:spPr>
        <p:txBody>
          <a:bodyPr wrap="none">
            <a:spAutoFit/>
          </a:bodyPr>
          <a:lstStyle/>
          <a:p>
            <a:pPr>
              <a:defRPr sz="1400" b="1">
                <a:solidFill>
                  <a:srgbClr val="255B95"/>
                </a:solidFill>
                <a:latin typeface="Arial"/>
              </a:defRPr>
            </a:pPr>
            <a:r>
              <a:t>Nhận xét</a:t>
            </a:r>
          </a:p>
        </p:txBody>
      </p:sp>
      <p:sp>
        <p:nvSpPr>
          <p:cNvPr id="19" name="TextBox 18"/>
          <p:cNvSpPr txBox="1"/>
          <p:nvPr/>
        </p:nvSpPr>
        <p:spPr>
          <a:xfrm>
            <a:off x="765000" y="4990000"/>
            <a:ext cx="10200000" cy="380000"/>
          </a:xfrm>
          <a:prstGeom prst="rect">
            <a:avLst/>
          </a:prstGeom>
          <a:noFill/>
        </p:spPr>
        <p:txBody>
          <a:bodyPr wrap="square">
            <a:spAutoFit/>
          </a:bodyPr>
          <a:lstStyle/>
          <a:p>
            <a:pPr>
              <a:spcAft>
                <a:spcPts val="400"/>
              </a:spcAft>
              <a:defRPr sz="1200">
                <a:solidFill>
                  <a:srgbClr val="1E2D41"/>
                </a:solidFill>
                <a:latin typeface="Arial"/>
              </a:defRPr>
            </a:pPr>
            <a:r>
              <a:t>Đây là phương pháp hiệu quả nhất trong thí nghiệm, vì robustness được học trực tiếp trong mô hình. Đổi lại, chi phí sinh dữ liệu adversarial và huấn luyện lại là cao nhất.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t>11</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defRPr sz="2200" b="1">
                <a:solidFill>
                  <a:srgbClr val="255B95"/>
                </a:solidFill>
                <a:latin typeface="Arial"/>
              </a:defRPr>
            </a:pPr>
            <a:r>
              <a:rPr sz="2000" dirty="0" smtClean="0">
                <a:solidFill>
                  <a:schemeClr val="bg1"/>
                </a:solidFill>
              </a:rPr>
              <a:t>1</a:t>
            </a:r>
            <a:r>
              <a:rPr lang="en-US" sz="2000" dirty="0">
                <a:solidFill>
                  <a:schemeClr val="bg1"/>
                </a:solidFill>
              </a:rPr>
              <a:t>4</a:t>
            </a:r>
            <a:r>
              <a:rPr sz="2000" dirty="0" smtClean="0">
                <a:solidFill>
                  <a:schemeClr val="bg1"/>
                </a:solidFill>
              </a:rPr>
              <a:t>. </a:t>
            </a:r>
            <a:r>
              <a:rPr sz="2000" dirty="0" err="1">
                <a:solidFill>
                  <a:schemeClr val="bg1"/>
                </a:solidFill>
              </a:rPr>
              <a:t>K</a:t>
            </a:r>
            <a:r>
              <a:rPr lang="en-US" sz="2000" dirty="0" err="1">
                <a:solidFill>
                  <a:schemeClr val="bg1"/>
                </a:solidFill>
              </a:rPr>
              <a:t>ết</a:t>
            </a:r>
            <a:r>
              <a:rPr lang="en-US" sz="2000" dirty="0">
                <a:solidFill>
                  <a:schemeClr val="bg1"/>
                </a:solidFill>
              </a:rPr>
              <a:t> </a:t>
            </a:r>
            <a:r>
              <a:rPr lang="en-US" sz="2000" dirty="0" err="1">
                <a:solidFill>
                  <a:schemeClr val="bg1"/>
                </a:solidFill>
              </a:rPr>
              <a:t>quả</a:t>
            </a:r>
            <a:r>
              <a:rPr sz="2000" dirty="0">
                <a:solidFill>
                  <a:schemeClr val="bg1"/>
                </a:solidFill>
              </a:rPr>
              <a:t> DEFENSE: SO SÁNH NHANH</a:t>
            </a:r>
            <a:endParaRPr lang="en-US" dirty="0">
              <a:solidFill>
                <a:schemeClr val="bg1"/>
              </a:solidFill>
            </a:endParaRPr>
          </a:p>
        </p:txBody>
      </p:sp>
      <p:graphicFrame>
        <p:nvGraphicFramePr>
          <p:cNvPr id="5" name="Chart 0"/>
          <p:cNvGraphicFramePr/>
          <p:nvPr>
            <p:extLst>
              <p:ext uri="{D42A27DB-BD31-4B8C-83A1-F6EECF244321}">
                <p14:modId xmlns:p14="http://schemas.microsoft.com/office/powerpoint/2010/main" val="1606810839"/>
              </p:ext>
            </p:extLst>
          </p:nvPr>
        </p:nvGraphicFramePr>
        <p:xfrm>
          <a:off x="731520" y="1055451"/>
          <a:ext cx="7223760" cy="4206240"/>
        </p:xfrm>
        <a:graphic>
          <a:graphicData uri="http://schemas.openxmlformats.org/drawingml/2006/chart">
            <c:chart xmlns:c="http://schemas.openxmlformats.org/drawingml/2006/chart" xmlns:r="http://schemas.openxmlformats.org/officeDocument/2006/relationships" r:id="rId4"/>
          </a:graphicData>
        </a:graphic>
      </p:graphicFrame>
      <p:sp>
        <p:nvSpPr>
          <p:cNvPr id="6" name="Shape 2"/>
          <p:cNvSpPr/>
          <p:nvPr/>
        </p:nvSpPr>
        <p:spPr>
          <a:xfrm>
            <a:off x="8092440" y="1097280"/>
            <a:ext cx="3429000" cy="2240280"/>
          </a:xfrm>
          <a:prstGeom prst="roundRect">
            <a:avLst>
              <a:gd name="adj" fmla="val 3265"/>
            </a:avLst>
          </a:prstGeom>
          <a:solidFill>
            <a:srgbClr val="FFFFFF"/>
          </a:solidFill>
          <a:ln w="10160">
            <a:solidFill>
              <a:srgbClr val="D8D8D8"/>
            </a:solidFill>
            <a:prstDash val="solid"/>
          </a:ln>
        </p:spPr>
        <p:txBody>
          <a:bodyPr/>
          <a:lstStyle/>
          <a:p>
            <a:endParaRPr/>
          </a:p>
        </p:txBody>
      </p:sp>
      <p:sp>
        <p:nvSpPr>
          <p:cNvPr id="7" name="Shape 3"/>
          <p:cNvSpPr/>
          <p:nvPr/>
        </p:nvSpPr>
        <p:spPr>
          <a:xfrm>
            <a:off x="8092440" y="1097280"/>
            <a:ext cx="73152" cy="2240280"/>
          </a:xfrm>
          <a:prstGeom prst="rect">
            <a:avLst/>
          </a:prstGeom>
          <a:solidFill>
            <a:srgbClr val="003B6D"/>
          </a:solidFill>
          <a:ln w="12700">
            <a:solidFill>
              <a:srgbClr val="003B6D"/>
            </a:solidFill>
            <a:prstDash val="solid"/>
          </a:ln>
        </p:spPr>
        <p:txBody>
          <a:bodyPr/>
          <a:lstStyle/>
          <a:p>
            <a:endParaRPr/>
          </a:p>
        </p:txBody>
      </p:sp>
      <p:sp>
        <p:nvSpPr>
          <p:cNvPr id="8" name="Text 4"/>
          <p:cNvSpPr/>
          <p:nvPr/>
        </p:nvSpPr>
        <p:spPr>
          <a:xfrm>
            <a:off x="8257032" y="1207008"/>
            <a:ext cx="3136392" cy="256032"/>
          </a:xfrm>
          <a:prstGeom prst="rect">
            <a:avLst/>
          </a:prstGeom>
          <a:noFill/>
          <a:ln/>
        </p:spPr>
        <p:txBody>
          <a:bodyPr wrap="square" lIns="254" tIns="254" rIns="254" bIns="254" rtlCol="0" anchor="ctr"/>
          <a:lstStyle/>
          <a:p>
            <a:pPr marL="0" indent="0">
              <a:buNone/>
            </a:pPr>
            <a:r>
              <a:rPr lang="en-US" sz="1400" b="1" dirty="0">
                <a:solidFill>
                  <a:srgbClr val="003B6D"/>
                </a:solidFill>
                <a:latin typeface="Arial" pitchFamily="34" charset="0"/>
                <a:ea typeface="Arial" pitchFamily="34" charset="-122"/>
                <a:cs typeface="Arial" pitchFamily="34" charset="-120"/>
              </a:rPr>
              <a:t>Kết quả nổi bật</a:t>
            </a:r>
            <a:endParaRPr lang="en-US" sz="1400" dirty="0"/>
          </a:p>
        </p:txBody>
      </p:sp>
      <p:sp>
        <p:nvSpPr>
          <p:cNvPr id="9" name="Text 5"/>
          <p:cNvSpPr/>
          <p:nvPr/>
        </p:nvSpPr>
        <p:spPr>
          <a:xfrm>
            <a:off x="8257032" y="1536192"/>
            <a:ext cx="3136392" cy="173736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 JPEG Q=75 phục hồi accuracy lên khoảng 74–78%.</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 Randomized Smoothing tốt nhất quanh σ=0.25, nhưng chỉ khoảng 49–56%.</a:t>
            </a:r>
            <a:endParaRPr lang="en-US" sz="1250" dirty="0"/>
          </a:p>
          <a:p>
            <a:pPr marL="0" indent="0">
              <a:buNone/>
            </a:pPr>
            <a:r>
              <a:rPr lang="en-US" sz="1250" dirty="0">
                <a:solidFill>
                  <a:srgbClr val="1A1A1A"/>
                </a:solidFill>
                <a:latin typeface="Arial" pitchFamily="34" charset="0"/>
                <a:ea typeface="Arial" pitchFamily="34" charset="-122"/>
                <a:cs typeface="Arial" pitchFamily="34" charset="-120"/>
              </a:rPr>
              <a:t>• Adversarial Training giữ accuracy trên 94% với cả FGSM, PGD và C&amp;W.</a:t>
            </a:r>
            <a:endParaRPr lang="en-US" sz="1250" dirty="0"/>
          </a:p>
        </p:txBody>
      </p:sp>
      <p:sp>
        <p:nvSpPr>
          <p:cNvPr id="10" name="Shape 6"/>
          <p:cNvSpPr/>
          <p:nvPr/>
        </p:nvSpPr>
        <p:spPr>
          <a:xfrm>
            <a:off x="8092440" y="3703320"/>
            <a:ext cx="3429000" cy="1051560"/>
          </a:xfrm>
          <a:prstGeom prst="roundRect">
            <a:avLst>
              <a:gd name="adj" fmla="val 6957"/>
            </a:avLst>
          </a:prstGeom>
          <a:solidFill>
            <a:srgbClr val="FFFFFF"/>
          </a:solidFill>
          <a:ln w="10160">
            <a:solidFill>
              <a:srgbClr val="D8D8D8"/>
            </a:solidFill>
            <a:prstDash val="solid"/>
          </a:ln>
        </p:spPr>
        <p:txBody>
          <a:bodyPr/>
          <a:lstStyle/>
          <a:p>
            <a:endParaRPr/>
          </a:p>
        </p:txBody>
      </p:sp>
      <p:sp>
        <p:nvSpPr>
          <p:cNvPr id="11" name="Shape 7"/>
          <p:cNvSpPr/>
          <p:nvPr/>
        </p:nvSpPr>
        <p:spPr>
          <a:xfrm>
            <a:off x="8092440" y="3703320"/>
            <a:ext cx="73152" cy="1051560"/>
          </a:xfrm>
          <a:prstGeom prst="rect">
            <a:avLst/>
          </a:prstGeom>
          <a:solidFill>
            <a:srgbClr val="C91F35"/>
          </a:solidFill>
          <a:ln w="12700">
            <a:solidFill>
              <a:srgbClr val="C91F35"/>
            </a:solidFill>
            <a:prstDash val="solid"/>
          </a:ln>
        </p:spPr>
        <p:txBody>
          <a:bodyPr/>
          <a:lstStyle/>
          <a:p>
            <a:endParaRPr/>
          </a:p>
        </p:txBody>
      </p:sp>
      <p:sp>
        <p:nvSpPr>
          <p:cNvPr id="12" name="Text 8"/>
          <p:cNvSpPr/>
          <p:nvPr/>
        </p:nvSpPr>
        <p:spPr>
          <a:xfrm>
            <a:off x="8257032" y="3813048"/>
            <a:ext cx="3136392" cy="256032"/>
          </a:xfrm>
          <a:prstGeom prst="rect">
            <a:avLst/>
          </a:prstGeom>
          <a:noFill/>
          <a:ln/>
        </p:spPr>
        <p:txBody>
          <a:bodyPr wrap="square" lIns="254" tIns="254" rIns="254" bIns="254" rtlCol="0" anchor="ctr"/>
          <a:lstStyle/>
          <a:p>
            <a:pPr marL="0" indent="0">
              <a:buNone/>
            </a:pPr>
            <a:r>
              <a:rPr lang="en-US" sz="1400" b="1" dirty="0">
                <a:solidFill>
                  <a:srgbClr val="C91F35"/>
                </a:solidFill>
                <a:latin typeface="Arial" pitchFamily="34" charset="0"/>
                <a:ea typeface="Arial" pitchFamily="34" charset="-122"/>
                <a:cs typeface="Arial" pitchFamily="34" charset="-120"/>
              </a:rPr>
              <a:t>Nhận xét</a:t>
            </a:r>
            <a:endParaRPr lang="en-US" sz="1400" dirty="0"/>
          </a:p>
        </p:txBody>
      </p:sp>
      <p:sp>
        <p:nvSpPr>
          <p:cNvPr id="13" name="Text 9"/>
          <p:cNvSpPr/>
          <p:nvPr/>
        </p:nvSpPr>
        <p:spPr>
          <a:xfrm>
            <a:off x="8257032" y="4142232"/>
            <a:ext cx="3136392" cy="548640"/>
          </a:xfrm>
          <a:prstGeom prst="rect">
            <a:avLst/>
          </a:prstGeom>
          <a:noFill/>
          <a:ln/>
        </p:spPr>
        <p:txBody>
          <a:bodyPr wrap="square" lIns="254" tIns="254" rIns="254" bIns="254" rtlCol="0" anchor="ctr">
            <a:normAutofit lnSpcReduction="10000"/>
          </a:bodyPr>
          <a:lstStyle/>
          <a:p>
            <a:pPr marL="0" indent="0">
              <a:buNone/>
            </a:pPr>
            <a:r>
              <a:rPr lang="en-US" sz="1250" dirty="0">
                <a:solidFill>
                  <a:srgbClr val="1A1A1A"/>
                </a:solidFill>
                <a:latin typeface="Arial" pitchFamily="34" charset="0"/>
                <a:ea typeface="Arial" pitchFamily="34" charset="-122"/>
                <a:cs typeface="Arial" pitchFamily="34" charset="-120"/>
              </a:rPr>
              <a:t>Adversarial Training hiệu quả nhất, nhưng chi phí huấn luyện cao nhất. JPEG Compression rẻ và dễ triển khai hơn.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305"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t>12</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defRPr sz="2200" b="1">
                <a:solidFill>
                  <a:srgbClr val="255B95"/>
                </a:solidFill>
                <a:latin typeface="Arial"/>
              </a:defRPr>
            </a:pPr>
            <a:r>
              <a:rPr sz="2000" dirty="0" smtClean="0">
                <a:solidFill>
                  <a:schemeClr val="bg1"/>
                </a:solidFill>
              </a:rPr>
              <a:t>1</a:t>
            </a:r>
            <a:r>
              <a:rPr lang="en-US" sz="2000" dirty="0">
                <a:solidFill>
                  <a:schemeClr val="bg1"/>
                </a:solidFill>
              </a:rPr>
              <a:t>5</a:t>
            </a:r>
            <a:r>
              <a:rPr sz="2000" dirty="0" smtClean="0">
                <a:solidFill>
                  <a:schemeClr val="bg1"/>
                </a:solidFill>
              </a:rPr>
              <a:t>. </a:t>
            </a:r>
            <a:r>
              <a:rPr sz="2000" dirty="0">
                <a:solidFill>
                  <a:schemeClr val="bg1"/>
                </a:solidFill>
              </a:rPr>
              <a:t>H</a:t>
            </a:r>
            <a:r>
              <a:rPr lang="en-US" sz="2000" dirty="0">
                <a:solidFill>
                  <a:schemeClr val="bg1"/>
                </a:solidFill>
              </a:rPr>
              <a:t>iệu </a:t>
            </a:r>
            <a:r>
              <a:rPr lang="en-US" sz="2000" dirty="0" err="1">
                <a:solidFill>
                  <a:schemeClr val="bg1"/>
                </a:solidFill>
              </a:rPr>
              <a:t>quả</a:t>
            </a:r>
            <a:r>
              <a:rPr lang="en-US" sz="2000" dirty="0">
                <a:solidFill>
                  <a:schemeClr val="bg1"/>
                </a:solidFill>
              </a:rPr>
              <a:t> </a:t>
            </a:r>
            <a:r>
              <a:rPr lang="en-US" sz="2000" dirty="0" err="1">
                <a:solidFill>
                  <a:schemeClr val="bg1"/>
                </a:solidFill>
              </a:rPr>
              <a:t>và</a:t>
            </a:r>
            <a:r>
              <a:rPr lang="en-US" sz="2000" dirty="0">
                <a:solidFill>
                  <a:schemeClr val="bg1"/>
                </a:solidFill>
              </a:rPr>
              <a:t> chi </a:t>
            </a:r>
            <a:r>
              <a:rPr lang="en-US" sz="2000" dirty="0" err="1">
                <a:solidFill>
                  <a:schemeClr val="bg1"/>
                </a:solidFill>
              </a:rPr>
              <a:t>phí</a:t>
            </a:r>
            <a:r>
              <a:rPr lang="en-US" sz="2000" dirty="0">
                <a:solidFill>
                  <a:schemeClr val="bg1"/>
                </a:solidFill>
              </a:rPr>
              <a:t> </a:t>
            </a:r>
            <a:r>
              <a:rPr lang="en-US" sz="2000" dirty="0" err="1">
                <a:solidFill>
                  <a:schemeClr val="bg1"/>
                </a:solidFill>
              </a:rPr>
              <a:t>triển</a:t>
            </a:r>
            <a:r>
              <a:rPr lang="en-US" sz="2000" dirty="0">
                <a:solidFill>
                  <a:schemeClr val="bg1"/>
                </a:solidFill>
              </a:rPr>
              <a:t> </a:t>
            </a:r>
            <a:r>
              <a:rPr lang="en-US" sz="2000" dirty="0" err="1">
                <a:solidFill>
                  <a:schemeClr val="bg1"/>
                </a:solidFill>
              </a:rPr>
              <a:t>khai</a:t>
            </a:r>
            <a:endParaRPr lang="en-US" dirty="0">
              <a:solidFill>
                <a:schemeClr val="bg1"/>
              </a:solidFill>
            </a:endParaRPr>
          </a:p>
        </p:txBody>
      </p:sp>
      <p:sp>
        <p:nvSpPr>
          <p:cNvPr id="5" name="Shape 2"/>
          <p:cNvSpPr/>
          <p:nvPr/>
        </p:nvSpPr>
        <p:spPr>
          <a:xfrm>
            <a:off x="731520" y="1403604"/>
            <a:ext cx="2286000" cy="457200"/>
          </a:xfrm>
          <a:prstGeom prst="rect">
            <a:avLst/>
          </a:prstGeom>
          <a:solidFill>
            <a:srgbClr val="003B6D"/>
          </a:solidFill>
          <a:ln w="12700">
            <a:solidFill>
              <a:srgbClr val="003B6D"/>
            </a:solidFill>
            <a:prstDash val="solid"/>
          </a:ln>
        </p:spPr>
        <p:txBody>
          <a:bodyPr/>
          <a:lstStyle/>
          <a:p>
            <a:endParaRPr/>
          </a:p>
        </p:txBody>
      </p:sp>
      <p:sp>
        <p:nvSpPr>
          <p:cNvPr id="6" name="Shape 3"/>
          <p:cNvSpPr/>
          <p:nvPr/>
        </p:nvSpPr>
        <p:spPr>
          <a:xfrm>
            <a:off x="3200400" y="1403604"/>
            <a:ext cx="2194560" cy="457200"/>
          </a:xfrm>
          <a:prstGeom prst="rect">
            <a:avLst/>
          </a:prstGeom>
          <a:solidFill>
            <a:srgbClr val="003B6D"/>
          </a:solidFill>
          <a:ln w="12700">
            <a:solidFill>
              <a:srgbClr val="003B6D"/>
            </a:solidFill>
            <a:prstDash val="solid"/>
          </a:ln>
        </p:spPr>
        <p:txBody>
          <a:bodyPr/>
          <a:lstStyle/>
          <a:p>
            <a:endParaRPr/>
          </a:p>
        </p:txBody>
      </p:sp>
      <p:sp>
        <p:nvSpPr>
          <p:cNvPr id="7" name="Shape 4"/>
          <p:cNvSpPr/>
          <p:nvPr/>
        </p:nvSpPr>
        <p:spPr>
          <a:xfrm>
            <a:off x="5623560" y="1403604"/>
            <a:ext cx="2011680" cy="457200"/>
          </a:xfrm>
          <a:prstGeom prst="rect">
            <a:avLst/>
          </a:prstGeom>
          <a:solidFill>
            <a:srgbClr val="003B6D"/>
          </a:solidFill>
          <a:ln w="12700">
            <a:solidFill>
              <a:srgbClr val="003B6D"/>
            </a:solidFill>
            <a:prstDash val="solid"/>
          </a:ln>
        </p:spPr>
        <p:txBody>
          <a:bodyPr/>
          <a:lstStyle/>
          <a:p>
            <a:endParaRPr/>
          </a:p>
        </p:txBody>
      </p:sp>
      <p:sp>
        <p:nvSpPr>
          <p:cNvPr id="8" name="Shape 5"/>
          <p:cNvSpPr/>
          <p:nvPr/>
        </p:nvSpPr>
        <p:spPr>
          <a:xfrm>
            <a:off x="7818120" y="1403604"/>
            <a:ext cx="1645920" cy="457200"/>
          </a:xfrm>
          <a:prstGeom prst="rect">
            <a:avLst/>
          </a:prstGeom>
          <a:solidFill>
            <a:srgbClr val="003B6D"/>
          </a:solidFill>
          <a:ln w="12700">
            <a:solidFill>
              <a:srgbClr val="003B6D"/>
            </a:solidFill>
            <a:prstDash val="solid"/>
          </a:ln>
        </p:spPr>
        <p:txBody>
          <a:bodyPr/>
          <a:lstStyle/>
          <a:p>
            <a:endParaRPr/>
          </a:p>
        </p:txBody>
      </p:sp>
      <p:sp>
        <p:nvSpPr>
          <p:cNvPr id="9" name="Shape 6"/>
          <p:cNvSpPr/>
          <p:nvPr/>
        </p:nvSpPr>
        <p:spPr>
          <a:xfrm>
            <a:off x="9646920" y="1403604"/>
            <a:ext cx="1554480" cy="457200"/>
          </a:xfrm>
          <a:prstGeom prst="rect">
            <a:avLst/>
          </a:prstGeom>
          <a:solidFill>
            <a:srgbClr val="003B6D"/>
          </a:solidFill>
          <a:ln w="12700">
            <a:solidFill>
              <a:srgbClr val="003B6D"/>
            </a:solidFill>
            <a:prstDash val="solid"/>
          </a:ln>
        </p:spPr>
        <p:txBody>
          <a:bodyPr/>
          <a:lstStyle/>
          <a:p>
            <a:endParaRPr/>
          </a:p>
        </p:txBody>
      </p:sp>
      <p:sp>
        <p:nvSpPr>
          <p:cNvPr id="10" name="Text 7"/>
          <p:cNvSpPr/>
          <p:nvPr/>
        </p:nvSpPr>
        <p:spPr>
          <a:xfrm>
            <a:off x="777240" y="1522476"/>
            <a:ext cx="2194560" cy="182880"/>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Phương pháp</a:t>
            </a:r>
            <a:endParaRPr lang="en-US" sz="950" dirty="0"/>
          </a:p>
        </p:txBody>
      </p:sp>
      <p:sp>
        <p:nvSpPr>
          <p:cNvPr id="11" name="Text 8"/>
          <p:cNvSpPr/>
          <p:nvPr/>
        </p:nvSpPr>
        <p:spPr>
          <a:xfrm>
            <a:off x="3246120" y="1522476"/>
            <a:ext cx="2103120" cy="182880"/>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Hiệu quả</a:t>
            </a:r>
            <a:endParaRPr lang="en-US" sz="950" dirty="0"/>
          </a:p>
        </p:txBody>
      </p:sp>
      <p:sp>
        <p:nvSpPr>
          <p:cNvPr id="12" name="Text 9"/>
          <p:cNvSpPr/>
          <p:nvPr/>
        </p:nvSpPr>
        <p:spPr>
          <a:xfrm>
            <a:off x="5669280" y="1522476"/>
            <a:ext cx="1920240" cy="182880"/>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Chi phí</a:t>
            </a:r>
            <a:endParaRPr lang="en-US" sz="950" dirty="0"/>
          </a:p>
        </p:txBody>
      </p:sp>
      <p:sp>
        <p:nvSpPr>
          <p:cNvPr id="13" name="Text 10"/>
          <p:cNvSpPr/>
          <p:nvPr/>
        </p:nvSpPr>
        <p:spPr>
          <a:xfrm>
            <a:off x="7863840" y="1522476"/>
            <a:ext cx="1554480" cy="182880"/>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Ưu điểm</a:t>
            </a:r>
            <a:endParaRPr lang="en-US" sz="950" dirty="0"/>
          </a:p>
        </p:txBody>
      </p:sp>
      <p:sp>
        <p:nvSpPr>
          <p:cNvPr id="14" name="Text 11"/>
          <p:cNvSpPr/>
          <p:nvPr/>
        </p:nvSpPr>
        <p:spPr>
          <a:xfrm>
            <a:off x="9692640" y="1522476"/>
            <a:ext cx="1463040" cy="182880"/>
          </a:xfrm>
          <a:prstGeom prst="rect">
            <a:avLst/>
          </a:prstGeom>
          <a:noFill/>
          <a:ln/>
        </p:spPr>
        <p:txBody>
          <a:bodyPr wrap="square" lIns="254" tIns="254" rIns="254" bIns="254" rtlCol="0" anchor="ctr">
            <a:normAutofit/>
          </a:bodyPr>
          <a:lstStyle/>
          <a:p>
            <a:pPr marL="0" indent="0" algn="ctr">
              <a:buNone/>
            </a:pPr>
            <a:r>
              <a:rPr lang="en-US" sz="950" b="1" dirty="0">
                <a:solidFill>
                  <a:srgbClr val="FFFFFF"/>
                </a:solidFill>
                <a:latin typeface="Arial" pitchFamily="34" charset="0"/>
                <a:ea typeface="Arial" pitchFamily="34" charset="-122"/>
                <a:cs typeface="Arial" pitchFamily="34" charset="-120"/>
              </a:rPr>
              <a:t>Hạn chế</a:t>
            </a:r>
            <a:endParaRPr lang="en-US" sz="950" dirty="0"/>
          </a:p>
        </p:txBody>
      </p:sp>
      <p:sp>
        <p:nvSpPr>
          <p:cNvPr id="15" name="Shape 12"/>
          <p:cNvSpPr/>
          <p:nvPr/>
        </p:nvSpPr>
        <p:spPr>
          <a:xfrm>
            <a:off x="731520" y="1879092"/>
            <a:ext cx="2286000" cy="585216"/>
          </a:xfrm>
          <a:prstGeom prst="rect">
            <a:avLst/>
          </a:prstGeom>
          <a:solidFill>
            <a:srgbClr val="FFFFFF"/>
          </a:solidFill>
          <a:ln w="6350">
            <a:solidFill>
              <a:srgbClr val="D0D0D0"/>
            </a:solidFill>
            <a:prstDash val="solid"/>
          </a:ln>
        </p:spPr>
        <p:txBody>
          <a:bodyPr/>
          <a:lstStyle/>
          <a:p>
            <a:endParaRPr/>
          </a:p>
        </p:txBody>
      </p:sp>
      <p:sp>
        <p:nvSpPr>
          <p:cNvPr id="16" name="Text 13"/>
          <p:cNvSpPr/>
          <p:nvPr/>
        </p:nvSpPr>
        <p:spPr>
          <a:xfrm>
            <a:off x="777240" y="1952244"/>
            <a:ext cx="2194560" cy="475488"/>
          </a:xfrm>
          <a:prstGeom prst="rect">
            <a:avLst/>
          </a:prstGeom>
          <a:noFill/>
          <a:ln/>
        </p:spPr>
        <p:txBody>
          <a:bodyPr wrap="square" lIns="254" tIns="254" rIns="254" bIns="254" rtlCol="0" anchor="ctr">
            <a:normAutofit/>
          </a:bodyPr>
          <a:lstStyle/>
          <a:p>
            <a:pPr marL="0" indent="0" algn="l">
              <a:buNone/>
            </a:pPr>
            <a:r>
              <a:rPr lang="en-US" sz="950" dirty="0">
                <a:solidFill>
                  <a:srgbClr val="1A1A1A"/>
                </a:solidFill>
                <a:latin typeface="Arial" pitchFamily="34" charset="0"/>
                <a:ea typeface="Arial" pitchFamily="34" charset="-122"/>
                <a:cs typeface="Arial" pitchFamily="34" charset="-120"/>
              </a:rPr>
              <a:t>JPEG Compression</a:t>
            </a:r>
            <a:endParaRPr lang="en-US" sz="950" dirty="0"/>
          </a:p>
        </p:txBody>
      </p:sp>
      <p:sp>
        <p:nvSpPr>
          <p:cNvPr id="17" name="Shape 14"/>
          <p:cNvSpPr/>
          <p:nvPr/>
        </p:nvSpPr>
        <p:spPr>
          <a:xfrm>
            <a:off x="3200400" y="1879092"/>
            <a:ext cx="2194560" cy="585216"/>
          </a:xfrm>
          <a:prstGeom prst="rect">
            <a:avLst/>
          </a:prstGeom>
          <a:solidFill>
            <a:srgbClr val="FFFFFF"/>
          </a:solidFill>
          <a:ln w="6350">
            <a:solidFill>
              <a:srgbClr val="D0D0D0"/>
            </a:solidFill>
            <a:prstDash val="solid"/>
          </a:ln>
        </p:spPr>
        <p:txBody>
          <a:bodyPr/>
          <a:lstStyle/>
          <a:p>
            <a:endParaRPr/>
          </a:p>
        </p:txBody>
      </p:sp>
      <p:sp>
        <p:nvSpPr>
          <p:cNvPr id="18" name="Text 15"/>
          <p:cNvSpPr/>
          <p:nvPr/>
        </p:nvSpPr>
        <p:spPr>
          <a:xfrm>
            <a:off x="3246120" y="1952244"/>
            <a:ext cx="210312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Khá tốt</a:t>
            </a:r>
            <a:endParaRPr lang="en-US" sz="950" dirty="0"/>
          </a:p>
          <a:p>
            <a:pPr marL="0" indent="0" algn="ctr">
              <a:buNone/>
            </a:pPr>
            <a:r>
              <a:rPr lang="en-US" sz="950" dirty="0">
                <a:solidFill>
                  <a:srgbClr val="1A1A1A"/>
                </a:solidFill>
                <a:latin typeface="Arial" pitchFamily="34" charset="0"/>
                <a:ea typeface="Arial" pitchFamily="34" charset="-122"/>
                <a:cs typeface="Arial" pitchFamily="34" charset="-120"/>
              </a:rPr>
              <a:t>~74–78%</a:t>
            </a:r>
            <a:endParaRPr lang="en-US" sz="950" dirty="0"/>
          </a:p>
        </p:txBody>
      </p:sp>
      <p:sp>
        <p:nvSpPr>
          <p:cNvPr id="19" name="Shape 16"/>
          <p:cNvSpPr/>
          <p:nvPr/>
        </p:nvSpPr>
        <p:spPr>
          <a:xfrm>
            <a:off x="5623560" y="1879092"/>
            <a:ext cx="2011680" cy="585216"/>
          </a:xfrm>
          <a:prstGeom prst="rect">
            <a:avLst/>
          </a:prstGeom>
          <a:solidFill>
            <a:srgbClr val="FFFFFF"/>
          </a:solidFill>
          <a:ln w="6350">
            <a:solidFill>
              <a:srgbClr val="D0D0D0"/>
            </a:solidFill>
            <a:prstDash val="solid"/>
          </a:ln>
        </p:spPr>
        <p:txBody>
          <a:bodyPr/>
          <a:lstStyle/>
          <a:p>
            <a:endParaRPr/>
          </a:p>
        </p:txBody>
      </p:sp>
      <p:sp>
        <p:nvSpPr>
          <p:cNvPr id="20" name="Text 17"/>
          <p:cNvSpPr/>
          <p:nvPr/>
        </p:nvSpPr>
        <p:spPr>
          <a:xfrm>
            <a:off x="5669280" y="1952244"/>
            <a:ext cx="192024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Thấp</a:t>
            </a:r>
            <a:endParaRPr lang="en-US" sz="950" dirty="0"/>
          </a:p>
        </p:txBody>
      </p:sp>
      <p:sp>
        <p:nvSpPr>
          <p:cNvPr id="21" name="Shape 18"/>
          <p:cNvSpPr/>
          <p:nvPr/>
        </p:nvSpPr>
        <p:spPr>
          <a:xfrm>
            <a:off x="7818120" y="1879092"/>
            <a:ext cx="1645920" cy="585216"/>
          </a:xfrm>
          <a:prstGeom prst="rect">
            <a:avLst/>
          </a:prstGeom>
          <a:solidFill>
            <a:srgbClr val="FFFFFF"/>
          </a:solidFill>
          <a:ln w="6350">
            <a:solidFill>
              <a:srgbClr val="D0D0D0"/>
            </a:solidFill>
            <a:prstDash val="solid"/>
          </a:ln>
        </p:spPr>
        <p:txBody>
          <a:bodyPr/>
          <a:lstStyle/>
          <a:p>
            <a:endParaRPr/>
          </a:p>
        </p:txBody>
      </p:sp>
      <p:sp>
        <p:nvSpPr>
          <p:cNvPr id="22" name="Text 19"/>
          <p:cNvSpPr/>
          <p:nvPr/>
        </p:nvSpPr>
        <p:spPr>
          <a:xfrm>
            <a:off x="7863840" y="1952244"/>
            <a:ext cx="155448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Dễ thêm vào pipeline</a:t>
            </a:r>
            <a:endParaRPr lang="en-US" sz="950" dirty="0"/>
          </a:p>
        </p:txBody>
      </p:sp>
      <p:sp>
        <p:nvSpPr>
          <p:cNvPr id="23" name="Shape 20"/>
          <p:cNvSpPr/>
          <p:nvPr/>
        </p:nvSpPr>
        <p:spPr>
          <a:xfrm>
            <a:off x="9646920" y="1879092"/>
            <a:ext cx="1554480" cy="585216"/>
          </a:xfrm>
          <a:prstGeom prst="rect">
            <a:avLst/>
          </a:prstGeom>
          <a:solidFill>
            <a:srgbClr val="FFFFFF"/>
          </a:solidFill>
          <a:ln w="6350">
            <a:solidFill>
              <a:srgbClr val="D0D0D0"/>
            </a:solidFill>
            <a:prstDash val="solid"/>
          </a:ln>
        </p:spPr>
        <p:txBody>
          <a:bodyPr/>
          <a:lstStyle/>
          <a:p>
            <a:endParaRPr/>
          </a:p>
        </p:txBody>
      </p:sp>
      <p:sp>
        <p:nvSpPr>
          <p:cNvPr id="24" name="Text 21"/>
          <p:cNvSpPr/>
          <p:nvPr/>
        </p:nvSpPr>
        <p:spPr>
          <a:xfrm>
            <a:off x="9692640" y="1952244"/>
            <a:ext cx="146304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Có thể bị bypass</a:t>
            </a:r>
            <a:endParaRPr lang="en-US" sz="950" dirty="0"/>
          </a:p>
        </p:txBody>
      </p:sp>
      <p:sp>
        <p:nvSpPr>
          <p:cNvPr id="25" name="Shape 22"/>
          <p:cNvSpPr/>
          <p:nvPr/>
        </p:nvSpPr>
        <p:spPr>
          <a:xfrm>
            <a:off x="731520" y="2464308"/>
            <a:ext cx="2286000" cy="585216"/>
          </a:xfrm>
          <a:prstGeom prst="rect">
            <a:avLst/>
          </a:prstGeom>
          <a:solidFill>
            <a:srgbClr val="F4F4F4"/>
          </a:solidFill>
          <a:ln w="6350">
            <a:solidFill>
              <a:srgbClr val="D0D0D0"/>
            </a:solidFill>
            <a:prstDash val="solid"/>
          </a:ln>
        </p:spPr>
        <p:txBody>
          <a:bodyPr/>
          <a:lstStyle/>
          <a:p>
            <a:endParaRPr/>
          </a:p>
        </p:txBody>
      </p:sp>
      <p:sp>
        <p:nvSpPr>
          <p:cNvPr id="26" name="Text 23"/>
          <p:cNvSpPr/>
          <p:nvPr/>
        </p:nvSpPr>
        <p:spPr>
          <a:xfrm>
            <a:off x="777240" y="2537460"/>
            <a:ext cx="2194560" cy="475488"/>
          </a:xfrm>
          <a:prstGeom prst="rect">
            <a:avLst/>
          </a:prstGeom>
          <a:noFill/>
          <a:ln/>
        </p:spPr>
        <p:txBody>
          <a:bodyPr wrap="square" lIns="254" tIns="254" rIns="254" bIns="254" rtlCol="0" anchor="ctr">
            <a:normAutofit/>
          </a:bodyPr>
          <a:lstStyle/>
          <a:p>
            <a:pPr marL="0" indent="0" algn="l">
              <a:buNone/>
            </a:pPr>
            <a:r>
              <a:rPr lang="en-US" sz="950" dirty="0">
                <a:solidFill>
                  <a:srgbClr val="1A1A1A"/>
                </a:solidFill>
                <a:latin typeface="Arial" pitchFamily="34" charset="0"/>
                <a:ea typeface="Arial" pitchFamily="34" charset="-122"/>
                <a:cs typeface="Arial" pitchFamily="34" charset="-120"/>
              </a:rPr>
              <a:t>Randomized Smoothing</a:t>
            </a:r>
            <a:endParaRPr lang="en-US" sz="950" dirty="0"/>
          </a:p>
        </p:txBody>
      </p:sp>
      <p:sp>
        <p:nvSpPr>
          <p:cNvPr id="27" name="Shape 24"/>
          <p:cNvSpPr/>
          <p:nvPr/>
        </p:nvSpPr>
        <p:spPr>
          <a:xfrm>
            <a:off x="3200400" y="2464308"/>
            <a:ext cx="2194560" cy="585216"/>
          </a:xfrm>
          <a:prstGeom prst="rect">
            <a:avLst/>
          </a:prstGeom>
          <a:solidFill>
            <a:srgbClr val="F4F4F4"/>
          </a:solidFill>
          <a:ln w="6350">
            <a:solidFill>
              <a:srgbClr val="D0D0D0"/>
            </a:solidFill>
            <a:prstDash val="solid"/>
          </a:ln>
        </p:spPr>
        <p:txBody>
          <a:bodyPr/>
          <a:lstStyle/>
          <a:p>
            <a:endParaRPr/>
          </a:p>
        </p:txBody>
      </p:sp>
      <p:sp>
        <p:nvSpPr>
          <p:cNvPr id="28" name="Text 25"/>
          <p:cNvSpPr/>
          <p:nvPr/>
        </p:nvSpPr>
        <p:spPr>
          <a:xfrm>
            <a:off x="3246120" y="2537460"/>
            <a:ext cx="210312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Trung bình</a:t>
            </a:r>
            <a:endParaRPr lang="en-US" sz="950" dirty="0"/>
          </a:p>
          <a:p>
            <a:pPr marL="0" indent="0" algn="ctr">
              <a:buNone/>
            </a:pPr>
            <a:r>
              <a:rPr lang="en-US" sz="950" dirty="0">
                <a:solidFill>
                  <a:srgbClr val="1A1A1A"/>
                </a:solidFill>
                <a:latin typeface="Arial" pitchFamily="34" charset="0"/>
                <a:ea typeface="Arial" pitchFamily="34" charset="-122"/>
                <a:cs typeface="Arial" pitchFamily="34" charset="-120"/>
              </a:rPr>
              <a:t>~49–56%</a:t>
            </a:r>
            <a:endParaRPr lang="en-US" sz="950" dirty="0"/>
          </a:p>
        </p:txBody>
      </p:sp>
      <p:sp>
        <p:nvSpPr>
          <p:cNvPr id="29" name="Shape 26"/>
          <p:cNvSpPr/>
          <p:nvPr/>
        </p:nvSpPr>
        <p:spPr>
          <a:xfrm>
            <a:off x="5623560" y="2464308"/>
            <a:ext cx="2011680" cy="585216"/>
          </a:xfrm>
          <a:prstGeom prst="rect">
            <a:avLst/>
          </a:prstGeom>
          <a:solidFill>
            <a:srgbClr val="F4F4F4"/>
          </a:solidFill>
          <a:ln w="6350">
            <a:solidFill>
              <a:srgbClr val="D0D0D0"/>
            </a:solidFill>
            <a:prstDash val="solid"/>
          </a:ln>
        </p:spPr>
        <p:txBody>
          <a:bodyPr/>
          <a:lstStyle/>
          <a:p>
            <a:endParaRPr/>
          </a:p>
        </p:txBody>
      </p:sp>
      <p:sp>
        <p:nvSpPr>
          <p:cNvPr id="30" name="Text 27"/>
          <p:cNvSpPr/>
          <p:nvPr/>
        </p:nvSpPr>
        <p:spPr>
          <a:xfrm>
            <a:off x="5669280" y="2537460"/>
            <a:ext cx="192024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Trung bình/cao</a:t>
            </a:r>
            <a:endParaRPr lang="en-US" sz="950" dirty="0"/>
          </a:p>
        </p:txBody>
      </p:sp>
      <p:sp>
        <p:nvSpPr>
          <p:cNvPr id="31" name="Shape 28"/>
          <p:cNvSpPr/>
          <p:nvPr/>
        </p:nvSpPr>
        <p:spPr>
          <a:xfrm>
            <a:off x="7818120" y="2464308"/>
            <a:ext cx="1645920" cy="585216"/>
          </a:xfrm>
          <a:prstGeom prst="rect">
            <a:avLst/>
          </a:prstGeom>
          <a:solidFill>
            <a:srgbClr val="F4F4F4"/>
          </a:solidFill>
          <a:ln w="6350">
            <a:solidFill>
              <a:srgbClr val="D0D0D0"/>
            </a:solidFill>
            <a:prstDash val="solid"/>
          </a:ln>
        </p:spPr>
        <p:txBody>
          <a:bodyPr/>
          <a:lstStyle/>
          <a:p>
            <a:endParaRPr/>
          </a:p>
        </p:txBody>
      </p:sp>
      <p:sp>
        <p:nvSpPr>
          <p:cNvPr id="32" name="Text 29"/>
          <p:cNvSpPr/>
          <p:nvPr/>
        </p:nvSpPr>
        <p:spPr>
          <a:xfrm>
            <a:off x="7863840" y="2537460"/>
            <a:ext cx="155448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Có nền tảng lý thuyết</a:t>
            </a:r>
            <a:endParaRPr lang="en-US" sz="950" dirty="0"/>
          </a:p>
        </p:txBody>
      </p:sp>
      <p:sp>
        <p:nvSpPr>
          <p:cNvPr id="33" name="Shape 30"/>
          <p:cNvSpPr/>
          <p:nvPr/>
        </p:nvSpPr>
        <p:spPr>
          <a:xfrm>
            <a:off x="9646920" y="2464308"/>
            <a:ext cx="1554480" cy="585216"/>
          </a:xfrm>
          <a:prstGeom prst="rect">
            <a:avLst/>
          </a:prstGeom>
          <a:solidFill>
            <a:srgbClr val="F4F4F4"/>
          </a:solidFill>
          <a:ln w="6350">
            <a:solidFill>
              <a:srgbClr val="D0D0D0"/>
            </a:solidFill>
            <a:prstDash val="solid"/>
          </a:ln>
        </p:spPr>
        <p:txBody>
          <a:bodyPr/>
          <a:lstStyle/>
          <a:p>
            <a:endParaRPr/>
          </a:p>
        </p:txBody>
      </p:sp>
      <p:sp>
        <p:nvSpPr>
          <p:cNvPr id="34" name="Text 31"/>
          <p:cNvSpPr/>
          <p:nvPr/>
        </p:nvSpPr>
        <p:spPr>
          <a:xfrm>
            <a:off x="9692640" y="2537460"/>
            <a:ext cx="146304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Chậm do nhiều lần inference</a:t>
            </a:r>
            <a:endParaRPr lang="en-US" sz="950" dirty="0"/>
          </a:p>
        </p:txBody>
      </p:sp>
      <p:sp>
        <p:nvSpPr>
          <p:cNvPr id="35" name="Shape 32"/>
          <p:cNvSpPr/>
          <p:nvPr/>
        </p:nvSpPr>
        <p:spPr>
          <a:xfrm>
            <a:off x="731520" y="3049524"/>
            <a:ext cx="2286000" cy="585216"/>
          </a:xfrm>
          <a:prstGeom prst="rect">
            <a:avLst/>
          </a:prstGeom>
          <a:solidFill>
            <a:srgbClr val="FFFFFF"/>
          </a:solidFill>
          <a:ln w="6350">
            <a:solidFill>
              <a:srgbClr val="D0D0D0"/>
            </a:solidFill>
            <a:prstDash val="solid"/>
          </a:ln>
        </p:spPr>
        <p:txBody>
          <a:bodyPr/>
          <a:lstStyle/>
          <a:p>
            <a:endParaRPr/>
          </a:p>
        </p:txBody>
      </p:sp>
      <p:sp>
        <p:nvSpPr>
          <p:cNvPr id="36" name="Text 33"/>
          <p:cNvSpPr/>
          <p:nvPr/>
        </p:nvSpPr>
        <p:spPr>
          <a:xfrm>
            <a:off x="777240" y="3122676"/>
            <a:ext cx="2194560" cy="475488"/>
          </a:xfrm>
          <a:prstGeom prst="rect">
            <a:avLst/>
          </a:prstGeom>
          <a:noFill/>
          <a:ln/>
        </p:spPr>
        <p:txBody>
          <a:bodyPr wrap="square" lIns="254" tIns="254" rIns="254" bIns="254" rtlCol="0" anchor="ctr">
            <a:normAutofit/>
          </a:bodyPr>
          <a:lstStyle/>
          <a:p>
            <a:pPr marL="0" indent="0" algn="l">
              <a:buNone/>
            </a:pPr>
            <a:r>
              <a:rPr lang="en-US" sz="950" dirty="0">
                <a:solidFill>
                  <a:srgbClr val="1A1A1A"/>
                </a:solidFill>
                <a:latin typeface="Arial" pitchFamily="34" charset="0"/>
                <a:ea typeface="Arial" pitchFamily="34" charset="-122"/>
                <a:cs typeface="Arial" pitchFamily="34" charset="-120"/>
              </a:rPr>
              <a:t>Adversarial Training</a:t>
            </a:r>
            <a:endParaRPr lang="en-US" sz="950" dirty="0"/>
          </a:p>
        </p:txBody>
      </p:sp>
      <p:sp>
        <p:nvSpPr>
          <p:cNvPr id="37" name="Shape 34"/>
          <p:cNvSpPr/>
          <p:nvPr/>
        </p:nvSpPr>
        <p:spPr>
          <a:xfrm>
            <a:off x="3200400" y="3049524"/>
            <a:ext cx="2194560" cy="585216"/>
          </a:xfrm>
          <a:prstGeom prst="rect">
            <a:avLst/>
          </a:prstGeom>
          <a:solidFill>
            <a:srgbClr val="FFFFFF"/>
          </a:solidFill>
          <a:ln w="6350">
            <a:solidFill>
              <a:srgbClr val="D0D0D0"/>
            </a:solidFill>
            <a:prstDash val="solid"/>
          </a:ln>
        </p:spPr>
        <p:txBody>
          <a:bodyPr/>
          <a:lstStyle/>
          <a:p>
            <a:endParaRPr/>
          </a:p>
        </p:txBody>
      </p:sp>
      <p:sp>
        <p:nvSpPr>
          <p:cNvPr id="38" name="Text 35"/>
          <p:cNvSpPr/>
          <p:nvPr/>
        </p:nvSpPr>
        <p:spPr>
          <a:xfrm>
            <a:off x="3246120" y="3122676"/>
            <a:ext cx="210312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Rất cao</a:t>
            </a:r>
            <a:endParaRPr lang="en-US" sz="950" dirty="0"/>
          </a:p>
          <a:p>
            <a:pPr marL="0" indent="0" algn="ctr">
              <a:buNone/>
            </a:pPr>
            <a:r>
              <a:rPr lang="en-US" sz="950" dirty="0">
                <a:solidFill>
                  <a:srgbClr val="1A1A1A"/>
                </a:solidFill>
                <a:latin typeface="Arial" pitchFamily="34" charset="0"/>
                <a:ea typeface="Arial" pitchFamily="34" charset="-122"/>
                <a:cs typeface="Arial" pitchFamily="34" charset="-120"/>
              </a:rPr>
              <a:t>&gt;94%</a:t>
            </a:r>
            <a:endParaRPr lang="en-US" sz="950" dirty="0"/>
          </a:p>
        </p:txBody>
      </p:sp>
      <p:sp>
        <p:nvSpPr>
          <p:cNvPr id="39" name="Shape 36"/>
          <p:cNvSpPr/>
          <p:nvPr/>
        </p:nvSpPr>
        <p:spPr>
          <a:xfrm>
            <a:off x="5623560" y="3049524"/>
            <a:ext cx="2011680" cy="585216"/>
          </a:xfrm>
          <a:prstGeom prst="rect">
            <a:avLst/>
          </a:prstGeom>
          <a:solidFill>
            <a:srgbClr val="FFFFFF"/>
          </a:solidFill>
          <a:ln w="6350">
            <a:solidFill>
              <a:srgbClr val="D0D0D0"/>
            </a:solidFill>
            <a:prstDash val="solid"/>
          </a:ln>
        </p:spPr>
        <p:txBody>
          <a:bodyPr/>
          <a:lstStyle/>
          <a:p>
            <a:endParaRPr/>
          </a:p>
        </p:txBody>
      </p:sp>
      <p:sp>
        <p:nvSpPr>
          <p:cNvPr id="40" name="Text 37"/>
          <p:cNvSpPr/>
          <p:nvPr/>
        </p:nvSpPr>
        <p:spPr>
          <a:xfrm>
            <a:off x="5669280" y="3122676"/>
            <a:ext cx="192024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Cao</a:t>
            </a:r>
            <a:endParaRPr lang="en-US" sz="950" dirty="0"/>
          </a:p>
        </p:txBody>
      </p:sp>
      <p:sp>
        <p:nvSpPr>
          <p:cNvPr id="41" name="Shape 38"/>
          <p:cNvSpPr/>
          <p:nvPr/>
        </p:nvSpPr>
        <p:spPr>
          <a:xfrm>
            <a:off x="7818120" y="3049524"/>
            <a:ext cx="1645920" cy="585216"/>
          </a:xfrm>
          <a:prstGeom prst="rect">
            <a:avLst/>
          </a:prstGeom>
          <a:solidFill>
            <a:srgbClr val="FFFFFF"/>
          </a:solidFill>
          <a:ln w="6350">
            <a:solidFill>
              <a:srgbClr val="D0D0D0"/>
            </a:solidFill>
            <a:prstDash val="solid"/>
          </a:ln>
        </p:spPr>
        <p:txBody>
          <a:bodyPr/>
          <a:lstStyle/>
          <a:p>
            <a:endParaRPr/>
          </a:p>
        </p:txBody>
      </p:sp>
      <p:sp>
        <p:nvSpPr>
          <p:cNvPr id="42" name="Text 39"/>
          <p:cNvSpPr/>
          <p:nvPr/>
        </p:nvSpPr>
        <p:spPr>
          <a:xfrm>
            <a:off x="7863840" y="3122676"/>
            <a:ext cx="155448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Robust trực tiếp trong mô hình</a:t>
            </a:r>
            <a:endParaRPr lang="en-US" sz="950" dirty="0"/>
          </a:p>
        </p:txBody>
      </p:sp>
      <p:sp>
        <p:nvSpPr>
          <p:cNvPr id="43" name="Shape 40"/>
          <p:cNvSpPr/>
          <p:nvPr/>
        </p:nvSpPr>
        <p:spPr>
          <a:xfrm>
            <a:off x="9646920" y="3049524"/>
            <a:ext cx="1554480" cy="585216"/>
          </a:xfrm>
          <a:prstGeom prst="rect">
            <a:avLst/>
          </a:prstGeom>
          <a:solidFill>
            <a:srgbClr val="FFFFFF"/>
          </a:solidFill>
          <a:ln w="6350">
            <a:solidFill>
              <a:srgbClr val="D0D0D0"/>
            </a:solidFill>
            <a:prstDash val="solid"/>
          </a:ln>
        </p:spPr>
        <p:txBody>
          <a:bodyPr/>
          <a:lstStyle/>
          <a:p>
            <a:endParaRPr/>
          </a:p>
        </p:txBody>
      </p:sp>
      <p:sp>
        <p:nvSpPr>
          <p:cNvPr id="44" name="Text 41"/>
          <p:cNvSpPr/>
          <p:nvPr/>
        </p:nvSpPr>
        <p:spPr>
          <a:xfrm>
            <a:off x="9692640" y="3122676"/>
            <a:ext cx="1463040" cy="475488"/>
          </a:xfrm>
          <a:prstGeom prst="rect">
            <a:avLst/>
          </a:prstGeom>
          <a:noFill/>
          <a:ln/>
        </p:spPr>
        <p:txBody>
          <a:bodyPr wrap="square" lIns="254" tIns="254" rIns="254" bIns="254" rtlCol="0" anchor="ctr">
            <a:normAutofit/>
          </a:bodyPr>
          <a:lstStyle/>
          <a:p>
            <a:pPr marL="0" indent="0" algn="ctr">
              <a:buNone/>
            </a:pPr>
            <a:r>
              <a:rPr lang="en-US" sz="950" dirty="0">
                <a:solidFill>
                  <a:srgbClr val="1A1A1A"/>
                </a:solidFill>
                <a:latin typeface="Arial" pitchFamily="34" charset="0"/>
                <a:ea typeface="Arial" pitchFamily="34" charset="-122"/>
                <a:cs typeface="Arial" pitchFamily="34" charset="-120"/>
              </a:rPr>
              <a:t>Tốn dữ liệu + thời gian train</a:t>
            </a:r>
            <a:endParaRPr lang="en-US" sz="950" dirty="0"/>
          </a:p>
        </p:txBody>
      </p:sp>
      <p:sp>
        <p:nvSpPr>
          <p:cNvPr id="45" name="Shape 42"/>
          <p:cNvSpPr/>
          <p:nvPr/>
        </p:nvSpPr>
        <p:spPr>
          <a:xfrm>
            <a:off x="914400" y="4251960"/>
            <a:ext cx="10058400" cy="868680"/>
          </a:xfrm>
          <a:prstGeom prst="roundRect">
            <a:avLst>
              <a:gd name="adj" fmla="val 8421"/>
            </a:avLst>
          </a:prstGeom>
          <a:solidFill>
            <a:srgbClr val="FFFFFF"/>
          </a:solidFill>
          <a:ln w="10160">
            <a:solidFill>
              <a:srgbClr val="D8D8D8"/>
            </a:solidFill>
            <a:prstDash val="solid"/>
          </a:ln>
        </p:spPr>
        <p:txBody>
          <a:bodyPr/>
          <a:lstStyle/>
          <a:p>
            <a:endParaRPr/>
          </a:p>
        </p:txBody>
      </p:sp>
      <p:sp>
        <p:nvSpPr>
          <p:cNvPr id="46" name="Shape 43"/>
          <p:cNvSpPr/>
          <p:nvPr/>
        </p:nvSpPr>
        <p:spPr>
          <a:xfrm>
            <a:off x="914400" y="4251960"/>
            <a:ext cx="73152" cy="868680"/>
          </a:xfrm>
          <a:prstGeom prst="rect">
            <a:avLst/>
          </a:prstGeom>
          <a:solidFill>
            <a:srgbClr val="C91F35"/>
          </a:solidFill>
          <a:ln w="12700">
            <a:solidFill>
              <a:srgbClr val="C91F35"/>
            </a:solidFill>
            <a:prstDash val="solid"/>
          </a:ln>
        </p:spPr>
        <p:txBody>
          <a:bodyPr/>
          <a:lstStyle/>
          <a:p>
            <a:endParaRPr/>
          </a:p>
        </p:txBody>
      </p:sp>
      <p:sp>
        <p:nvSpPr>
          <p:cNvPr id="47" name="Text 44"/>
          <p:cNvSpPr/>
          <p:nvPr/>
        </p:nvSpPr>
        <p:spPr>
          <a:xfrm>
            <a:off x="1078992" y="4361688"/>
            <a:ext cx="9765792" cy="256032"/>
          </a:xfrm>
          <a:prstGeom prst="rect">
            <a:avLst/>
          </a:prstGeom>
          <a:noFill/>
          <a:ln/>
        </p:spPr>
        <p:txBody>
          <a:bodyPr wrap="square" lIns="254" tIns="254" rIns="254" bIns="254" rtlCol="0" anchor="ctr"/>
          <a:lstStyle/>
          <a:p>
            <a:pPr marL="0" indent="0">
              <a:buNone/>
            </a:pPr>
            <a:r>
              <a:rPr lang="en-US" sz="1400" b="1" dirty="0">
                <a:solidFill>
                  <a:srgbClr val="C91F35"/>
                </a:solidFill>
                <a:latin typeface="Arial" pitchFamily="34" charset="0"/>
                <a:ea typeface="Arial" pitchFamily="34" charset="-122"/>
                <a:cs typeface="Arial" pitchFamily="34" charset="-120"/>
              </a:rPr>
              <a:t>Lựa chọn của nhóm</a:t>
            </a:r>
            <a:endParaRPr lang="en-US" sz="1400" dirty="0"/>
          </a:p>
        </p:txBody>
      </p:sp>
      <p:sp>
        <p:nvSpPr>
          <p:cNvPr id="48" name="Text 45"/>
          <p:cNvSpPr/>
          <p:nvPr/>
        </p:nvSpPr>
        <p:spPr>
          <a:xfrm>
            <a:off x="1078992" y="4690872"/>
            <a:ext cx="9765792" cy="365760"/>
          </a:xfrm>
          <a:prstGeom prst="rect">
            <a:avLst/>
          </a:prstGeom>
          <a:noFill/>
          <a:ln/>
        </p:spPr>
        <p:txBody>
          <a:bodyPr wrap="square" lIns="254" tIns="254" rIns="254" bIns="254" rtlCol="0" anchor="ctr">
            <a:normAutofit/>
          </a:bodyPr>
          <a:lstStyle/>
          <a:p>
            <a:pPr marL="0" indent="0">
              <a:buNone/>
            </a:pPr>
            <a:r>
              <a:rPr lang="en-US" sz="1250" dirty="0">
                <a:solidFill>
                  <a:srgbClr val="1A1A1A"/>
                </a:solidFill>
                <a:latin typeface="Arial" pitchFamily="34" charset="0"/>
                <a:ea typeface="Arial" pitchFamily="34" charset="-122"/>
                <a:cs typeface="Arial" pitchFamily="34" charset="-120"/>
              </a:rPr>
              <a:t>Trong phạm vi bài toán này, nhóm chọn Adversarial Training vì đạt hiệu quả cao nhất và vẫn giữ accuracy tốt trên dữ liệu sạch.</a:t>
            </a:r>
            <a:endParaRPr lang="en-US" sz="1250" dirty="0"/>
          </a:p>
        </p:txBody>
      </p:sp>
      <p:sp>
        <p:nvSpPr>
          <p:cNvPr id="49" name="Text 46"/>
          <p:cNvSpPr/>
          <p:nvPr/>
        </p:nvSpPr>
        <p:spPr>
          <a:xfrm>
            <a:off x="914400" y="5486400"/>
            <a:ext cx="9601200" cy="274320"/>
          </a:xfrm>
          <a:prstGeom prst="rect">
            <a:avLst/>
          </a:prstGeom>
          <a:noFill/>
          <a:ln/>
        </p:spPr>
        <p:txBody>
          <a:bodyPr wrap="square" lIns="254" tIns="254" rIns="254" bIns="254" rtlCol="0" anchor="ctr">
            <a:normAutofit/>
          </a:bodyPr>
          <a:lstStyle/>
          <a:p>
            <a:pPr marL="0" indent="0">
              <a:buNone/>
            </a:pPr>
            <a:r>
              <a:rPr lang="en-US" sz="1100" i="1" dirty="0">
                <a:solidFill>
                  <a:srgbClr val="555555"/>
                </a:solidFill>
                <a:latin typeface="Arial" pitchFamily="34" charset="0"/>
                <a:ea typeface="Arial" pitchFamily="34" charset="-122"/>
                <a:cs typeface="Arial" pitchFamily="34" charset="-120"/>
              </a:rPr>
              <a:t>Lưu ý khi báo cáo: cần nói rõ attack sau defense được sinh lại trên mô hình mới hay dùng mẫu attack từ mô hình gốc.</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mnt/data/pptx_unzip/ppt/media/image4.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t>13</a:t>
            </a:r>
            <a:endParaRPr lang="en-US" sz="600" dirty="0"/>
          </a:p>
        </p:txBody>
      </p:sp>
      <p:sp>
        <p:nvSpPr>
          <p:cNvPr id="4" name="Text 1"/>
          <p:cNvSpPr/>
          <p:nvPr/>
        </p:nvSpPr>
        <p:spPr>
          <a:xfrm>
            <a:off x="329184" y="118872"/>
            <a:ext cx="9875520" cy="384048"/>
          </a:xfrm>
          <a:prstGeom prst="rect">
            <a:avLst/>
          </a:prstGeom>
          <a:noFill/>
          <a:ln/>
        </p:spPr>
        <p:txBody>
          <a:bodyPr wrap="square" lIns="254" tIns="254" rIns="254" bIns="254" rtlCol="0" anchor="ctr">
            <a:normAutofit/>
          </a:bodyPr>
          <a:lstStyle/>
          <a:p>
            <a:pPr marL="0" indent="0">
              <a:buNone/>
              <a:defRPr sz="2200" b="1">
                <a:solidFill>
                  <a:srgbClr val="255B95"/>
                </a:solidFill>
                <a:latin typeface="Arial"/>
              </a:defRPr>
            </a:pPr>
            <a:r>
              <a:rPr lang="en-US" sz="2000" dirty="0" smtClean="0">
                <a:solidFill>
                  <a:schemeClr val="bg1"/>
                </a:solidFill>
              </a:rPr>
              <a:t>16. </a:t>
            </a:r>
            <a:r>
              <a:rPr lang="en-US" sz="2000" dirty="0" err="1">
                <a:solidFill>
                  <a:schemeClr val="bg1"/>
                </a:solidFill>
              </a:rPr>
              <a:t>Kết</a:t>
            </a:r>
            <a:r>
              <a:rPr lang="en-US" sz="2000" dirty="0">
                <a:solidFill>
                  <a:schemeClr val="bg1"/>
                </a:solidFill>
              </a:rPr>
              <a:t> </a:t>
            </a:r>
            <a:r>
              <a:rPr lang="en-US" sz="2000" dirty="0" err="1">
                <a:solidFill>
                  <a:schemeClr val="bg1"/>
                </a:solidFill>
              </a:rPr>
              <a:t>luận</a:t>
            </a:r>
            <a:endParaRPr lang="en-US" dirty="0">
              <a:solidFill>
                <a:schemeClr val="bg1"/>
              </a:solidFill>
            </a:endParaRPr>
          </a:p>
        </p:txBody>
      </p:sp>
      <p:sp>
        <p:nvSpPr>
          <p:cNvPr id="5" name="Shape 2"/>
          <p:cNvSpPr/>
          <p:nvPr/>
        </p:nvSpPr>
        <p:spPr>
          <a:xfrm>
            <a:off x="822960" y="1427988"/>
            <a:ext cx="2468880" cy="1143000"/>
          </a:xfrm>
          <a:prstGeom prst="roundRect">
            <a:avLst>
              <a:gd name="adj" fmla="val 8000"/>
            </a:avLst>
          </a:prstGeom>
          <a:solidFill>
            <a:srgbClr val="F7F7F7"/>
          </a:solidFill>
          <a:ln w="6350">
            <a:solidFill>
              <a:srgbClr val="E0E0E0"/>
            </a:solidFill>
            <a:prstDash val="solid"/>
          </a:ln>
        </p:spPr>
        <p:txBody>
          <a:bodyPr/>
          <a:lstStyle/>
          <a:p>
            <a:endParaRPr/>
          </a:p>
        </p:txBody>
      </p:sp>
      <p:sp>
        <p:nvSpPr>
          <p:cNvPr id="6" name="Text 3"/>
          <p:cNvSpPr/>
          <p:nvPr/>
        </p:nvSpPr>
        <p:spPr>
          <a:xfrm>
            <a:off x="822960" y="1592580"/>
            <a:ext cx="2468880" cy="411480"/>
          </a:xfrm>
          <a:prstGeom prst="rect">
            <a:avLst/>
          </a:prstGeom>
          <a:noFill/>
          <a:ln/>
        </p:spPr>
        <p:txBody>
          <a:bodyPr wrap="square" lIns="254" tIns="254" rIns="254" bIns="254" rtlCol="0" anchor="ctr"/>
          <a:lstStyle/>
          <a:p>
            <a:pPr marL="0" indent="0" algn="ctr">
              <a:buNone/>
            </a:pPr>
            <a:r>
              <a:rPr lang="en-US" sz="2400" b="1" dirty="0">
                <a:solidFill>
                  <a:srgbClr val="003B6D"/>
                </a:solidFill>
                <a:latin typeface="Arial" pitchFamily="34" charset="0"/>
                <a:ea typeface="Arial" pitchFamily="34" charset="-122"/>
                <a:cs typeface="Arial" pitchFamily="34" charset="-120"/>
              </a:rPr>
              <a:t>94.54%</a:t>
            </a:r>
            <a:endParaRPr lang="en-US" sz="2400" dirty="0"/>
          </a:p>
        </p:txBody>
      </p:sp>
      <p:sp>
        <p:nvSpPr>
          <p:cNvPr id="7" name="Text 4"/>
          <p:cNvSpPr/>
          <p:nvPr/>
        </p:nvSpPr>
        <p:spPr>
          <a:xfrm>
            <a:off x="896112" y="2049780"/>
            <a:ext cx="232257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Baseline trên dữ liệu sạch</a:t>
            </a:r>
            <a:endParaRPr lang="en-US" sz="1050" dirty="0"/>
          </a:p>
        </p:txBody>
      </p:sp>
      <p:sp>
        <p:nvSpPr>
          <p:cNvPr id="8" name="Shape 5"/>
          <p:cNvSpPr/>
          <p:nvPr/>
        </p:nvSpPr>
        <p:spPr>
          <a:xfrm>
            <a:off x="3703320" y="1427988"/>
            <a:ext cx="2468880" cy="1143000"/>
          </a:xfrm>
          <a:prstGeom prst="roundRect">
            <a:avLst>
              <a:gd name="adj" fmla="val 8000"/>
            </a:avLst>
          </a:prstGeom>
          <a:solidFill>
            <a:srgbClr val="F7F7F7"/>
          </a:solidFill>
          <a:ln w="6350">
            <a:solidFill>
              <a:srgbClr val="E0E0E0"/>
            </a:solidFill>
            <a:prstDash val="solid"/>
          </a:ln>
        </p:spPr>
        <p:txBody>
          <a:bodyPr/>
          <a:lstStyle/>
          <a:p>
            <a:endParaRPr/>
          </a:p>
        </p:txBody>
      </p:sp>
      <p:sp>
        <p:nvSpPr>
          <p:cNvPr id="9" name="Text 6"/>
          <p:cNvSpPr/>
          <p:nvPr/>
        </p:nvSpPr>
        <p:spPr>
          <a:xfrm>
            <a:off x="3703320" y="1592580"/>
            <a:ext cx="2468880" cy="411480"/>
          </a:xfrm>
          <a:prstGeom prst="rect">
            <a:avLst/>
          </a:prstGeom>
          <a:noFill/>
          <a:ln/>
        </p:spPr>
        <p:txBody>
          <a:bodyPr wrap="square" lIns="254" tIns="254" rIns="254" bIns="254" rtlCol="0" anchor="ctr"/>
          <a:lstStyle/>
          <a:p>
            <a:pPr marL="0" indent="0" algn="ctr">
              <a:buNone/>
            </a:pPr>
            <a:r>
              <a:rPr lang="en-US" sz="2400" b="1" dirty="0">
                <a:solidFill>
                  <a:srgbClr val="C91F35"/>
                </a:solidFill>
                <a:latin typeface="Arial" pitchFamily="34" charset="0"/>
                <a:ea typeface="Arial" pitchFamily="34" charset="-122"/>
                <a:cs typeface="Arial" pitchFamily="34" charset="-120"/>
              </a:rPr>
              <a:t>0–43%</a:t>
            </a:r>
            <a:endParaRPr lang="en-US" sz="2400" dirty="0"/>
          </a:p>
        </p:txBody>
      </p:sp>
      <p:sp>
        <p:nvSpPr>
          <p:cNvPr id="10" name="Text 7"/>
          <p:cNvSpPr/>
          <p:nvPr/>
        </p:nvSpPr>
        <p:spPr>
          <a:xfrm>
            <a:off x="3776472" y="2049780"/>
            <a:ext cx="232257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Accuracy sau attack mạnh</a:t>
            </a:r>
            <a:endParaRPr lang="en-US" sz="1050" dirty="0"/>
          </a:p>
        </p:txBody>
      </p:sp>
      <p:sp>
        <p:nvSpPr>
          <p:cNvPr id="11" name="Shape 8"/>
          <p:cNvSpPr/>
          <p:nvPr/>
        </p:nvSpPr>
        <p:spPr>
          <a:xfrm>
            <a:off x="6583680" y="1427988"/>
            <a:ext cx="2468880" cy="1143000"/>
          </a:xfrm>
          <a:prstGeom prst="roundRect">
            <a:avLst>
              <a:gd name="adj" fmla="val 8000"/>
            </a:avLst>
          </a:prstGeom>
          <a:solidFill>
            <a:srgbClr val="F7F7F7"/>
          </a:solidFill>
          <a:ln w="6350">
            <a:solidFill>
              <a:srgbClr val="E0E0E0"/>
            </a:solidFill>
            <a:prstDash val="solid"/>
          </a:ln>
        </p:spPr>
        <p:txBody>
          <a:bodyPr/>
          <a:lstStyle/>
          <a:p>
            <a:endParaRPr/>
          </a:p>
        </p:txBody>
      </p:sp>
      <p:sp>
        <p:nvSpPr>
          <p:cNvPr id="12" name="Text 9"/>
          <p:cNvSpPr/>
          <p:nvPr/>
        </p:nvSpPr>
        <p:spPr>
          <a:xfrm>
            <a:off x="6583680" y="1592580"/>
            <a:ext cx="2468880" cy="411480"/>
          </a:xfrm>
          <a:prstGeom prst="rect">
            <a:avLst/>
          </a:prstGeom>
          <a:noFill/>
          <a:ln/>
        </p:spPr>
        <p:txBody>
          <a:bodyPr wrap="square" lIns="254" tIns="254" rIns="254" bIns="254" rtlCol="0" anchor="ctr"/>
          <a:lstStyle/>
          <a:p>
            <a:pPr marL="0" indent="0" algn="ctr">
              <a:buNone/>
            </a:pPr>
            <a:r>
              <a:rPr lang="en-US" sz="2400" b="1" dirty="0">
                <a:solidFill>
                  <a:srgbClr val="003B6D"/>
                </a:solidFill>
                <a:latin typeface="Arial" pitchFamily="34" charset="0"/>
                <a:ea typeface="Arial" pitchFamily="34" charset="-122"/>
                <a:cs typeface="Arial" pitchFamily="34" charset="-120"/>
              </a:rPr>
              <a:t>&gt;94%</a:t>
            </a:r>
            <a:endParaRPr lang="en-US" sz="2400" dirty="0"/>
          </a:p>
        </p:txBody>
      </p:sp>
      <p:sp>
        <p:nvSpPr>
          <p:cNvPr id="13" name="Text 10"/>
          <p:cNvSpPr/>
          <p:nvPr/>
        </p:nvSpPr>
        <p:spPr>
          <a:xfrm>
            <a:off x="6656832" y="2049780"/>
            <a:ext cx="2322576" cy="329184"/>
          </a:xfrm>
          <a:prstGeom prst="rect">
            <a:avLst/>
          </a:prstGeom>
          <a:noFill/>
          <a:ln/>
        </p:spPr>
        <p:txBody>
          <a:bodyPr wrap="square" lIns="254" tIns="254" rIns="254" bIns="254" rtlCol="0" anchor="ctr">
            <a:normAutofit/>
          </a:bodyPr>
          <a:lstStyle/>
          <a:p>
            <a:pPr marL="0" indent="0" algn="ctr">
              <a:buNone/>
            </a:pPr>
            <a:r>
              <a:rPr lang="en-US" sz="1050" dirty="0">
                <a:solidFill>
                  <a:srgbClr val="1A1A1A"/>
                </a:solidFill>
                <a:latin typeface="Arial" pitchFamily="34" charset="0"/>
                <a:ea typeface="Arial" pitchFamily="34" charset="-122"/>
                <a:cs typeface="Arial" pitchFamily="34" charset="-120"/>
              </a:rPr>
              <a:t>Sau Adversarial Training</a:t>
            </a:r>
            <a:endParaRPr lang="en-US" sz="1050" dirty="0"/>
          </a:p>
        </p:txBody>
      </p:sp>
      <p:sp>
        <p:nvSpPr>
          <p:cNvPr id="14" name="Text 11"/>
          <p:cNvSpPr/>
          <p:nvPr/>
        </p:nvSpPr>
        <p:spPr>
          <a:xfrm>
            <a:off x="822960" y="3063240"/>
            <a:ext cx="2743200" cy="274320"/>
          </a:xfrm>
          <a:prstGeom prst="rect">
            <a:avLst/>
          </a:prstGeom>
          <a:noFill/>
          <a:ln/>
        </p:spPr>
        <p:txBody>
          <a:bodyPr wrap="square" lIns="254" tIns="254" rIns="254" bIns="254" rtlCol="0" anchor="ctr"/>
          <a:lstStyle/>
          <a:p>
            <a:pPr marL="0" indent="0">
              <a:buNone/>
            </a:pPr>
            <a:r>
              <a:rPr lang="en-US" sz="1500" b="1" dirty="0">
                <a:solidFill>
                  <a:srgbClr val="C91F35"/>
                </a:solidFill>
                <a:latin typeface="Arial" pitchFamily="34" charset="0"/>
                <a:ea typeface="Arial" pitchFamily="34" charset="-122"/>
                <a:cs typeface="Arial" pitchFamily="34" charset="-120"/>
              </a:rPr>
              <a:t>Thông điệp chính</a:t>
            </a:r>
            <a:endParaRPr lang="en-US" sz="1500" dirty="0"/>
          </a:p>
        </p:txBody>
      </p:sp>
      <p:sp>
        <p:nvSpPr>
          <p:cNvPr id="15" name="Text 12"/>
          <p:cNvSpPr/>
          <p:nvPr/>
        </p:nvSpPr>
        <p:spPr>
          <a:xfrm>
            <a:off x="960120" y="3456432"/>
            <a:ext cx="9692640" cy="1737360"/>
          </a:xfrm>
          <a:prstGeom prst="rect">
            <a:avLst/>
          </a:prstGeom>
          <a:noFill/>
          <a:ln/>
        </p:spPr>
        <p:txBody>
          <a:bodyPr wrap="square" lIns="254" tIns="254" rIns="254" bIns="254" rtlCol="0" anchor="ctr">
            <a:normAutofit/>
          </a:bodyPr>
          <a:lstStyle/>
          <a:p>
            <a:r>
              <a:rPr lang="en-US" sz="1500" dirty="0">
                <a:solidFill>
                  <a:srgbClr val="1A1A1A"/>
                </a:solidFill>
                <a:latin typeface="Arial" pitchFamily="34" charset="0"/>
                <a:ea typeface="Arial" pitchFamily="34" charset="-122"/>
                <a:cs typeface="Arial" pitchFamily="34" charset="-120"/>
              </a:rPr>
              <a:t>Mô hình phân loại ảnh có thể đạt accuracy cao nhưng vẫn rất yếu trước adversarial examples.</a:t>
            </a:r>
            <a:endParaRPr lang="en-US" sz="1500" dirty="0"/>
          </a:p>
          <a:p>
            <a:r>
              <a:rPr lang="en-US" sz="1500" dirty="0">
                <a:solidFill>
                  <a:srgbClr val="1A1A1A"/>
                </a:solidFill>
                <a:latin typeface="Arial" pitchFamily="34" charset="0"/>
                <a:ea typeface="Arial" pitchFamily="34" charset="-122"/>
                <a:cs typeface="Arial" pitchFamily="34" charset="-120"/>
              </a:rPr>
              <a:t>Các phương pháp attack như PGD và C&amp;W làm suy giảm nghiêm trọng hiệu năng của ResNet-18.</a:t>
            </a:r>
            <a:endParaRPr lang="en-US" sz="1500" dirty="0"/>
          </a:p>
          <a:p>
            <a:r>
              <a:rPr lang="en-US" sz="1500" dirty="0">
                <a:solidFill>
                  <a:srgbClr val="1A1A1A"/>
                </a:solidFill>
                <a:latin typeface="Arial" pitchFamily="34" charset="0"/>
                <a:ea typeface="Arial" pitchFamily="34" charset="-122"/>
                <a:cs typeface="Arial" pitchFamily="34" charset="-120"/>
              </a:rPr>
              <a:t>Trong các defense đã thử, Adversarial Training hiệu quả nhất; JPEG Compression là lựa chọn đơn giản, chi phí thấp.</a:t>
            </a:r>
            <a:endParaRPr lang="en-US" sz="1500" dirty="0"/>
          </a:p>
          <a:p>
            <a:r>
              <a:rPr lang="en-US" sz="1500" dirty="0">
                <a:solidFill>
                  <a:srgbClr val="1A1A1A"/>
                </a:solidFill>
                <a:latin typeface="Arial" pitchFamily="34" charset="0"/>
                <a:ea typeface="Arial" pitchFamily="34" charset="-122"/>
                <a:cs typeface="Arial" pitchFamily="34" charset="-120"/>
              </a:rPr>
              <a:t>Hướng phát triển: đánh giá thêm nhiều attack, nhiều mức ε và kết hợp nhiều defense để tăng độ tin cậy.</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mnt/data/pptx_unzip/ppt/media/image1.png"/>
          <p:cNvPicPr>
            <a:picLocks noChangeAspect="1"/>
          </p:cNvPicPr>
          <p:nvPr/>
        </p:nvPicPr>
        <p:blipFill>
          <a:blip r:embed="rId3"/>
          <a:stretch>
            <a:fillRect/>
          </a:stretch>
        </p:blipFill>
        <p:spPr>
          <a:xfrm>
            <a:off x="0" y="0"/>
            <a:ext cx="12191695" cy="6858000"/>
          </a:xfrm>
          <a:prstGeom prst="rect">
            <a:avLst/>
          </a:prstGeom>
        </p:spPr>
      </p:pic>
      <p:sp>
        <p:nvSpPr>
          <p:cNvPr id="3" name="Text 0"/>
          <p:cNvSpPr/>
          <p:nvPr/>
        </p:nvSpPr>
        <p:spPr>
          <a:xfrm>
            <a:off x="5867400" y="3017520"/>
            <a:ext cx="5340600" cy="411480"/>
          </a:xfrm>
          <a:prstGeom prst="rect">
            <a:avLst/>
          </a:prstGeom>
          <a:noFill/>
          <a:ln/>
        </p:spPr>
        <p:txBody>
          <a:bodyPr wrap="square" lIns="254" tIns="254" rIns="254" bIns="254" rtlCol="0" anchor="ctr"/>
          <a:lstStyle/>
          <a:p>
            <a:pPr marL="0" indent="0">
              <a:buNone/>
            </a:pPr>
            <a:r>
              <a:rPr lang="en-US" sz="2200" b="1" dirty="0" err="1">
                <a:solidFill>
                  <a:srgbClr val="C91F35"/>
                </a:solidFill>
                <a:latin typeface="Arial" pitchFamily="34" charset="0"/>
                <a:ea typeface="Arial" pitchFamily="34" charset="-122"/>
                <a:cs typeface="Arial" pitchFamily="34" charset="-120"/>
              </a:rPr>
              <a:t>Cảm</a:t>
            </a:r>
            <a:r>
              <a:rPr lang="en-US" sz="2200" b="1" dirty="0">
                <a:solidFill>
                  <a:srgbClr val="C91F35"/>
                </a:solidFill>
                <a:latin typeface="Arial" pitchFamily="34" charset="0"/>
                <a:ea typeface="Arial" pitchFamily="34" charset="-122"/>
                <a:cs typeface="Arial" pitchFamily="34" charset="-120"/>
              </a:rPr>
              <a:t> </a:t>
            </a:r>
            <a:r>
              <a:rPr lang="en-US" sz="2200" b="1" dirty="0" err="1">
                <a:solidFill>
                  <a:srgbClr val="C91F35"/>
                </a:solidFill>
                <a:latin typeface="Arial" pitchFamily="34" charset="0"/>
                <a:ea typeface="Arial" pitchFamily="34" charset="-122"/>
                <a:cs typeface="Arial" pitchFamily="34" charset="-120"/>
              </a:rPr>
              <a:t>ơn</a:t>
            </a:r>
            <a:r>
              <a:rPr lang="en-US" sz="2200" b="1" dirty="0">
                <a:solidFill>
                  <a:srgbClr val="C91F35"/>
                </a:solidFill>
                <a:latin typeface="Arial" pitchFamily="34" charset="0"/>
                <a:ea typeface="Arial" pitchFamily="34" charset="-122"/>
                <a:cs typeface="Arial" pitchFamily="34" charset="-120"/>
              </a:rPr>
              <a:t> Thầy </a:t>
            </a:r>
            <a:r>
              <a:rPr lang="en-US" sz="2200" b="1" dirty="0" err="1">
                <a:solidFill>
                  <a:srgbClr val="C91F35"/>
                </a:solidFill>
                <a:latin typeface="Arial" pitchFamily="34" charset="0"/>
                <a:ea typeface="Arial" pitchFamily="34" charset="-122"/>
                <a:cs typeface="Arial" pitchFamily="34" charset="-120"/>
              </a:rPr>
              <a:t>và</a:t>
            </a:r>
            <a:r>
              <a:rPr lang="en-US" sz="2200" b="1" dirty="0">
                <a:solidFill>
                  <a:srgbClr val="C91F35"/>
                </a:solidFill>
                <a:latin typeface="Arial" pitchFamily="34" charset="0"/>
                <a:ea typeface="Arial" pitchFamily="34" charset="-122"/>
                <a:cs typeface="Arial" pitchFamily="34" charset="-120"/>
              </a:rPr>
              <a:t> Các </a:t>
            </a:r>
            <a:r>
              <a:rPr lang="en-US" sz="2200" b="1" dirty="0" err="1">
                <a:solidFill>
                  <a:srgbClr val="C91F35"/>
                </a:solidFill>
                <a:latin typeface="Arial" pitchFamily="34" charset="0"/>
                <a:ea typeface="Arial" pitchFamily="34" charset="-122"/>
                <a:cs typeface="Arial" pitchFamily="34" charset="-120"/>
              </a:rPr>
              <a:t>bạn</a:t>
            </a:r>
            <a:r>
              <a:rPr lang="en-US" sz="2200" b="1" dirty="0">
                <a:solidFill>
                  <a:srgbClr val="C91F35"/>
                </a:solidFill>
                <a:latin typeface="Arial" pitchFamily="34" charset="0"/>
                <a:ea typeface="Arial" pitchFamily="34" charset="-122"/>
                <a:cs typeface="Arial" pitchFamily="34" charset="-120"/>
              </a:rPr>
              <a:t> </a:t>
            </a:r>
            <a:r>
              <a:rPr lang="en-US" sz="2200" b="1" dirty="0" err="1">
                <a:solidFill>
                  <a:srgbClr val="C91F35"/>
                </a:solidFill>
                <a:latin typeface="Arial" pitchFamily="34" charset="0"/>
                <a:ea typeface="Arial" pitchFamily="34" charset="-122"/>
                <a:cs typeface="Arial" pitchFamily="34" charset="-120"/>
              </a:rPr>
              <a:t>đã</a:t>
            </a:r>
            <a:r>
              <a:rPr lang="en-US" sz="2200" b="1" dirty="0">
                <a:solidFill>
                  <a:srgbClr val="C91F35"/>
                </a:solidFill>
                <a:latin typeface="Arial" pitchFamily="34" charset="0"/>
                <a:ea typeface="Arial" pitchFamily="34" charset="-122"/>
                <a:cs typeface="Arial" pitchFamily="34" charset="-120"/>
              </a:rPr>
              <a:t> </a:t>
            </a:r>
            <a:r>
              <a:rPr lang="en-US" sz="2200" b="1" dirty="0" err="1">
                <a:solidFill>
                  <a:srgbClr val="C91F35"/>
                </a:solidFill>
                <a:latin typeface="Arial" pitchFamily="34" charset="0"/>
                <a:ea typeface="Arial" pitchFamily="34" charset="-122"/>
                <a:cs typeface="Arial" pitchFamily="34" charset="-120"/>
              </a:rPr>
              <a:t>lắng</a:t>
            </a:r>
            <a:r>
              <a:rPr lang="en-US" sz="2200" b="1" dirty="0">
                <a:solidFill>
                  <a:srgbClr val="C91F35"/>
                </a:solidFill>
                <a:latin typeface="Arial" pitchFamily="34" charset="0"/>
                <a:ea typeface="Arial" pitchFamily="34" charset="-122"/>
                <a:cs typeface="Arial" pitchFamily="34" charset="-120"/>
              </a:rPr>
              <a:t> </a:t>
            </a:r>
            <a:r>
              <a:rPr lang="en-US" sz="2200" b="1" dirty="0" err="1">
                <a:solidFill>
                  <a:srgbClr val="C91F35"/>
                </a:solidFill>
                <a:latin typeface="Arial" pitchFamily="34" charset="0"/>
                <a:ea typeface="Arial" pitchFamily="34" charset="-122"/>
                <a:cs typeface="Arial" pitchFamily="34" charset="-120"/>
              </a:rPr>
              <a:t>nghe</a:t>
            </a:r>
            <a:endParaRPr lang="en-US" sz="2200" dirty="0"/>
          </a:p>
        </p:txBody>
      </p:sp>
      <p:sp>
        <p:nvSpPr>
          <p:cNvPr id="4" name="Text 1"/>
          <p:cNvSpPr/>
          <p:nvPr/>
        </p:nvSpPr>
        <p:spPr>
          <a:xfrm>
            <a:off x="6629400" y="3520440"/>
            <a:ext cx="914400" cy="274320"/>
          </a:xfrm>
          <a:prstGeom prst="rect">
            <a:avLst/>
          </a:prstGeom>
          <a:noFill/>
          <a:ln/>
        </p:spPr>
        <p:txBody>
          <a:bodyPr wrap="square" lIns="254" tIns="254" rIns="254" bIns="254" rtlCol="0" anchor="ctr"/>
          <a:lstStyle/>
          <a:p>
            <a:pPr marL="0" indent="0">
              <a:buNone/>
            </a:pPr>
            <a:endParaRPr lang="en-US" sz="1400" dirty="0"/>
          </a:p>
        </p:txBody>
      </p:sp>
      <p:sp>
        <p:nvSpPr>
          <p:cNvPr id="5" name="Text 2"/>
          <p:cNvSpPr/>
          <p:nvPr/>
        </p:nvSpPr>
        <p:spPr>
          <a:xfrm>
            <a:off x="11550000" y="6473952"/>
            <a:ext cx="420000" cy="109728"/>
          </a:xfrm>
          <a:prstGeom prst="rect">
            <a:avLst/>
          </a:prstGeom>
          <a:noFill/>
          <a:ln/>
        </p:spPr>
        <p:txBody>
          <a:bodyPr wrap="none" lIns="0" tIns="0" rIns="0" bIns="0" rtlCol="0" anchor="ctr"/>
          <a:lstStyle/>
          <a:p>
            <a:pPr marL="0" indent="0" algn="l">
              <a:buNone/>
              <a:defRPr sz="800">
                <a:solidFill>
                  <a:srgbClr val="000000"/>
                </a:solidFill>
                <a:latin typeface="Arial"/>
              </a:defRPr>
            </a:pPr>
            <a:r>
              <a:t>14</a:t>
            </a:r>
            <a:endParaRPr lang="en-US" sz="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TotalTime>
  <Words>2017</Words>
  <Application>Microsoft Office PowerPoint</Application>
  <PresentationFormat>Widescreen</PresentationFormat>
  <Paragraphs>259</Paragraphs>
  <Slides>18</Slides>
  <Notes>15</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Arial</vt:lpstr>
      <vt:lpstr>Calibri</vt:lpstr>
      <vt:lpstr>Epilogue</vt:lpstr>
      <vt:lpstr>Inter</vt:lpstr>
      <vt:lpstr>Inter Bold</vt:lpstr>
      <vt:lpstr>Segoe WPC</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HUST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Adversarial Attack &amp; Defense - Nhóm 14</dc:title>
  <dc:subject>Adversarial Attack &amp; Defense on Image Classifiers</dc:subject>
  <dc:creator>OpenAI</dc:creator>
  <cp:lastModifiedBy>Admin</cp:lastModifiedBy>
  <cp:revision>21</cp:revision>
  <dcterms:created xsi:type="dcterms:W3CDTF">2026-05-08T03:31:34Z</dcterms:created>
  <dcterms:modified xsi:type="dcterms:W3CDTF">2026-05-09T06:59:56Z</dcterms:modified>
</cp:coreProperties>
</file>