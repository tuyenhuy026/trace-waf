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Giới thiệu tên đề tài, tác giả, trường. Mục tiêu chính là đánh giá thực nghiệm ba trục của WAF và cơ chế quản trị, không tuyên bố production readiness.
[Sources]
- https://github.com/tuyenhuy026/trace-waf/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Một hệ thống WAF có thể đạt tỷ lệ block cao nhưng đồng thời chặn nhầm quá nhiều hoặc để lọt biến thể. Vì vậy paper sử dụng oracle và quản trị thay đổi thay vì đánh giá dựa duy nhất vào HTTP status.
[Sources]
- https://github.com/tuyenhuy026/trace-waf/blob/master/docs/EXPERIMENT_PROTOCOL.md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Nhấn mạnh tính thực nghiệm và góc nhìn chính sách. CWE là phân loại điểm yếu, CVE là một lỗ hổng trong sản phẩm cụ thể. Không đánh đồng backend lab tự viết với CVE.
[Sources]
- https://github.com/tuyenhuy026/trace-waf/blob/master/docs/EXPERIMENT_PROTOCOL.md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Trên môi trường có lỗi chủ đích, request muốn được gọi là bypass trước tiên phải chứng minh hiệu ứng trong kênh backend trực tiếp. Một HTTP 403 không đủ, và một HTTP 200 không chứng minh khai thác.
[Sources]
- https://github.com/tuyenhuy026/trace-waf/blob/master/docs/EXPERIMENT_PROTOCOL.md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Validation dùng để phê duyệt. Final test chỉ đánh giá các cấu hình frozen; tuyệt đối không sửa rule hoặc dùng test để chọn winner hậu nghiệm. Lần B0 gốc bị ngắt 93 hàng, runner lưu bản gốc và tiếp tục 11 hàng còn thiếu.
[Sources]
- https://github.com/tuyenhuy026/trace-waf/blob/master/docs/EXPERIMENT_PROTOCOL.md
- https://github.com/tuyenhuy026/trace-waf/blob/master/results/checkpoint/final-test-continuation/20261016T170642475819Z/test-summary.json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Nêu rõ các request qua mạng loopback, WAF và backend đều đang chạy; oracle đối chứng trực tiếp giúp đánh giá chính xác hơn kiểm tra regex offline. ModSecurity và OWASP CRS version đọc từ audit log, không phải product WAF thương mại.
[Sources]
- https://github.com/tuyenhuy026/trace-waf/blob/master/results/checkpoint/final-test-continuation/20261016T170642475819Z/test-summary.json
- https://github.com/tuyenhuy026/trace-waf/tree/master/lab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Cần nhấn mạnh kết quả validation khác final test và không dùng chung mẫu số. Validation 46 case chính sách, 14 attack valid, 16 benign, 16 invalid attack. Cả B1 và L1–L5 cùng FPR 1/16; NO-GO do FPR 6,25% và hồi quy benign.
[Sources]
- https://github.com/tuyenhuy026/trace-waf/tree/master/results/checkpoint/rule-study/20261016T170642475819Z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Chỉ dùng marker tổng hợp, không có dữ liệu bí mật hay hệ thống ngoài quyền sở hữu. 32 mẫu không gây tác động thực tế trên direct oracle được giữ dưới nhãn invalid_attack, không tính vào mẫu số của coverage.
[Sources]
- https://github.com/tuyenhuy026/trace-waf/blob/master/results/checkpoint/final-test-continuation/20261016T170642475819Z/test-summary.json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Final test hoàn thành 104 quan sát cho B0, B1 và L1–L5; all_seven_complete=true, rollback_verified=true, test_used_for_model_or_rule_selection=false. B0 có hai session nối nhau, công khai hạn chế.
[Sources]
- https://github.com/tuyenhuy026/trace-waf/blob/master/results/checkpoint/final-test-continuation/20261016T170642475819Z/test-summary.json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Đây là kết quả thực của CRS trên lab. Dedup valid attack 24; benign 44. L3 đạt 24/24 valid attack, B1 21/24. B1 và L1 L2 L5 cùng 87.5%, L4 95.83. Mẫu số không được nhầm với 104 tổng request.
[Sources]
- https://github.com/tuyenhuy026/trace-waf/blob/master/results/checkpoint/final-test-continuation/20261016T170642475819Z/test-summary.json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Nên nhấn mạnh L3 là một phát hiện tích cực trên dữ liệu test đã khóa, không được dùng chính kết quả này để lựa chọn chính sách. Cả ba bypass B1 thuộc một họ test-sql-0; rule 110002 được log xác nhận chặn.
[Sources]
- https://github.com/tuyenhuy026/trace-waf/blob/master/results/checkpoint/final-test-continuation/20261016T170642475819Z/test-summary.json
- https://github.com/tuyenhuy026/trace-waf/blob/master/results/checkpoint/rule-study/20261016T170642475819Z/L3.conf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Tách rõ 5 false positive so với một benign regression riêng. FPR 5/44=11,36%; B0=11/44=25%. Regression là chênh lệch nội dung 404 do proxy, không phải 403 chặn nhầm.
[Sources]
- https://github.com/tuyenhuy026/trace-waf/blob/master/results/checkpoint/final-test-continuation/20261016T170642475819Z/test-summary.json
- https://github.com/tuyenhuy026/trace-waf/blob/master/docs/EXPERIMENT_PROTOCOL.md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Hai vòng replay có HTTP request thật qua WAF nhưng dùng lại cùng corpus validation. Chuyển dịch cơ cấu tổng hợp: A không có transformed, B gồm toàn transformed trong tập attack intended. Canary B1 không qua gate vì FPR và regression, rollback đã được chứng minh.
[Sources]
- https://github.com/tuyenhuy026/trace-waf/blob/master/results/checkpoint/drift-replay/20261017T002015665904Z/drift-summary.json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gpt-6-luna dùng để tạo rules L1–L5 ở checkpoint gốc. Lượt exploratory mới được thay bằng gpt-5.6-sol do gpt-6-luna gặp lỗi; giữ evidence request alias và response actual. Trong kết quả dev, 12/12 schema accepted nhưng tất cả oracle invalid. Bypass-per-valid không xác định; có dấu hiệu double URL encoding.
[Sources]
- https://github.com/tuyenhuy026/trace-waf/blob/master/results/checkpoint/llm-exploratory-dev-20261017/exploratory-summary.json
- https://github.com/tuyenhuy026/trace-waf/blob/master/results/checkpoint/llm-exploratory-dev-20261017/responses/call-0.json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CVE-2024-23334 là path traversal của aiohttp static handler cấu hình follow_symlinks=True. Bản dự án mới chỉ hoàn thành build image, lỗi tại version health check. records rỗng, không thể nói WAF ngăn được CVE. Đây là điểm cần công bố trung thực.
[Sources]
- https://github.com/tuyenhuy026/trace-waf/blob/master/results/checkpoint/cve-2024-23334/20261017T001604926177Z/cve-summary.json
- https://github.com/aio-libs/aiohttp/security/advisories/GHSA-5h86-8mv2-jq9f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Cổng đặt trước validation để mô phỏng governance: coverage&gt;=90%, FPR&lt;=5%, robustness&gt;=85%, không có regression. L3 vượt coverage/robustness nhưng còn FPR và regression. CVE là cấp chứng cứ riêng chưa hoàn thành, không phải điều kiện formal gate đang tính số.
[Sources]
- https://github.com/tuyenhuy026/trace-waf/blob/master/docs/EXPERIMENT_PROTOCOL.md
- https://github.com/tuyenhuy026/trace-waf/blob/master/results/checkpoint/final-test-continuation/20261016T170642475819Z/test-summary.json
- https://github.com/tuyenhuy026/trace-waf/blob/master/results/checkpoint/cve-2024-23334/20261017T001604926177Z/cve-summary.json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Kết lại: bài báo đã có controlled lab evidence đáng tin, không khẳng định production. L3 là phát hiện tích cực, NO-GO là kết quả governance. Hướng tiếp theo: preregistered independent confirmatory cohorts và kiểm tra CVE service. 6 exact shared inputs cross-split và 4 within-source duplicates là threats to validity.
[Sources]
- https://github.com/tuyenhuy026/trace-waf/blob/master/results/checkpoint/final-test-continuation/20261016T170642475819Z/test-summary.json
- https://github.com/tuyenhuy026/trace-waf/blob/master/results/checkpoint/drift-replay/20261017T002015665904Z/drift-summary.json
- https://github.com/tuyenhuy026/trace-waf/blob/master/docs/EXPERIMENT_PROTOCOL.md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Cảm ơn giảng viên và các bạn, mời đặt câu hỏi. Nếu có câu hỏi về CVE, khẳng định thành thật trạng thái chưa tái lập được tại thời điểm khóa bản báo cáo.
[Sources]
- https://github.com/tuyenhuy026/trace-waf/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cover.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mnt/data/TRACE_WAF_TEMPLATE_REBUILD/optimized_assets/logo.png">    </p:cNvPr>
          <p:cNvPicPr>
            <a:picLocks noChangeAspect="1"/>
          </p:cNvPicPr>
          <p:nvPr/>
        </p:nvPicPr>
        <p:blipFill>
          <a:blip r:embed="rId2"/>
          <a:stretch>
            <a:fillRect/>
          </a:stretch>
        </p:blipFill>
        <p:spPr>
          <a:xfrm>
            <a:off x="384048" y="292608"/>
            <a:ext cx="3703320" cy="1115568"/>
          </a:xfrm>
          <a:prstGeom prst="rect">
            <a:avLst/>
          </a:prstGeom>
        </p:spPr>
      </p:pic>
      <p:sp>
        <p:nvSpPr>
          <p:cNvPr id="4" name="Text 0"/>
          <p:cNvSpPr/>
          <p:nvPr/>
        </p:nvSpPr>
        <p:spPr>
          <a:xfrm>
            <a:off x="393192" y="1984248"/>
            <a:ext cx="7223760" cy="548640"/>
          </a:xfrm>
          <a:prstGeom prst="rect">
            <a:avLst/>
          </a:prstGeom>
          <a:noFill/>
          <a:ln/>
        </p:spPr>
        <p:txBody>
          <a:bodyPr wrap="square" lIns="0" tIns="0" rIns="0" bIns="0" rtlCol="0" anchor="ctr">
            <a:normAutofit/>
          </a:bodyPr>
          <a:lstStyle/>
          <a:p>
            <a:pPr indent="0" marL="0">
              <a:buNone/>
            </a:pPr>
            <a:r>
              <a:rPr lang="en-US" sz="3200" b="1" dirty="0">
                <a:solidFill>
                  <a:srgbClr val="C91F35"/>
                </a:solidFill>
                <a:latin typeface="Arial" pitchFamily="34" charset="0"/>
                <a:ea typeface="Arial" pitchFamily="34" charset="-122"/>
                <a:cs typeface="Arial" pitchFamily="34" charset="-120"/>
              </a:rPr>
              <a:t>TRACE-WAF</a:t>
            </a:r>
            <a:endParaRPr lang="en-US" sz="3200" dirty="0"/>
          </a:p>
        </p:txBody>
      </p:sp>
      <p:sp>
        <p:nvSpPr>
          <p:cNvPr id="5" name="Text 1"/>
          <p:cNvSpPr/>
          <p:nvPr/>
        </p:nvSpPr>
        <p:spPr>
          <a:xfrm>
            <a:off x="393192" y="2633472"/>
            <a:ext cx="7434072" cy="1024128"/>
          </a:xfrm>
          <a:prstGeom prst="rect">
            <a:avLst/>
          </a:prstGeom>
          <a:noFill/>
          <a:ln/>
        </p:spPr>
        <p:txBody>
          <a:bodyPr wrap="square" lIns="0" tIns="0" rIns="0" bIns="0" rtlCol="0" anchor="t">
            <a:normAutofit/>
          </a:bodyPr>
          <a:lstStyle/>
          <a:p>
            <a:pPr indent="0" marL="0">
              <a:buNone/>
            </a:pPr>
            <a:r>
              <a:rPr lang="en-US" sz="2300" b="1" dirty="0">
                <a:solidFill>
                  <a:srgbClr val="C91F35"/>
                </a:solidFill>
                <a:latin typeface="Arial" pitchFamily="34" charset="0"/>
                <a:ea typeface="Arial" pitchFamily="34" charset="-122"/>
                <a:cs typeface="Arial" pitchFamily="34" charset="-120"/>
              </a:rPr>
              <a:t>ĐÁNH GIÁ BA TRỤC VÀ QUẢN TRỊ</a:t>
            </a:r>
            <a:endParaRPr lang="en-US" sz="2300" dirty="0"/>
          </a:p>
          <a:p>
            <a:pPr indent="0" marL="0">
              <a:buNone/>
            </a:pPr>
            <a:r>
              <a:rPr lang="en-US" sz="2300" b="1" dirty="0">
                <a:solidFill>
                  <a:srgbClr val="C91F35"/>
                </a:solidFill>
                <a:latin typeface="Arial" pitchFamily="34" charset="0"/>
                <a:ea typeface="Arial" pitchFamily="34" charset="-122"/>
                <a:cs typeface="Arial" pitchFamily="34" charset="-120"/>
              </a:rPr>
              <a:t>VÒNG ĐỜI LUẬT WAF CÓ TRUY VẾT CWE/CVE</a:t>
            </a:r>
            <a:endParaRPr lang="en-US" sz="2300" dirty="0"/>
          </a:p>
        </p:txBody>
      </p:sp>
      <p:sp>
        <p:nvSpPr>
          <p:cNvPr id="6" name="Text 2"/>
          <p:cNvSpPr/>
          <p:nvPr/>
        </p:nvSpPr>
        <p:spPr>
          <a:xfrm>
            <a:off x="402336" y="3913632"/>
            <a:ext cx="7040880" cy="347472"/>
          </a:xfrm>
          <a:prstGeom prst="rect">
            <a:avLst/>
          </a:prstGeom>
          <a:noFill/>
          <a:ln/>
        </p:spPr>
        <p:txBody>
          <a:bodyPr wrap="square" lIns="0" tIns="0" rIns="0" bIns="0" rtlCol="0" anchor="ctr">
            <a:normAutofit/>
          </a:bodyPr>
          <a:lstStyle/>
          <a:p>
            <a:pPr indent="0" marL="0">
              <a:buNone/>
            </a:pPr>
            <a:r>
              <a:rPr lang="en-US" sz="1600" dirty="0">
                <a:solidFill>
                  <a:srgbClr val="003B6D"/>
                </a:solidFill>
                <a:latin typeface="Arial" pitchFamily="34" charset="0"/>
                <a:ea typeface="Arial" pitchFamily="34" charset="-122"/>
                <a:cs typeface="Arial" pitchFamily="34" charset="-120"/>
              </a:rPr>
              <a:t>Thực nghiệm trên ModSecurity – OWASP CRS</a:t>
            </a:r>
            <a:endParaRPr lang="en-US" sz="1600" dirty="0"/>
          </a:p>
        </p:txBody>
      </p:sp>
      <p:sp>
        <p:nvSpPr>
          <p:cNvPr id="7" name="Text 3"/>
          <p:cNvSpPr/>
          <p:nvPr/>
        </p:nvSpPr>
        <p:spPr>
          <a:xfrm>
            <a:off x="402336" y="4709160"/>
            <a:ext cx="6949440" cy="338328"/>
          </a:xfrm>
          <a:prstGeom prst="rect">
            <a:avLst/>
          </a:prstGeom>
          <a:noFill/>
          <a:ln/>
        </p:spPr>
        <p:txBody>
          <a:bodyPr wrap="square" lIns="0" tIns="0" rIns="0" bIns="0" rtlCol="0" anchor="ctr">
            <a:normAutofit/>
          </a:bodyPr>
          <a:lstStyle/>
          <a:p>
            <a:pPr indent="0" marL="0">
              <a:buNone/>
            </a:pPr>
            <a:r>
              <a:rPr lang="en-US" sz="1500" b="1" dirty="0">
                <a:solidFill>
                  <a:srgbClr val="C91F35"/>
                </a:solidFill>
                <a:latin typeface="Arial" pitchFamily="34" charset="0"/>
                <a:ea typeface="Arial" pitchFamily="34" charset="-122"/>
                <a:cs typeface="Arial" pitchFamily="34" charset="-120"/>
              </a:rPr>
              <a:t>Nguyễn Văn Đức  |  Nguyễn Huy Tuyển</a:t>
            </a:r>
            <a:endParaRPr lang="en-US" sz="1500" dirty="0"/>
          </a:p>
        </p:txBody>
      </p:sp>
      <p:sp>
        <p:nvSpPr>
          <p:cNvPr id="8" name="Text 4"/>
          <p:cNvSpPr/>
          <p:nvPr/>
        </p:nvSpPr>
        <p:spPr>
          <a:xfrm>
            <a:off x="402336" y="5138928"/>
            <a:ext cx="6949440" cy="301752"/>
          </a:xfrm>
          <a:prstGeom prst="rect">
            <a:avLst/>
          </a:prstGeom>
          <a:noFill/>
          <a:ln/>
        </p:spPr>
        <p:txBody>
          <a:bodyPr wrap="square" lIns="0" tIns="0" rIns="0" bIns="0" rtlCol="0" anchor="ctr">
            <a:normAutofit/>
          </a:bodyPr>
          <a:lstStyle/>
          <a:p>
            <a:pPr indent="0" marL="0">
              <a:buNone/>
            </a:pPr>
            <a:r>
              <a:rPr lang="en-US" sz="1300" dirty="0">
                <a:solidFill>
                  <a:srgbClr val="5C6570"/>
                </a:solidFill>
                <a:latin typeface="Arial" pitchFamily="34" charset="0"/>
                <a:ea typeface="Arial" pitchFamily="34" charset="-122"/>
                <a:cs typeface="Arial" pitchFamily="34" charset="-120"/>
              </a:rPr>
              <a:t>Đại học Bách Khoa Hà Nội</a:t>
            </a:r>
            <a:endParaRPr lang="en-US" sz="1300" dirty="0"/>
          </a:p>
        </p:txBody>
      </p:sp>
      <p:sp>
        <p:nvSpPr>
          <p:cNvPr id="9" name="Text 5"/>
          <p:cNvSpPr/>
          <p:nvPr/>
        </p:nvSpPr>
        <p:spPr>
          <a:xfrm>
            <a:off x="402336" y="5577840"/>
            <a:ext cx="7205472" cy="310896"/>
          </a:xfrm>
          <a:prstGeom prst="rect">
            <a:avLst/>
          </a:prstGeom>
          <a:noFill/>
          <a:ln/>
        </p:spPr>
        <p:txBody>
          <a:bodyPr wrap="square" lIns="0" tIns="0" rIns="0" bIns="0" rtlCol="0" anchor="ctr">
            <a:normAutofit/>
          </a:bodyPr>
          <a:lstStyle/>
          <a:p>
            <a:pPr indent="0" marL="0">
              <a:buNone/>
            </a:pPr>
            <a:r>
              <a:rPr lang="en-US" sz="1200" dirty="0">
                <a:solidFill>
                  <a:srgbClr val="242A30"/>
                </a:solidFill>
                <a:latin typeface="Arial" pitchFamily="34" charset="0"/>
                <a:ea typeface="Arial" pitchFamily="34" charset="-122"/>
                <a:cs typeface="Arial" pitchFamily="34" charset="-120"/>
              </a:rPr>
              <a:t>Học phần: Chính sách và quản trị An ninh mạng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1. Lý do chọn đề tài</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01</a:t>
            </a:r>
            <a:endParaRPr lang="en-US" sz="680" dirty="0"/>
          </a:p>
        </p:txBody>
      </p:sp>
      <p:sp>
        <p:nvSpPr>
          <p:cNvPr id="5" name="Text 2"/>
          <p:cNvSpPr/>
          <p:nvPr/>
        </p:nvSpPr>
        <p:spPr>
          <a:xfrm>
            <a:off x="685800" y="1335024"/>
            <a:ext cx="5358384" cy="1271016"/>
          </a:xfrm>
          <a:prstGeom prst="rect">
            <a:avLst/>
          </a:prstGeom>
          <a:noFill/>
          <a:ln/>
        </p:spPr>
        <p:txBody>
          <a:bodyPr wrap="square" lIns="0" tIns="0" rIns="0" bIns="0" rtlCol="0" anchor="t">
            <a:normAutofit/>
          </a:bodyPr>
          <a:lstStyle/>
          <a:p>
            <a:pPr indent="0" marL="0">
              <a:buNone/>
            </a:pPr>
            <a:r>
              <a:rPr lang="en-US" sz="2500" b="1" dirty="0">
                <a:solidFill>
                  <a:srgbClr val="003366"/>
                </a:solidFill>
                <a:latin typeface="Arial" pitchFamily="34" charset="0"/>
                <a:ea typeface="Arial" pitchFamily="34" charset="-122"/>
                <a:cs typeface="Arial" pitchFamily="34" charset="-120"/>
              </a:rPr>
              <a:t>Một yêu cầu HTTP 403</a:t>
            </a:r>
            <a:endParaRPr lang="en-US" sz="2500" dirty="0"/>
          </a:p>
          <a:p>
            <a:pPr indent="0" marL="0">
              <a:buNone/>
            </a:pPr>
            <a:r>
              <a:rPr lang="en-US" sz="2500" b="1" dirty="0">
                <a:solidFill>
                  <a:srgbClr val="003366"/>
                </a:solidFill>
                <a:latin typeface="Arial" pitchFamily="34" charset="0"/>
                <a:ea typeface="Arial" pitchFamily="34" charset="-122"/>
                <a:cs typeface="Arial" pitchFamily="34" charset="-120"/>
              </a:rPr>
              <a:t>không đồng nghĩa</a:t>
            </a:r>
            <a:endParaRPr lang="en-US" sz="2500" dirty="0"/>
          </a:p>
          <a:p>
            <a:pPr indent="0" marL="0">
              <a:buNone/>
            </a:pPr>
            <a:r>
              <a:rPr lang="en-US" sz="2500" b="1" dirty="0">
                <a:solidFill>
                  <a:srgbClr val="003366"/>
                </a:solidFill>
                <a:latin typeface="Arial" pitchFamily="34" charset="0"/>
                <a:ea typeface="Arial" pitchFamily="34" charset="-122"/>
                <a:cs typeface="Arial" pitchFamily="34" charset="-120"/>
              </a:rPr>
              <a:t>“tấn công đã bị ngăn chặn”.</a:t>
            </a:r>
            <a:endParaRPr lang="en-US" sz="2500" dirty="0"/>
          </a:p>
        </p:txBody>
      </p:sp>
      <p:sp>
        <p:nvSpPr>
          <p:cNvPr id="6" name="Text 3"/>
          <p:cNvSpPr/>
          <p:nvPr/>
        </p:nvSpPr>
        <p:spPr>
          <a:xfrm>
            <a:off x="704088" y="3072384"/>
            <a:ext cx="5029200" cy="1097280"/>
          </a:xfrm>
          <a:prstGeom prst="rect">
            <a:avLst/>
          </a:prstGeom>
          <a:noFill/>
          <a:ln/>
        </p:spPr>
        <p:txBody>
          <a:bodyPr wrap="square" lIns="0" tIns="0" rIns="0" bIns="0" rtlCol="0" anchor="t">
            <a:normAutofit/>
          </a:bodyPr>
          <a:lstStyle/>
          <a:p>
            <a:pPr indent="0" marL="0">
              <a:buNone/>
            </a:pPr>
            <a:r>
              <a:rPr lang="en-US" sz="1700" dirty="0">
                <a:solidFill>
                  <a:srgbClr val="242A30"/>
                </a:solidFill>
                <a:latin typeface="Arial" pitchFamily="34" charset="0"/>
                <a:ea typeface="Arial" pitchFamily="34" charset="-122"/>
                <a:cs typeface="Arial" pitchFamily="34" charset="-120"/>
              </a:rPr>
              <a:t>Phải kiểm tra tác động thực tế trên backend, đồng thời đo ảnh hưởng tới người dùng hợp lệ.</a:t>
            </a:r>
            <a:endParaRPr lang="en-US" sz="1700" dirty="0"/>
          </a:p>
        </p:txBody>
      </p:sp>
      <p:sp>
        <p:nvSpPr>
          <p:cNvPr id="7" name="Shape 4"/>
          <p:cNvSpPr/>
          <p:nvPr/>
        </p:nvSpPr>
        <p:spPr>
          <a:xfrm>
            <a:off x="704088" y="4681728"/>
            <a:ext cx="4087368" cy="292608"/>
          </a:xfrm>
          <a:prstGeom prst="roundRect">
            <a:avLst>
              <a:gd name="adj" fmla="val 25000"/>
            </a:avLst>
          </a:prstGeom>
          <a:solidFill>
            <a:srgbClr val="FCEEF1"/>
          </a:solidFill>
          <a:ln w="7620">
            <a:solidFill>
              <a:srgbClr val="FCEEF1"/>
            </a:solidFill>
            <a:prstDash val="solid"/>
          </a:ln>
        </p:spPr>
      </p:sp>
      <p:sp>
        <p:nvSpPr>
          <p:cNvPr id="8" name="Text 5"/>
          <p:cNvSpPr/>
          <p:nvPr/>
        </p:nvSpPr>
        <p:spPr>
          <a:xfrm>
            <a:off x="777240" y="4716475"/>
            <a:ext cx="3941064" cy="182880"/>
          </a:xfrm>
          <a:prstGeom prst="rect">
            <a:avLst/>
          </a:prstGeom>
          <a:noFill/>
          <a:ln/>
        </p:spPr>
        <p:txBody>
          <a:bodyPr wrap="square" lIns="0" tIns="0" rIns="0" bIns="0" rtlCol="0" anchor="ctr">
            <a:normAutofit/>
          </a:bodyPr>
          <a:lstStyle/>
          <a:p>
            <a:pPr algn="ctr" indent="0" marL="0">
              <a:buNone/>
            </a:pPr>
            <a:r>
              <a:rPr lang="en-US" sz="1020" b="1" dirty="0">
                <a:solidFill>
                  <a:srgbClr val="C91F35"/>
                </a:solidFill>
                <a:latin typeface="Arial" pitchFamily="34" charset="0"/>
                <a:ea typeface="Arial" pitchFamily="34" charset="-122"/>
                <a:cs typeface="Arial" pitchFamily="34" charset="-120"/>
              </a:rPr>
              <a:t>HTTP 200 ≠ khai thác thành công</a:t>
            </a:r>
            <a:endParaRPr lang="en-US" sz="1020" dirty="0"/>
          </a:p>
        </p:txBody>
      </p:sp>
      <p:sp>
        <p:nvSpPr>
          <p:cNvPr id="9" name="Shape 6"/>
          <p:cNvSpPr/>
          <p:nvPr/>
        </p:nvSpPr>
        <p:spPr>
          <a:xfrm>
            <a:off x="6400800" y="1307592"/>
            <a:ext cx="4837176" cy="1335024"/>
          </a:xfrm>
          <a:prstGeom prst="roundRect">
            <a:avLst>
              <a:gd name="adj" fmla="val 1370"/>
            </a:avLst>
          </a:prstGeom>
          <a:solidFill>
            <a:srgbClr val="FFFFFF"/>
          </a:solidFill>
          <a:ln w="8255">
            <a:solidFill>
              <a:srgbClr val="D8DEE4"/>
            </a:solidFill>
            <a:prstDash val="solid"/>
          </a:ln>
        </p:spPr>
      </p:sp>
      <p:sp>
        <p:nvSpPr>
          <p:cNvPr id="10" name="Shape 7"/>
          <p:cNvSpPr/>
          <p:nvPr/>
        </p:nvSpPr>
        <p:spPr>
          <a:xfrm>
            <a:off x="6400800" y="1307592"/>
            <a:ext cx="73152" cy="1335024"/>
          </a:xfrm>
          <a:prstGeom prst="rect">
            <a:avLst/>
          </a:prstGeom>
          <a:solidFill>
            <a:srgbClr val="003366"/>
          </a:solidFill>
          <a:ln w="7620">
            <a:solidFill>
              <a:srgbClr val="003366"/>
            </a:solidFill>
            <a:prstDash val="solid"/>
          </a:ln>
        </p:spPr>
      </p:sp>
      <p:sp>
        <p:nvSpPr>
          <p:cNvPr id="11" name="Text 8"/>
          <p:cNvSpPr/>
          <p:nvPr/>
        </p:nvSpPr>
        <p:spPr>
          <a:xfrm>
            <a:off x="6601968" y="1444752"/>
            <a:ext cx="4507992"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COVERAGE</a:t>
            </a:r>
            <a:endParaRPr lang="en-US" sz="1600" dirty="0"/>
          </a:p>
        </p:txBody>
      </p:sp>
      <p:sp>
        <p:nvSpPr>
          <p:cNvPr id="12" name="Text 9"/>
          <p:cNvSpPr/>
          <p:nvPr/>
        </p:nvSpPr>
        <p:spPr>
          <a:xfrm>
            <a:off x="6601968" y="1984248"/>
            <a:ext cx="4471416" cy="576072"/>
          </a:xfrm>
          <a:prstGeom prst="rect">
            <a:avLst/>
          </a:prstGeom>
          <a:noFill/>
          <a:ln/>
        </p:spPr>
        <p:txBody>
          <a:bodyPr wrap="square" lIns="0" tIns="0" rIns="0" bIns="0" rtlCol="0" anchor="t">
            <a:normAutofit/>
          </a:bodyPr>
          <a:lstStyle/>
          <a:p>
            <a:pPr indent="0" marL="0">
              <a:buNone/>
            </a:pPr>
            <a:r>
              <a:rPr lang="en-US" sz="1300" dirty="0">
                <a:solidFill>
                  <a:srgbClr val="242A30"/>
                </a:solidFill>
                <a:latin typeface="Arial" pitchFamily="34" charset="0"/>
                <a:ea typeface="Arial" pitchFamily="34" charset="-122"/>
                <a:cs typeface="Arial" pitchFamily="34" charset="-120"/>
              </a:rPr>
              <a:t>Chặn được bao nhiêu yêu cầu có hiệu ứng tấn công?</a:t>
            </a:r>
            <a:endParaRPr lang="en-US" sz="1300" dirty="0"/>
          </a:p>
        </p:txBody>
      </p:sp>
      <p:sp>
        <p:nvSpPr>
          <p:cNvPr id="13" name="Shape 10"/>
          <p:cNvSpPr/>
          <p:nvPr/>
        </p:nvSpPr>
        <p:spPr>
          <a:xfrm>
            <a:off x="6400800" y="2807208"/>
            <a:ext cx="4837176" cy="1335024"/>
          </a:xfrm>
          <a:prstGeom prst="roundRect">
            <a:avLst>
              <a:gd name="adj" fmla="val 1370"/>
            </a:avLst>
          </a:prstGeom>
          <a:solidFill>
            <a:srgbClr val="FFFFFF"/>
          </a:solidFill>
          <a:ln w="8255">
            <a:solidFill>
              <a:srgbClr val="D8DEE4"/>
            </a:solidFill>
            <a:prstDash val="solid"/>
          </a:ln>
        </p:spPr>
      </p:sp>
      <p:sp>
        <p:nvSpPr>
          <p:cNvPr id="14" name="Shape 11"/>
          <p:cNvSpPr/>
          <p:nvPr/>
        </p:nvSpPr>
        <p:spPr>
          <a:xfrm>
            <a:off x="6400800" y="2807208"/>
            <a:ext cx="73152" cy="1335024"/>
          </a:xfrm>
          <a:prstGeom prst="rect">
            <a:avLst/>
          </a:prstGeom>
          <a:solidFill>
            <a:srgbClr val="C91F35"/>
          </a:solidFill>
          <a:ln w="7620">
            <a:solidFill>
              <a:srgbClr val="C91F35"/>
            </a:solidFill>
            <a:prstDash val="solid"/>
          </a:ln>
        </p:spPr>
      </p:sp>
      <p:sp>
        <p:nvSpPr>
          <p:cNvPr id="15" name="Text 12"/>
          <p:cNvSpPr/>
          <p:nvPr/>
        </p:nvSpPr>
        <p:spPr>
          <a:xfrm>
            <a:off x="6601968" y="2944368"/>
            <a:ext cx="4507992"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FALSE-POSITIVE RATE</a:t>
            </a:r>
            <a:endParaRPr lang="en-US" sz="1600" dirty="0"/>
          </a:p>
        </p:txBody>
      </p:sp>
      <p:sp>
        <p:nvSpPr>
          <p:cNvPr id="16" name="Text 13"/>
          <p:cNvSpPr/>
          <p:nvPr/>
        </p:nvSpPr>
        <p:spPr>
          <a:xfrm>
            <a:off x="6601968" y="3483864"/>
            <a:ext cx="4471416" cy="576072"/>
          </a:xfrm>
          <a:prstGeom prst="rect">
            <a:avLst/>
          </a:prstGeom>
          <a:noFill/>
          <a:ln/>
        </p:spPr>
        <p:txBody>
          <a:bodyPr wrap="square" lIns="0" tIns="0" rIns="0" bIns="0" rtlCol="0" anchor="t">
            <a:normAutofit/>
          </a:bodyPr>
          <a:lstStyle/>
          <a:p>
            <a:pPr indent="0" marL="0">
              <a:buNone/>
            </a:pPr>
            <a:r>
              <a:rPr lang="en-US" sz="1300" dirty="0">
                <a:solidFill>
                  <a:srgbClr val="242A30"/>
                </a:solidFill>
                <a:latin typeface="Arial" pitchFamily="34" charset="0"/>
                <a:ea typeface="Arial" pitchFamily="34" charset="-122"/>
                <a:cs typeface="Arial" pitchFamily="34" charset="-120"/>
              </a:rPr>
              <a:t>Có bao nhiêu giao dịch hợp lệ bị từ chối?</a:t>
            </a:r>
            <a:endParaRPr lang="en-US" sz="1300" dirty="0"/>
          </a:p>
        </p:txBody>
      </p:sp>
      <p:sp>
        <p:nvSpPr>
          <p:cNvPr id="17" name="Shape 14"/>
          <p:cNvSpPr/>
          <p:nvPr/>
        </p:nvSpPr>
        <p:spPr>
          <a:xfrm>
            <a:off x="6400800" y="4315968"/>
            <a:ext cx="4837176" cy="1335024"/>
          </a:xfrm>
          <a:prstGeom prst="roundRect">
            <a:avLst>
              <a:gd name="adj" fmla="val 1370"/>
            </a:avLst>
          </a:prstGeom>
          <a:solidFill>
            <a:srgbClr val="FFFFFF"/>
          </a:solidFill>
          <a:ln w="8255">
            <a:solidFill>
              <a:srgbClr val="D8DEE4"/>
            </a:solidFill>
            <a:prstDash val="solid"/>
          </a:ln>
        </p:spPr>
      </p:sp>
      <p:sp>
        <p:nvSpPr>
          <p:cNvPr id="18" name="Shape 15"/>
          <p:cNvSpPr/>
          <p:nvPr/>
        </p:nvSpPr>
        <p:spPr>
          <a:xfrm>
            <a:off x="6400800" y="4315968"/>
            <a:ext cx="73152" cy="1335024"/>
          </a:xfrm>
          <a:prstGeom prst="rect">
            <a:avLst/>
          </a:prstGeom>
          <a:solidFill>
            <a:srgbClr val="003366"/>
          </a:solidFill>
          <a:ln w="7620">
            <a:solidFill>
              <a:srgbClr val="003366"/>
            </a:solidFill>
            <a:prstDash val="solid"/>
          </a:ln>
        </p:spPr>
      </p:sp>
      <p:sp>
        <p:nvSpPr>
          <p:cNvPr id="19" name="Text 16"/>
          <p:cNvSpPr/>
          <p:nvPr/>
        </p:nvSpPr>
        <p:spPr>
          <a:xfrm>
            <a:off x="6601968" y="4453128"/>
            <a:ext cx="4507992"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EVASION ROBUSTNESS</a:t>
            </a:r>
            <a:endParaRPr lang="en-US" sz="1600" dirty="0"/>
          </a:p>
        </p:txBody>
      </p:sp>
      <p:sp>
        <p:nvSpPr>
          <p:cNvPr id="20" name="Text 17"/>
          <p:cNvSpPr/>
          <p:nvPr/>
        </p:nvSpPr>
        <p:spPr>
          <a:xfrm>
            <a:off x="6601968" y="4992624"/>
            <a:ext cx="4471416" cy="576072"/>
          </a:xfrm>
          <a:prstGeom prst="rect">
            <a:avLst/>
          </a:prstGeom>
          <a:noFill/>
          <a:ln/>
        </p:spPr>
        <p:txBody>
          <a:bodyPr wrap="square" lIns="0" tIns="0" rIns="0" bIns="0" rtlCol="0" anchor="t">
            <a:normAutofit/>
          </a:bodyPr>
          <a:lstStyle/>
          <a:p>
            <a:pPr indent="0" marL="0">
              <a:buNone/>
            </a:pPr>
            <a:r>
              <a:rPr lang="en-US" sz="1300" dirty="0">
                <a:solidFill>
                  <a:srgbClr val="242A30"/>
                </a:solidFill>
                <a:latin typeface="Arial" pitchFamily="34" charset="0"/>
                <a:ea typeface="Arial" pitchFamily="34" charset="-122"/>
                <a:cs typeface="Arial" pitchFamily="34" charset="-120"/>
              </a:rPr>
              <a:t>Khi biểu diễn đầu vào đổi, tỷ lệ chặn còn bao nhiêu?</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2. Tổng quan và câu hỏi nghiên cứu</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02</a:t>
            </a:r>
            <a:endParaRPr lang="en-US" sz="680" dirty="0"/>
          </a:p>
        </p:txBody>
      </p:sp>
      <p:sp>
        <p:nvSpPr>
          <p:cNvPr id="5" name="Shape 2"/>
          <p:cNvSpPr/>
          <p:nvPr/>
        </p:nvSpPr>
        <p:spPr>
          <a:xfrm>
            <a:off x="731520" y="1188720"/>
            <a:ext cx="5321808" cy="1828800"/>
          </a:xfrm>
          <a:prstGeom prst="roundRect">
            <a:avLst>
              <a:gd name="adj" fmla="val 1000"/>
            </a:avLst>
          </a:prstGeom>
          <a:solidFill>
            <a:srgbClr val="FFFFFF"/>
          </a:solidFill>
          <a:ln w="8255">
            <a:solidFill>
              <a:srgbClr val="D8DEE4"/>
            </a:solidFill>
            <a:prstDash val="solid"/>
          </a:ln>
        </p:spPr>
      </p:sp>
      <p:sp>
        <p:nvSpPr>
          <p:cNvPr id="6" name="Shape 3"/>
          <p:cNvSpPr/>
          <p:nvPr/>
        </p:nvSpPr>
        <p:spPr>
          <a:xfrm>
            <a:off x="731520" y="1188720"/>
            <a:ext cx="73152" cy="1828800"/>
          </a:xfrm>
          <a:prstGeom prst="rect">
            <a:avLst/>
          </a:prstGeom>
          <a:solidFill>
            <a:srgbClr val="003366"/>
          </a:solidFill>
          <a:ln w="7620">
            <a:solidFill>
              <a:srgbClr val="003366"/>
            </a:solidFill>
            <a:prstDash val="solid"/>
          </a:ln>
        </p:spPr>
      </p:sp>
      <p:sp>
        <p:nvSpPr>
          <p:cNvPr id="7" name="Text 4"/>
          <p:cNvSpPr/>
          <p:nvPr/>
        </p:nvSpPr>
        <p:spPr>
          <a:xfrm>
            <a:off x="932688" y="1325880"/>
            <a:ext cx="4992624"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RQ1 — Attack generation</a:t>
            </a:r>
            <a:endParaRPr lang="en-US" sz="1600" dirty="0"/>
          </a:p>
        </p:txBody>
      </p:sp>
      <p:sp>
        <p:nvSpPr>
          <p:cNvPr id="8" name="Text 5"/>
          <p:cNvSpPr/>
          <p:nvPr/>
        </p:nvSpPr>
        <p:spPr>
          <a:xfrm>
            <a:off x="932688" y="1865376"/>
            <a:ext cx="4956048" cy="1069848"/>
          </a:xfrm>
          <a:prstGeom prst="rect">
            <a:avLst/>
          </a:prstGeom>
          <a:noFill/>
          <a:ln/>
        </p:spPr>
        <p:txBody>
          <a:bodyPr wrap="square" lIns="0" tIns="0" rIns="0" bIns="0" rtlCol="0" anchor="t">
            <a:normAutofit/>
          </a:bodyPr>
          <a:lstStyle/>
          <a:p>
            <a:pPr indent="0" marL="0">
              <a:buNone/>
            </a:pPr>
            <a:r>
              <a:rPr lang="en-US" sz="1450" dirty="0">
                <a:solidFill>
                  <a:srgbClr val="242A30"/>
                </a:solidFill>
                <a:latin typeface="Arial" pitchFamily="34" charset="0"/>
                <a:ea typeface="Arial" pitchFamily="34" charset="-122"/>
                <a:cs typeface="Arial" pitchFamily="34" charset="-120"/>
              </a:rPr>
              <a:t>Mẫu do LLM đề xuất có hiệu lực trên backend, và so sánh thế nào với heuristic?</a:t>
            </a:r>
            <a:endParaRPr lang="en-US" sz="1450" dirty="0"/>
          </a:p>
        </p:txBody>
      </p:sp>
      <p:sp>
        <p:nvSpPr>
          <p:cNvPr id="9" name="Shape 6"/>
          <p:cNvSpPr/>
          <p:nvPr/>
        </p:nvSpPr>
        <p:spPr>
          <a:xfrm>
            <a:off x="6245352" y="1188720"/>
            <a:ext cx="5212080" cy="1828800"/>
          </a:xfrm>
          <a:prstGeom prst="roundRect">
            <a:avLst>
              <a:gd name="adj" fmla="val 1000"/>
            </a:avLst>
          </a:prstGeom>
          <a:solidFill>
            <a:srgbClr val="FFFFFF"/>
          </a:solidFill>
          <a:ln w="8255">
            <a:solidFill>
              <a:srgbClr val="D8DEE4"/>
            </a:solidFill>
            <a:prstDash val="solid"/>
          </a:ln>
        </p:spPr>
      </p:sp>
      <p:sp>
        <p:nvSpPr>
          <p:cNvPr id="10" name="Shape 7"/>
          <p:cNvSpPr/>
          <p:nvPr/>
        </p:nvSpPr>
        <p:spPr>
          <a:xfrm>
            <a:off x="6245352" y="1188720"/>
            <a:ext cx="73152" cy="1828800"/>
          </a:xfrm>
          <a:prstGeom prst="rect">
            <a:avLst/>
          </a:prstGeom>
          <a:solidFill>
            <a:srgbClr val="C91F35"/>
          </a:solidFill>
          <a:ln w="7620">
            <a:solidFill>
              <a:srgbClr val="C91F35"/>
            </a:solidFill>
            <a:prstDash val="solid"/>
          </a:ln>
        </p:spPr>
      </p:sp>
      <p:sp>
        <p:nvSpPr>
          <p:cNvPr id="11" name="Text 8"/>
          <p:cNvSpPr/>
          <p:nvPr/>
        </p:nvSpPr>
        <p:spPr>
          <a:xfrm>
            <a:off x="6446520" y="1325880"/>
            <a:ext cx="4882896"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RQ2 — Defense generation</a:t>
            </a:r>
            <a:endParaRPr lang="en-US" sz="1600" dirty="0"/>
          </a:p>
        </p:txBody>
      </p:sp>
      <p:sp>
        <p:nvSpPr>
          <p:cNvPr id="12" name="Text 9"/>
          <p:cNvSpPr/>
          <p:nvPr/>
        </p:nvSpPr>
        <p:spPr>
          <a:xfrm>
            <a:off x="6446520" y="1865376"/>
            <a:ext cx="4846320" cy="1069848"/>
          </a:xfrm>
          <a:prstGeom prst="rect">
            <a:avLst/>
          </a:prstGeom>
          <a:noFill/>
          <a:ln/>
        </p:spPr>
        <p:txBody>
          <a:bodyPr wrap="square" lIns="0" tIns="0" rIns="0" bIns="0" rtlCol="0" anchor="t">
            <a:normAutofit/>
          </a:bodyPr>
          <a:lstStyle/>
          <a:p>
            <a:pPr indent="0" marL="0">
              <a:buNone/>
            </a:pPr>
            <a:r>
              <a:rPr lang="en-US" sz="1450" dirty="0">
                <a:solidFill>
                  <a:srgbClr val="242A30"/>
                </a:solidFill>
                <a:latin typeface="Arial" pitchFamily="34" charset="0"/>
                <a:ea typeface="Arial" pitchFamily="34" charset="-122"/>
                <a:cs typeface="Arial" pitchFamily="34" charset="-120"/>
              </a:rPr>
              <a:t>Rule do LLM đề xuất có cải thiện coverage × FPR × robustness?</a:t>
            </a:r>
            <a:endParaRPr lang="en-US" sz="1450" dirty="0"/>
          </a:p>
        </p:txBody>
      </p:sp>
      <p:sp>
        <p:nvSpPr>
          <p:cNvPr id="13" name="Shape 10"/>
          <p:cNvSpPr/>
          <p:nvPr/>
        </p:nvSpPr>
        <p:spPr>
          <a:xfrm>
            <a:off x="731520" y="3300984"/>
            <a:ext cx="5321808" cy="1828800"/>
          </a:xfrm>
          <a:prstGeom prst="roundRect">
            <a:avLst>
              <a:gd name="adj" fmla="val 1000"/>
            </a:avLst>
          </a:prstGeom>
          <a:solidFill>
            <a:srgbClr val="FFFFFF"/>
          </a:solidFill>
          <a:ln w="8255">
            <a:solidFill>
              <a:srgbClr val="D8DEE4"/>
            </a:solidFill>
            <a:prstDash val="solid"/>
          </a:ln>
        </p:spPr>
      </p:sp>
      <p:sp>
        <p:nvSpPr>
          <p:cNvPr id="14" name="Shape 11"/>
          <p:cNvSpPr/>
          <p:nvPr/>
        </p:nvSpPr>
        <p:spPr>
          <a:xfrm>
            <a:off x="731520" y="3300984"/>
            <a:ext cx="73152" cy="1828800"/>
          </a:xfrm>
          <a:prstGeom prst="rect">
            <a:avLst/>
          </a:prstGeom>
          <a:solidFill>
            <a:srgbClr val="C91F35"/>
          </a:solidFill>
          <a:ln w="7620">
            <a:solidFill>
              <a:srgbClr val="C91F35"/>
            </a:solidFill>
            <a:prstDash val="solid"/>
          </a:ln>
        </p:spPr>
      </p:sp>
      <p:sp>
        <p:nvSpPr>
          <p:cNvPr id="15" name="Text 12"/>
          <p:cNvSpPr/>
          <p:nvPr/>
        </p:nvSpPr>
        <p:spPr>
          <a:xfrm>
            <a:off x="932688" y="3438144"/>
            <a:ext cx="4992624"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RQ3 — Governance</a:t>
            </a:r>
            <a:endParaRPr lang="en-US" sz="1600" dirty="0"/>
          </a:p>
        </p:txBody>
      </p:sp>
      <p:sp>
        <p:nvSpPr>
          <p:cNvPr id="16" name="Text 13"/>
          <p:cNvSpPr/>
          <p:nvPr/>
        </p:nvSpPr>
        <p:spPr>
          <a:xfrm>
            <a:off x="932688" y="3977640"/>
            <a:ext cx="4956048" cy="1069848"/>
          </a:xfrm>
          <a:prstGeom prst="rect">
            <a:avLst/>
          </a:prstGeom>
          <a:noFill/>
          <a:ln/>
        </p:spPr>
        <p:txBody>
          <a:bodyPr wrap="square" lIns="0" tIns="0" rIns="0" bIns="0" rtlCol="0" anchor="t">
            <a:normAutofit/>
          </a:bodyPr>
          <a:lstStyle/>
          <a:p>
            <a:pPr indent="0" marL="0">
              <a:buNone/>
            </a:pPr>
            <a:r>
              <a:rPr lang="en-US" sz="1450" dirty="0">
                <a:solidFill>
                  <a:srgbClr val="242A30"/>
                </a:solidFill>
                <a:latin typeface="Arial" pitchFamily="34" charset="0"/>
                <a:ea typeface="Arial" pitchFamily="34" charset="-122"/>
                <a:cs typeface="Arial" pitchFamily="34" charset="-120"/>
              </a:rPr>
              <a:t>Có thể đóng băng rule, lưu bằng chứng, vận hành cổng duyệt và rollback?</a:t>
            </a:r>
            <a:endParaRPr lang="en-US" sz="1450" dirty="0"/>
          </a:p>
        </p:txBody>
      </p:sp>
      <p:sp>
        <p:nvSpPr>
          <p:cNvPr id="17" name="Shape 14"/>
          <p:cNvSpPr/>
          <p:nvPr/>
        </p:nvSpPr>
        <p:spPr>
          <a:xfrm>
            <a:off x="6245352" y="3300984"/>
            <a:ext cx="5212080" cy="1828800"/>
          </a:xfrm>
          <a:prstGeom prst="roundRect">
            <a:avLst>
              <a:gd name="adj" fmla="val 1000"/>
            </a:avLst>
          </a:prstGeom>
          <a:solidFill>
            <a:srgbClr val="FFFFFF"/>
          </a:solidFill>
          <a:ln w="8255">
            <a:solidFill>
              <a:srgbClr val="D8DEE4"/>
            </a:solidFill>
            <a:prstDash val="solid"/>
          </a:ln>
        </p:spPr>
      </p:sp>
      <p:sp>
        <p:nvSpPr>
          <p:cNvPr id="18" name="Shape 15"/>
          <p:cNvSpPr/>
          <p:nvPr/>
        </p:nvSpPr>
        <p:spPr>
          <a:xfrm>
            <a:off x="6245352" y="3300984"/>
            <a:ext cx="73152" cy="1828800"/>
          </a:xfrm>
          <a:prstGeom prst="rect">
            <a:avLst/>
          </a:prstGeom>
          <a:solidFill>
            <a:srgbClr val="003366"/>
          </a:solidFill>
          <a:ln w="7620">
            <a:solidFill>
              <a:srgbClr val="003366"/>
            </a:solidFill>
            <a:prstDash val="solid"/>
          </a:ln>
        </p:spPr>
      </p:sp>
      <p:sp>
        <p:nvSpPr>
          <p:cNvPr id="19" name="Text 16"/>
          <p:cNvSpPr/>
          <p:nvPr/>
        </p:nvSpPr>
        <p:spPr>
          <a:xfrm>
            <a:off x="6446520" y="3438144"/>
            <a:ext cx="4882896"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RQ4 — Evidence boundary</a:t>
            </a:r>
            <a:endParaRPr lang="en-US" sz="1600" dirty="0"/>
          </a:p>
        </p:txBody>
      </p:sp>
      <p:sp>
        <p:nvSpPr>
          <p:cNvPr id="20" name="Text 17"/>
          <p:cNvSpPr/>
          <p:nvPr/>
        </p:nvSpPr>
        <p:spPr>
          <a:xfrm>
            <a:off x="6446520" y="3977640"/>
            <a:ext cx="4846320" cy="1069848"/>
          </a:xfrm>
          <a:prstGeom prst="rect">
            <a:avLst/>
          </a:prstGeom>
          <a:noFill/>
          <a:ln/>
        </p:spPr>
        <p:txBody>
          <a:bodyPr wrap="square" lIns="0" tIns="0" rIns="0" bIns="0" rtlCol="0" anchor="t">
            <a:normAutofit/>
          </a:bodyPr>
          <a:lstStyle/>
          <a:p>
            <a:pPr indent="0" marL="0">
              <a:buNone/>
            </a:pPr>
            <a:r>
              <a:rPr lang="en-US" sz="1450" dirty="0">
                <a:solidFill>
                  <a:srgbClr val="242A30"/>
                </a:solidFill>
                <a:latin typeface="Arial" pitchFamily="34" charset="0"/>
                <a:ea typeface="Arial" pitchFamily="34" charset="-122"/>
                <a:cs typeface="Arial" pitchFamily="34" charset="-120"/>
              </a:rPr>
              <a:t>Drift replay và CVE đã được chứng minh đến mức nào?</a:t>
            </a:r>
            <a:endParaRPr lang="en-US" sz="1450" dirty="0"/>
          </a:p>
        </p:txBody>
      </p:sp>
      <p:sp>
        <p:nvSpPr>
          <p:cNvPr id="21" name="Text 18"/>
          <p:cNvSpPr/>
          <p:nvPr/>
        </p:nvSpPr>
        <p:spPr>
          <a:xfrm>
            <a:off x="795528" y="5513832"/>
            <a:ext cx="10643616" cy="283464"/>
          </a:xfrm>
          <a:prstGeom prst="rect">
            <a:avLst/>
          </a:prstGeom>
          <a:noFill/>
          <a:ln/>
        </p:spPr>
        <p:txBody>
          <a:bodyPr wrap="square" lIns="0" tIns="0" rIns="0" bIns="0" rtlCol="0" anchor="ctr">
            <a:normAutofit/>
          </a:bodyPr>
          <a:lstStyle/>
          <a:p>
            <a:pPr algn="ctr" indent="0" marL="0">
              <a:buNone/>
            </a:pPr>
            <a:r>
              <a:rPr lang="en-US" sz="1400" b="1" dirty="0">
                <a:solidFill>
                  <a:srgbClr val="003366"/>
                </a:solidFill>
                <a:latin typeface="Arial" pitchFamily="34" charset="0"/>
                <a:ea typeface="Arial" pitchFamily="34" charset="-122"/>
                <a:cs typeface="Arial" pitchFamily="34" charset="-120"/>
              </a:rPr>
              <a:t>Phạm vi: CWE-89 (SQLi) · CWE-79 (XSS) · CWE-22 (Traversal)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3. Khái niệm cốt lõi: kiểm chứng có oracle</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03</a:t>
            </a:r>
            <a:endParaRPr lang="en-US" sz="680" dirty="0"/>
          </a:p>
        </p:txBody>
      </p:sp>
      <p:sp>
        <p:nvSpPr>
          <p:cNvPr id="5" name="Text 2"/>
          <p:cNvSpPr/>
          <p:nvPr/>
        </p:nvSpPr>
        <p:spPr>
          <a:xfrm>
            <a:off x="704088" y="1140257"/>
            <a:ext cx="10817352" cy="320040"/>
          </a:xfrm>
          <a:prstGeom prst="rect">
            <a:avLst/>
          </a:prstGeom>
          <a:noFill/>
          <a:ln/>
        </p:spPr>
        <p:txBody>
          <a:bodyPr wrap="square" lIns="0" tIns="0" rIns="0" bIns="0" rtlCol="0" anchor="ctr">
            <a:normAutofit/>
          </a:bodyPr>
          <a:lstStyle/>
          <a:p>
            <a:pPr indent="0" marL="0">
              <a:buNone/>
            </a:pPr>
            <a:r>
              <a:rPr lang="en-US" sz="1800" b="1" dirty="0">
                <a:solidFill>
                  <a:srgbClr val="003366"/>
                </a:solidFill>
                <a:latin typeface="Arial" pitchFamily="34" charset="0"/>
                <a:ea typeface="Arial" pitchFamily="34" charset="-122"/>
                <a:cs typeface="Arial" pitchFamily="34" charset="-120"/>
              </a:rPr>
              <a:t>Tách “payload hợp lệ” khỏi “bị WAF chặn”</a:t>
            </a:r>
            <a:endParaRPr lang="en-US" sz="1800" dirty="0"/>
          </a:p>
        </p:txBody>
      </p:sp>
      <p:sp>
        <p:nvSpPr>
          <p:cNvPr id="6" name="Text 3"/>
          <p:cNvSpPr/>
          <p:nvPr/>
        </p:nvSpPr>
        <p:spPr>
          <a:xfrm>
            <a:off x="731520" y="1568196"/>
            <a:ext cx="10698480" cy="237744"/>
          </a:xfrm>
          <a:prstGeom prst="rect">
            <a:avLst/>
          </a:prstGeom>
          <a:noFill/>
          <a:ln/>
        </p:spPr>
        <p:txBody>
          <a:bodyPr wrap="square" lIns="0" tIns="0" rIns="0" bIns="0" rtlCol="0" anchor="ctr">
            <a:normAutofit/>
          </a:bodyPr>
          <a:lstStyle/>
          <a:p>
            <a:pPr indent="0" marL="0">
              <a:buNone/>
            </a:pPr>
            <a:r>
              <a:rPr lang="en-US" sz="1290" dirty="0">
                <a:solidFill>
                  <a:srgbClr val="5C6570"/>
                </a:solidFill>
                <a:latin typeface="Arial" pitchFamily="34" charset="0"/>
                <a:ea typeface="Arial" pitchFamily="34" charset="-122"/>
                <a:cs typeface="Arial" pitchFamily="34" charset="-120"/>
              </a:rPr>
              <a:t>Phân loại dựa vào phản hồi backend trực tiếp và phản hồi khi qua WAF.</a:t>
            </a:r>
            <a:endParaRPr lang="en-US" sz="1290" dirty="0"/>
          </a:p>
        </p:txBody>
      </p:sp>
      <p:sp>
        <p:nvSpPr>
          <p:cNvPr id="7" name="Shape 4"/>
          <p:cNvSpPr/>
          <p:nvPr/>
        </p:nvSpPr>
        <p:spPr>
          <a:xfrm>
            <a:off x="722376" y="2029968"/>
            <a:ext cx="2660904" cy="2103120"/>
          </a:xfrm>
          <a:prstGeom prst="roundRect">
            <a:avLst>
              <a:gd name="adj" fmla="val 1739"/>
            </a:avLst>
          </a:prstGeom>
          <a:solidFill>
            <a:srgbClr val="E9F1F8"/>
          </a:solidFill>
          <a:ln w="7620">
            <a:solidFill>
              <a:srgbClr val="D8DEE4"/>
            </a:solidFill>
            <a:prstDash val="solid"/>
          </a:ln>
        </p:spPr>
      </p:sp>
      <p:sp>
        <p:nvSpPr>
          <p:cNvPr id="8" name="Shape 5"/>
          <p:cNvSpPr/>
          <p:nvPr/>
        </p:nvSpPr>
        <p:spPr>
          <a:xfrm>
            <a:off x="722376" y="2029968"/>
            <a:ext cx="2660904" cy="64008"/>
          </a:xfrm>
          <a:prstGeom prst="rect">
            <a:avLst/>
          </a:prstGeom>
          <a:solidFill>
            <a:srgbClr val="003366"/>
          </a:solidFill>
          <a:ln w="7620">
            <a:solidFill>
              <a:srgbClr val="003366"/>
            </a:solidFill>
            <a:prstDash val="solid"/>
          </a:ln>
        </p:spPr>
      </p:sp>
      <p:sp>
        <p:nvSpPr>
          <p:cNvPr id="9" name="Text 6"/>
          <p:cNvSpPr/>
          <p:nvPr/>
        </p:nvSpPr>
        <p:spPr>
          <a:xfrm>
            <a:off x="905256" y="2267712"/>
            <a:ext cx="685800" cy="365760"/>
          </a:xfrm>
          <a:prstGeom prst="rect">
            <a:avLst/>
          </a:prstGeom>
          <a:noFill/>
          <a:ln/>
        </p:spPr>
        <p:txBody>
          <a:bodyPr wrap="square" lIns="0" tIns="0" rIns="0" bIns="0" rtlCol="0" anchor="ctr">
            <a:normAutofit/>
          </a:bodyPr>
          <a:lstStyle/>
          <a:p>
            <a:pPr indent="0" marL="0">
              <a:buNone/>
            </a:pPr>
            <a:r>
              <a:rPr lang="en-US" sz="2200" b="1" dirty="0">
                <a:solidFill>
                  <a:srgbClr val="C91F35"/>
                </a:solidFill>
                <a:latin typeface="Arial" pitchFamily="34" charset="0"/>
                <a:ea typeface="Arial" pitchFamily="34" charset="-122"/>
                <a:cs typeface="Arial" pitchFamily="34" charset="-120"/>
              </a:rPr>
              <a:t>01</a:t>
            </a:r>
            <a:endParaRPr lang="en-US" sz="2200" dirty="0"/>
          </a:p>
        </p:txBody>
      </p:sp>
      <p:sp>
        <p:nvSpPr>
          <p:cNvPr id="10" name="Text 7"/>
          <p:cNvSpPr/>
          <p:nvPr/>
        </p:nvSpPr>
        <p:spPr>
          <a:xfrm>
            <a:off x="886968" y="2761488"/>
            <a:ext cx="2304288" cy="429768"/>
          </a:xfrm>
          <a:prstGeom prst="rect">
            <a:avLst/>
          </a:prstGeom>
          <a:noFill/>
          <a:ln/>
        </p:spPr>
        <p:txBody>
          <a:bodyPr wrap="square" lIns="0" tIns="0" rIns="0" bIns="0" rtlCol="0" anchor="ctr">
            <a:normAutofit/>
          </a:bodyPr>
          <a:lstStyle/>
          <a:p>
            <a:pPr indent="0" marL="0">
              <a:buNone/>
            </a:pPr>
            <a:r>
              <a:rPr lang="en-US" sz="1700" b="1" dirty="0">
                <a:solidFill>
                  <a:srgbClr val="003366"/>
                </a:solidFill>
                <a:latin typeface="Arial" pitchFamily="34" charset="0"/>
                <a:ea typeface="Arial" pitchFamily="34" charset="-122"/>
                <a:cs typeface="Arial" pitchFamily="34" charset="-120"/>
              </a:rPr>
              <a:t>Tạo / tiếp nhận</a:t>
            </a:r>
            <a:endParaRPr lang="en-US" sz="1700" dirty="0"/>
          </a:p>
        </p:txBody>
      </p:sp>
      <p:sp>
        <p:nvSpPr>
          <p:cNvPr id="11" name="Text 8"/>
          <p:cNvSpPr/>
          <p:nvPr/>
        </p:nvSpPr>
        <p:spPr>
          <a:xfrm>
            <a:off x="886968" y="3346704"/>
            <a:ext cx="2267712" cy="521208"/>
          </a:xfrm>
          <a:prstGeom prst="rect">
            <a:avLst/>
          </a:prstGeom>
          <a:noFill/>
          <a:ln/>
        </p:spPr>
        <p:txBody>
          <a:bodyPr wrap="square" lIns="0" tIns="0" rIns="0" bIns="0" rtlCol="0" anchor="t">
            <a:normAutofit/>
          </a:bodyPr>
          <a:lstStyle/>
          <a:p>
            <a:pPr indent="0" marL="0">
              <a:buNone/>
            </a:pPr>
            <a:r>
              <a:rPr lang="en-US" sz="1300" dirty="0">
                <a:solidFill>
                  <a:srgbClr val="242A30"/>
                </a:solidFill>
                <a:latin typeface="Arial" pitchFamily="34" charset="0"/>
                <a:ea typeface="Arial" pitchFamily="34" charset="-122"/>
                <a:cs typeface="Arial" pitchFamily="34" charset="-120"/>
              </a:rPr>
              <a:t>SQLi · XSS · Traversal</a:t>
            </a:r>
            <a:endParaRPr lang="en-US" sz="1300" dirty="0"/>
          </a:p>
        </p:txBody>
      </p:sp>
      <p:sp>
        <p:nvSpPr>
          <p:cNvPr id="12" name="Shape 9"/>
          <p:cNvSpPr/>
          <p:nvPr/>
        </p:nvSpPr>
        <p:spPr>
          <a:xfrm>
            <a:off x="3630168" y="2029968"/>
            <a:ext cx="2660904" cy="2103120"/>
          </a:xfrm>
          <a:prstGeom prst="roundRect">
            <a:avLst>
              <a:gd name="adj" fmla="val 1739"/>
            </a:avLst>
          </a:prstGeom>
          <a:solidFill>
            <a:srgbClr val="F7F7F7"/>
          </a:solidFill>
          <a:ln w="7620">
            <a:solidFill>
              <a:srgbClr val="D8DEE4"/>
            </a:solidFill>
            <a:prstDash val="solid"/>
          </a:ln>
        </p:spPr>
      </p:sp>
      <p:sp>
        <p:nvSpPr>
          <p:cNvPr id="13" name="Shape 10"/>
          <p:cNvSpPr/>
          <p:nvPr/>
        </p:nvSpPr>
        <p:spPr>
          <a:xfrm>
            <a:off x="3630168" y="2029968"/>
            <a:ext cx="2660904" cy="64008"/>
          </a:xfrm>
          <a:prstGeom prst="rect">
            <a:avLst/>
          </a:prstGeom>
          <a:solidFill>
            <a:srgbClr val="C91F35"/>
          </a:solidFill>
          <a:ln w="7620">
            <a:solidFill>
              <a:srgbClr val="C91F35"/>
            </a:solidFill>
            <a:prstDash val="solid"/>
          </a:ln>
        </p:spPr>
      </p:sp>
      <p:sp>
        <p:nvSpPr>
          <p:cNvPr id="14" name="Text 11"/>
          <p:cNvSpPr/>
          <p:nvPr/>
        </p:nvSpPr>
        <p:spPr>
          <a:xfrm>
            <a:off x="3813048" y="2267712"/>
            <a:ext cx="685800" cy="365760"/>
          </a:xfrm>
          <a:prstGeom prst="rect">
            <a:avLst/>
          </a:prstGeom>
          <a:noFill/>
          <a:ln/>
        </p:spPr>
        <p:txBody>
          <a:bodyPr wrap="square" lIns="0" tIns="0" rIns="0" bIns="0" rtlCol="0" anchor="ctr">
            <a:normAutofit/>
          </a:bodyPr>
          <a:lstStyle/>
          <a:p>
            <a:pPr indent="0" marL="0">
              <a:buNone/>
            </a:pPr>
            <a:r>
              <a:rPr lang="en-US" sz="2200" b="1" dirty="0">
                <a:solidFill>
                  <a:srgbClr val="C91F35"/>
                </a:solidFill>
                <a:latin typeface="Arial" pitchFamily="34" charset="0"/>
                <a:ea typeface="Arial" pitchFamily="34" charset="-122"/>
                <a:cs typeface="Arial" pitchFamily="34" charset="-120"/>
              </a:rPr>
              <a:t>02</a:t>
            </a:r>
            <a:endParaRPr lang="en-US" sz="2200" dirty="0"/>
          </a:p>
        </p:txBody>
      </p:sp>
      <p:sp>
        <p:nvSpPr>
          <p:cNvPr id="15" name="Text 12"/>
          <p:cNvSpPr/>
          <p:nvPr/>
        </p:nvSpPr>
        <p:spPr>
          <a:xfrm>
            <a:off x="3794760" y="2761488"/>
            <a:ext cx="2304288" cy="429768"/>
          </a:xfrm>
          <a:prstGeom prst="rect">
            <a:avLst/>
          </a:prstGeom>
          <a:noFill/>
          <a:ln/>
        </p:spPr>
        <p:txBody>
          <a:bodyPr wrap="square" lIns="0" tIns="0" rIns="0" bIns="0" rtlCol="0" anchor="ctr">
            <a:normAutofit/>
          </a:bodyPr>
          <a:lstStyle/>
          <a:p>
            <a:pPr indent="0" marL="0">
              <a:buNone/>
            </a:pPr>
            <a:r>
              <a:rPr lang="en-US" sz="1700" b="1" dirty="0">
                <a:solidFill>
                  <a:srgbClr val="003366"/>
                </a:solidFill>
                <a:latin typeface="Arial" pitchFamily="34" charset="0"/>
                <a:ea typeface="Arial" pitchFamily="34" charset="-122"/>
                <a:cs typeface="Arial" pitchFamily="34" charset="-120"/>
              </a:rPr>
              <a:t>Oracle trực tiếp</a:t>
            </a:r>
            <a:endParaRPr lang="en-US" sz="1700" dirty="0"/>
          </a:p>
        </p:txBody>
      </p:sp>
      <p:sp>
        <p:nvSpPr>
          <p:cNvPr id="16" name="Text 13"/>
          <p:cNvSpPr/>
          <p:nvPr/>
        </p:nvSpPr>
        <p:spPr>
          <a:xfrm>
            <a:off x="3794760" y="3346704"/>
            <a:ext cx="2267712" cy="521208"/>
          </a:xfrm>
          <a:prstGeom prst="rect">
            <a:avLst/>
          </a:prstGeom>
          <a:noFill/>
          <a:ln/>
        </p:spPr>
        <p:txBody>
          <a:bodyPr wrap="square" lIns="0" tIns="0" rIns="0" bIns="0" rtlCol="0" anchor="t">
            <a:normAutofit/>
          </a:bodyPr>
          <a:lstStyle/>
          <a:p>
            <a:pPr indent="0" marL="0">
              <a:buNone/>
            </a:pPr>
            <a:r>
              <a:rPr lang="en-US" sz="1300" dirty="0">
                <a:solidFill>
                  <a:srgbClr val="242A30"/>
                </a:solidFill>
                <a:latin typeface="Arial" pitchFamily="34" charset="0"/>
                <a:ea typeface="Arial" pitchFamily="34" charset="-122"/>
                <a:cs typeface="Arial" pitchFamily="34" charset="-120"/>
              </a:rPr>
              <a:t>Xác nhận tác động ứng dụng</a:t>
            </a:r>
            <a:endParaRPr lang="en-US" sz="1300" dirty="0"/>
          </a:p>
        </p:txBody>
      </p:sp>
      <p:sp>
        <p:nvSpPr>
          <p:cNvPr id="17" name="Shape 14"/>
          <p:cNvSpPr/>
          <p:nvPr/>
        </p:nvSpPr>
        <p:spPr>
          <a:xfrm>
            <a:off x="6537960" y="2029968"/>
            <a:ext cx="2660904" cy="2103120"/>
          </a:xfrm>
          <a:prstGeom prst="roundRect">
            <a:avLst>
              <a:gd name="adj" fmla="val 1739"/>
            </a:avLst>
          </a:prstGeom>
          <a:solidFill>
            <a:srgbClr val="E9F1F8"/>
          </a:solidFill>
          <a:ln w="7620">
            <a:solidFill>
              <a:srgbClr val="D8DEE4"/>
            </a:solidFill>
            <a:prstDash val="solid"/>
          </a:ln>
        </p:spPr>
      </p:sp>
      <p:sp>
        <p:nvSpPr>
          <p:cNvPr id="18" name="Shape 15"/>
          <p:cNvSpPr/>
          <p:nvPr/>
        </p:nvSpPr>
        <p:spPr>
          <a:xfrm>
            <a:off x="6537960" y="2029968"/>
            <a:ext cx="2660904" cy="64008"/>
          </a:xfrm>
          <a:prstGeom prst="rect">
            <a:avLst/>
          </a:prstGeom>
          <a:solidFill>
            <a:srgbClr val="003366"/>
          </a:solidFill>
          <a:ln w="7620">
            <a:solidFill>
              <a:srgbClr val="003366"/>
            </a:solidFill>
            <a:prstDash val="solid"/>
          </a:ln>
        </p:spPr>
      </p:sp>
      <p:sp>
        <p:nvSpPr>
          <p:cNvPr id="19" name="Text 16"/>
          <p:cNvSpPr/>
          <p:nvPr/>
        </p:nvSpPr>
        <p:spPr>
          <a:xfrm>
            <a:off x="6720840" y="2267712"/>
            <a:ext cx="685800" cy="365760"/>
          </a:xfrm>
          <a:prstGeom prst="rect">
            <a:avLst/>
          </a:prstGeom>
          <a:noFill/>
          <a:ln/>
        </p:spPr>
        <p:txBody>
          <a:bodyPr wrap="square" lIns="0" tIns="0" rIns="0" bIns="0" rtlCol="0" anchor="ctr">
            <a:normAutofit/>
          </a:bodyPr>
          <a:lstStyle/>
          <a:p>
            <a:pPr indent="0" marL="0">
              <a:buNone/>
            </a:pPr>
            <a:r>
              <a:rPr lang="en-US" sz="2200" b="1" dirty="0">
                <a:solidFill>
                  <a:srgbClr val="C91F35"/>
                </a:solidFill>
                <a:latin typeface="Arial" pitchFamily="34" charset="0"/>
                <a:ea typeface="Arial" pitchFamily="34" charset="-122"/>
                <a:cs typeface="Arial" pitchFamily="34" charset="-120"/>
              </a:rPr>
              <a:t>03</a:t>
            </a:r>
            <a:endParaRPr lang="en-US" sz="2200" dirty="0"/>
          </a:p>
        </p:txBody>
      </p:sp>
      <p:sp>
        <p:nvSpPr>
          <p:cNvPr id="20" name="Text 17"/>
          <p:cNvSpPr/>
          <p:nvPr/>
        </p:nvSpPr>
        <p:spPr>
          <a:xfrm>
            <a:off x="6702552" y="2761488"/>
            <a:ext cx="2304288" cy="429768"/>
          </a:xfrm>
          <a:prstGeom prst="rect">
            <a:avLst/>
          </a:prstGeom>
          <a:noFill/>
          <a:ln/>
        </p:spPr>
        <p:txBody>
          <a:bodyPr wrap="square" lIns="0" tIns="0" rIns="0" bIns="0" rtlCol="0" anchor="ctr">
            <a:normAutofit/>
          </a:bodyPr>
          <a:lstStyle/>
          <a:p>
            <a:pPr indent="0" marL="0">
              <a:buNone/>
            </a:pPr>
            <a:r>
              <a:rPr lang="en-US" sz="1700" b="1" dirty="0">
                <a:solidFill>
                  <a:srgbClr val="003366"/>
                </a:solidFill>
                <a:latin typeface="Arial" pitchFamily="34" charset="0"/>
                <a:ea typeface="Arial" pitchFamily="34" charset="-122"/>
                <a:cs typeface="Arial" pitchFamily="34" charset="-120"/>
              </a:rPr>
              <a:t>Qua CRS/WAF</a:t>
            </a:r>
            <a:endParaRPr lang="en-US" sz="1700" dirty="0"/>
          </a:p>
        </p:txBody>
      </p:sp>
      <p:sp>
        <p:nvSpPr>
          <p:cNvPr id="21" name="Text 18"/>
          <p:cNvSpPr/>
          <p:nvPr/>
        </p:nvSpPr>
        <p:spPr>
          <a:xfrm>
            <a:off x="6702552" y="3346704"/>
            <a:ext cx="2267712" cy="521208"/>
          </a:xfrm>
          <a:prstGeom prst="rect">
            <a:avLst/>
          </a:prstGeom>
          <a:noFill/>
          <a:ln/>
        </p:spPr>
        <p:txBody>
          <a:bodyPr wrap="square" lIns="0" tIns="0" rIns="0" bIns="0" rtlCol="0" anchor="t">
            <a:normAutofit/>
          </a:bodyPr>
          <a:lstStyle/>
          <a:p>
            <a:pPr indent="0" marL="0">
              <a:buNone/>
            </a:pPr>
            <a:r>
              <a:rPr lang="en-US" sz="1300" dirty="0">
                <a:solidFill>
                  <a:srgbClr val="242A30"/>
                </a:solidFill>
                <a:latin typeface="Arial" pitchFamily="34" charset="0"/>
                <a:ea typeface="Arial" pitchFamily="34" charset="-122"/>
                <a:cs typeface="Arial" pitchFamily="34" charset="-120"/>
              </a:rPr>
              <a:t>Quan sát deny / forward</a:t>
            </a:r>
            <a:endParaRPr lang="en-US" sz="1300" dirty="0"/>
          </a:p>
        </p:txBody>
      </p:sp>
      <p:sp>
        <p:nvSpPr>
          <p:cNvPr id="22" name="Shape 19"/>
          <p:cNvSpPr/>
          <p:nvPr/>
        </p:nvSpPr>
        <p:spPr>
          <a:xfrm>
            <a:off x="9445752" y="2029968"/>
            <a:ext cx="2660904" cy="2103120"/>
          </a:xfrm>
          <a:prstGeom prst="roundRect">
            <a:avLst>
              <a:gd name="adj" fmla="val 1739"/>
            </a:avLst>
          </a:prstGeom>
          <a:solidFill>
            <a:srgbClr val="F7F7F7"/>
          </a:solidFill>
          <a:ln w="7620">
            <a:solidFill>
              <a:srgbClr val="D8DEE4"/>
            </a:solidFill>
            <a:prstDash val="solid"/>
          </a:ln>
        </p:spPr>
      </p:sp>
      <p:sp>
        <p:nvSpPr>
          <p:cNvPr id="23" name="Shape 20"/>
          <p:cNvSpPr/>
          <p:nvPr/>
        </p:nvSpPr>
        <p:spPr>
          <a:xfrm>
            <a:off x="9445752" y="2029968"/>
            <a:ext cx="2660904" cy="64008"/>
          </a:xfrm>
          <a:prstGeom prst="rect">
            <a:avLst/>
          </a:prstGeom>
          <a:solidFill>
            <a:srgbClr val="C91F35"/>
          </a:solidFill>
          <a:ln w="7620">
            <a:solidFill>
              <a:srgbClr val="C91F35"/>
            </a:solidFill>
            <a:prstDash val="solid"/>
          </a:ln>
        </p:spPr>
      </p:sp>
      <p:sp>
        <p:nvSpPr>
          <p:cNvPr id="24" name="Text 21"/>
          <p:cNvSpPr/>
          <p:nvPr/>
        </p:nvSpPr>
        <p:spPr>
          <a:xfrm>
            <a:off x="9628632" y="2267712"/>
            <a:ext cx="685800" cy="365760"/>
          </a:xfrm>
          <a:prstGeom prst="rect">
            <a:avLst/>
          </a:prstGeom>
          <a:noFill/>
          <a:ln/>
        </p:spPr>
        <p:txBody>
          <a:bodyPr wrap="square" lIns="0" tIns="0" rIns="0" bIns="0" rtlCol="0" anchor="ctr">
            <a:normAutofit/>
          </a:bodyPr>
          <a:lstStyle/>
          <a:p>
            <a:pPr indent="0" marL="0">
              <a:buNone/>
            </a:pPr>
            <a:r>
              <a:rPr lang="en-US" sz="2200" b="1" dirty="0">
                <a:solidFill>
                  <a:srgbClr val="C91F35"/>
                </a:solidFill>
                <a:latin typeface="Arial" pitchFamily="34" charset="0"/>
                <a:ea typeface="Arial" pitchFamily="34" charset="-122"/>
                <a:cs typeface="Arial" pitchFamily="34" charset="-120"/>
              </a:rPr>
              <a:t>04</a:t>
            </a:r>
            <a:endParaRPr lang="en-US" sz="2200" dirty="0"/>
          </a:p>
        </p:txBody>
      </p:sp>
      <p:sp>
        <p:nvSpPr>
          <p:cNvPr id="25" name="Text 22"/>
          <p:cNvSpPr/>
          <p:nvPr/>
        </p:nvSpPr>
        <p:spPr>
          <a:xfrm>
            <a:off x="9610344" y="2761488"/>
            <a:ext cx="2304288" cy="429768"/>
          </a:xfrm>
          <a:prstGeom prst="rect">
            <a:avLst/>
          </a:prstGeom>
          <a:noFill/>
          <a:ln/>
        </p:spPr>
        <p:txBody>
          <a:bodyPr wrap="square" lIns="0" tIns="0" rIns="0" bIns="0" rtlCol="0" anchor="ctr">
            <a:normAutofit/>
          </a:bodyPr>
          <a:lstStyle/>
          <a:p>
            <a:pPr indent="0" marL="0">
              <a:buNone/>
            </a:pPr>
            <a:r>
              <a:rPr lang="en-US" sz="1700" b="1" dirty="0">
                <a:solidFill>
                  <a:srgbClr val="003366"/>
                </a:solidFill>
                <a:latin typeface="Arial" pitchFamily="34" charset="0"/>
                <a:ea typeface="Arial" pitchFamily="34" charset="-122"/>
                <a:cs typeface="Arial" pitchFamily="34" charset="-120"/>
              </a:rPr>
              <a:t>Phân loại</a:t>
            </a:r>
            <a:endParaRPr lang="en-US" sz="1700" dirty="0"/>
          </a:p>
        </p:txBody>
      </p:sp>
      <p:sp>
        <p:nvSpPr>
          <p:cNvPr id="26" name="Text 23"/>
          <p:cNvSpPr/>
          <p:nvPr/>
        </p:nvSpPr>
        <p:spPr>
          <a:xfrm>
            <a:off x="9610344" y="3346704"/>
            <a:ext cx="2267712" cy="521208"/>
          </a:xfrm>
          <a:prstGeom prst="rect">
            <a:avLst/>
          </a:prstGeom>
          <a:noFill/>
          <a:ln/>
        </p:spPr>
        <p:txBody>
          <a:bodyPr wrap="square" lIns="0" tIns="0" rIns="0" bIns="0" rtlCol="0" anchor="t">
            <a:normAutofit/>
          </a:bodyPr>
          <a:lstStyle/>
          <a:p>
            <a:pPr indent="0" marL="0">
              <a:buNone/>
            </a:pPr>
            <a:r>
              <a:rPr lang="en-US" sz="1300" dirty="0">
                <a:solidFill>
                  <a:srgbClr val="242A30"/>
                </a:solidFill>
                <a:latin typeface="Arial" pitchFamily="34" charset="0"/>
                <a:ea typeface="Arial" pitchFamily="34" charset="-122"/>
                <a:cs typeface="Arial" pitchFamily="34" charset="-120"/>
              </a:rPr>
              <a:t>Block · bypass · invalid · FP</a:t>
            </a:r>
            <a:endParaRPr lang="en-US" sz="1300" dirty="0"/>
          </a:p>
        </p:txBody>
      </p:sp>
      <p:sp>
        <p:nvSpPr>
          <p:cNvPr id="27" name="Shape 24"/>
          <p:cNvSpPr/>
          <p:nvPr/>
        </p:nvSpPr>
        <p:spPr>
          <a:xfrm>
            <a:off x="758952" y="4937760"/>
            <a:ext cx="10725912" cy="475488"/>
          </a:xfrm>
          <a:prstGeom prst="roundRect">
            <a:avLst>
              <a:gd name="adj" fmla="val 5769"/>
            </a:avLst>
          </a:prstGeom>
          <a:solidFill>
            <a:srgbClr val="C91F35"/>
          </a:solidFill>
          <a:ln w="7620">
            <a:solidFill>
              <a:srgbClr val="C91F35"/>
            </a:solidFill>
            <a:prstDash val="solid"/>
          </a:ln>
        </p:spPr>
      </p:sp>
      <p:sp>
        <p:nvSpPr>
          <p:cNvPr id="28" name="Text 25"/>
          <p:cNvSpPr/>
          <p:nvPr/>
        </p:nvSpPr>
        <p:spPr>
          <a:xfrm>
            <a:off x="941832" y="5010912"/>
            <a:ext cx="10351008" cy="33832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Oracle âm tính → INVALID ATTACK, không tính là bypass WAF.</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4. Quy trình thực hiện</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04</a:t>
            </a:r>
            <a:endParaRPr lang="en-US" sz="680" dirty="0"/>
          </a:p>
        </p:txBody>
      </p:sp>
      <p:sp>
        <p:nvSpPr>
          <p:cNvPr id="5" name="Shape 2"/>
          <p:cNvSpPr/>
          <p:nvPr/>
        </p:nvSpPr>
        <p:spPr>
          <a:xfrm>
            <a:off x="502920" y="1280160"/>
            <a:ext cx="1700784" cy="1252728"/>
          </a:xfrm>
          <a:prstGeom prst="roundRect">
            <a:avLst>
              <a:gd name="adj" fmla="val 2920"/>
            </a:avLst>
          </a:prstGeom>
          <a:solidFill>
            <a:srgbClr val="003366"/>
          </a:solidFill>
          <a:ln w="7620">
            <a:solidFill>
              <a:srgbClr val="003366"/>
            </a:solidFill>
            <a:prstDash val="solid"/>
          </a:ln>
        </p:spPr>
      </p:sp>
      <p:sp>
        <p:nvSpPr>
          <p:cNvPr id="6" name="Text 3"/>
          <p:cNvSpPr/>
          <p:nvPr/>
        </p:nvSpPr>
        <p:spPr>
          <a:xfrm>
            <a:off x="603504" y="1481328"/>
            <a:ext cx="1499616" cy="283464"/>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latin typeface="Arial" pitchFamily="34" charset="0"/>
                <a:ea typeface="Arial" pitchFamily="34" charset="-122"/>
                <a:cs typeface="Arial" pitchFamily="34" charset="-120"/>
              </a:rPr>
              <a:t>Chuẩn bị</a:t>
            </a:r>
            <a:endParaRPr lang="en-US" sz="1340" dirty="0"/>
          </a:p>
        </p:txBody>
      </p:sp>
      <p:sp>
        <p:nvSpPr>
          <p:cNvPr id="7" name="Text 4"/>
          <p:cNvSpPr/>
          <p:nvPr/>
        </p:nvSpPr>
        <p:spPr>
          <a:xfrm>
            <a:off x="603504" y="1837944"/>
            <a:ext cx="1499616" cy="512064"/>
          </a:xfrm>
          <a:prstGeom prst="rect">
            <a:avLst/>
          </a:prstGeom>
          <a:noFill/>
          <a:ln/>
        </p:spPr>
        <p:txBody>
          <a:bodyPr wrap="square" lIns="0" tIns="0" rIns="0" bIns="0" rtlCol="0" anchor="ctr">
            <a:normAutofit/>
          </a:bodyPr>
          <a:lstStyle/>
          <a:p>
            <a:pPr algn="ctr" indent="0" marL="0">
              <a:buNone/>
            </a:pPr>
            <a:r>
              <a:rPr lang="en-US" sz="1180" dirty="0">
                <a:solidFill>
                  <a:srgbClr val="FFFFFF"/>
                </a:solidFill>
                <a:latin typeface="Arial" pitchFamily="34" charset="0"/>
                <a:ea typeface="Arial" pitchFamily="34" charset="-122"/>
                <a:cs typeface="Arial" pitchFamily="34" charset="-120"/>
              </a:rPr>
              <a:t>CWE + corpus</a:t>
            </a:r>
            <a:endParaRPr lang="en-US" sz="1180" dirty="0"/>
          </a:p>
          <a:p>
            <a:pPr algn="ctr" indent="0" marL="0">
              <a:buNone/>
            </a:pPr>
            <a:r>
              <a:rPr lang="en-US" sz="1180" dirty="0">
                <a:solidFill>
                  <a:srgbClr val="FFFFFF"/>
                </a:solidFill>
                <a:latin typeface="Arial" pitchFamily="34" charset="0"/>
                <a:ea typeface="Arial" pitchFamily="34" charset="-122"/>
                <a:cs typeface="Arial" pitchFamily="34" charset="-120"/>
              </a:rPr>
              <a:t>+ oracle</a:t>
            </a:r>
            <a:endParaRPr lang="en-US" sz="1180" dirty="0"/>
          </a:p>
        </p:txBody>
      </p:sp>
      <p:sp>
        <p:nvSpPr>
          <p:cNvPr id="8" name="Text 5"/>
          <p:cNvSpPr/>
          <p:nvPr/>
        </p:nvSpPr>
        <p:spPr>
          <a:xfrm>
            <a:off x="2350008" y="1709928"/>
            <a:ext cx="374904" cy="292608"/>
          </a:xfrm>
          <a:prstGeom prst="rect">
            <a:avLst/>
          </a:prstGeom>
          <a:noFill/>
          <a:ln/>
        </p:spPr>
        <p:txBody>
          <a:bodyPr wrap="square" lIns="0" tIns="0" rIns="0" bIns="0" rtlCol="0" anchor="ctr">
            <a:normAutofit/>
          </a:bodyPr>
          <a:lstStyle/>
          <a:p>
            <a:pPr algn="ctr" indent="0" marL="0">
              <a:buNone/>
            </a:pPr>
            <a:r>
              <a:rPr lang="en-US" sz="2000" dirty="0">
                <a:solidFill>
                  <a:srgbClr val="8E98A2"/>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2926080" y="1280160"/>
            <a:ext cx="1700784" cy="1252728"/>
          </a:xfrm>
          <a:prstGeom prst="roundRect">
            <a:avLst>
              <a:gd name="adj" fmla="val 2920"/>
            </a:avLst>
          </a:prstGeom>
          <a:solidFill>
            <a:srgbClr val="C91F35"/>
          </a:solidFill>
          <a:ln w="7620">
            <a:solidFill>
              <a:srgbClr val="C91F35"/>
            </a:solidFill>
            <a:prstDash val="solid"/>
          </a:ln>
        </p:spPr>
      </p:sp>
      <p:sp>
        <p:nvSpPr>
          <p:cNvPr id="10" name="Text 7"/>
          <p:cNvSpPr/>
          <p:nvPr/>
        </p:nvSpPr>
        <p:spPr>
          <a:xfrm>
            <a:off x="3026664" y="1481328"/>
            <a:ext cx="1499616" cy="283464"/>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latin typeface="Arial" pitchFamily="34" charset="0"/>
                <a:ea typeface="Arial" pitchFamily="34" charset="-122"/>
                <a:cs typeface="Arial" pitchFamily="34" charset="-120"/>
              </a:rPr>
              <a:t>Sinh mẫu</a:t>
            </a:r>
            <a:endParaRPr lang="en-US" sz="1340" dirty="0"/>
          </a:p>
        </p:txBody>
      </p:sp>
      <p:sp>
        <p:nvSpPr>
          <p:cNvPr id="11" name="Text 8"/>
          <p:cNvSpPr/>
          <p:nvPr/>
        </p:nvSpPr>
        <p:spPr>
          <a:xfrm>
            <a:off x="3026664" y="1837944"/>
            <a:ext cx="1499616" cy="512064"/>
          </a:xfrm>
          <a:prstGeom prst="rect">
            <a:avLst/>
          </a:prstGeom>
          <a:noFill/>
          <a:ln/>
        </p:spPr>
        <p:txBody>
          <a:bodyPr wrap="square" lIns="0" tIns="0" rIns="0" bIns="0" rtlCol="0" anchor="ctr">
            <a:normAutofit/>
          </a:bodyPr>
          <a:lstStyle/>
          <a:p>
            <a:pPr algn="ctr" indent="0" marL="0">
              <a:buNone/>
            </a:pPr>
            <a:r>
              <a:rPr lang="en-US" sz="1180" dirty="0">
                <a:solidFill>
                  <a:srgbClr val="FFFFFF"/>
                </a:solidFill>
                <a:latin typeface="Arial" pitchFamily="34" charset="0"/>
                <a:ea typeface="Arial" pitchFamily="34" charset="-122"/>
                <a:cs typeface="Arial" pitchFamily="34" charset="-120"/>
              </a:rPr>
              <a:t>Heuristic /</a:t>
            </a:r>
            <a:endParaRPr lang="en-US" sz="1180" dirty="0"/>
          </a:p>
          <a:p>
            <a:pPr algn="ctr" indent="0" marL="0">
              <a:buNone/>
            </a:pPr>
            <a:r>
              <a:rPr lang="en-US" sz="1180" dirty="0">
                <a:solidFill>
                  <a:srgbClr val="FFFFFF"/>
                </a:solidFill>
                <a:latin typeface="Arial" pitchFamily="34" charset="0"/>
                <a:ea typeface="Arial" pitchFamily="34" charset="-122"/>
                <a:cs typeface="Arial" pitchFamily="34" charset="-120"/>
              </a:rPr>
              <a:t>LLM proposal</a:t>
            </a:r>
            <a:endParaRPr lang="en-US" sz="1180" dirty="0"/>
          </a:p>
        </p:txBody>
      </p:sp>
      <p:sp>
        <p:nvSpPr>
          <p:cNvPr id="12" name="Text 9"/>
          <p:cNvSpPr/>
          <p:nvPr/>
        </p:nvSpPr>
        <p:spPr>
          <a:xfrm>
            <a:off x="4773168" y="1709928"/>
            <a:ext cx="374904" cy="292608"/>
          </a:xfrm>
          <a:prstGeom prst="rect">
            <a:avLst/>
          </a:prstGeom>
          <a:noFill/>
          <a:ln/>
        </p:spPr>
        <p:txBody>
          <a:bodyPr wrap="square" lIns="0" tIns="0" rIns="0" bIns="0" rtlCol="0" anchor="ctr">
            <a:normAutofit/>
          </a:bodyPr>
          <a:lstStyle/>
          <a:p>
            <a:pPr algn="ctr" indent="0" marL="0">
              <a:buNone/>
            </a:pPr>
            <a:r>
              <a:rPr lang="en-US" sz="2000" dirty="0">
                <a:solidFill>
                  <a:srgbClr val="8E98A2"/>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5349240" y="1280160"/>
            <a:ext cx="1700784" cy="1252728"/>
          </a:xfrm>
          <a:prstGeom prst="roundRect">
            <a:avLst>
              <a:gd name="adj" fmla="val 2920"/>
            </a:avLst>
          </a:prstGeom>
          <a:solidFill>
            <a:srgbClr val="C91F35"/>
          </a:solidFill>
          <a:ln w="7620">
            <a:solidFill>
              <a:srgbClr val="C91F35"/>
            </a:solidFill>
            <a:prstDash val="solid"/>
          </a:ln>
        </p:spPr>
      </p:sp>
      <p:sp>
        <p:nvSpPr>
          <p:cNvPr id="14" name="Text 11"/>
          <p:cNvSpPr/>
          <p:nvPr/>
        </p:nvSpPr>
        <p:spPr>
          <a:xfrm>
            <a:off x="5449824" y="1481328"/>
            <a:ext cx="1499616" cy="283464"/>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latin typeface="Arial" pitchFamily="34" charset="0"/>
                <a:ea typeface="Arial" pitchFamily="34" charset="-122"/>
                <a:cs typeface="Arial" pitchFamily="34" charset="-120"/>
              </a:rPr>
              <a:t>Đánh giá dev</a:t>
            </a:r>
            <a:endParaRPr lang="en-US" sz="1340" dirty="0"/>
          </a:p>
        </p:txBody>
      </p:sp>
      <p:sp>
        <p:nvSpPr>
          <p:cNvPr id="15" name="Text 12"/>
          <p:cNvSpPr/>
          <p:nvPr/>
        </p:nvSpPr>
        <p:spPr>
          <a:xfrm>
            <a:off x="5449824" y="1837944"/>
            <a:ext cx="1499616" cy="512064"/>
          </a:xfrm>
          <a:prstGeom prst="rect">
            <a:avLst/>
          </a:prstGeom>
          <a:noFill/>
          <a:ln/>
        </p:spPr>
        <p:txBody>
          <a:bodyPr wrap="square" lIns="0" tIns="0" rIns="0" bIns="0" rtlCol="0" anchor="ctr">
            <a:normAutofit/>
          </a:bodyPr>
          <a:lstStyle/>
          <a:p>
            <a:pPr algn="ctr" indent="0" marL="0">
              <a:buNone/>
            </a:pPr>
            <a:r>
              <a:rPr lang="en-US" sz="1180" dirty="0">
                <a:solidFill>
                  <a:srgbClr val="FFFFFF"/>
                </a:solidFill>
                <a:latin typeface="Arial" pitchFamily="34" charset="0"/>
                <a:ea typeface="Arial" pitchFamily="34" charset="-122"/>
                <a:cs typeface="Arial" pitchFamily="34" charset="-120"/>
              </a:rPr>
              <a:t>Thử nghiệm</a:t>
            </a:r>
            <a:endParaRPr lang="en-US" sz="1180" dirty="0"/>
          </a:p>
          <a:p>
            <a:pPr algn="ctr" indent="0" marL="0">
              <a:buNone/>
            </a:pPr>
            <a:r>
              <a:rPr lang="en-US" sz="1180" dirty="0">
                <a:solidFill>
                  <a:srgbClr val="FFFFFF"/>
                </a:solidFill>
                <a:latin typeface="Arial" pitchFamily="34" charset="0"/>
                <a:ea typeface="Arial" pitchFamily="34" charset="-122"/>
                <a:cs typeface="Arial" pitchFamily="34" charset="-120"/>
              </a:rPr>
              <a:t>đầu vào</a:t>
            </a:r>
            <a:endParaRPr lang="en-US" sz="1180" dirty="0"/>
          </a:p>
        </p:txBody>
      </p:sp>
      <p:sp>
        <p:nvSpPr>
          <p:cNvPr id="16" name="Text 13"/>
          <p:cNvSpPr/>
          <p:nvPr/>
        </p:nvSpPr>
        <p:spPr>
          <a:xfrm>
            <a:off x="7196328" y="1709928"/>
            <a:ext cx="374904" cy="292608"/>
          </a:xfrm>
          <a:prstGeom prst="rect">
            <a:avLst/>
          </a:prstGeom>
          <a:noFill/>
          <a:ln/>
        </p:spPr>
        <p:txBody>
          <a:bodyPr wrap="square" lIns="0" tIns="0" rIns="0" bIns="0" rtlCol="0" anchor="ctr">
            <a:normAutofit/>
          </a:bodyPr>
          <a:lstStyle/>
          <a:p>
            <a:pPr algn="ctr" indent="0" marL="0">
              <a:buNone/>
            </a:pPr>
            <a:r>
              <a:rPr lang="en-US" sz="2000" dirty="0">
                <a:solidFill>
                  <a:srgbClr val="8E98A2"/>
                </a:solidFill>
                <a:latin typeface="Arial" pitchFamily="34" charset="0"/>
                <a:ea typeface="Arial" pitchFamily="34" charset="-122"/>
                <a:cs typeface="Arial" pitchFamily="34" charset="-120"/>
              </a:rPr>
              <a:t>➜</a:t>
            </a:r>
            <a:endParaRPr lang="en-US" sz="2000" dirty="0"/>
          </a:p>
        </p:txBody>
      </p:sp>
      <p:sp>
        <p:nvSpPr>
          <p:cNvPr id="17" name="Shape 14"/>
          <p:cNvSpPr/>
          <p:nvPr/>
        </p:nvSpPr>
        <p:spPr>
          <a:xfrm>
            <a:off x="7772400" y="1280160"/>
            <a:ext cx="1700784" cy="1252728"/>
          </a:xfrm>
          <a:prstGeom prst="roundRect">
            <a:avLst>
              <a:gd name="adj" fmla="val 2920"/>
            </a:avLst>
          </a:prstGeom>
          <a:solidFill>
            <a:srgbClr val="C91F35"/>
          </a:solidFill>
          <a:ln w="7620">
            <a:solidFill>
              <a:srgbClr val="C91F35"/>
            </a:solidFill>
            <a:prstDash val="solid"/>
          </a:ln>
        </p:spPr>
      </p:sp>
      <p:sp>
        <p:nvSpPr>
          <p:cNvPr id="18" name="Text 15"/>
          <p:cNvSpPr/>
          <p:nvPr/>
        </p:nvSpPr>
        <p:spPr>
          <a:xfrm>
            <a:off x="7872984" y="1481328"/>
            <a:ext cx="1499616" cy="283464"/>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latin typeface="Arial" pitchFamily="34" charset="0"/>
                <a:ea typeface="Arial" pitchFamily="34" charset="-122"/>
                <a:cs typeface="Arial" pitchFamily="34" charset="-120"/>
              </a:rPr>
              <a:t>Đóng băng</a:t>
            </a:r>
            <a:endParaRPr lang="en-US" sz="1340" dirty="0"/>
          </a:p>
        </p:txBody>
      </p:sp>
      <p:sp>
        <p:nvSpPr>
          <p:cNvPr id="19" name="Text 16"/>
          <p:cNvSpPr/>
          <p:nvPr/>
        </p:nvSpPr>
        <p:spPr>
          <a:xfrm>
            <a:off x="7872984" y="1837944"/>
            <a:ext cx="1499616" cy="512064"/>
          </a:xfrm>
          <a:prstGeom prst="rect">
            <a:avLst/>
          </a:prstGeom>
          <a:noFill/>
          <a:ln/>
        </p:spPr>
        <p:txBody>
          <a:bodyPr wrap="square" lIns="0" tIns="0" rIns="0" bIns="0" rtlCol="0" anchor="ctr">
            <a:normAutofit/>
          </a:bodyPr>
          <a:lstStyle/>
          <a:p>
            <a:pPr algn="ctr" indent="0" marL="0">
              <a:buNone/>
            </a:pPr>
            <a:r>
              <a:rPr lang="en-US" sz="1180" dirty="0">
                <a:solidFill>
                  <a:srgbClr val="FFFFFF"/>
                </a:solidFill>
                <a:latin typeface="Arial" pitchFamily="34" charset="0"/>
                <a:ea typeface="Arial" pitchFamily="34" charset="-122"/>
                <a:cs typeface="Arial" pitchFamily="34" charset="-120"/>
              </a:rPr>
              <a:t>Validation +</a:t>
            </a:r>
            <a:endParaRPr lang="en-US" sz="1180" dirty="0"/>
          </a:p>
          <a:p>
            <a:pPr algn="ctr" indent="0" marL="0">
              <a:buNone/>
            </a:pPr>
            <a:r>
              <a:rPr lang="en-US" sz="1180" dirty="0">
                <a:solidFill>
                  <a:srgbClr val="FFFFFF"/>
                </a:solidFill>
                <a:latin typeface="Arial" pitchFamily="34" charset="0"/>
                <a:ea typeface="Arial" pitchFamily="34" charset="-122"/>
                <a:cs typeface="Arial" pitchFamily="34" charset="-120"/>
              </a:rPr>
              <a:t>SHA-256</a:t>
            </a:r>
            <a:endParaRPr lang="en-US" sz="1180" dirty="0"/>
          </a:p>
        </p:txBody>
      </p:sp>
      <p:sp>
        <p:nvSpPr>
          <p:cNvPr id="20" name="Text 17"/>
          <p:cNvSpPr/>
          <p:nvPr/>
        </p:nvSpPr>
        <p:spPr>
          <a:xfrm>
            <a:off x="9619488" y="1709928"/>
            <a:ext cx="374904" cy="292608"/>
          </a:xfrm>
          <a:prstGeom prst="rect">
            <a:avLst/>
          </a:prstGeom>
          <a:noFill/>
          <a:ln/>
        </p:spPr>
        <p:txBody>
          <a:bodyPr wrap="square" lIns="0" tIns="0" rIns="0" bIns="0" rtlCol="0" anchor="ctr">
            <a:normAutofit/>
          </a:bodyPr>
          <a:lstStyle/>
          <a:p>
            <a:pPr algn="ctr" indent="0" marL="0">
              <a:buNone/>
            </a:pPr>
            <a:r>
              <a:rPr lang="en-US" sz="2000" dirty="0">
                <a:solidFill>
                  <a:srgbClr val="8E98A2"/>
                </a:solidFill>
                <a:latin typeface="Arial" pitchFamily="34" charset="0"/>
                <a:ea typeface="Arial" pitchFamily="34" charset="-122"/>
                <a:cs typeface="Arial" pitchFamily="34" charset="-120"/>
              </a:rPr>
              <a:t>➜</a:t>
            </a:r>
            <a:endParaRPr lang="en-US" sz="2000" dirty="0"/>
          </a:p>
        </p:txBody>
      </p:sp>
      <p:sp>
        <p:nvSpPr>
          <p:cNvPr id="21" name="Shape 18"/>
          <p:cNvSpPr/>
          <p:nvPr/>
        </p:nvSpPr>
        <p:spPr>
          <a:xfrm>
            <a:off x="10195560" y="1280160"/>
            <a:ext cx="1700784" cy="1252728"/>
          </a:xfrm>
          <a:prstGeom prst="roundRect">
            <a:avLst>
              <a:gd name="adj" fmla="val 2920"/>
            </a:avLst>
          </a:prstGeom>
          <a:solidFill>
            <a:srgbClr val="003366"/>
          </a:solidFill>
          <a:ln w="7620">
            <a:solidFill>
              <a:srgbClr val="003366"/>
            </a:solidFill>
            <a:prstDash val="solid"/>
          </a:ln>
        </p:spPr>
      </p:sp>
      <p:sp>
        <p:nvSpPr>
          <p:cNvPr id="22" name="Text 19"/>
          <p:cNvSpPr/>
          <p:nvPr/>
        </p:nvSpPr>
        <p:spPr>
          <a:xfrm>
            <a:off x="10296144" y="1481328"/>
            <a:ext cx="1499616" cy="283464"/>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latin typeface="Arial" pitchFamily="34" charset="0"/>
                <a:ea typeface="Arial" pitchFamily="34" charset="-122"/>
                <a:cs typeface="Arial" pitchFamily="34" charset="-120"/>
              </a:rPr>
              <a:t>Final test</a:t>
            </a:r>
            <a:endParaRPr lang="en-US" sz="1340" dirty="0"/>
          </a:p>
        </p:txBody>
      </p:sp>
      <p:sp>
        <p:nvSpPr>
          <p:cNvPr id="23" name="Text 20"/>
          <p:cNvSpPr/>
          <p:nvPr/>
        </p:nvSpPr>
        <p:spPr>
          <a:xfrm>
            <a:off x="10296144" y="1837944"/>
            <a:ext cx="1499616" cy="512064"/>
          </a:xfrm>
          <a:prstGeom prst="rect">
            <a:avLst/>
          </a:prstGeom>
          <a:noFill/>
          <a:ln/>
        </p:spPr>
        <p:txBody>
          <a:bodyPr wrap="square" lIns="0" tIns="0" rIns="0" bIns="0" rtlCol="0" anchor="ctr">
            <a:normAutofit/>
          </a:bodyPr>
          <a:lstStyle/>
          <a:p>
            <a:pPr algn="ctr" indent="0" marL="0">
              <a:buNone/>
            </a:pPr>
            <a:r>
              <a:rPr lang="en-US" sz="1180" dirty="0">
                <a:solidFill>
                  <a:srgbClr val="FFFFFF"/>
                </a:solidFill>
                <a:latin typeface="Arial" pitchFamily="34" charset="0"/>
                <a:ea typeface="Arial" pitchFamily="34" charset="-122"/>
                <a:cs typeface="Arial" pitchFamily="34" charset="-120"/>
              </a:rPr>
              <a:t>7 policy × 104</a:t>
            </a:r>
            <a:endParaRPr lang="en-US" sz="1180" dirty="0"/>
          </a:p>
          <a:p>
            <a:pPr algn="ctr" indent="0" marL="0">
              <a:buNone/>
            </a:pPr>
            <a:r>
              <a:rPr lang="en-US" sz="1180" dirty="0">
                <a:solidFill>
                  <a:srgbClr val="FFFFFF"/>
                </a:solidFill>
                <a:latin typeface="Arial" pitchFamily="34" charset="0"/>
                <a:ea typeface="Arial" pitchFamily="34" charset="-122"/>
                <a:cs typeface="Arial" pitchFamily="34" charset="-120"/>
              </a:rPr>
              <a:t>rollback</a:t>
            </a:r>
            <a:endParaRPr lang="en-US" sz="1180" dirty="0"/>
          </a:p>
        </p:txBody>
      </p:sp>
      <p:sp>
        <p:nvSpPr>
          <p:cNvPr id="24" name="Shape 21"/>
          <p:cNvSpPr/>
          <p:nvPr/>
        </p:nvSpPr>
        <p:spPr>
          <a:xfrm>
            <a:off x="713232" y="3145536"/>
            <a:ext cx="5266944" cy="1920240"/>
          </a:xfrm>
          <a:prstGeom prst="roundRect">
            <a:avLst>
              <a:gd name="adj" fmla="val 952"/>
            </a:avLst>
          </a:prstGeom>
          <a:solidFill>
            <a:srgbClr val="FFFFFF"/>
          </a:solidFill>
          <a:ln w="8255">
            <a:solidFill>
              <a:srgbClr val="D8DEE4"/>
            </a:solidFill>
            <a:prstDash val="solid"/>
          </a:ln>
        </p:spPr>
      </p:sp>
      <p:sp>
        <p:nvSpPr>
          <p:cNvPr id="25" name="Shape 22"/>
          <p:cNvSpPr/>
          <p:nvPr/>
        </p:nvSpPr>
        <p:spPr>
          <a:xfrm>
            <a:off x="713232" y="3145536"/>
            <a:ext cx="73152" cy="1920240"/>
          </a:xfrm>
          <a:prstGeom prst="rect">
            <a:avLst/>
          </a:prstGeom>
          <a:solidFill>
            <a:srgbClr val="003366"/>
          </a:solidFill>
          <a:ln w="7620">
            <a:solidFill>
              <a:srgbClr val="003366"/>
            </a:solidFill>
            <a:prstDash val="solid"/>
          </a:ln>
        </p:spPr>
      </p:sp>
      <p:sp>
        <p:nvSpPr>
          <p:cNvPr id="26" name="Text 23"/>
          <p:cNvSpPr/>
          <p:nvPr/>
        </p:nvSpPr>
        <p:spPr>
          <a:xfrm>
            <a:off x="914400" y="3282696"/>
            <a:ext cx="4937760"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CẤU HÌNH ĐƯỢC KHÓA</a:t>
            </a:r>
            <a:endParaRPr lang="en-US" sz="1600" dirty="0"/>
          </a:p>
        </p:txBody>
      </p:sp>
      <p:sp>
        <p:nvSpPr>
          <p:cNvPr id="27" name="Text 24"/>
          <p:cNvSpPr/>
          <p:nvPr/>
        </p:nvSpPr>
        <p:spPr>
          <a:xfrm>
            <a:off x="914400" y="3822192"/>
            <a:ext cx="4901184" cy="1161288"/>
          </a:xfrm>
          <a:prstGeom prst="rect">
            <a:avLst/>
          </a:prstGeom>
          <a:noFill/>
          <a:ln/>
        </p:spPr>
        <p:txBody>
          <a:bodyPr wrap="square" lIns="0" tIns="0" rIns="0" bIns="0" rtlCol="0" anchor="t">
            <a:normAutofit/>
          </a:bodyPr>
          <a:lstStyle/>
          <a:p>
            <a:pPr indent="0" marL="0">
              <a:buNone/>
            </a:pPr>
            <a:r>
              <a:rPr lang="en-US" sz="1500" dirty="0">
                <a:solidFill>
                  <a:srgbClr val="242A30"/>
                </a:solidFill>
                <a:latin typeface="Arial" pitchFamily="34" charset="0"/>
                <a:ea typeface="Arial" pitchFamily="34" charset="-122"/>
                <a:cs typeface="Arial" pitchFamily="34" charset="-120"/>
              </a:rPr>
              <a:t>B0: CRS gốc · B1: tuning không LLM · L1–L5: năm ứng viên sinh luật.</a:t>
            </a:r>
            <a:endParaRPr lang="en-US" sz="1500" dirty="0"/>
          </a:p>
        </p:txBody>
      </p:sp>
      <p:sp>
        <p:nvSpPr>
          <p:cNvPr id="28" name="Shape 25"/>
          <p:cNvSpPr/>
          <p:nvPr/>
        </p:nvSpPr>
        <p:spPr>
          <a:xfrm>
            <a:off x="6199632" y="3145536"/>
            <a:ext cx="5266944" cy="1920240"/>
          </a:xfrm>
          <a:prstGeom prst="roundRect">
            <a:avLst>
              <a:gd name="adj" fmla="val 952"/>
            </a:avLst>
          </a:prstGeom>
          <a:solidFill>
            <a:srgbClr val="FFFFFF"/>
          </a:solidFill>
          <a:ln w="8255">
            <a:solidFill>
              <a:srgbClr val="D8DEE4"/>
            </a:solidFill>
            <a:prstDash val="solid"/>
          </a:ln>
        </p:spPr>
      </p:sp>
      <p:sp>
        <p:nvSpPr>
          <p:cNvPr id="29" name="Shape 26"/>
          <p:cNvSpPr/>
          <p:nvPr/>
        </p:nvSpPr>
        <p:spPr>
          <a:xfrm>
            <a:off x="6199632" y="3145536"/>
            <a:ext cx="73152" cy="1920240"/>
          </a:xfrm>
          <a:prstGeom prst="rect">
            <a:avLst/>
          </a:prstGeom>
          <a:solidFill>
            <a:srgbClr val="C91F35"/>
          </a:solidFill>
          <a:ln w="7620">
            <a:solidFill>
              <a:srgbClr val="C91F35"/>
            </a:solidFill>
            <a:prstDash val="solid"/>
          </a:ln>
        </p:spPr>
      </p:sp>
      <p:sp>
        <p:nvSpPr>
          <p:cNvPr id="30" name="Text 27"/>
          <p:cNvSpPr/>
          <p:nvPr/>
        </p:nvSpPr>
        <p:spPr>
          <a:xfrm>
            <a:off x="6400800" y="3282696"/>
            <a:ext cx="4937760"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NGUYÊN TẮC CHỐNG RÒ RỈ</a:t>
            </a:r>
            <a:endParaRPr lang="en-US" sz="1600" dirty="0"/>
          </a:p>
        </p:txBody>
      </p:sp>
      <p:sp>
        <p:nvSpPr>
          <p:cNvPr id="31" name="Text 28"/>
          <p:cNvSpPr/>
          <p:nvPr/>
        </p:nvSpPr>
        <p:spPr>
          <a:xfrm>
            <a:off x="6400800" y="3822192"/>
            <a:ext cx="4901184" cy="1161288"/>
          </a:xfrm>
          <a:prstGeom prst="rect">
            <a:avLst/>
          </a:prstGeom>
          <a:noFill/>
          <a:ln/>
        </p:spPr>
        <p:txBody>
          <a:bodyPr wrap="square" lIns="0" tIns="0" rIns="0" bIns="0" rtlCol="0" anchor="t">
            <a:normAutofit/>
          </a:bodyPr>
          <a:lstStyle/>
          <a:p>
            <a:pPr indent="0" marL="0">
              <a:buNone/>
            </a:pPr>
            <a:r>
              <a:rPr lang="en-US" sz="1480" dirty="0">
                <a:solidFill>
                  <a:srgbClr val="242A30"/>
                </a:solidFill>
                <a:latin typeface="Arial" pitchFamily="34" charset="0"/>
                <a:ea typeface="Arial" pitchFamily="34" charset="-122"/>
                <a:cs typeface="Arial" pitchFamily="34" charset="-120"/>
              </a:rPr>
              <a:t>Không gọi LLM, không điều chỉnh regex và không chọn lại chính sách theo kết quả final test.</a:t>
            </a:r>
            <a:endParaRPr lang="en-US" sz="1480" dirty="0"/>
          </a:p>
        </p:txBody>
      </p:sp>
      <p:sp>
        <p:nvSpPr>
          <p:cNvPr id="32" name="Text 29"/>
          <p:cNvSpPr/>
          <p:nvPr/>
        </p:nvSpPr>
        <p:spPr>
          <a:xfrm>
            <a:off x="758952" y="5486400"/>
            <a:ext cx="10881360" cy="338328"/>
          </a:xfrm>
          <a:prstGeom prst="rect">
            <a:avLst/>
          </a:prstGeom>
          <a:noFill/>
          <a:ln/>
        </p:spPr>
        <p:txBody>
          <a:bodyPr wrap="square" lIns="0" tIns="0" rIns="0" bIns="0" rtlCol="0" anchor="ctr">
            <a:normAutofit/>
          </a:bodyPr>
          <a:lstStyle/>
          <a:p>
            <a:pPr indent="0" marL="0">
              <a:buNone/>
            </a:pPr>
            <a:r>
              <a:rPr lang="en-US" sz="1300" b="1" dirty="0">
                <a:solidFill>
                  <a:srgbClr val="003366"/>
                </a:solidFill>
                <a:latin typeface="Arial" pitchFamily="34" charset="0"/>
                <a:ea typeface="Arial" pitchFamily="34" charset="-122"/>
                <a:cs typeface="Arial" pitchFamily="34" charset="-120"/>
              </a:rPr>
              <a:t>Protocol: tách dev / validation / test, ghi nhận candidate hash và quyết định NO-GO.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5. Thiết lập thực nghiệm: backend và WAF thật</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05</a:t>
            </a:r>
            <a:endParaRPr lang="en-US" sz="680" dirty="0"/>
          </a:p>
        </p:txBody>
      </p:sp>
      <p:sp>
        <p:nvSpPr>
          <p:cNvPr id="5" name="Shape 2"/>
          <p:cNvSpPr/>
          <p:nvPr/>
        </p:nvSpPr>
        <p:spPr>
          <a:xfrm>
            <a:off x="704088" y="1261872"/>
            <a:ext cx="5312664" cy="3566160"/>
          </a:xfrm>
          <a:prstGeom prst="roundRect">
            <a:avLst>
              <a:gd name="adj" fmla="val 513"/>
            </a:avLst>
          </a:prstGeom>
          <a:solidFill>
            <a:srgbClr val="FFFFFF"/>
          </a:solidFill>
          <a:ln w="8255">
            <a:solidFill>
              <a:srgbClr val="D8DEE4"/>
            </a:solidFill>
            <a:prstDash val="solid"/>
          </a:ln>
        </p:spPr>
      </p:sp>
      <p:sp>
        <p:nvSpPr>
          <p:cNvPr id="6" name="Shape 3"/>
          <p:cNvSpPr/>
          <p:nvPr/>
        </p:nvSpPr>
        <p:spPr>
          <a:xfrm>
            <a:off x="704088" y="1261872"/>
            <a:ext cx="73152" cy="3566160"/>
          </a:xfrm>
          <a:prstGeom prst="rect">
            <a:avLst/>
          </a:prstGeom>
          <a:solidFill>
            <a:srgbClr val="003366"/>
          </a:solidFill>
          <a:ln w="7620">
            <a:solidFill>
              <a:srgbClr val="003366"/>
            </a:solidFill>
            <a:prstDash val="solid"/>
          </a:ln>
        </p:spPr>
      </p:sp>
      <p:sp>
        <p:nvSpPr>
          <p:cNvPr id="7" name="Text 4"/>
          <p:cNvSpPr/>
          <p:nvPr/>
        </p:nvSpPr>
        <p:spPr>
          <a:xfrm>
            <a:off x="905256" y="1399032"/>
            <a:ext cx="4983480"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KÊNH TRỰC TIẾP — ORACLE</a:t>
            </a:r>
            <a:endParaRPr lang="en-US" sz="1600" dirty="0"/>
          </a:p>
        </p:txBody>
      </p:sp>
      <p:sp>
        <p:nvSpPr>
          <p:cNvPr id="8" name="Text 5"/>
          <p:cNvSpPr/>
          <p:nvPr/>
        </p:nvSpPr>
        <p:spPr>
          <a:xfrm>
            <a:off x="905256" y="1938528"/>
            <a:ext cx="4946904" cy="2807208"/>
          </a:xfrm>
          <a:prstGeom prst="rect">
            <a:avLst/>
          </a:prstGeom>
          <a:noFill/>
          <a:ln/>
        </p:spPr>
        <p:txBody>
          <a:bodyPr wrap="square" lIns="0" tIns="0" rIns="0" bIns="0" rtlCol="0" anchor="t">
            <a:normAutofit/>
          </a:bodyPr>
          <a:lstStyle/>
          <a:p>
            <a:pPr indent="0" marL="0">
              <a:buNone/>
            </a:pPr>
            <a:r>
              <a:rPr lang="en-US" sz="1520" dirty="0">
                <a:solidFill>
                  <a:srgbClr val="242A30"/>
                </a:solidFill>
                <a:latin typeface="Arial" pitchFamily="34" charset="0"/>
                <a:ea typeface="Arial" pitchFamily="34" charset="-122"/>
                <a:cs typeface="Arial" pitchFamily="34" charset="-120"/>
              </a:rPr>
              <a:t>127.0.0.1:18080</a:t>
            </a:r>
            <a:endParaRPr lang="en-US" sz="1520" dirty="0"/>
          </a:p>
          <a:p>
            <a:pPr indent="0" marL="0">
              <a:buNone/>
            </a:pP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/sql: ảnh hưởng câu truy vấn</a:t>
            </a: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/xss: Playwright kiểm tra browser effect</a:t>
            </a: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/file: file canary trong lab</a:t>
            </a:r>
            <a:endParaRPr lang="en-US" sz="1520" dirty="0"/>
          </a:p>
          <a:p>
            <a:pPr indent="0" marL="0">
              <a:buNone/>
            </a:pP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Đánh giá request trước khi đi qua WAF.</a:t>
            </a:r>
            <a:endParaRPr lang="en-US" sz="1520" dirty="0"/>
          </a:p>
        </p:txBody>
      </p:sp>
      <p:sp>
        <p:nvSpPr>
          <p:cNvPr id="9" name="Shape 6"/>
          <p:cNvSpPr/>
          <p:nvPr/>
        </p:nvSpPr>
        <p:spPr>
          <a:xfrm>
            <a:off x="6227064" y="1261872"/>
            <a:ext cx="5266944" cy="3566160"/>
          </a:xfrm>
          <a:prstGeom prst="roundRect">
            <a:avLst>
              <a:gd name="adj" fmla="val 513"/>
            </a:avLst>
          </a:prstGeom>
          <a:solidFill>
            <a:srgbClr val="FFFFFF"/>
          </a:solidFill>
          <a:ln w="8255">
            <a:solidFill>
              <a:srgbClr val="D8DEE4"/>
            </a:solidFill>
            <a:prstDash val="solid"/>
          </a:ln>
        </p:spPr>
      </p:sp>
      <p:sp>
        <p:nvSpPr>
          <p:cNvPr id="10" name="Shape 7"/>
          <p:cNvSpPr/>
          <p:nvPr/>
        </p:nvSpPr>
        <p:spPr>
          <a:xfrm>
            <a:off x="6227064" y="1261872"/>
            <a:ext cx="73152" cy="3566160"/>
          </a:xfrm>
          <a:prstGeom prst="rect">
            <a:avLst/>
          </a:prstGeom>
          <a:solidFill>
            <a:srgbClr val="C91F35"/>
          </a:solidFill>
          <a:ln w="7620">
            <a:solidFill>
              <a:srgbClr val="C91F35"/>
            </a:solidFill>
            <a:prstDash val="solid"/>
          </a:ln>
        </p:spPr>
      </p:sp>
      <p:sp>
        <p:nvSpPr>
          <p:cNvPr id="11" name="Text 8"/>
          <p:cNvSpPr/>
          <p:nvPr/>
        </p:nvSpPr>
        <p:spPr>
          <a:xfrm>
            <a:off x="6428232" y="1399032"/>
            <a:ext cx="4937760"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KÊNH QUA WAF — QUYẾT ĐỊNH</a:t>
            </a:r>
            <a:endParaRPr lang="en-US" sz="1600" dirty="0"/>
          </a:p>
        </p:txBody>
      </p:sp>
      <p:sp>
        <p:nvSpPr>
          <p:cNvPr id="12" name="Text 9"/>
          <p:cNvSpPr/>
          <p:nvPr/>
        </p:nvSpPr>
        <p:spPr>
          <a:xfrm>
            <a:off x="6428232" y="1938528"/>
            <a:ext cx="4901184" cy="2807208"/>
          </a:xfrm>
          <a:prstGeom prst="rect">
            <a:avLst/>
          </a:prstGeom>
          <a:noFill/>
          <a:ln/>
        </p:spPr>
        <p:txBody>
          <a:bodyPr wrap="square" lIns="0" tIns="0" rIns="0" bIns="0" rtlCol="0" anchor="t">
            <a:normAutofit/>
          </a:bodyPr>
          <a:lstStyle/>
          <a:p>
            <a:pPr indent="0" marL="0">
              <a:buNone/>
            </a:pPr>
            <a:r>
              <a:rPr lang="en-US" sz="1520" dirty="0">
                <a:solidFill>
                  <a:srgbClr val="242A30"/>
                </a:solidFill>
                <a:latin typeface="Arial" pitchFamily="34" charset="0"/>
                <a:ea typeface="Arial" pitchFamily="34" charset="-122"/>
                <a:cs typeface="Arial" pitchFamily="34" charset="-120"/>
              </a:rPr>
              <a:t>127.0.0.1:18081</a:t>
            </a:r>
            <a:endParaRPr lang="en-US" sz="1520" dirty="0"/>
          </a:p>
          <a:p>
            <a:pPr indent="0" marL="0">
              <a:buNone/>
            </a:pP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ModSecurity 2.9.15</a:t>
            </a: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OWASP CRS 4.30.0</a:t>
            </a: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WAF audit log + request ID</a:t>
            </a:r>
            <a:endParaRPr lang="en-US" sz="1520" dirty="0"/>
          </a:p>
          <a:p>
            <a:pPr indent="0" marL="0">
              <a:buNone/>
            </a:pP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Policy được kích hoạt, kiểm tra cú pháp và rollback.</a:t>
            </a:r>
            <a:endParaRPr lang="en-US" sz="1520" dirty="0"/>
          </a:p>
        </p:txBody>
      </p:sp>
      <p:sp>
        <p:nvSpPr>
          <p:cNvPr id="13" name="Shape 10"/>
          <p:cNvSpPr/>
          <p:nvPr/>
        </p:nvSpPr>
        <p:spPr>
          <a:xfrm>
            <a:off x="758952" y="5294376"/>
            <a:ext cx="10725912" cy="475488"/>
          </a:xfrm>
          <a:prstGeom prst="roundRect">
            <a:avLst>
              <a:gd name="adj" fmla="val 5769"/>
            </a:avLst>
          </a:prstGeom>
          <a:solidFill>
            <a:srgbClr val="003366"/>
          </a:solidFill>
          <a:ln w="7620">
            <a:solidFill>
              <a:srgbClr val="003366"/>
            </a:solidFill>
            <a:prstDash val="solid"/>
          </a:ln>
        </p:spPr>
      </p:sp>
      <p:sp>
        <p:nvSpPr>
          <p:cNvPr id="14" name="Text 11"/>
          <p:cNvSpPr/>
          <p:nvPr/>
        </p:nvSpPr>
        <p:spPr>
          <a:xfrm>
            <a:off x="941832" y="5367528"/>
            <a:ext cx="10351008" cy="33832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Đây là lab HTTP thật trong Docker — KHÔNG phải dữ liệu vận hành production.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6. Validation: 7 cấu hình, cùng NO-GO</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06</a:t>
            </a:r>
            <a:endParaRPr lang="en-US" sz="680" dirty="0"/>
          </a:p>
        </p:txBody>
      </p:sp>
      <p:sp>
        <p:nvSpPr>
          <p:cNvPr id="5" name="Text 2"/>
          <p:cNvSpPr/>
          <p:nvPr/>
        </p:nvSpPr>
        <p:spPr>
          <a:xfrm>
            <a:off x="704088" y="1140257"/>
            <a:ext cx="10817352" cy="320040"/>
          </a:xfrm>
          <a:prstGeom prst="rect">
            <a:avLst/>
          </a:prstGeom>
          <a:noFill/>
          <a:ln/>
        </p:spPr>
        <p:txBody>
          <a:bodyPr wrap="square" lIns="0" tIns="0" rIns="0" bIns="0" rtlCol="0" anchor="ctr">
            <a:normAutofit/>
          </a:bodyPr>
          <a:lstStyle/>
          <a:p>
            <a:pPr indent="0" marL="0">
              <a:buNone/>
            </a:pPr>
            <a:r>
              <a:rPr lang="en-US" sz="1800" b="1" dirty="0">
                <a:solidFill>
                  <a:srgbClr val="003366"/>
                </a:solidFill>
                <a:latin typeface="Arial" pitchFamily="34" charset="0"/>
                <a:ea typeface="Arial" pitchFamily="34" charset="-122"/>
                <a:cs typeface="Arial" pitchFamily="34" charset="-120"/>
              </a:rPr>
              <a:t>Validation đã xác thực 14 attack hợp lệ / cấu hình</a:t>
            </a:r>
            <a:endParaRPr lang="en-US" sz="1800" dirty="0"/>
          </a:p>
        </p:txBody>
      </p:sp>
      <p:sp>
        <p:nvSpPr>
          <p:cNvPr id="6" name="Text 3"/>
          <p:cNvSpPr/>
          <p:nvPr/>
        </p:nvSpPr>
        <p:spPr>
          <a:xfrm>
            <a:off x="731520" y="1568196"/>
            <a:ext cx="10698480" cy="237744"/>
          </a:xfrm>
          <a:prstGeom prst="rect">
            <a:avLst/>
          </a:prstGeom>
          <a:noFill/>
          <a:ln/>
        </p:spPr>
        <p:txBody>
          <a:bodyPr wrap="square" lIns="0" tIns="0" rIns="0" bIns="0" rtlCol="0" anchor="ctr">
            <a:normAutofit/>
          </a:bodyPr>
          <a:lstStyle/>
          <a:p>
            <a:pPr indent="0" marL="0">
              <a:buNone/>
            </a:pPr>
            <a:r>
              <a:rPr lang="en-US" sz="1290" dirty="0">
                <a:solidFill>
                  <a:srgbClr val="5C6570"/>
                </a:solidFill>
                <a:latin typeface="Arial" pitchFamily="34" charset="0"/>
                <a:ea typeface="Arial" pitchFamily="34" charset="-122"/>
                <a:cs typeface="Arial" pitchFamily="34" charset="-120"/>
              </a:rPr>
              <a:t>Mẫu có hiệu lực được xác nhận bằng oracle; các mẫu invalid không cộng vào coverage.</a:t>
            </a:r>
            <a:endParaRPr lang="en-US" sz="1290" dirty="0"/>
          </a:p>
        </p:txBody>
      </p:sp>
      <p:sp>
        <p:nvSpPr>
          <p:cNvPr id="7" name="Shape 4"/>
          <p:cNvSpPr/>
          <p:nvPr/>
        </p:nvSpPr>
        <p:spPr>
          <a:xfrm>
            <a:off x="777240" y="1874520"/>
            <a:ext cx="3264408" cy="1097280"/>
          </a:xfrm>
          <a:prstGeom prst="roundRect">
            <a:avLst>
              <a:gd name="adj" fmla="val 2500"/>
            </a:avLst>
          </a:prstGeom>
          <a:solidFill>
            <a:srgbClr val="F7F7F7"/>
          </a:solidFill>
          <a:ln w="7620">
            <a:solidFill>
              <a:srgbClr val="F7F7F7"/>
            </a:solidFill>
            <a:prstDash val="solid"/>
          </a:ln>
        </p:spPr>
      </p:sp>
      <p:sp>
        <p:nvSpPr>
          <p:cNvPr id="8" name="Text 5"/>
          <p:cNvSpPr/>
          <p:nvPr/>
        </p:nvSpPr>
        <p:spPr>
          <a:xfrm>
            <a:off x="896112" y="2020824"/>
            <a:ext cx="3026664"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14/14</a:t>
            </a:r>
            <a:endParaRPr lang="en-US" sz="2600" dirty="0"/>
          </a:p>
        </p:txBody>
      </p:sp>
      <p:sp>
        <p:nvSpPr>
          <p:cNvPr id="9" name="Text 6"/>
          <p:cNvSpPr/>
          <p:nvPr/>
        </p:nvSpPr>
        <p:spPr>
          <a:xfrm>
            <a:off x="868680" y="2596896"/>
            <a:ext cx="3081528"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Attack hợp lệ đã chặn</a:t>
            </a:r>
            <a:endParaRPr lang="en-US" sz="1200" dirty="0"/>
          </a:p>
        </p:txBody>
      </p:sp>
      <p:sp>
        <p:nvSpPr>
          <p:cNvPr id="10" name="Shape 7"/>
          <p:cNvSpPr/>
          <p:nvPr/>
        </p:nvSpPr>
        <p:spPr>
          <a:xfrm>
            <a:off x="4462272" y="1874520"/>
            <a:ext cx="3264408" cy="1097280"/>
          </a:xfrm>
          <a:prstGeom prst="roundRect">
            <a:avLst>
              <a:gd name="adj" fmla="val 2500"/>
            </a:avLst>
          </a:prstGeom>
          <a:solidFill>
            <a:srgbClr val="F7F7F7"/>
          </a:solidFill>
          <a:ln w="7620">
            <a:solidFill>
              <a:srgbClr val="F7F7F7"/>
            </a:solidFill>
            <a:prstDash val="solid"/>
          </a:ln>
        </p:spPr>
      </p:sp>
      <p:sp>
        <p:nvSpPr>
          <p:cNvPr id="11" name="Text 8"/>
          <p:cNvSpPr/>
          <p:nvPr/>
        </p:nvSpPr>
        <p:spPr>
          <a:xfrm>
            <a:off x="4581144" y="2020824"/>
            <a:ext cx="3026664" cy="484632"/>
          </a:xfrm>
          <a:prstGeom prst="rect">
            <a:avLst/>
          </a:prstGeom>
          <a:noFill/>
          <a:ln/>
        </p:spPr>
        <p:txBody>
          <a:bodyPr wrap="square" lIns="0" tIns="0" rIns="0" bIns="0" rtlCol="0" anchor="ctr">
            <a:normAutofit/>
          </a:bodyPr>
          <a:lstStyle/>
          <a:p>
            <a:pPr algn="ctr" indent="0" marL="0">
              <a:buNone/>
            </a:pPr>
            <a:r>
              <a:rPr lang="en-US" sz="2600" b="1" dirty="0">
                <a:solidFill>
                  <a:srgbClr val="C91F35"/>
                </a:solidFill>
                <a:latin typeface="Arial" pitchFamily="34" charset="0"/>
                <a:ea typeface="Arial" pitchFamily="34" charset="-122"/>
                <a:cs typeface="Arial" pitchFamily="34" charset="-120"/>
              </a:rPr>
              <a:t>31,25%</a:t>
            </a:r>
            <a:endParaRPr lang="en-US" sz="2600" dirty="0"/>
          </a:p>
        </p:txBody>
      </p:sp>
      <p:sp>
        <p:nvSpPr>
          <p:cNvPr id="12" name="Text 9"/>
          <p:cNvSpPr/>
          <p:nvPr/>
        </p:nvSpPr>
        <p:spPr>
          <a:xfrm>
            <a:off x="4553712" y="2596896"/>
            <a:ext cx="3081528"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FPR — CRS B0</a:t>
            </a:r>
            <a:endParaRPr lang="en-US" sz="1200" dirty="0"/>
          </a:p>
        </p:txBody>
      </p:sp>
      <p:sp>
        <p:nvSpPr>
          <p:cNvPr id="13" name="Shape 10"/>
          <p:cNvSpPr/>
          <p:nvPr/>
        </p:nvSpPr>
        <p:spPr>
          <a:xfrm>
            <a:off x="8156448" y="1874520"/>
            <a:ext cx="3246120" cy="1097280"/>
          </a:xfrm>
          <a:prstGeom prst="roundRect">
            <a:avLst>
              <a:gd name="adj" fmla="val 2500"/>
            </a:avLst>
          </a:prstGeom>
          <a:solidFill>
            <a:srgbClr val="F7F7F7"/>
          </a:solidFill>
          <a:ln w="7620">
            <a:solidFill>
              <a:srgbClr val="F7F7F7"/>
            </a:solidFill>
            <a:prstDash val="solid"/>
          </a:ln>
        </p:spPr>
      </p:sp>
      <p:sp>
        <p:nvSpPr>
          <p:cNvPr id="14" name="Text 11"/>
          <p:cNvSpPr/>
          <p:nvPr/>
        </p:nvSpPr>
        <p:spPr>
          <a:xfrm>
            <a:off x="8275320" y="2020824"/>
            <a:ext cx="3008376"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6,25%</a:t>
            </a:r>
            <a:endParaRPr lang="en-US" sz="2600" dirty="0"/>
          </a:p>
        </p:txBody>
      </p:sp>
      <p:sp>
        <p:nvSpPr>
          <p:cNvPr id="15" name="Text 12"/>
          <p:cNvSpPr/>
          <p:nvPr/>
        </p:nvSpPr>
        <p:spPr>
          <a:xfrm>
            <a:off x="8247888" y="2596896"/>
            <a:ext cx="3063240"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FPR — B1 và L1–L5</a:t>
            </a:r>
            <a:endParaRPr lang="en-US" sz="1200" dirty="0"/>
          </a:p>
        </p:txBody>
      </p:sp>
      <p:sp>
        <p:nvSpPr>
          <p:cNvPr id="16" name="Shape 13"/>
          <p:cNvSpPr/>
          <p:nvPr/>
        </p:nvSpPr>
        <p:spPr>
          <a:xfrm>
            <a:off x="804672" y="3465576"/>
            <a:ext cx="5175504" cy="1609344"/>
          </a:xfrm>
          <a:prstGeom prst="roundRect">
            <a:avLst>
              <a:gd name="adj" fmla="val 1136"/>
            </a:avLst>
          </a:prstGeom>
          <a:solidFill>
            <a:srgbClr val="FFFFFF"/>
          </a:solidFill>
          <a:ln w="8255">
            <a:solidFill>
              <a:srgbClr val="D8DEE4"/>
            </a:solidFill>
            <a:prstDash val="solid"/>
          </a:ln>
        </p:spPr>
      </p:sp>
      <p:sp>
        <p:nvSpPr>
          <p:cNvPr id="17" name="Shape 14"/>
          <p:cNvSpPr/>
          <p:nvPr/>
        </p:nvSpPr>
        <p:spPr>
          <a:xfrm>
            <a:off x="804672" y="3465576"/>
            <a:ext cx="73152" cy="1609344"/>
          </a:xfrm>
          <a:prstGeom prst="rect">
            <a:avLst/>
          </a:prstGeom>
          <a:solidFill>
            <a:srgbClr val="003366"/>
          </a:solidFill>
          <a:ln w="7620">
            <a:solidFill>
              <a:srgbClr val="003366"/>
            </a:solidFill>
            <a:prstDash val="solid"/>
          </a:ln>
        </p:spPr>
      </p:sp>
      <p:sp>
        <p:nvSpPr>
          <p:cNvPr id="18" name="Text 15"/>
          <p:cNvSpPr/>
          <p:nvPr/>
        </p:nvSpPr>
        <p:spPr>
          <a:xfrm>
            <a:off x="1005840" y="3602736"/>
            <a:ext cx="4846320"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Lợi ích tuning</a:t>
            </a:r>
            <a:endParaRPr lang="en-US" sz="1600" dirty="0"/>
          </a:p>
        </p:txBody>
      </p:sp>
      <p:sp>
        <p:nvSpPr>
          <p:cNvPr id="19" name="Text 16"/>
          <p:cNvSpPr/>
          <p:nvPr/>
        </p:nvSpPr>
        <p:spPr>
          <a:xfrm>
            <a:off x="1005840" y="4142232"/>
            <a:ext cx="4809744" cy="850392"/>
          </a:xfrm>
          <a:prstGeom prst="rect">
            <a:avLst/>
          </a:prstGeom>
          <a:noFill/>
          <a:ln/>
        </p:spPr>
        <p:txBody>
          <a:bodyPr wrap="square" lIns="0" tIns="0" rIns="0" bIns="0" rtlCol="0" anchor="t">
            <a:normAutofit/>
          </a:bodyPr>
          <a:lstStyle/>
          <a:p>
            <a:pPr indent="0" marL="0">
              <a:buNone/>
            </a:pPr>
            <a:r>
              <a:rPr lang="en-US" sz="1450" dirty="0">
                <a:solidFill>
                  <a:srgbClr val="242A30"/>
                </a:solidFill>
                <a:latin typeface="Arial" pitchFamily="34" charset="0"/>
                <a:ea typeface="Arial" pitchFamily="34" charset="-122"/>
                <a:cs typeface="Arial" pitchFamily="34" charset="-120"/>
              </a:rPr>
              <a:t>FPR giảm từ 5/16 xuống 1/16 trên tập benign validation.</a:t>
            </a:r>
            <a:endParaRPr lang="en-US" sz="1450" dirty="0"/>
          </a:p>
        </p:txBody>
      </p:sp>
      <p:sp>
        <p:nvSpPr>
          <p:cNvPr id="20" name="Shape 17"/>
          <p:cNvSpPr/>
          <p:nvPr/>
        </p:nvSpPr>
        <p:spPr>
          <a:xfrm>
            <a:off x="6254496" y="3465576"/>
            <a:ext cx="5175504" cy="1609344"/>
          </a:xfrm>
          <a:prstGeom prst="roundRect">
            <a:avLst>
              <a:gd name="adj" fmla="val 1136"/>
            </a:avLst>
          </a:prstGeom>
          <a:solidFill>
            <a:srgbClr val="FFFFFF"/>
          </a:solidFill>
          <a:ln w="8255">
            <a:solidFill>
              <a:srgbClr val="D8DEE4"/>
            </a:solidFill>
            <a:prstDash val="solid"/>
          </a:ln>
        </p:spPr>
      </p:sp>
      <p:sp>
        <p:nvSpPr>
          <p:cNvPr id="21" name="Shape 18"/>
          <p:cNvSpPr/>
          <p:nvPr/>
        </p:nvSpPr>
        <p:spPr>
          <a:xfrm>
            <a:off x="6254496" y="3465576"/>
            <a:ext cx="73152" cy="1609344"/>
          </a:xfrm>
          <a:prstGeom prst="rect">
            <a:avLst/>
          </a:prstGeom>
          <a:solidFill>
            <a:srgbClr val="C91F35"/>
          </a:solidFill>
          <a:ln w="7620">
            <a:solidFill>
              <a:srgbClr val="C91F35"/>
            </a:solidFill>
            <a:prstDash val="solid"/>
          </a:ln>
        </p:spPr>
      </p:sp>
      <p:sp>
        <p:nvSpPr>
          <p:cNvPr id="22" name="Text 19"/>
          <p:cNvSpPr/>
          <p:nvPr/>
        </p:nvSpPr>
        <p:spPr>
          <a:xfrm>
            <a:off x="6455664" y="3602736"/>
            <a:ext cx="4846320"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Điểm chặn nghiệm thu</a:t>
            </a:r>
            <a:endParaRPr lang="en-US" sz="1600" dirty="0"/>
          </a:p>
        </p:txBody>
      </p:sp>
      <p:sp>
        <p:nvSpPr>
          <p:cNvPr id="23" name="Text 20"/>
          <p:cNvSpPr/>
          <p:nvPr/>
        </p:nvSpPr>
        <p:spPr>
          <a:xfrm>
            <a:off x="6455664" y="4142232"/>
            <a:ext cx="4809744" cy="850392"/>
          </a:xfrm>
          <a:prstGeom prst="rect">
            <a:avLst/>
          </a:prstGeom>
          <a:noFill/>
          <a:ln/>
        </p:spPr>
        <p:txBody>
          <a:bodyPr wrap="square" lIns="0" tIns="0" rIns="0" bIns="0" rtlCol="0" anchor="t">
            <a:normAutofit/>
          </a:bodyPr>
          <a:lstStyle/>
          <a:p>
            <a:pPr indent="0" marL="0">
              <a:buNone/>
            </a:pPr>
            <a:r>
              <a:rPr lang="en-US" sz="1450" dirty="0">
                <a:solidFill>
                  <a:srgbClr val="242A30"/>
                </a:solidFill>
                <a:latin typeface="Arial" pitchFamily="34" charset="0"/>
                <a:ea typeface="Arial" pitchFamily="34" charset="-122"/>
                <a:cs typeface="Arial" pitchFamily="34" charset="-120"/>
              </a:rPr>
              <a:t>Còn 1 hồi quy phản hồi benign và FPR &gt; 5%.</a:t>
            </a:r>
            <a:endParaRPr lang="en-US" sz="1450" dirty="0"/>
          </a:p>
        </p:txBody>
      </p:sp>
      <p:sp>
        <p:nvSpPr>
          <p:cNvPr id="24" name="Shape 21"/>
          <p:cNvSpPr/>
          <p:nvPr/>
        </p:nvSpPr>
        <p:spPr>
          <a:xfrm>
            <a:off x="758952" y="5422392"/>
            <a:ext cx="10725912" cy="475488"/>
          </a:xfrm>
          <a:prstGeom prst="roundRect">
            <a:avLst>
              <a:gd name="adj" fmla="val 5769"/>
            </a:avLst>
          </a:prstGeom>
          <a:solidFill>
            <a:srgbClr val="C91F35"/>
          </a:solidFill>
          <a:ln w="7620">
            <a:solidFill>
              <a:srgbClr val="C91F35"/>
            </a:solidFill>
            <a:prstDash val="solid"/>
          </a:ln>
        </p:spPr>
      </p:sp>
      <p:sp>
        <p:nvSpPr>
          <p:cNvPr id="25" name="Text 22"/>
          <p:cNvSpPr/>
          <p:nvPr/>
        </p:nvSpPr>
        <p:spPr>
          <a:xfrm>
            <a:off x="941832" y="5495544"/>
            <a:ext cx="10351008" cy="33832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Kết luận validation: tất cả B0, B1, L1–L5 đều NO-GO.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7. Các họ tấn công và tiêu chí hợp lệ</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07</a:t>
            </a:r>
            <a:endParaRPr lang="en-US" sz="680" dirty="0"/>
          </a:p>
        </p:txBody>
      </p:sp>
      <p:sp>
        <p:nvSpPr>
          <p:cNvPr id="5" name="Shape 2"/>
          <p:cNvSpPr/>
          <p:nvPr/>
        </p:nvSpPr>
        <p:spPr>
          <a:xfrm>
            <a:off x="731520" y="1271016"/>
            <a:ext cx="3456432" cy="3337560"/>
          </a:xfrm>
          <a:prstGeom prst="roundRect">
            <a:avLst>
              <a:gd name="adj" fmla="val 548"/>
            </a:avLst>
          </a:prstGeom>
          <a:solidFill>
            <a:srgbClr val="FFFFFF"/>
          </a:solidFill>
          <a:ln w="8255">
            <a:solidFill>
              <a:srgbClr val="D8DEE4"/>
            </a:solidFill>
            <a:prstDash val="solid"/>
          </a:ln>
        </p:spPr>
      </p:sp>
      <p:sp>
        <p:nvSpPr>
          <p:cNvPr id="6" name="Shape 3"/>
          <p:cNvSpPr/>
          <p:nvPr/>
        </p:nvSpPr>
        <p:spPr>
          <a:xfrm>
            <a:off x="731520" y="1271016"/>
            <a:ext cx="73152" cy="3337560"/>
          </a:xfrm>
          <a:prstGeom prst="rect">
            <a:avLst/>
          </a:prstGeom>
          <a:solidFill>
            <a:srgbClr val="003366"/>
          </a:solidFill>
          <a:ln w="7620">
            <a:solidFill>
              <a:srgbClr val="003366"/>
            </a:solidFill>
            <a:prstDash val="solid"/>
          </a:ln>
        </p:spPr>
      </p:sp>
      <p:sp>
        <p:nvSpPr>
          <p:cNvPr id="7" name="Text 4"/>
          <p:cNvSpPr/>
          <p:nvPr/>
        </p:nvSpPr>
        <p:spPr>
          <a:xfrm>
            <a:off x="932688" y="1408176"/>
            <a:ext cx="3127248"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CWE-89 · SQLi</a:t>
            </a:r>
            <a:endParaRPr lang="en-US" sz="1600" dirty="0"/>
          </a:p>
        </p:txBody>
      </p:sp>
      <p:sp>
        <p:nvSpPr>
          <p:cNvPr id="8" name="Text 5"/>
          <p:cNvSpPr/>
          <p:nvPr/>
        </p:nvSpPr>
        <p:spPr>
          <a:xfrm>
            <a:off x="932688" y="1947672"/>
            <a:ext cx="3090672" cy="2578608"/>
          </a:xfrm>
          <a:prstGeom prst="rect">
            <a:avLst/>
          </a:prstGeom>
          <a:noFill/>
          <a:ln/>
        </p:spPr>
        <p:txBody>
          <a:bodyPr wrap="square" lIns="0" tIns="0" rIns="0" bIns="0" rtlCol="0" anchor="t">
            <a:normAutofit/>
          </a:bodyPr>
          <a:lstStyle/>
          <a:p>
            <a:pPr indent="0" marL="0">
              <a:buNone/>
            </a:pPr>
            <a:r>
              <a:rPr lang="en-US" sz="1500" dirty="0">
                <a:solidFill>
                  <a:srgbClr val="242A30"/>
                </a:solidFill>
                <a:latin typeface="Arial" pitchFamily="34" charset="0"/>
                <a:ea typeface="Arial" pitchFamily="34" charset="-122"/>
                <a:cs typeface="Arial" pitchFamily="34" charset="-120"/>
              </a:rPr>
              <a:t>Oracle: truy vấn có tác động, quan sát marker SQL được bảo vệ.</a:t>
            </a:r>
            <a:endParaRPr lang="en-US" sz="1500" dirty="0"/>
          </a:p>
          <a:p>
            <a:pPr indent="0" marL="0">
              <a:buNone/>
            </a:pPr>
            <a:endParaRPr lang="en-US" sz="1500" dirty="0"/>
          </a:p>
          <a:p>
            <a:pPr indent="0" marL="0">
              <a:buNone/>
            </a:pPr>
            <a:r>
              <a:rPr lang="en-US" sz="1500" dirty="0">
                <a:solidFill>
                  <a:srgbClr val="242A30"/>
                </a:solidFill>
                <a:latin typeface="Arial" pitchFamily="34" charset="0"/>
                <a:ea typeface="Arial" pitchFamily="34" charset="-122"/>
                <a:cs typeface="Arial" pitchFamily="34" charset="-120"/>
              </a:rPr>
              <a:t>Biến thể: raw · comment · tab · percent.</a:t>
            </a:r>
            <a:endParaRPr lang="en-US" sz="1500" dirty="0"/>
          </a:p>
        </p:txBody>
      </p:sp>
      <p:sp>
        <p:nvSpPr>
          <p:cNvPr id="9" name="Shape 6"/>
          <p:cNvSpPr/>
          <p:nvPr/>
        </p:nvSpPr>
        <p:spPr>
          <a:xfrm>
            <a:off x="4379976" y="1271016"/>
            <a:ext cx="3456432" cy="3337560"/>
          </a:xfrm>
          <a:prstGeom prst="roundRect">
            <a:avLst>
              <a:gd name="adj" fmla="val 548"/>
            </a:avLst>
          </a:prstGeom>
          <a:solidFill>
            <a:srgbClr val="FFFFFF"/>
          </a:solidFill>
          <a:ln w="8255">
            <a:solidFill>
              <a:srgbClr val="D8DEE4"/>
            </a:solidFill>
            <a:prstDash val="solid"/>
          </a:ln>
        </p:spPr>
      </p:sp>
      <p:sp>
        <p:nvSpPr>
          <p:cNvPr id="10" name="Shape 7"/>
          <p:cNvSpPr/>
          <p:nvPr/>
        </p:nvSpPr>
        <p:spPr>
          <a:xfrm>
            <a:off x="4379976" y="1271016"/>
            <a:ext cx="73152" cy="3337560"/>
          </a:xfrm>
          <a:prstGeom prst="rect">
            <a:avLst/>
          </a:prstGeom>
          <a:solidFill>
            <a:srgbClr val="C91F35"/>
          </a:solidFill>
          <a:ln w="7620">
            <a:solidFill>
              <a:srgbClr val="C91F35"/>
            </a:solidFill>
            <a:prstDash val="solid"/>
          </a:ln>
        </p:spPr>
      </p:sp>
      <p:sp>
        <p:nvSpPr>
          <p:cNvPr id="11" name="Text 8"/>
          <p:cNvSpPr/>
          <p:nvPr/>
        </p:nvSpPr>
        <p:spPr>
          <a:xfrm>
            <a:off x="4581144" y="1408176"/>
            <a:ext cx="3127248"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CWE-79 · XSS</a:t>
            </a:r>
            <a:endParaRPr lang="en-US" sz="1600" dirty="0"/>
          </a:p>
        </p:txBody>
      </p:sp>
      <p:sp>
        <p:nvSpPr>
          <p:cNvPr id="12" name="Text 9"/>
          <p:cNvSpPr/>
          <p:nvPr/>
        </p:nvSpPr>
        <p:spPr>
          <a:xfrm>
            <a:off x="4581144" y="1947672"/>
            <a:ext cx="3090672" cy="2578608"/>
          </a:xfrm>
          <a:prstGeom prst="rect">
            <a:avLst/>
          </a:prstGeom>
          <a:noFill/>
          <a:ln/>
        </p:spPr>
        <p:txBody>
          <a:bodyPr wrap="square" lIns="0" tIns="0" rIns="0" bIns="0" rtlCol="0" anchor="t">
            <a:normAutofit/>
          </a:bodyPr>
          <a:lstStyle/>
          <a:p>
            <a:pPr indent="0" marL="0">
              <a:buNone/>
            </a:pPr>
            <a:r>
              <a:rPr lang="en-US" sz="1500" dirty="0">
                <a:solidFill>
                  <a:srgbClr val="242A30"/>
                </a:solidFill>
                <a:latin typeface="Arial" pitchFamily="34" charset="0"/>
                <a:ea typeface="Arial" pitchFamily="34" charset="-122"/>
                <a:cs typeface="Arial" pitchFamily="34" charset="-120"/>
              </a:rPr>
              <a:t>Oracle: trình duyệt xác nhận sự kiện/script thực thi.</a:t>
            </a:r>
            <a:endParaRPr lang="en-US" sz="1500" dirty="0"/>
          </a:p>
          <a:p>
            <a:pPr indent="0" marL="0">
              <a:buNone/>
            </a:pPr>
            <a:endParaRPr lang="en-US" sz="1500" dirty="0"/>
          </a:p>
          <a:p>
            <a:pPr indent="0" marL="0">
              <a:buNone/>
            </a:pPr>
            <a:r>
              <a:rPr lang="en-US" sz="1500" dirty="0">
                <a:solidFill>
                  <a:srgbClr val="242A30"/>
                </a:solidFill>
                <a:latin typeface="Arial" pitchFamily="34" charset="0"/>
                <a:ea typeface="Arial" pitchFamily="34" charset="-122"/>
                <a:cs typeface="Arial" pitchFamily="34" charset="-120"/>
              </a:rPr>
              <a:t>Biến thể: case · entity · percent.</a:t>
            </a:r>
            <a:endParaRPr lang="en-US" sz="1500" dirty="0"/>
          </a:p>
        </p:txBody>
      </p:sp>
      <p:sp>
        <p:nvSpPr>
          <p:cNvPr id="13" name="Shape 10"/>
          <p:cNvSpPr/>
          <p:nvPr/>
        </p:nvSpPr>
        <p:spPr>
          <a:xfrm>
            <a:off x="8019288" y="1271016"/>
            <a:ext cx="3456432" cy="3337560"/>
          </a:xfrm>
          <a:prstGeom prst="roundRect">
            <a:avLst>
              <a:gd name="adj" fmla="val 548"/>
            </a:avLst>
          </a:prstGeom>
          <a:solidFill>
            <a:srgbClr val="FFFFFF"/>
          </a:solidFill>
          <a:ln w="8255">
            <a:solidFill>
              <a:srgbClr val="D8DEE4"/>
            </a:solidFill>
            <a:prstDash val="solid"/>
          </a:ln>
        </p:spPr>
      </p:sp>
      <p:sp>
        <p:nvSpPr>
          <p:cNvPr id="14" name="Shape 11"/>
          <p:cNvSpPr/>
          <p:nvPr/>
        </p:nvSpPr>
        <p:spPr>
          <a:xfrm>
            <a:off x="8019288" y="1271016"/>
            <a:ext cx="73152" cy="3337560"/>
          </a:xfrm>
          <a:prstGeom prst="rect">
            <a:avLst/>
          </a:prstGeom>
          <a:solidFill>
            <a:srgbClr val="003366"/>
          </a:solidFill>
          <a:ln w="7620">
            <a:solidFill>
              <a:srgbClr val="003366"/>
            </a:solidFill>
            <a:prstDash val="solid"/>
          </a:ln>
        </p:spPr>
      </p:sp>
      <p:sp>
        <p:nvSpPr>
          <p:cNvPr id="15" name="Text 12"/>
          <p:cNvSpPr/>
          <p:nvPr/>
        </p:nvSpPr>
        <p:spPr>
          <a:xfrm>
            <a:off x="8220456" y="1408176"/>
            <a:ext cx="3127248"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CWE-22 · Traversal</a:t>
            </a:r>
            <a:endParaRPr lang="en-US" sz="1600" dirty="0"/>
          </a:p>
        </p:txBody>
      </p:sp>
      <p:sp>
        <p:nvSpPr>
          <p:cNvPr id="16" name="Text 13"/>
          <p:cNvSpPr/>
          <p:nvPr/>
        </p:nvSpPr>
        <p:spPr>
          <a:xfrm>
            <a:off x="8220456" y="1947672"/>
            <a:ext cx="3090672" cy="2578608"/>
          </a:xfrm>
          <a:prstGeom prst="rect">
            <a:avLst/>
          </a:prstGeom>
          <a:noFill/>
          <a:ln/>
        </p:spPr>
        <p:txBody>
          <a:bodyPr wrap="square" lIns="0" tIns="0" rIns="0" bIns="0" rtlCol="0" anchor="t">
            <a:normAutofit/>
          </a:bodyPr>
          <a:lstStyle/>
          <a:p>
            <a:pPr indent="0" marL="0">
              <a:buNone/>
            </a:pPr>
            <a:r>
              <a:rPr lang="en-US" sz="1500" dirty="0">
                <a:solidFill>
                  <a:srgbClr val="242A30"/>
                </a:solidFill>
                <a:latin typeface="Arial" pitchFamily="34" charset="0"/>
                <a:ea typeface="Arial" pitchFamily="34" charset="-122"/>
                <a:cs typeface="Arial" pitchFamily="34" charset="-120"/>
              </a:rPr>
              <a:t>Oracle: đọc được canary ngoài thư mục public trong fixture được phép.</a:t>
            </a:r>
            <a:endParaRPr lang="en-US" sz="1500" dirty="0"/>
          </a:p>
          <a:p>
            <a:pPr indent="0" marL="0">
              <a:buNone/>
            </a:pPr>
            <a:endParaRPr lang="en-US" sz="1500" dirty="0"/>
          </a:p>
          <a:p>
            <a:pPr indent="0" marL="0">
              <a:buNone/>
            </a:pPr>
            <a:r>
              <a:rPr lang="en-US" sz="1500" dirty="0">
                <a:solidFill>
                  <a:srgbClr val="242A30"/>
                </a:solidFill>
                <a:latin typeface="Arial" pitchFamily="34" charset="0"/>
                <a:ea typeface="Arial" pitchFamily="34" charset="-122"/>
                <a:cs typeface="Arial" pitchFamily="34" charset="-120"/>
              </a:rPr>
              <a:t>Biến thể: slash · dot · encode.</a:t>
            </a:r>
            <a:endParaRPr lang="en-US" sz="1500" dirty="0"/>
          </a:p>
        </p:txBody>
      </p:sp>
      <p:sp>
        <p:nvSpPr>
          <p:cNvPr id="17" name="Shape 14"/>
          <p:cNvSpPr/>
          <p:nvPr/>
        </p:nvSpPr>
        <p:spPr>
          <a:xfrm>
            <a:off x="822960" y="5001768"/>
            <a:ext cx="10552176" cy="576072"/>
          </a:xfrm>
          <a:prstGeom prst="roundRect">
            <a:avLst>
              <a:gd name="adj" fmla="val 6349"/>
            </a:avLst>
          </a:prstGeom>
          <a:solidFill>
            <a:srgbClr val="F7F7F7"/>
          </a:solidFill>
          <a:ln w="7620">
            <a:solidFill>
              <a:srgbClr val="D8DEE4"/>
            </a:solidFill>
            <a:prstDash val="solid"/>
          </a:ln>
        </p:spPr>
      </p:sp>
      <p:sp>
        <p:nvSpPr>
          <p:cNvPr id="18" name="Text 15"/>
          <p:cNvSpPr/>
          <p:nvPr/>
        </p:nvSpPr>
        <p:spPr>
          <a:xfrm>
            <a:off x="1024128" y="5157216"/>
            <a:ext cx="10122408" cy="301752"/>
          </a:xfrm>
          <a:prstGeom prst="rect">
            <a:avLst/>
          </a:prstGeom>
          <a:noFill/>
          <a:ln/>
        </p:spPr>
        <p:txBody>
          <a:bodyPr wrap="square" lIns="0" tIns="0" rIns="0" bIns="0" rtlCol="0" anchor="ctr">
            <a:normAutofit/>
          </a:bodyPr>
          <a:lstStyle/>
          <a:p>
            <a:pPr algn="ctr" indent="0" marL="0">
              <a:buNone/>
            </a:pPr>
            <a:r>
              <a:rPr lang="en-US" sz="1510" b="1" dirty="0">
                <a:solidFill>
                  <a:srgbClr val="003366"/>
                </a:solidFill>
                <a:latin typeface="Arial" pitchFamily="34" charset="0"/>
                <a:ea typeface="Arial" pitchFamily="34" charset="-122"/>
                <a:cs typeface="Arial" pitchFamily="34" charset="-120"/>
              </a:rPr>
              <a:t>Final test ghi nhận 32 invalid attack / policy — không bị tính nhầm thành WAF block.</a:t>
            </a:r>
            <a:endParaRPr lang="en-US" sz="15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8. Final test: đã hoàn thành đủ bảy phương án</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08</a:t>
            </a:r>
            <a:endParaRPr lang="en-US" sz="680" dirty="0"/>
          </a:p>
        </p:txBody>
      </p:sp>
      <p:sp>
        <p:nvSpPr>
          <p:cNvPr id="5" name="Shape 2"/>
          <p:cNvSpPr/>
          <p:nvPr/>
        </p:nvSpPr>
        <p:spPr>
          <a:xfrm>
            <a:off x="786384" y="1399032"/>
            <a:ext cx="3246120" cy="1097280"/>
          </a:xfrm>
          <a:prstGeom prst="roundRect">
            <a:avLst>
              <a:gd name="adj" fmla="val 2500"/>
            </a:avLst>
          </a:prstGeom>
          <a:solidFill>
            <a:srgbClr val="F7F7F7"/>
          </a:solidFill>
          <a:ln w="7620">
            <a:solidFill>
              <a:srgbClr val="F7F7F7"/>
            </a:solidFill>
            <a:prstDash val="solid"/>
          </a:ln>
        </p:spPr>
      </p:sp>
      <p:sp>
        <p:nvSpPr>
          <p:cNvPr id="6" name="Text 3"/>
          <p:cNvSpPr/>
          <p:nvPr/>
        </p:nvSpPr>
        <p:spPr>
          <a:xfrm>
            <a:off x="905256" y="1545336"/>
            <a:ext cx="3008376"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7 / 7</a:t>
            </a:r>
            <a:endParaRPr lang="en-US" sz="2600" dirty="0"/>
          </a:p>
        </p:txBody>
      </p:sp>
      <p:sp>
        <p:nvSpPr>
          <p:cNvPr id="7" name="Text 4"/>
          <p:cNvSpPr/>
          <p:nvPr/>
        </p:nvSpPr>
        <p:spPr>
          <a:xfrm>
            <a:off x="877824" y="2121408"/>
            <a:ext cx="3063240"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Cấu hình hoàn thành</a:t>
            </a:r>
            <a:endParaRPr lang="en-US" sz="1200" dirty="0"/>
          </a:p>
        </p:txBody>
      </p:sp>
      <p:sp>
        <p:nvSpPr>
          <p:cNvPr id="8" name="Shape 5"/>
          <p:cNvSpPr/>
          <p:nvPr/>
        </p:nvSpPr>
        <p:spPr>
          <a:xfrm>
            <a:off x="4480560" y="1399032"/>
            <a:ext cx="3236976" cy="1097280"/>
          </a:xfrm>
          <a:prstGeom prst="roundRect">
            <a:avLst>
              <a:gd name="adj" fmla="val 2500"/>
            </a:avLst>
          </a:prstGeom>
          <a:solidFill>
            <a:srgbClr val="F7F7F7"/>
          </a:solidFill>
          <a:ln w="7620">
            <a:solidFill>
              <a:srgbClr val="F7F7F7"/>
            </a:solidFill>
            <a:prstDash val="solid"/>
          </a:ln>
        </p:spPr>
      </p:sp>
      <p:sp>
        <p:nvSpPr>
          <p:cNvPr id="9" name="Text 6"/>
          <p:cNvSpPr/>
          <p:nvPr/>
        </p:nvSpPr>
        <p:spPr>
          <a:xfrm>
            <a:off x="4599432" y="1545336"/>
            <a:ext cx="2999232"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728</a:t>
            </a:r>
            <a:endParaRPr lang="en-US" sz="2600" dirty="0"/>
          </a:p>
        </p:txBody>
      </p:sp>
      <p:sp>
        <p:nvSpPr>
          <p:cNvPr id="10" name="Text 7"/>
          <p:cNvSpPr/>
          <p:nvPr/>
        </p:nvSpPr>
        <p:spPr>
          <a:xfrm>
            <a:off x="4572000" y="2121408"/>
            <a:ext cx="3054096"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Tổng quan sát lưu</a:t>
            </a:r>
            <a:endParaRPr lang="en-US" sz="1200" dirty="0"/>
          </a:p>
        </p:txBody>
      </p:sp>
      <p:sp>
        <p:nvSpPr>
          <p:cNvPr id="11" name="Shape 8"/>
          <p:cNvSpPr/>
          <p:nvPr/>
        </p:nvSpPr>
        <p:spPr>
          <a:xfrm>
            <a:off x="8174736" y="1399032"/>
            <a:ext cx="3255264" cy="1097280"/>
          </a:xfrm>
          <a:prstGeom prst="roundRect">
            <a:avLst>
              <a:gd name="adj" fmla="val 2500"/>
            </a:avLst>
          </a:prstGeom>
          <a:solidFill>
            <a:srgbClr val="F7F7F7"/>
          </a:solidFill>
          <a:ln w="7620">
            <a:solidFill>
              <a:srgbClr val="F7F7F7"/>
            </a:solidFill>
            <a:prstDash val="solid"/>
          </a:ln>
        </p:spPr>
      </p:sp>
      <p:sp>
        <p:nvSpPr>
          <p:cNvPr id="12" name="Text 9"/>
          <p:cNvSpPr/>
          <p:nvPr/>
        </p:nvSpPr>
        <p:spPr>
          <a:xfrm>
            <a:off x="8293608" y="1545336"/>
            <a:ext cx="3017520"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0</a:t>
            </a:r>
            <a:endParaRPr lang="en-US" sz="2600" dirty="0"/>
          </a:p>
        </p:txBody>
      </p:sp>
      <p:sp>
        <p:nvSpPr>
          <p:cNvPr id="13" name="Text 10"/>
          <p:cNvSpPr/>
          <p:nvPr/>
        </p:nvSpPr>
        <p:spPr>
          <a:xfrm>
            <a:off x="8266176" y="2121408"/>
            <a:ext cx="3072384"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Lượt gọi GPT trong test</a:t>
            </a:r>
            <a:endParaRPr lang="en-US" sz="1200" dirty="0"/>
          </a:p>
        </p:txBody>
      </p:sp>
      <p:sp>
        <p:nvSpPr>
          <p:cNvPr id="14" name="Shape 11"/>
          <p:cNvSpPr/>
          <p:nvPr/>
        </p:nvSpPr>
        <p:spPr>
          <a:xfrm>
            <a:off x="804672" y="2889504"/>
            <a:ext cx="5129784" cy="1947672"/>
          </a:xfrm>
          <a:prstGeom prst="roundRect">
            <a:avLst>
              <a:gd name="adj" fmla="val 939"/>
            </a:avLst>
          </a:prstGeom>
          <a:solidFill>
            <a:srgbClr val="FFFFFF"/>
          </a:solidFill>
          <a:ln w="8255">
            <a:solidFill>
              <a:srgbClr val="D8DEE4"/>
            </a:solidFill>
            <a:prstDash val="solid"/>
          </a:ln>
        </p:spPr>
      </p:sp>
      <p:sp>
        <p:nvSpPr>
          <p:cNvPr id="15" name="Shape 12"/>
          <p:cNvSpPr/>
          <p:nvPr/>
        </p:nvSpPr>
        <p:spPr>
          <a:xfrm>
            <a:off x="804672" y="2889504"/>
            <a:ext cx="73152" cy="1947672"/>
          </a:xfrm>
          <a:prstGeom prst="rect">
            <a:avLst/>
          </a:prstGeom>
          <a:solidFill>
            <a:srgbClr val="003366"/>
          </a:solidFill>
          <a:ln w="7620">
            <a:solidFill>
              <a:srgbClr val="003366"/>
            </a:solidFill>
            <a:prstDash val="solid"/>
          </a:ln>
        </p:spPr>
      </p:sp>
      <p:sp>
        <p:nvSpPr>
          <p:cNvPr id="16" name="Text 13"/>
          <p:cNvSpPr/>
          <p:nvPr/>
        </p:nvSpPr>
        <p:spPr>
          <a:xfrm>
            <a:off x="1005840" y="3026664"/>
            <a:ext cx="4800600"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Bảo toàn phép thử</a:t>
            </a:r>
            <a:endParaRPr lang="en-US" sz="1600" dirty="0"/>
          </a:p>
        </p:txBody>
      </p:sp>
      <p:sp>
        <p:nvSpPr>
          <p:cNvPr id="17" name="Text 14"/>
          <p:cNvSpPr/>
          <p:nvPr/>
        </p:nvSpPr>
        <p:spPr>
          <a:xfrm>
            <a:off x="1005840" y="3566160"/>
            <a:ext cx="4764024" cy="1188720"/>
          </a:xfrm>
          <a:prstGeom prst="rect">
            <a:avLst/>
          </a:prstGeom>
          <a:noFill/>
          <a:ln/>
        </p:spPr>
        <p:txBody>
          <a:bodyPr wrap="square" lIns="0" tIns="0" rIns="0" bIns="0" rtlCol="0" anchor="t">
            <a:normAutofit/>
          </a:bodyPr>
          <a:lstStyle/>
          <a:p>
            <a:pPr indent="0" marL="0">
              <a:buNone/>
            </a:pPr>
            <a:r>
              <a:rPr lang="en-US" sz="1490" dirty="0">
                <a:solidFill>
                  <a:srgbClr val="242A30"/>
                </a:solidFill>
                <a:latin typeface="Arial" pitchFamily="34" charset="0"/>
                <a:ea typeface="Arial" pitchFamily="34" charset="-122"/>
                <a:cs typeface="Arial" pitchFamily="34" charset="-120"/>
              </a:rPr>
              <a:t>B0 tiếp nối 93/104 log bị ngắt; chỉ gửi 11 mẫu chưa có, giữ nguyên SHA dữ liệu cũ.</a:t>
            </a:r>
            <a:endParaRPr lang="en-US" sz="1490" dirty="0"/>
          </a:p>
        </p:txBody>
      </p:sp>
      <p:sp>
        <p:nvSpPr>
          <p:cNvPr id="18" name="Shape 15"/>
          <p:cNvSpPr/>
          <p:nvPr/>
        </p:nvSpPr>
        <p:spPr>
          <a:xfrm>
            <a:off x="6163056" y="2889504"/>
            <a:ext cx="5175504" cy="1947672"/>
          </a:xfrm>
          <a:prstGeom prst="roundRect">
            <a:avLst>
              <a:gd name="adj" fmla="val 939"/>
            </a:avLst>
          </a:prstGeom>
          <a:solidFill>
            <a:srgbClr val="FFFFFF"/>
          </a:solidFill>
          <a:ln w="8255">
            <a:solidFill>
              <a:srgbClr val="D8DEE4"/>
            </a:solidFill>
            <a:prstDash val="solid"/>
          </a:ln>
        </p:spPr>
      </p:sp>
      <p:sp>
        <p:nvSpPr>
          <p:cNvPr id="19" name="Shape 16"/>
          <p:cNvSpPr/>
          <p:nvPr/>
        </p:nvSpPr>
        <p:spPr>
          <a:xfrm>
            <a:off x="6163056" y="2889504"/>
            <a:ext cx="73152" cy="1947672"/>
          </a:xfrm>
          <a:prstGeom prst="rect">
            <a:avLst/>
          </a:prstGeom>
          <a:solidFill>
            <a:srgbClr val="C91F35"/>
          </a:solidFill>
          <a:ln w="7620">
            <a:solidFill>
              <a:srgbClr val="C91F35"/>
            </a:solidFill>
            <a:prstDash val="solid"/>
          </a:ln>
        </p:spPr>
      </p:sp>
      <p:sp>
        <p:nvSpPr>
          <p:cNvPr id="20" name="Text 17"/>
          <p:cNvSpPr/>
          <p:nvPr/>
        </p:nvSpPr>
        <p:spPr>
          <a:xfrm>
            <a:off x="6364224" y="3026664"/>
            <a:ext cx="4846320"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Không lựa chọn hậu nghiệm</a:t>
            </a:r>
            <a:endParaRPr lang="en-US" sz="1600" dirty="0"/>
          </a:p>
        </p:txBody>
      </p:sp>
      <p:sp>
        <p:nvSpPr>
          <p:cNvPr id="21" name="Text 18"/>
          <p:cNvSpPr/>
          <p:nvPr/>
        </p:nvSpPr>
        <p:spPr>
          <a:xfrm>
            <a:off x="6364224" y="3566160"/>
            <a:ext cx="4809744" cy="1188720"/>
          </a:xfrm>
          <a:prstGeom prst="rect">
            <a:avLst/>
          </a:prstGeom>
          <a:noFill/>
          <a:ln/>
        </p:spPr>
        <p:txBody>
          <a:bodyPr wrap="square" lIns="0" tIns="0" rIns="0" bIns="0" rtlCol="0" anchor="t">
            <a:normAutofit/>
          </a:bodyPr>
          <a:lstStyle/>
          <a:p>
            <a:pPr indent="0" marL="0">
              <a:buNone/>
            </a:pPr>
            <a:r>
              <a:rPr lang="en-US" sz="1500" dirty="0">
                <a:solidFill>
                  <a:srgbClr val="242A30"/>
                </a:solidFill>
                <a:latin typeface="Arial" pitchFamily="34" charset="0"/>
                <a:ea typeface="Arial" pitchFamily="34" charset="-122"/>
                <a:cs typeface="Arial" pitchFamily="34" charset="-120"/>
              </a:rPr>
              <a:t>104 case mỗi cấu hình; final chỉ đo, không tuning hoặc promote ứng viên.</a:t>
            </a:r>
            <a:endParaRPr lang="en-US" sz="1500" dirty="0"/>
          </a:p>
        </p:txBody>
      </p:sp>
      <p:sp>
        <p:nvSpPr>
          <p:cNvPr id="22" name="Shape 19"/>
          <p:cNvSpPr/>
          <p:nvPr/>
        </p:nvSpPr>
        <p:spPr>
          <a:xfrm>
            <a:off x="758952" y="5340096"/>
            <a:ext cx="10725912" cy="475488"/>
          </a:xfrm>
          <a:prstGeom prst="roundRect">
            <a:avLst>
              <a:gd name="adj" fmla="val 5769"/>
            </a:avLst>
          </a:prstGeom>
          <a:solidFill>
            <a:srgbClr val="003366"/>
          </a:solidFill>
          <a:ln w="7620">
            <a:solidFill>
              <a:srgbClr val="003366"/>
            </a:solidFill>
            <a:prstDash val="solid"/>
          </a:ln>
        </p:spPr>
      </p:sp>
      <p:sp>
        <p:nvSpPr>
          <p:cNvPr id="23" name="Text 20"/>
          <p:cNvSpPr/>
          <p:nvPr/>
        </p:nvSpPr>
        <p:spPr>
          <a:xfrm>
            <a:off x="941832" y="5413248"/>
            <a:ext cx="10351008" cy="33832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Rollback về original SHA-256 đã được xác minh sau final test.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9. Final test: so sánh định lượng</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09</a:t>
            </a:r>
            <a:endParaRPr lang="en-US" sz="680" dirty="0"/>
          </a:p>
        </p:txBody>
      </p:sp>
      <p:sp>
        <p:nvSpPr>
          <p:cNvPr id="5" name="Text 2"/>
          <p:cNvSpPr/>
          <p:nvPr/>
        </p:nvSpPr>
        <p:spPr>
          <a:xfrm>
            <a:off x="740664" y="1139342"/>
            <a:ext cx="7534656" cy="320040"/>
          </a:xfrm>
          <a:prstGeom prst="rect">
            <a:avLst/>
          </a:prstGeom>
          <a:noFill/>
          <a:ln/>
        </p:spPr>
        <p:txBody>
          <a:bodyPr wrap="square" lIns="0" tIns="0" rIns="0" bIns="0" rtlCol="0" anchor="ctr">
            <a:normAutofit/>
          </a:bodyPr>
          <a:lstStyle/>
          <a:p>
            <a:pPr indent="0" marL="0">
              <a:buNone/>
            </a:pPr>
            <a:r>
              <a:rPr lang="en-US" sz="1700" b="1" dirty="0">
                <a:solidFill>
                  <a:srgbClr val="003366"/>
                </a:solidFill>
                <a:latin typeface="Arial" pitchFamily="34" charset="0"/>
                <a:ea typeface="Arial" pitchFamily="34" charset="-122"/>
                <a:cs typeface="Arial" pitchFamily="34" charset="-120"/>
              </a:rPr>
              <a:t>Coverage (valid attack, sau khử trùng)</a:t>
            </a:r>
            <a:endParaRPr lang="en-US" sz="1700" dirty="0"/>
          </a:p>
        </p:txBody>
      </p:sp>
      <p:sp>
        <p:nvSpPr>
          <p:cNvPr id="6" name="Text 3"/>
          <p:cNvSpPr/>
          <p:nvPr/>
        </p:nvSpPr>
        <p:spPr>
          <a:xfrm>
            <a:off x="822960" y="1517904"/>
            <a:ext cx="1536192" cy="310896"/>
          </a:xfrm>
          <a:prstGeom prst="rect">
            <a:avLst/>
          </a:prstGeom>
          <a:noFill/>
          <a:ln/>
        </p:spPr>
        <p:txBody>
          <a:bodyPr wrap="square" lIns="0" tIns="0" rIns="0" bIns="0" rtlCol="0" anchor="ctr">
            <a:normAutofit/>
          </a:bodyPr>
          <a:lstStyle/>
          <a:p>
            <a:pPr indent="0" marL="0">
              <a:buNone/>
            </a:pPr>
            <a:r>
              <a:rPr lang="en-US" sz="1230" b="1" dirty="0">
                <a:solidFill>
                  <a:srgbClr val="242A30"/>
                </a:solidFill>
                <a:latin typeface="Arial" pitchFamily="34" charset="0"/>
                <a:ea typeface="Arial" pitchFamily="34" charset="-122"/>
                <a:cs typeface="Arial" pitchFamily="34" charset="-120"/>
              </a:rPr>
              <a:t>B0</a:t>
            </a:r>
            <a:endParaRPr lang="en-US" sz="1230" dirty="0"/>
          </a:p>
        </p:txBody>
      </p:sp>
      <p:sp>
        <p:nvSpPr>
          <p:cNvPr id="7" name="Shape 4"/>
          <p:cNvSpPr/>
          <p:nvPr/>
        </p:nvSpPr>
        <p:spPr>
          <a:xfrm>
            <a:off x="2523744" y="1595628"/>
            <a:ext cx="5157216" cy="164592"/>
          </a:xfrm>
          <a:prstGeom prst="rect">
            <a:avLst/>
          </a:prstGeom>
          <a:solidFill>
            <a:srgbClr val="E3E9EE"/>
          </a:solidFill>
          <a:ln w="7620">
            <a:solidFill>
              <a:srgbClr val="E3E9EE"/>
            </a:solidFill>
            <a:prstDash val="solid"/>
          </a:ln>
        </p:spPr>
      </p:sp>
      <p:sp>
        <p:nvSpPr>
          <p:cNvPr id="8" name="Shape 5"/>
          <p:cNvSpPr/>
          <p:nvPr/>
        </p:nvSpPr>
        <p:spPr>
          <a:xfrm>
            <a:off x="2523744" y="1595628"/>
            <a:ext cx="4512564" cy="164592"/>
          </a:xfrm>
          <a:prstGeom prst="rect">
            <a:avLst/>
          </a:prstGeom>
          <a:solidFill>
            <a:srgbClr val="003366"/>
          </a:solidFill>
          <a:ln w="7620">
            <a:solidFill>
              <a:srgbClr val="003366"/>
            </a:solidFill>
            <a:prstDash val="solid"/>
          </a:ln>
        </p:spPr>
      </p:sp>
      <p:sp>
        <p:nvSpPr>
          <p:cNvPr id="9" name="Text 6"/>
          <p:cNvSpPr/>
          <p:nvPr/>
        </p:nvSpPr>
        <p:spPr>
          <a:xfrm>
            <a:off x="7744968" y="1513332"/>
            <a:ext cx="640080" cy="338328"/>
          </a:xfrm>
          <a:prstGeom prst="rect">
            <a:avLst/>
          </a:prstGeom>
          <a:noFill/>
          <a:ln/>
        </p:spPr>
        <p:txBody>
          <a:bodyPr wrap="square" lIns="0" tIns="0" rIns="0" bIns="0" rtlCol="0" anchor="ctr">
            <a:normAutofit/>
          </a:bodyPr>
          <a:lstStyle/>
          <a:p>
            <a:pPr algn="r" indent="0" marL="0">
              <a:buNone/>
            </a:pPr>
            <a:r>
              <a:rPr lang="en-US" sz="1230" b="1" dirty="0">
                <a:solidFill>
                  <a:srgbClr val="003366"/>
                </a:solidFill>
                <a:latin typeface="Arial" pitchFamily="34" charset="0"/>
                <a:ea typeface="Arial" pitchFamily="34" charset="-122"/>
                <a:cs typeface="Arial" pitchFamily="34" charset="-120"/>
              </a:rPr>
              <a:t>87,50%</a:t>
            </a:r>
            <a:endParaRPr lang="en-US" sz="1230" dirty="0"/>
          </a:p>
        </p:txBody>
      </p:sp>
      <p:sp>
        <p:nvSpPr>
          <p:cNvPr id="10" name="Text 7"/>
          <p:cNvSpPr/>
          <p:nvPr/>
        </p:nvSpPr>
        <p:spPr>
          <a:xfrm>
            <a:off x="822960" y="2011680"/>
            <a:ext cx="1536192" cy="310896"/>
          </a:xfrm>
          <a:prstGeom prst="rect">
            <a:avLst/>
          </a:prstGeom>
          <a:noFill/>
          <a:ln/>
        </p:spPr>
        <p:txBody>
          <a:bodyPr wrap="square" lIns="0" tIns="0" rIns="0" bIns="0" rtlCol="0" anchor="ctr">
            <a:normAutofit/>
          </a:bodyPr>
          <a:lstStyle/>
          <a:p>
            <a:pPr indent="0" marL="0">
              <a:buNone/>
            </a:pPr>
            <a:r>
              <a:rPr lang="en-US" sz="1230" b="1" dirty="0">
                <a:solidFill>
                  <a:srgbClr val="242A30"/>
                </a:solidFill>
                <a:latin typeface="Arial" pitchFamily="34" charset="0"/>
                <a:ea typeface="Arial" pitchFamily="34" charset="-122"/>
                <a:cs typeface="Arial" pitchFamily="34" charset="-120"/>
              </a:rPr>
              <a:t>B1</a:t>
            </a:r>
            <a:endParaRPr lang="en-US" sz="1230" dirty="0"/>
          </a:p>
        </p:txBody>
      </p:sp>
      <p:sp>
        <p:nvSpPr>
          <p:cNvPr id="11" name="Shape 8"/>
          <p:cNvSpPr/>
          <p:nvPr/>
        </p:nvSpPr>
        <p:spPr>
          <a:xfrm>
            <a:off x="2523744" y="2089404"/>
            <a:ext cx="5157216" cy="164592"/>
          </a:xfrm>
          <a:prstGeom prst="rect">
            <a:avLst/>
          </a:prstGeom>
          <a:solidFill>
            <a:srgbClr val="E3E9EE"/>
          </a:solidFill>
          <a:ln w="7620">
            <a:solidFill>
              <a:srgbClr val="E3E9EE"/>
            </a:solidFill>
            <a:prstDash val="solid"/>
          </a:ln>
        </p:spPr>
      </p:sp>
      <p:sp>
        <p:nvSpPr>
          <p:cNvPr id="12" name="Shape 9"/>
          <p:cNvSpPr/>
          <p:nvPr/>
        </p:nvSpPr>
        <p:spPr>
          <a:xfrm>
            <a:off x="2523744" y="2089404"/>
            <a:ext cx="4512564" cy="164592"/>
          </a:xfrm>
          <a:prstGeom prst="rect">
            <a:avLst/>
          </a:prstGeom>
          <a:solidFill>
            <a:srgbClr val="003366"/>
          </a:solidFill>
          <a:ln w="7620">
            <a:solidFill>
              <a:srgbClr val="003366"/>
            </a:solidFill>
            <a:prstDash val="solid"/>
          </a:ln>
        </p:spPr>
      </p:sp>
      <p:sp>
        <p:nvSpPr>
          <p:cNvPr id="13" name="Text 10"/>
          <p:cNvSpPr/>
          <p:nvPr/>
        </p:nvSpPr>
        <p:spPr>
          <a:xfrm>
            <a:off x="7744968" y="2007108"/>
            <a:ext cx="640080" cy="338328"/>
          </a:xfrm>
          <a:prstGeom prst="rect">
            <a:avLst/>
          </a:prstGeom>
          <a:noFill/>
          <a:ln/>
        </p:spPr>
        <p:txBody>
          <a:bodyPr wrap="square" lIns="0" tIns="0" rIns="0" bIns="0" rtlCol="0" anchor="ctr">
            <a:normAutofit/>
          </a:bodyPr>
          <a:lstStyle/>
          <a:p>
            <a:pPr algn="r" indent="0" marL="0">
              <a:buNone/>
            </a:pPr>
            <a:r>
              <a:rPr lang="en-US" sz="1230" b="1" dirty="0">
                <a:solidFill>
                  <a:srgbClr val="003366"/>
                </a:solidFill>
                <a:latin typeface="Arial" pitchFamily="34" charset="0"/>
                <a:ea typeface="Arial" pitchFamily="34" charset="-122"/>
                <a:cs typeface="Arial" pitchFamily="34" charset="-120"/>
              </a:rPr>
              <a:t>87,50%</a:t>
            </a:r>
            <a:endParaRPr lang="en-US" sz="1230" dirty="0"/>
          </a:p>
        </p:txBody>
      </p:sp>
      <p:sp>
        <p:nvSpPr>
          <p:cNvPr id="14" name="Text 11"/>
          <p:cNvSpPr/>
          <p:nvPr/>
        </p:nvSpPr>
        <p:spPr>
          <a:xfrm>
            <a:off x="822960" y="2505456"/>
            <a:ext cx="1536192" cy="310896"/>
          </a:xfrm>
          <a:prstGeom prst="rect">
            <a:avLst/>
          </a:prstGeom>
          <a:noFill/>
          <a:ln/>
        </p:spPr>
        <p:txBody>
          <a:bodyPr wrap="square" lIns="0" tIns="0" rIns="0" bIns="0" rtlCol="0" anchor="ctr">
            <a:normAutofit/>
          </a:bodyPr>
          <a:lstStyle/>
          <a:p>
            <a:pPr indent="0" marL="0">
              <a:buNone/>
            </a:pPr>
            <a:r>
              <a:rPr lang="en-US" sz="1230" b="1" dirty="0">
                <a:solidFill>
                  <a:srgbClr val="242A30"/>
                </a:solidFill>
                <a:latin typeface="Arial" pitchFamily="34" charset="0"/>
                <a:ea typeface="Arial" pitchFamily="34" charset="-122"/>
                <a:cs typeface="Arial" pitchFamily="34" charset="-120"/>
              </a:rPr>
              <a:t>L1</a:t>
            </a:r>
            <a:endParaRPr lang="en-US" sz="1230" dirty="0"/>
          </a:p>
        </p:txBody>
      </p:sp>
      <p:sp>
        <p:nvSpPr>
          <p:cNvPr id="15" name="Shape 12"/>
          <p:cNvSpPr/>
          <p:nvPr/>
        </p:nvSpPr>
        <p:spPr>
          <a:xfrm>
            <a:off x="2523744" y="2583180"/>
            <a:ext cx="5157216" cy="164592"/>
          </a:xfrm>
          <a:prstGeom prst="rect">
            <a:avLst/>
          </a:prstGeom>
          <a:solidFill>
            <a:srgbClr val="E3E9EE"/>
          </a:solidFill>
          <a:ln w="7620">
            <a:solidFill>
              <a:srgbClr val="E3E9EE"/>
            </a:solidFill>
            <a:prstDash val="solid"/>
          </a:ln>
        </p:spPr>
      </p:sp>
      <p:sp>
        <p:nvSpPr>
          <p:cNvPr id="16" name="Shape 13"/>
          <p:cNvSpPr/>
          <p:nvPr/>
        </p:nvSpPr>
        <p:spPr>
          <a:xfrm>
            <a:off x="2523744" y="2583180"/>
            <a:ext cx="4512564" cy="164592"/>
          </a:xfrm>
          <a:prstGeom prst="rect">
            <a:avLst/>
          </a:prstGeom>
          <a:solidFill>
            <a:srgbClr val="003366"/>
          </a:solidFill>
          <a:ln w="7620">
            <a:solidFill>
              <a:srgbClr val="003366"/>
            </a:solidFill>
            <a:prstDash val="solid"/>
          </a:ln>
        </p:spPr>
      </p:sp>
      <p:sp>
        <p:nvSpPr>
          <p:cNvPr id="17" name="Text 14"/>
          <p:cNvSpPr/>
          <p:nvPr/>
        </p:nvSpPr>
        <p:spPr>
          <a:xfrm>
            <a:off x="7744968" y="2500884"/>
            <a:ext cx="640080" cy="338328"/>
          </a:xfrm>
          <a:prstGeom prst="rect">
            <a:avLst/>
          </a:prstGeom>
          <a:noFill/>
          <a:ln/>
        </p:spPr>
        <p:txBody>
          <a:bodyPr wrap="square" lIns="0" tIns="0" rIns="0" bIns="0" rtlCol="0" anchor="ctr">
            <a:normAutofit/>
          </a:bodyPr>
          <a:lstStyle/>
          <a:p>
            <a:pPr algn="r" indent="0" marL="0">
              <a:buNone/>
            </a:pPr>
            <a:r>
              <a:rPr lang="en-US" sz="1230" b="1" dirty="0">
                <a:solidFill>
                  <a:srgbClr val="003366"/>
                </a:solidFill>
                <a:latin typeface="Arial" pitchFamily="34" charset="0"/>
                <a:ea typeface="Arial" pitchFamily="34" charset="-122"/>
                <a:cs typeface="Arial" pitchFamily="34" charset="-120"/>
              </a:rPr>
              <a:t>87,50%</a:t>
            </a:r>
            <a:endParaRPr lang="en-US" sz="1230" dirty="0"/>
          </a:p>
        </p:txBody>
      </p:sp>
      <p:sp>
        <p:nvSpPr>
          <p:cNvPr id="18" name="Text 15"/>
          <p:cNvSpPr/>
          <p:nvPr/>
        </p:nvSpPr>
        <p:spPr>
          <a:xfrm>
            <a:off x="822960" y="2999232"/>
            <a:ext cx="1536192" cy="310896"/>
          </a:xfrm>
          <a:prstGeom prst="rect">
            <a:avLst/>
          </a:prstGeom>
          <a:noFill/>
          <a:ln/>
        </p:spPr>
        <p:txBody>
          <a:bodyPr wrap="square" lIns="0" tIns="0" rIns="0" bIns="0" rtlCol="0" anchor="ctr">
            <a:normAutofit/>
          </a:bodyPr>
          <a:lstStyle/>
          <a:p>
            <a:pPr indent="0" marL="0">
              <a:buNone/>
            </a:pPr>
            <a:r>
              <a:rPr lang="en-US" sz="1230" b="1" dirty="0">
                <a:solidFill>
                  <a:srgbClr val="242A30"/>
                </a:solidFill>
                <a:latin typeface="Arial" pitchFamily="34" charset="0"/>
                <a:ea typeface="Arial" pitchFamily="34" charset="-122"/>
                <a:cs typeface="Arial" pitchFamily="34" charset="-120"/>
              </a:rPr>
              <a:t>L2</a:t>
            </a:r>
            <a:endParaRPr lang="en-US" sz="1230" dirty="0"/>
          </a:p>
        </p:txBody>
      </p:sp>
      <p:sp>
        <p:nvSpPr>
          <p:cNvPr id="19" name="Shape 16"/>
          <p:cNvSpPr/>
          <p:nvPr/>
        </p:nvSpPr>
        <p:spPr>
          <a:xfrm>
            <a:off x="2523744" y="3076956"/>
            <a:ext cx="5157216" cy="164592"/>
          </a:xfrm>
          <a:prstGeom prst="rect">
            <a:avLst/>
          </a:prstGeom>
          <a:solidFill>
            <a:srgbClr val="E3E9EE"/>
          </a:solidFill>
          <a:ln w="7620">
            <a:solidFill>
              <a:srgbClr val="E3E9EE"/>
            </a:solidFill>
            <a:prstDash val="solid"/>
          </a:ln>
        </p:spPr>
      </p:sp>
      <p:sp>
        <p:nvSpPr>
          <p:cNvPr id="20" name="Shape 17"/>
          <p:cNvSpPr/>
          <p:nvPr/>
        </p:nvSpPr>
        <p:spPr>
          <a:xfrm>
            <a:off x="2523744" y="3076956"/>
            <a:ext cx="4512564" cy="164592"/>
          </a:xfrm>
          <a:prstGeom prst="rect">
            <a:avLst/>
          </a:prstGeom>
          <a:solidFill>
            <a:srgbClr val="003366"/>
          </a:solidFill>
          <a:ln w="7620">
            <a:solidFill>
              <a:srgbClr val="003366"/>
            </a:solidFill>
            <a:prstDash val="solid"/>
          </a:ln>
        </p:spPr>
      </p:sp>
      <p:sp>
        <p:nvSpPr>
          <p:cNvPr id="21" name="Text 18"/>
          <p:cNvSpPr/>
          <p:nvPr/>
        </p:nvSpPr>
        <p:spPr>
          <a:xfrm>
            <a:off x="7744968" y="2994660"/>
            <a:ext cx="640080" cy="338328"/>
          </a:xfrm>
          <a:prstGeom prst="rect">
            <a:avLst/>
          </a:prstGeom>
          <a:noFill/>
          <a:ln/>
        </p:spPr>
        <p:txBody>
          <a:bodyPr wrap="square" lIns="0" tIns="0" rIns="0" bIns="0" rtlCol="0" anchor="ctr">
            <a:normAutofit/>
          </a:bodyPr>
          <a:lstStyle/>
          <a:p>
            <a:pPr algn="r" indent="0" marL="0">
              <a:buNone/>
            </a:pPr>
            <a:r>
              <a:rPr lang="en-US" sz="1230" b="1" dirty="0">
                <a:solidFill>
                  <a:srgbClr val="003366"/>
                </a:solidFill>
                <a:latin typeface="Arial" pitchFamily="34" charset="0"/>
                <a:ea typeface="Arial" pitchFamily="34" charset="-122"/>
                <a:cs typeface="Arial" pitchFamily="34" charset="-120"/>
              </a:rPr>
              <a:t>87,50%</a:t>
            </a:r>
            <a:endParaRPr lang="en-US" sz="1230" dirty="0"/>
          </a:p>
        </p:txBody>
      </p:sp>
      <p:sp>
        <p:nvSpPr>
          <p:cNvPr id="22" name="Text 19"/>
          <p:cNvSpPr/>
          <p:nvPr/>
        </p:nvSpPr>
        <p:spPr>
          <a:xfrm>
            <a:off x="822960" y="3493008"/>
            <a:ext cx="1536192" cy="310896"/>
          </a:xfrm>
          <a:prstGeom prst="rect">
            <a:avLst/>
          </a:prstGeom>
          <a:noFill/>
          <a:ln/>
        </p:spPr>
        <p:txBody>
          <a:bodyPr wrap="square" lIns="0" tIns="0" rIns="0" bIns="0" rtlCol="0" anchor="ctr">
            <a:normAutofit/>
          </a:bodyPr>
          <a:lstStyle/>
          <a:p>
            <a:pPr indent="0" marL="0">
              <a:buNone/>
            </a:pPr>
            <a:r>
              <a:rPr lang="en-US" sz="1230" b="1" dirty="0">
                <a:solidFill>
                  <a:srgbClr val="242A30"/>
                </a:solidFill>
                <a:latin typeface="Arial" pitchFamily="34" charset="0"/>
                <a:ea typeface="Arial" pitchFamily="34" charset="-122"/>
                <a:cs typeface="Arial" pitchFamily="34" charset="-120"/>
              </a:rPr>
              <a:t>L3</a:t>
            </a:r>
            <a:endParaRPr lang="en-US" sz="1230" dirty="0"/>
          </a:p>
        </p:txBody>
      </p:sp>
      <p:sp>
        <p:nvSpPr>
          <p:cNvPr id="23" name="Shape 20"/>
          <p:cNvSpPr/>
          <p:nvPr/>
        </p:nvSpPr>
        <p:spPr>
          <a:xfrm>
            <a:off x="2523744" y="3570732"/>
            <a:ext cx="5157216" cy="164592"/>
          </a:xfrm>
          <a:prstGeom prst="rect">
            <a:avLst/>
          </a:prstGeom>
          <a:solidFill>
            <a:srgbClr val="E3E9EE"/>
          </a:solidFill>
          <a:ln w="7620">
            <a:solidFill>
              <a:srgbClr val="E3E9EE"/>
            </a:solidFill>
            <a:prstDash val="solid"/>
          </a:ln>
        </p:spPr>
      </p:sp>
      <p:sp>
        <p:nvSpPr>
          <p:cNvPr id="24" name="Shape 21"/>
          <p:cNvSpPr/>
          <p:nvPr/>
        </p:nvSpPr>
        <p:spPr>
          <a:xfrm>
            <a:off x="2523744" y="3570732"/>
            <a:ext cx="5157216" cy="164592"/>
          </a:xfrm>
          <a:prstGeom prst="rect">
            <a:avLst/>
          </a:prstGeom>
          <a:solidFill>
            <a:srgbClr val="C91F35"/>
          </a:solidFill>
          <a:ln w="7620">
            <a:solidFill>
              <a:srgbClr val="C91F35"/>
            </a:solidFill>
            <a:prstDash val="solid"/>
          </a:ln>
        </p:spPr>
      </p:sp>
      <p:sp>
        <p:nvSpPr>
          <p:cNvPr id="25" name="Text 22"/>
          <p:cNvSpPr/>
          <p:nvPr/>
        </p:nvSpPr>
        <p:spPr>
          <a:xfrm>
            <a:off x="7744968" y="3488436"/>
            <a:ext cx="640080" cy="338328"/>
          </a:xfrm>
          <a:prstGeom prst="rect">
            <a:avLst/>
          </a:prstGeom>
          <a:noFill/>
          <a:ln/>
        </p:spPr>
        <p:txBody>
          <a:bodyPr wrap="square" lIns="0" tIns="0" rIns="0" bIns="0" rtlCol="0" anchor="ctr">
            <a:normAutofit/>
          </a:bodyPr>
          <a:lstStyle/>
          <a:p>
            <a:pPr algn="r" indent="0" marL="0">
              <a:buNone/>
            </a:pPr>
            <a:r>
              <a:rPr lang="en-US" sz="1230" b="1" dirty="0">
                <a:solidFill>
                  <a:srgbClr val="C91F35"/>
                </a:solidFill>
                <a:latin typeface="Arial" pitchFamily="34" charset="0"/>
                <a:ea typeface="Arial" pitchFamily="34" charset="-122"/>
                <a:cs typeface="Arial" pitchFamily="34" charset="-120"/>
              </a:rPr>
              <a:t>100%</a:t>
            </a:r>
            <a:endParaRPr lang="en-US" sz="1230" dirty="0"/>
          </a:p>
        </p:txBody>
      </p:sp>
      <p:sp>
        <p:nvSpPr>
          <p:cNvPr id="26" name="Text 23"/>
          <p:cNvSpPr/>
          <p:nvPr/>
        </p:nvSpPr>
        <p:spPr>
          <a:xfrm>
            <a:off x="822960" y="3986784"/>
            <a:ext cx="1536192" cy="310896"/>
          </a:xfrm>
          <a:prstGeom prst="rect">
            <a:avLst/>
          </a:prstGeom>
          <a:noFill/>
          <a:ln/>
        </p:spPr>
        <p:txBody>
          <a:bodyPr wrap="square" lIns="0" tIns="0" rIns="0" bIns="0" rtlCol="0" anchor="ctr">
            <a:normAutofit/>
          </a:bodyPr>
          <a:lstStyle/>
          <a:p>
            <a:pPr indent="0" marL="0">
              <a:buNone/>
            </a:pPr>
            <a:r>
              <a:rPr lang="en-US" sz="1230" b="1" dirty="0">
                <a:solidFill>
                  <a:srgbClr val="242A30"/>
                </a:solidFill>
                <a:latin typeface="Arial" pitchFamily="34" charset="0"/>
                <a:ea typeface="Arial" pitchFamily="34" charset="-122"/>
                <a:cs typeface="Arial" pitchFamily="34" charset="-120"/>
              </a:rPr>
              <a:t>L4</a:t>
            </a:r>
            <a:endParaRPr lang="en-US" sz="1230" dirty="0"/>
          </a:p>
        </p:txBody>
      </p:sp>
      <p:sp>
        <p:nvSpPr>
          <p:cNvPr id="27" name="Shape 24"/>
          <p:cNvSpPr/>
          <p:nvPr/>
        </p:nvSpPr>
        <p:spPr>
          <a:xfrm>
            <a:off x="2523744" y="4064508"/>
            <a:ext cx="5157216" cy="164592"/>
          </a:xfrm>
          <a:prstGeom prst="rect">
            <a:avLst/>
          </a:prstGeom>
          <a:solidFill>
            <a:srgbClr val="E3E9EE"/>
          </a:solidFill>
          <a:ln w="7620">
            <a:solidFill>
              <a:srgbClr val="E3E9EE"/>
            </a:solidFill>
            <a:prstDash val="solid"/>
          </a:ln>
        </p:spPr>
      </p:sp>
      <p:sp>
        <p:nvSpPr>
          <p:cNvPr id="28" name="Shape 25"/>
          <p:cNvSpPr/>
          <p:nvPr/>
        </p:nvSpPr>
        <p:spPr>
          <a:xfrm>
            <a:off x="2523744" y="4064508"/>
            <a:ext cx="4942160" cy="164592"/>
          </a:xfrm>
          <a:prstGeom prst="rect">
            <a:avLst/>
          </a:prstGeom>
          <a:solidFill>
            <a:srgbClr val="003366"/>
          </a:solidFill>
          <a:ln w="7620">
            <a:solidFill>
              <a:srgbClr val="003366"/>
            </a:solidFill>
            <a:prstDash val="solid"/>
          </a:ln>
        </p:spPr>
      </p:sp>
      <p:sp>
        <p:nvSpPr>
          <p:cNvPr id="29" name="Text 26"/>
          <p:cNvSpPr/>
          <p:nvPr/>
        </p:nvSpPr>
        <p:spPr>
          <a:xfrm>
            <a:off x="7744968" y="3982212"/>
            <a:ext cx="640080" cy="338328"/>
          </a:xfrm>
          <a:prstGeom prst="rect">
            <a:avLst/>
          </a:prstGeom>
          <a:noFill/>
          <a:ln/>
        </p:spPr>
        <p:txBody>
          <a:bodyPr wrap="square" lIns="0" tIns="0" rIns="0" bIns="0" rtlCol="0" anchor="ctr">
            <a:normAutofit/>
          </a:bodyPr>
          <a:lstStyle/>
          <a:p>
            <a:pPr algn="r" indent="0" marL="0">
              <a:buNone/>
            </a:pPr>
            <a:r>
              <a:rPr lang="en-US" sz="1230" b="1" dirty="0">
                <a:solidFill>
                  <a:srgbClr val="003366"/>
                </a:solidFill>
                <a:latin typeface="Arial" pitchFamily="34" charset="0"/>
                <a:ea typeface="Arial" pitchFamily="34" charset="-122"/>
                <a:cs typeface="Arial" pitchFamily="34" charset="-120"/>
              </a:rPr>
              <a:t>95,83%</a:t>
            </a:r>
            <a:endParaRPr lang="en-US" sz="1230" dirty="0"/>
          </a:p>
        </p:txBody>
      </p:sp>
      <p:sp>
        <p:nvSpPr>
          <p:cNvPr id="30" name="Text 27"/>
          <p:cNvSpPr/>
          <p:nvPr/>
        </p:nvSpPr>
        <p:spPr>
          <a:xfrm>
            <a:off x="822960" y="4480560"/>
            <a:ext cx="1536192" cy="310896"/>
          </a:xfrm>
          <a:prstGeom prst="rect">
            <a:avLst/>
          </a:prstGeom>
          <a:noFill/>
          <a:ln/>
        </p:spPr>
        <p:txBody>
          <a:bodyPr wrap="square" lIns="0" tIns="0" rIns="0" bIns="0" rtlCol="0" anchor="ctr">
            <a:normAutofit/>
          </a:bodyPr>
          <a:lstStyle/>
          <a:p>
            <a:pPr indent="0" marL="0">
              <a:buNone/>
            </a:pPr>
            <a:r>
              <a:rPr lang="en-US" sz="1230" b="1" dirty="0">
                <a:solidFill>
                  <a:srgbClr val="242A30"/>
                </a:solidFill>
                <a:latin typeface="Arial" pitchFamily="34" charset="0"/>
                <a:ea typeface="Arial" pitchFamily="34" charset="-122"/>
                <a:cs typeface="Arial" pitchFamily="34" charset="-120"/>
              </a:rPr>
              <a:t>L5</a:t>
            </a:r>
            <a:endParaRPr lang="en-US" sz="1230" dirty="0"/>
          </a:p>
        </p:txBody>
      </p:sp>
      <p:sp>
        <p:nvSpPr>
          <p:cNvPr id="31" name="Shape 28"/>
          <p:cNvSpPr/>
          <p:nvPr/>
        </p:nvSpPr>
        <p:spPr>
          <a:xfrm>
            <a:off x="2523744" y="4558284"/>
            <a:ext cx="5157216" cy="164592"/>
          </a:xfrm>
          <a:prstGeom prst="rect">
            <a:avLst/>
          </a:prstGeom>
          <a:solidFill>
            <a:srgbClr val="E3E9EE"/>
          </a:solidFill>
          <a:ln w="7620">
            <a:solidFill>
              <a:srgbClr val="E3E9EE"/>
            </a:solidFill>
            <a:prstDash val="solid"/>
          </a:ln>
        </p:spPr>
      </p:sp>
      <p:sp>
        <p:nvSpPr>
          <p:cNvPr id="32" name="Shape 29"/>
          <p:cNvSpPr/>
          <p:nvPr/>
        </p:nvSpPr>
        <p:spPr>
          <a:xfrm>
            <a:off x="2523744" y="4558284"/>
            <a:ext cx="4512564" cy="164592"/>
          </a:xfrm>
          <a:prstGeom prst="rect">
            <a:avLst/>
          </a:prstGeom>
          <a:solidFill>
            <a:srgbClr val="003366"/>
          </a:solidFill>
          <a:ln w="7620">
            <a:solidFill>
              <a:srgbClr val="003366"/>
            </a:solidFill>
            <a:prstDash val="solid"/>
          </a:ln>
        </p:spPr>
      </p:sp>
      <p:sp>
        <p:nvSpPr>
          <p:cNvPr id="33" name="Text 30"/>
          <p:cNvSpPr/>
          <p:nvPr/>
        </p:nvSpPr>
        <p:spPr>
          <a:xfrm>
            <a:off x="7744968" y="4475988"/>
            <a:ext cx="640080" cy="338328"/>
          </a:xfrm>
          <a:prstGeom prst="rect">
            <a:avLst/>
          </a:prstGeom>
          <a:noFill/>
          <a:ln/>
        </p:spPr>
        <p:txBody>
          <a:bodyPr wrap="square" lIns="0" tIns="0" rIns="0" bIns="0" rtlCol="0" anchor="ctr">
            <a:normAutofit/>
          </a:bodyPr>
          <a:lstStyle/>
          <a:p>
            <a:pPr algn="r" indent="0" marL="0">
              <a:buNone/>
            </a:pPr>
            <a:r>
              <a:rPr lang="en-US" sz="1230" b="1" dirty="0">
                <a:solidFill>
                  <a:srgbClr val="003366"/>
                </a:solidFill>
                <a:latin typeface="Arial" pitchFamily="34" charset="0"/>
                <a:ea typeface="Arial" pitchFamily="34" charset="-122"/>
                <a:cs typeface="Arial" pitchFamily="34" charset="-120"/>
              </a:rPr>
              <a:t>87,50%</a:t>
            </a:r>
            <a:endParaRPr lang="en-US" sz="1230" dirty="0"/>
          </a:p>
        </p:txBody>
      </p:sp>
      <p:sp>
        <p:nvSpPr>
          <p:cNvPr id="34" name="Shape 31"/>
          <p:cNvSpPr/>
          <p:nvPr/>
        </p:nvSpPr>
        <p:spPr>
          <a:xfrm>
            <a:off x="8604504" y="1252728"/>
            <a:ext cx="2734056" cy="1280160"/>
          </a:xfrm>
          <a:prstGeom prst="roundRect">
            <a:avLst>
              <a:gd name="adj" fmla="val 1429"/>
            </a:avLst>
          </a:prstGeom>
          <a:solidFill>
            <a:srgbClr val="FFFFFF"/>
          </a:solidFill>
          <a:ln w="8255">
            <a:solidFill>
              <a:srgbClr val="D8DEE4"/>
            </a:solidFill>
            <a:prstDash val="solid"/>
          </a:ln>
        </p:spPr>
      </p:sp>
      <p:sp>
        <p:nvSpPr>
          <p:cNvPr id="35" name="Shape 32"/>
          <p:cNvSpPr/>
          <p:nvPr/>
        </p:nvSpPr>
        <p:spPr>
          <a:xfrm>
            <a:off x="8604504" y="1252728"/>
            <a:ext cx="73152" cy="1280160"/>
          </a:xfrm>
          <a:prstGeom prst="rect">
            <a:avLst/>
          </a:prstGeom>
          <a:solidFill>
            <a:srgbClr val="C91F35"/>
          </a:solidFill>
          <a:ln w="7620">
            <a:solidFill>
              <a:srgbClr val="C91F35"/>
            </a:solidFill>
            <a:prstDash val="solid"/>
          </a:ln>
        </p:spPr>
      </p:sp>
      <p:sp>
        <p:nvSpPr>
          <p:cNvPr id="36" name="Text 33"/>
          <p:cNvSpPr/>
          <p:nvPr/>
        </p:nvSpPr>
        <p:spPr>
          <a:xfrm>
            <a:off x="8805672" y="1389888"/>
            <a:ext cx="2404872" cy="384048"/>
          </a:xfrm>
          <a:prstGeom prst="rect">
            <a:avLst/>
          </a:prstGeom>
          <a:noFill/>
          <a:ln/>
        </p:spPr>
        <p:txBody>
          <a:bodyPr wrap="square" lIns="0" tIns="0" rIns="0" bIns="0" rtlCol="0" anchor="t">
            <a:normAutofit/>
          </a:bodyPr>
          <a:lstStyle/>
          <a:p>
            <a:pPr indent="0" marL="0">
              <a:buNone/>
            </a:pPr>
            <a:r>
              <a:rPr lang="en-US" sz="1800" b="1" dirty="0">
                <a:solidFill>
                  <a:srgbClr val="003366"/>
                </a:solidFill>
                <a:latin typeface="Arial" pitchFamily="34" charset="0"/>
                <a:ea typeface="Arial" pitchFamily="34" charset="-122"/>
                <a:cs typeface="Arial" pitchFamily="34" charset="-120"/>
              </a:rPr>
              <a:t>L3: 100%</a:t>
            </a:r>
            <a:endParaRPr lang="en-US" sz="1800" dirty="0"/>
          </a:p>
        </p:txBody>
      </p:sp>
      <p:sp>
        <p:nvSpPr>
          <p:cNvPr id="37" name="Text 34"/>
          <p:cNvSpPr/>
          <p:nvPr/>
        </p:nvSpPr>
        <p:spPr>
          <a:xfrm>
            <a:off x="8805672" y="1929384"/>
            <a:ext cx="2368296" cy="521208"/>
          </a:xfrm>
          <a:prstGeom prst="rect">
            <a:avLst/>
          </a:prstGeom>
          <a:noFill/>
          <a:ln/>
        </p:spPr>
        <p:txBody>
          <a:bodyPr wrap="square" lIns="0" tIns="0" rIns="0" bIns="0" rtlCol="0" anchor="t">
            <a:normAutofit/>
          </a:bodyPr>
          <a:lstStyle/>
          <a:p>
            <a:pPr indent="0" marL="0">
              <a:buNone/>
            </a:pPr>
            <a:r>
              <a:rPr lang="en-US" sz="1200" dirty="0">
                <a:solidFill>
                  <a:srgbClr val="242A30"/>
                </a:solidFill>
                <a:latin typeface="Arial" pitchFamily="34" charset="0"/>
                <a:ea typeface="Arial" pitchFamily="34" charset="-122"/>
                <a:cs typeface="Arial" pitchFamily="34" charset="-120"/>
              </a:rPr>
              <a:t>Coverage / robustness</a:t>
            </a:r>
            <a:endParaRPr lang="en-US" sz="1200" dirty="0"/>
          </a:p>
        </p:txBody>
      </p:sp>
      <p:sp>
        <p:nvSpPr>
          <p:cNvPr id="38" name="Shape 35"/>
          <p:cNvSpPr/>
          <p:nvPr/>
        </p:nvSpPr>
        <p:spPr>
          <a:xfrm>
            <a:off x="8604504" y="2743200"/>
            <a:ext cx="2734056" cy="1307592"/>
          </a:xfrm>
          <a:prstGeom prst="roundRect">
            <a:avLst>
              <a:gd name="adj" fmla="val 1399"/>
            </a:avLst>
          </a:prstGeom>
          <a:solidFill>
            <a:srgbClr val="FFFFFF"/>
          </a:solidFill>
          <a:ln w="8255">
            <a:solidFill>
              <a:srgbClr val="D8DEE4"/>
            </a:solidFill>
            <a:prstDash val="solid"/>
          </a:ln>
        </p:spPr>
      </p:sp>
      <p:sp>
        <p:nvSpPr>
          <p:cNvPr id="39" name="Shape 36"/>
          <p:cNvSpPr/>
          <p:nvPr/>
        </p:nvSpPr>
        <p:spPr>
          <a:xfrm>
            <a:off x="8604504" y="2743200"/>
            <a:ext cx="73152" cy="1307592"/>
          </a:xfrm>
          <a:prstGeom prst="rect">
            <a:avLst/>
          </a:prstGeom>
          <a:solidFill>
            <a:srgbClr val="003366"/>
          </a:solidFill>
          <a:ln w="7620">
            <a:solidFill>
              <a:srgbClr val="003366"/>
            </a:solidFill>
            <a:prstDash val="solid"/>
          </a:ln>
        </p:spPr>
      </p:sp>
      <p:sp>
        <p:nvSpPr>
          <p:cNvPr id="40" name="Text 37"/>
          <p:cNvSpPr/>
          <p:nvPr/>
        </p:nvSpPr>
        <p:spPr>
          <a:xfrm>
            <a:off x="8805672" y="2880360"/>
            <a:ext cx="2404872" cy="384048"/>
          </a:xfrm>
          <a:prstGeom prst="rect">
            <a:avLst/>
          </a:prstGeom>
          <a:noFill/>
          <a:ln/>
        </p:spPr>
        <p:txBody>
          <a:bodyPr wrap="square" lIns="0" tIns="0" rIns="0" bIns="0" rtlCol="0" anchor="t">
            <a:normAutofit/>
          </a:bodyPr>
          <a:lstStyle/>
          <a:p>
            <a:pPr indent="0" marL="0">
              <a:buNone/>
            </a:pPr>
            <a:r>
              <a:rPr lang="en-US" sz="1800" b="1" dirty="0">
                <a:solidFill>
                  <a:srgbClr val="003366"/>
                </a:solidFill>
                <a:latin typeface="Arial" pitchFamily="34" charset="0"/>
                <a:ea typeface="Arial" pitchFamily="34" charset="-122"/>
                <a:cs typeface="Arial" pitchFamily="34" charset="-120"/>
              </a:rPr>
              <a:t>B1: 87,50%</a:t>
            </a:r>
            <a:endParaRPr lang="en-US" sz="1800" dirty="0"/>
          </a:p>
        </p:txBody>
      </p:sp>
      <p:sp>
        <p:nvSpPr>
          <p:cNvPr id="41" name="Text 38"/>
          <p:cNvSpPr/>
          <p:nvPr/>
        </p:nvSpPr>
        <p:spPr>
          <a:xfrm>
            <a:off x="8805672" y="3419856"/>
            <a:ext cx="2368296" cy="548640"/>
          </a:xfrm>
          <a:prstGeom prst="rect">
            <a:avLst/>
          </a:prstGeom>
          <a:noFill/>
          <a:ln/>
        </p:spPr>
        <p:txBody>
          <a:bodyPr wrap="square" lIns="0" tIns="0" rIns="0" bIns="0" rtlCol="0" anchor="t">
            <a:normAutofit/>
          </a:bodyPr>
          <a:lstStyle/>
          <a:p>
            <a:pPr indent="0" marL="0">
              <a:buNone/>
            </a:pPr>
            <a:r>
              <a:rPr lang="en-US" sz="1150" dirty="0">
                <a:solidFill>
                  <a:srgbClr val="242A30"/>
                </a:solidFill>
                <a:latin typeface="Arial" pitchFamily="34" charset="0"/>
                <a:ea typeface="Arial" pitchFamily="34" charset="-122"/>
                <a:cs typeface="Arial" pitchFamily="34" charset="-120"/>
              </a:rPr>
              <a:t>Coverage; robustness 83,33%</a:t>
            </a:r>
            <a:endParaRPr lang="en-US" sz="1150" dirty="0"/>
          </a:p>
        </p:txBody>
      </p:sp>
      <p:sp>
        <p:nvSpPr>
          <p:cNvPr id="42" name="Shape 39"/>
          <p:cNvSpPr/>
          <p:nvPr/>
        </p:nvSpPr>
        <p:spPr>
          <a:xfrm>
            <a:off x="8604504" y="4270248"/>
            <a:ext cx="2734056" cy="1234440"/>
          </a:xfrm>
          <a:prstGeom prst="roundRect">
            <a:avLst>
              <a:gd name="adj" fmla="val 1481"/>
            </a:avLst>
          </a:prstGeom>
          <a:solidFill>
            <a:srgbClr val="FFFFFF"/>
          </a:solidFill>
          <a:ln w="8255">
            <a:solidFill>
              <a:srgbClr val="D8DEE4"/>
            </a:solidFill>
            <a:prstDash val="solid"/>
          </a:ln>
        </p:spPr>
      </p:sp>
      <p:sp>
        <p:nvSpPr>
          <p:cNvPr id="43" name="Shape 40"/>
          <p:cNvSpPr/>
          <p:nvPr/>
        </p:nvSpPr>
        <p:spPr>
          <a:xfrm>
            <a:off x="8604504" y="4270248"/>
            <a:ext cx="73152" cy="1234440"/>
          </a:xfrm>
          <a:prstGeom prst="rect">
            <a:avLst/>
          </a:prstGeom>
          <a:solidFill>
            <a:srgbClr val="C91F35"/>
          </a:solidFill>
          <a:ln w="7620">
            <a:solidFill>
              <a:srgbClr val="C91F35"/>
            </a:solidFill>
            <a:prstDash val="solid"/>
          </a:ln>
        </p:spPr>
      </p:sp>
      <p:sp>
        <p:nvSpPr>
          <p:cNvPr id="44" name="Text 41"/>
          <p:cNvSpPr/>
          <p:nvPr/>
        </p:nvSpPr>
        <p:spPr>
          <a:xfrm>
            <a:off x="8805672" y="4407408"/>
            <a:ext cx="2404872"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FPR: 11,36%</a:t>
            </a:r>
            <a:endParaRPr lang="en-US" sz="1600" dirty="0"/>
          </a:p>
        </p:txBody>
      </p:sp>
      <p:sp>
        <p:nvSpPr>
          <p:cNvPr id="45" name="Text 42"/>
          <p:cNvSpPr/>
          <p:nvPr/>
        </p:nvSpPr>
        <p:spPr>
          <a:xfrm>
            <a:off x="8805672" y="4946904"/>
            <a:ext cx="2368296" cy="475488"/>
          </a:xfrm>
          <a:prstGeom prst="rect">
            <a:avLst/>
          </a:prstGeom>
          <a:noFill/>
          <a:ln/>
        </p:spPr>
        <p:txBody>
          <a:bodyPr wrap="square" lIns="0" tIns="0" rIns="0" bIns="0" rtlCol="0" anchor="t">
            <a:normAutofit/>
          </a:bodyPr>
          <a:lstStyle/>
          <a:p>
            <a:pPr indent="0" marL="0">
              <a:buNone/>
            </a:pPr>
            <a:r>
              <a:rPr lang="en-US" sz="1150" dirty="0">
                <a:solidFill>
                  <a:srgbClr val="242A30"/>
                </a:solidFill>
                <a:latin typeface="Arial" pitchFamily="34" charset="0"/>
                <a:ea typeface="Arial" pitchFamily="34" charset="-122"/>
                <a:cs typeface="Arial" pitchFamily="34" charset="-120"/>
              </a:rPr>
              <a:t>B1 &amp; tất cả L1–L5</a:t>
            </a:r>
            <a:endParaRPr lang="en-US" sz="1150" dirty="0"/>
          </a:p>
        </p:txBody>
      </p:sp>
      <p:sp>
        <p:nvSpPr>
          <p:cNvPr id="46" name="Text 43"/>
          <p:cNvSpPr/>
          <p:nvPr/>
        </p:nvSpPr>
        <p:spPr>
          <a:xfrm>
            <a:off x="813816" y="5669280"/>
            <a:ext cx="10579608" cy="246888"/>
          </a:xfrm>
          <a:prstGeom prst="rect">
            <a:avLst/>
          </a:prstGeom>
          <a:noFill/>
          <a:ln/>
        </p:spPr>
        <p:txBody>
          <a:bodyPr wrap="square" lIns="0" tIns="0" rIns="0" bIns="0" rtlCol="0" anchor="ctr">
            <a:normAutofit/>
          </a:bodyPr>
          <a:lstStyle/>
          <a:p>
            <a:pPr algn="ctr" indent="0" marL="0">
              <a:buNone/>
            </a:pPr>
            <a:r>
              <a:rPr lang="en-US" sz="1230" dirty="0">
                <a:solidFill>
                  <a:srgbClr val="5C6570"/>
                </a:solidFill>
                <a:latin typeface="Arial" pitchFamily="34" charset="0"/>
                <a:ea typeface="Arial" pitchFamily="34" charset="-122"/>
                <a:cs typeface="Arial" pitchFamily="34" charset="-120"/>
              </a:rPr>
              <a:t>Mẫu số tính chỉ số: 24 attack hợp lệ + 44 benign; 104 quan sát / policy.</a:t>
            </a:r>
            <a:endParaRPr lang="en-US" sz="12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10. Phân tích L3: một họ SQLi được chặn tốt hơn</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10</a:t>
            </a:r>
            <a:endParaRPr lang="en-US" sz="680" dirty="0"/>
          </a:p>
        </p:txBody>
      </p:sp>
      <p:sp>
        <p:nvSpPr>
          <p:cNvPr id="5" name="Shape 2"/>
          <p:cNvSpPr/>
          <p:nvPr/>
        </p:nvSpPr>
        <p:spPr>
          <a:xfrm>
            <a:off x="749808" y="1380744"/>
            <a:ext cx="3538728" cy="2231136"/>
          </a:xfrm>
          <a:prstGeom prst="roundRect">
            <a:avLst>
              <a:gd name="adj" fmla="val 1639"/>
            </a:avLst>
          </a:prstGeom>
          <a:solidFill>
            <a:srgbClr val="F7F7F7"/>
          </a:solidFill>
          <a:ln w="7620">
            <a:solidFill>
              <a:srgbClr val="D8DEE4"/>
            </a:solidFill>
            <a:prstDash val="solid"/>
          </a:ln>
        </p:spPr>
      </p:sp>
      <p:sp>
        <p:nvSpPr>
          <p:cNvPr id="6" name="Shape 3"/>
          <p:cNvSpPr/>
          <p:nvPr/>
        </p:nvSpPr>
        <p:spPr>
          <a:xfrm>
            <a:off x="749808" y="1380744"/>
            <a:ext cx="3538728" cy="82296"/>
          </a:xfrm>
          <a:prstGeom prst="rect">
            <a:avLst/>
          </a:prstGeom>
          <a:solidFill>
            <a:srgbClr val="003366"/>
          </a:solidFill>
          <a:ln w="7620">
            <a:solidFill>
              <a:srgbClr val="003366"/>
            </a:solidFill>
            <a:prstDash val="solid"/>
          </a:ln>
        </p:spPr>
      </p:sp>
      <p:sp>
        <p:nvSpPr>
          <p:cNvPr id="7" name="Text 4"/>
          <p:cNvSpPr/>
          <p:nvPr/>
        </p:nvSpPr>
        <p:spPr>
          <a:xfrm>
            <a:off x="950976" y="1655064"/>
            <a:ext cx="2999232" cy="402336"/>
          </a:xfrm>
          <a:prstGeom prst="rect">
            <a:avLst/>
          </a:prstGeom>
          <a:noFill/>
          <a:ln/>
        </p:spPr>
        <p:txBody>
          <a:bodyPr wrap="square" lIns="0" tIns="0" rIns="0" bIns="0" rtlCol="0" anchor="ctr">
            <a:normAutofit/>
          </a:bodyPr>
          <a:lstStyle/>
          <a:p>
            <a:pPr indent="0" marL="0">
              <a:buNone/>
            </a:pPr>
            <a:r>
              <a:rPr lang="en-US" sz="2200" b="1" dirty="0">
                <a:solidFill>
                  <a:srgbClr val="003366"/>
                </a:solidFill>
                <a:latin typeface="Arial" pitchFamily="34" charset="0"/>
                <a:ea typeface="Arial" pitchFamily="34" charset="-122"/>
                <a:cs typeface="Arial" pitchFamily="34" charset="-120"/>
              </a:rPr>
              <a:t>RAW</a:t>
            </a:r>
            <a:endParaRPr lang="en-US" sz="2200" dirty="0"/>
          </a:p>
        </p:txBody>
      </p:sp>
      <p:sp>
        <p:nvSpPr>
          <p:cNvPr id="8" name="Text 5"/>
          <p:cNvSpPr/>
          <p:nvPr/>
        </p:nvSpPr>
        <p:spPr>
          <a:xfrm>
            <a:off x="950976" y="2304288"/>
            <a:ext cx="3017520" cy="329184"/>
          </a:xfrm>
          <a:prstGeom prst="rect">
            <a:avLst/>
          </a:prstGeom>
          <a:noFill/>
          <a:ln/>
        </p:spPr>
        <p:txBody>
          <a:bodyPr wrap="square" lIns="0" tIns="0" rIns="0" bIns="0" rtlCol="0" anchor="ctr">
            <a:normAutofit/>
          </a:bodyPr>
          <a:lstStyle/>
          <a:p>
            <a:pPr indent="0" marL="0">
              <a:buNone/>
            </a:pPr>
            <a:r>
              <a:rPr lang="en-US" sz="1500" dirty="0">
                <a:solidFill>
                  <a:srgbClr val="242A30"/>
                </a:solidFill>
                <a:latin typeface="Arial" pitchFamily="34" charset="0"/>
                <a:ea typeface="Arial" pitchFamily="34" charset="-122"/>
                <a:cs typeface="Arial" pitchFamily="34" charset="-120"/>
              </a:rPr>
              <a:t>SQLi nguyên bản</a:t>
            </a:r>
            <a:endParaRPr lang="en-US" sz="1500" dirty="0"/>
          </a:p>
        </p:txBody>
      </p:sp>
      <p:sp>
        <p:nvSpPr>
          <p:cNvPr id="9" name="Shape 6"/>
          <p:cNvSpPr/>
          <p:nvPr/>
        </p:nvSpPr>
        <p:spPr>
          <a:xfrm>
            <a:off x="923544" y="2926080"/>
            <a:ext cx="1499616" cy="292608"/>
          </a:xfrm>
          <a:prstGeom prst="roundRect">
            <a:avLst>
              <a:gd name="adj" fmla="val 25000"/>
            </a:avLst>
          </a:prstGeom>
          <a:solidFill>
            <a:srgbClr val="FCEEF1"/>
          </a:solidFill>
          <a:ln w="7620">
            <a:solidFill>
              <a:srgbClr val="FCEEF1"/>
            </a:solidFill>
            <a:prstDash val="solid"/>
          </a:ln>
        </p:spPr>
      </p:sp>
      <p:sp>
        <p:nvSpPr>
          <p:cNvPr id="10" name="Text 7"/>
          <p:cNvSpPr/>
          <p:nvPr/>
        </p:nvSpPr>
        <p:spPr>
          <a:xfrm>
            <a:off x="996696" y="2960827"/>
            <a:ext cx="1353312" cy="182880"/>
          </a:xfrm>
          <a:prstGeom prst="rect">
            <a:avLst/>
          </a:prstGeom>
          <a:noFill/>
          <a:ln/>
        </p:spPr>
        <p:txBody>
          <a:bodyPr wrap="square" lIns="0" tIns="0" rIns="0" bIns="0" rtlCol="0" anchor="ctr">
            <a:normAutofit/>
          </a:bodyPr>
          <a:lstStyle/>
          <a:p>
            <a:pPr algn="ctr" indent="0" marL="0">
              <a:buNone/>
            </a:pPr>
            <a:r>
              <a:rPr lang="en-US" sz="1020" b="1" dirty="0">
                <a:solidFill>
                  <a:srgbClr val="C91F35"/>
                </a:solidFill>
                <a:latin typeface="Arial" pitchFamily="34" charset="0"/>
                <a:ea typeface="Arial" pitchFamily="34" charset="-122"/>
                <a:cs typeface="Arial" pitchFamily="34" charset="-120"/>
              </a:rPr>
              <a:t>B1: BYPASS</a:t>
            </a:r>
            <a:endParaRPr lang="en-US" sz="1020" dirty="0"/>
          </a:p>
        </p:txBody>
      </p:sp>
      <p:sp>
        <p:nvSpPr>
          <p:cNvPr id="11" name="Shape 8"/>
          <p:cNvSpPr/>
          <p:nvPr/>
        </p:nvSpPr>
        <p:spPr>
          <a:xfrm>
            <a:off x="2578608" y="2926080"/>
            <a:ext cx="1499616" cy="292608"/>
          </a:xfrm>
          <a:prstGeom prst="roundRect">
            <a:avLst>
              <a:gd name="adj" fmla="val 25000"/>
            </a:avLst>
          </a:prstGeom>
          <a:solidFill>
            <a:srgbClr val="E9F1F8"/>
          </a:solidFill>
          <a:ln w="7620">
            <a:solidFill>
              <a:srgbClr val="E9F1F8"/>
            </a:solidFill>
            <a:prstDash val="solid"/>
          </a:ln>
        </p:spPr>
      </p:sp>
      <p:sp>
        <p:nvSpPr>
          <p:cNvPr id="12" name="Text 9"/>
          <p:cNvSpPr/>
          <p:nvPr/>
        </p:nvSpPr>
        <p:spPr>
          <a:xfrm>
            <a:off x="2651760" y="2960827"/>
            <a:ext cx="1353312" cy="182880"/>
          </a:xfrm>
          <a:prstGeom prst="rect">
            <a:avLst/>
          </a:prstGeom>
          <a:noFill/>
          <a:ln/>
        </p:spPr>
        <p:txBody>
          <a:bodyPr wrap="square" lIns="0" tIns="0" rIns="0" bIns="0" rtlCol="0" anchor="ctr">
            <a:normAutofit/>
          </a:bodyPr>
          <a:lstStyle/>
          <a:p>
            <a:pPr algn="ctr" indent="0" marL="0">
              <a:buNone/>
            </a:pPr>
            <a:r>
              <a:rPr lang="en-US" sz="1020" b="1" dirty="0">
                <a:solidFill>
                  <a:srgbClr val="003366"/>
                </a:solidFill>
                <a:latin typeface="Arial" pitchFamily="34" charset="0"/>
                <a:ea typeface="Arial" pitchFamily="34" charset="-122"/>
                <a:cs typeface="Arial" pitchFamily="34" charset="-120"/>
              </a:rPr>
              <a:t>L3: BLOCK</a:t>
            </a:r>
            <a:endParaRPr lang="en-US" sz="1020" dirty="0"/>
          </a:p>
        </p:txBody>
      </p:sp>
      <p:sp>
        <p:nvSpPr>
          <p:cNvPr id="13" name="Shape 10"/>
          <p:cNvSpPr/>
          <p:nvPr/>
        </p:nvSpPr>
        <p:spPr>
          <a:xfrm>
            <a:off x="4562856" y="1380744"/>
            <a:ext cx="3538728" cy="2231136"/>
          </a:xfrm>
          <a:prstGeom prst="roundRect">
            <a:avLst>
              <a:gd name="adj" fmla="val 1639"/>
            </a:avLst>
          </a:prstGeom>
          <a:solidFill>
            <a:srgbClr val="F7F7F7"/>
          </a:solidFill>
          <a:ln w="7620">
            <a:solidFill>
              <a:srgbClr val="D8DEE4"/>
            </a:solidFill>
            <a:prstDash val="solid"/>
          </a:ln>
        </p:spPr>
      </p:sp>
      <p:sp>
        <p:nvSpPr>
          <p:cNvPr id="14" name="Shape 11"/>
          <p:cNvSpPr/>
          <p:nvPr/>
        </p:nvSpPr>
        <p:spPr>
          <a:xfrm>
            <a:off x="4562856" y="1380744"/>
            <a:ext cx="3538728" cy="82296"/>
          </a:xfrm>
          <a:prstGeom prst="rect">
            <a:avLst/>
          </a:prstGeom>
          <a:solidFill>
            <a:srgbClr val="C91F35"/>
          </a:solidFill>
          <a:ln w="7620">
            <a:solidFill>
              <a:srgbClr val="C91F35"/>
            </a:solidFill>
            <a:prstDash val="solid"/>
          </a:ln>
        </p:spPr>
      </p:sp>
      <p:sp>
        <p:nvSpPr>
          <p:cNvPr id="15" name="Text 12"/>
          <p:cNvSpPr/>
          <p:nvPr/>
        </p:nvSpPr>
        <p:spPr>
          <a:xfrm>
            <a:off x="4764024" y="1655064"/>
            <a:ext cx="2999232" cy="402336"/>
          </a:xfrm>
          <a:prstGeom prst="rect">
            <a:avLst/>
          </a:prstGeom>
          <a:noFill/>
          <a:ln/>
        </p:spPr>
        <p:txBody>
          <a:bodyPr wrap="square" lIns="0" tIns="0" rIns="0" bIns="0" rtlCol="0" anchor="ctr">
            <a:normAutofit/>
          </a:bodyPr>
          <a:lstStyle/>
          <a:p>
            <a:pPr indent="0" marL="0">
              <a:buNone/>
            </a:pPr>
            <a:r>
              <a:rPr lang="en-US" sz="2200" b="1" dirty="0">
                <a:solidFill>
                  <a:srgbClr val="003366"/>
                </a:solidFill>
                <a:latin typeface="Arial" pitchFamily="34" charset="0"/>
                <a:ea typeface="Arial" pitchFamily="34" charset="-122"/>
                <a:cs typeface="Arial" pitchFamily="34" charset="-120"/>
              </a:rPr>
              <a:t>COMMENTS</a:t>
            </a:r>
            <a:endParaRPr lang="en-US" sz="2200" dirty="0"/>
          </a:p>
        </p:txBody>
      </p:sp>
      <p:sp>
        <p:nvSpPr>
          <p:cNvPr id="16" name="Text 13"/>
          <p:cNvSpPr/>
          <p:nvPr/>
        </p:nvSpPr>
        <p:spPr>
          <a:xfrm>
            <a:off x="4764024" y="2304288"/>
            <a:ext cx="3017520" cy="329184"/>
          </a:xfrm>
          <a:prstGeom prst="rect">
            <a:avLst/>
          </a:prstGeom>
          <a:noFill/>
          <a:ln/>
        </p:spPr>
        <p:txBody>
          <a:bodyPr wrap="square" lIns="0" tIns="0" rIns="0" bIns="0" rtlCol="0" anchor="ctr">
            <a:normAutofit/>
          </a:bodyPr>
          <a:lstStyle/>
          <a:p>
            <a:pPr indent="0" marL="0">
              <a:buNone/>
            </a:pPr>
            <a:r>
              <a:rPr lang="en-US" sz="1500" dirty="0">
                <a:solidFill>
                  <a:srgbClr val="242A30"/>
                </a:solidFill>
                <a:latin typeface="Arial" pitchFamily="34" charset="0"/>
                <a:ea typeface="Arial" pitchFamily="34" charset="-122"/>
                <a:cs typeface="Arial" pitchFamily="34" charset="-120"/>
              </a:rPr>
              <a:t>Xen block-comments</a:t>
            </a:r>
            <a:endParaRPr lang="en-US" sz="1500" dirty="0"/>
          </a:p>
        </p:txBody>
      </p:sp>
      <p:sp>
        <p:nvSpPr>
          <p:cNvPr id="17" name="Shape 14"/>
          <p:cNvSpPr/>
          <p:nvPr/>
        </p:nvSpPr>
        <p:spPr>
          <a:xfrm>
            <a:off x="4736592" y="2926080"/>
            <a:ext cx="1499616" cy="292608"/>
          </a:xfrm>
          <a:prstGeom prst="roundRect">
            <a:avLst>
              <a:gd name="adj" fmla="val 25000"/>
            </a:avLst>
          </a:prstGeom>
          <a:solidFill>
            <a:srgbClr val="FCEEF1"/>
          </a:solidFill>
          <a:ln w="7620">
            <a:solidFill>
              <a:srgbClr val="FCEEF1"/>
            </a:solidFill>
            <a:prstDash val="solid"/>
          </a:ln>
        </p:spPr>
      </p:sp>
      <p:sp>
        <p:nvSpPr>
          <p:cNvPr id="18" name="Text 15"/>
          <p:cNvSpPr/>
          <p:nvPr/>
        </p:nvSpPr>
        <p:spPr>
          <a:xfrm>
            <a:off x="4809744" y="2960827"/>
            <a:ext cx="1353312" cy="182880"/>
          </a:xfrm>
          <a:prstGeom prst="rect">
            <a:avLst/>
          </a:prstGeom>
          <a:noFill/>
          <a:ln/>
        </p:spPr>
        <p:txBody>
          <a:bodyPr wrap="square" lIns="0" tIns="0" rIns="0" bIns="0" rtlCol="0" anchor="ctr">
            <a:normAutofit/>
          </a:bodyPr>
          <a:lstStyle/>
          <a:p>
            <a:pPr algn="ctr" indent="0" marL="0">
              <a:buNone/>
            </a:pPr>
            <a:r>
              <a:rPr lang="en-US" sz="1020" b="1" dirty="0">
                <a:solidFill>
                  <a:srgbClr val="C91F35"/>
                </a:solidFill>
                <a:latin typeface="Arial" pitchFamily="34" charset="0"/>
                <a:ea typeface="Arial" pitchFamily="34" charset="-122"/>
                <a:cs typeface="Arial" pitchFamily="34" charset="-120"/>
              </a:rPr>
              <a:t>B1: BYPASS</a:t>
            </a:r>
            <a:endParaRPr lang="en-US" sz="1020" dirty="0"/>
          </a:p>
        </p:txBody>
      </p:sp>
      <p:sp>
        <p:nvSpPr>
          <p:cNvPr id="19" name="Shape 16"/>
          <p:cNvSpPr/>
          <p:nvPr/>
        </p:nvSpPr>
        <p:spPr>
          <a:xfrm>
            <a:off x="6391656" y="2926080"/>
            <a:ext cx="1499616" cy="292608"/>
          </a:xfrm>
          <a:prstGeom prst="roundRect">
            <a:avLst>
              <a:gd name="adj" fmla="val 25000"/>
            </a:avLst>
          </a:prstGeom>
          <a:solidFill>
            <a:srgbClr val="E9F1F8"/>
          </a:solidFill>
          <a:ln w="7620">
            <a:solidFill>
              <a:srgbClr val="E9F1F8"/>
            </a:solidFill>
            <a:prstDash val="solid"/>
          </a:ln>
        </p:spPr>
      </p:sp>
      <p:sp>
        <p:nvSpPr>
          <p:cNvPr id="20" name="Text 17"/>
          <p:cNvSpPr/>
          <p:nvPr/>
        </p:nvSpPr>
        <p:spPr>
          <a:xfrm>
            <a:off x="6464808" y="2960827"/>
            <a:ext cx="1353312" cy="182880"/>
          </a:xfrm>
          <a:prstGeom prst="rect">
            <a:avLst/>
          </a:prstGeom>
          <a:noFill/>
          <a:ln/>
        </p:spPr>
        <p:txBody>
          <a:bodyPr wrap="square" lIns="0" tIns="0" rIns="0" bIns="0" rtlCol="0" anchor="ctr">
            <a:normAutofit/>
          </a:bodyPr>
          <a:lstStyle/>
          <a:p>
            <a:pPr algn="ctr" indent="0" marL="0">
              <a:buNone/>
            </a:pPr>
            <a:r>
              <a:rPr lang="en-US" sz="1020" b="1" dirty="0">
                <a:solidFill>
                  <a:srgbClr val="003366"/>
                </a:solidFill>
                <a:latin typeface="Arial" pitchFamily="34" charset="0"/>
                <a:ea typeface="Arial" pitchFamily="34" charset="-122"/>
                <a:cs typeface="Arial" pitchFamily="34" charset="-120"/>
              </a:rPr>
              <a:t>L3: BLOCK</a:t>
            </a:r>
            <a:endParaRPr lang="en-US" sz="1020" dirty="0"/>
          </a:p>
        </p:txBody>
      </p:sp>
      <p:sp>
        <p:nvSpPr>
          <p:cNvPr id="21" name="Shape 18"/>
          <p:cNvSpPr/>
          <p:nvPr/>
        </p:nvSpPr>
        <p:spPr>
          <a:xfrm>
            <a:off x="8375904" y="1380744"/>
            <a:ext cx="3538728" cy="2231136"/>
          </a:xfrm>
          <a:prstGeom prst="roundRect">
            <a:avLst>
              <a:gd name="adj" fmla="val 1639"/>
            </a:avLst>
          </a:prstGeom>
          <a:solidFill>
            <a:srgbClr val="F7F7F7"/>
          </a:solidFill>
          <a:ln w="7620">
            <a:solidFill>
              <a:srgbClr val="D8DEE4"/>
            </a:solidFill>
            <a:prstDash val="solid"/>
          </a:ln>
        </p:spPr>
      </p:sp>
      <p:sp>
        <p:nvSpPr>
          <p:cNvPr id="22" name="Shape 19"/>
          <p:cNvSpPr/>
          <p:nvPr/>
        </p:nvSpPr>
        <p:spPr>
          <a:xfrm>
            <a:off x="8375904" y="1380744"/>
            <a:ext cx="3538728" cy="82296"/>
          </a:xfrm>
          <a:prstGeom prst="rect">
            <a:avLst/>
          </a:prstGeom>
          <a:solidFill>
            <a:srgbClr val="003366"/>
          </a:solidFill>
          <a:ln w="7620">
            <a:solidFill>
              <a:srgbClr val="003366"/>
            </a:solidFill>
            <a:prstDash val="solid"/>
          </a:ln>
        </p:spPr>
      </p:sp>
      <p:sp>
        <p:nvSpPr>
          <p:cNvPr id="23" name="Text 20"/>
          <p:cNvSpPr/>
          <p:nvPr/>
        </p:nvSpPr>
        <p:spPr>
          <a:xfrm>
            <a:off x="8577072" y="1655064"/>
            <a:ext cx="2999232" cy="402336"/>
          </a:xfrm>
          <a:prstGeom prst="rect">
            <a:avLst/>
          </a:prstGeom>
          <a:noFill/>
          <a:ln/>
        </p:spPr>
        <p:txBody>
          <a:bodyPr wrap="square" lIns="0" tIns="0" rIns="0" bIns="0" rtlCol="0" anchor="ctr">
            <a:normAutofit/>
          </a:bodyPr>
          <a:lstStyle/>
          <a:p>
            <a:pPr indent="0" marL="0">
              <a:buNone/>
            </a:pPr>
            <a:r>
              <a:rPr lang="en-US" sz="2200" b="1" dirty="0">
                <a:solidFill>
                  <a:srgbClr val="003366"/>
                </a:solidFill>
                <a:latin typeface="Arial" pitchFamily="34" charset="0"/>
                <a:ea typeface="Arial" pitchFamily="34" charset="-122"/>
                <a:cs typeface="Arial" pitchFamily="34" charset="-120"/>
              </a:rPr>
              <a:t>TAB</a:t>
            </a:r>
            <a:endParaRPr lang="en-US" sz="2200" dirty="0"/>
          </a:p>
        </p:txBody>
      </p:sp>
      <p:sp>
        <p:nvSpPr>
          <p:cNvPr id="24" name="Text 21"/>
          <p:cNvSpPr/>
          <p:nvPr/>
        </p:nvSpPr>
        <p:spPr>
          <a:xfrm>
            <a:off x="8577072" y="2304288"/>
            <a:ext cx="3017520" cy="329184"/>
          </a:xfrm>
          <a:prstGeom prst="rect">
            <a:avLst/>
          </a:prstGeom>
          <a:noFill/>
          <a:ln/>
        </p:spPr>
        <p:txBody>
          <a:bodyPr wrap="square" lIns="0" tIns="0" rIns="0" bIns="0" rtlCol="0" anchor="ctr">
            <a:normAutofit/>
          </a:bodyPr>
          <a:lstStyle/>
          <a:p>
            <a:pPr indent="0" marL="0">
              <a:buNone/>
            </a:pPr>
            <a:r>
              <a:rPr lang="en-US" sz="1500" dirty="0">
                <a:solidFill>
                  <a:srgbClr val="242A30"/>
                </a:solidFill>
                <a:latin typeface="Arial" pitchFamily="34" charset="0"/>
                <a:ea typeface="Arial" pitchFamily="34" charset="-122"/>
                <a:cs typeface="Arial" pitchFamily="34" charset="-120"/>
              </a:rPr>
              <a:t>Thay khoảng trắng bằng tab</a:t>
            </a:r>
            <a:endParaRPr lang="en-US" sz="1500" dirty="0"/>
          </a:p>
        </p:txBody>
      </p:sp>
      <p:sp>
        <p:nvSpPr>
          <p:cNvPr id="25" name="Shape 22"/>
          <p:cNvSpPr/>
          <p:nvPr/>
        </p:nvSpPr>
        <p:spPr>
          <a:xfrm>
            <a:off x="8549640" y="2926080"/>
            <a:ext cx="1499616" cy="292608"/>
          </a:xfrm>
          <a:prstGeom prst="roundRect">
            <a:avLst>
              <a:gd name="adj" fmla="val 25000"/>
            </a:avLst>
          </a:prstGeom>
          <a:solidFill>
            <a:srgbClr val="FCEEF1"/>
          </a:solidFill>
          <a:ln w="7620">
            <a:solidFill>
              <a:srgbClr val="FCEEF1"/>
            </a:solidFill>
            <a:prstDash val="solid"/>
          </a:ln>
        </p:spPr>
      </p:sp>
      <p:sp>
        <p:nvSpPr>
          <p:cNvPr id="26" name="Text 23"/>
          <p:cNvSpPr/>
          <p:nvPr/>
        </p:nvSpPr>
        <p:spPr>
          <a:xfrm>
            <a:off x="8622792" y="2960827"/>
            <a:ext cx="1353312" cy="182880"/>
          </a:xfrm>
          <a:prstGeom prst="rect">
            <a:avLst/>
          </a:prstGeom>
          <a:noFill/>
          <a:ln/>
        </p:spPr>
        <p:txBody>
          <a:bodyPr wrap="square" lIns="0" tIns="0" rIns="0" bIns="0" rtlCol="0" anchor="ctr">
            <a:normAutofit/>
          </a:bodyPr>
          <a:lstStyle/>
          <a:p>
            <a:pPr algn="ctr" indent="0" marL="0">
              <a:buNone/>
            </a:pPr>
            <a:r>
              <a:rPr lang="en-US" sz="1020" b="1" dirty="0">
                <a:solidFill>
                  <a:srgbClr val="C91F35"/>
                </a:solidFill>
                <a:latin typeface="Arial" pitchFamily="34" charset="0"/>
                <a:ea typeface="Arial" pitchFamily="34" charset="-122"/>
                <a:cs typeface="Arial" pitchFamily="34" charset="-120"/>
              </a:rPr>
              <a:t>B1: BYPASS</a:t>
            </a:r>
            <a:endParaRPr lang="en-US" sz="1020" dirty="0"/>
          </a:p>
        </p:txBody>
      </p:sp>
      <p:sp>
        <p:nvSpPr>
          <p:cNvPr id="27" name="Shape 24"/>
          <p:cNvSpPr/>
          <p:nvPr/>
        </p:nvSpPr>
        <p:spPr>
          <a:xfrm>
            <a:off x="10204704" y="2926080"/>
            <a:ext cx="1499616" cy="292608"/>
          </a:xfrm>
          <a:prstGeom prst="roundRect">
            <a:avLst>
              <a:gd name="adj" fmla="val 25000"/>
            </a:avLst>
          </a:prstGeom>
          <a:solidFill>
            <a:srgbClr val="E9F1F8"/>
          </a:solidFill>
          <a:ln w="7620">
            <a:solidFill>
              <a:srgbClr val="E9F1F8"/>
            </a:solidFill>
            <a:prstDash val="solid"/>
          </a:ln>
        </p:spPr>
      </p:sp>
      <p:sp>
        <p:nvSpPr>
          <p:cNvPr id="28" name="Text 25"/>
          <p:cNvSpPr/>
          <p:nvPr/>
        </p:nvSpPr>
        <p:spPr>
          <a:xfrm>
            <a:off x="10277856" y="2960827"/>
            <a:ext cx="1353312" cy="182880"/>
          </a:xfrm>
          <a:prstGeom prst="rect">
            <a:avLst/>
          </a:prstGeom>
          <a:noFill/>
          <a:ln/>
        </p:spPr>
        <p:txBody>
          <a:bodyPr wrap="square" lIns="0" tIns="0" rIns="0" bIns="0" rtlCol="0" anchor="ctr">
            <a:normAutofit/>
          </a:bodyPr>
          <a:lstStyle/>
          <a:p>
            <a:pPr algn="ctr" indent="0" marL="0">
              <a:buNone/>
            </a:pPr>
            <a:r>
              <a:rPr lang="en-US" sz="1020" b="1" dirty="0">
                <a:solidFill>
                  <a:srgbClr val="003366"/>
                </a:solidFill>
                <a:latin typeface="Arial" pitchFamily="34" charset="0"/>
                <a:ea typeface="Arial" pitchFamily="34" charset="-122"/>
                <a:cs typeface="Arial" pitchFamily="34" charset="-120"/>
              </a:rPr>
              <a:t>L3: BLOCK</a:t>
            </a:r>
            <a:endParaRPr lang="en-US" sz="1020" dirty="0"/>
          </a:p>
        </p:txBody>
      </p:sp>
      <p:sp>
        <p:nvSpPr>
          <p:cNvPr id="29" name="Shape 26"/>
          <p:cNvSpPr/>
          <p:nvPr/>
        </p:nvSpPr>
        <p:spPr>
          <a:xfrm>
            <a:off x="804672" y="3950208"/>
            <a:ext cx="10543032" cy="1261872"/>
          </a:xfrm>
          <a:prstGeom prst="roundRect">
            <a:avLst>
              <a:gd name="adj" fmla="val 1449"/>
            </a:avLst>
          </a:prstGeom>
          <a:solidFill>
            <a:srgbClr val="FFFFFF"/>
          </a:solidFill>
          <a:ln w="8255">
            <a:solidFill>
              <a:srgbClr val="D8DEE4"/>
            </a:solidFill>
            <a:prstDash val="solid"/>
          </a:ln>
        </p:spPr>
      </p:sp>
      <p:sp>
        <p:nvSpPr>
          <p:cNvPr id="30" name="Shape 27"/>
          <p:cNvSpPr/>
          <p:nvPr/>
        </p:nvSpPr>
        <p:spPr>
          <a:xfrm>
            <a:off x="804672" y="3950208"/>
            <a:ext cx="73152" cy="1261872"/>
          </a:xfrm>
          <a:prstGeom prst="rect">
            <a:avLst/>
          </a:prstGeom>
          <a:solidFill>
            <a:srgbClr val="003366"/>
          </a:solidFill>
          <a:ln w="7620">
            <a:solidFill>
              <a:srgbClr val="003366"/>
            </a:solidFill>
            <a:prstDash val="solid"/>
          </a:ln>
        </p:spPr>
      </p:sp>
      <p:sp>
        <p:nvSpPr>
          <p:cNvPr id="31" name="Text 28"/>
          <p:cNvSpPr/>
          <p:nvPr/>
        </p:nvSpPr>
        <p:spPr>
          <a:xfrm>
            <a:off x="1005840" y="4087368"/>
            <a:ext cx="10213848"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Audit log kết luận</a:t>
            </a:r>
            <a:endParaRPr lang="en-US" sz="1600" dirty="0"/>
          </a:p>
        </p:txBody>
      </p:sp>
      <p:sp>
        <p:nvSpPr>
          <p:cNvPr id="32" name="Text 29"/>
          <p:cNvSpPr/>
          <p:nvPr/>
        </p:nvSpPr>
        <p:spPr>
          <a:xfrm>
            <a:off x="1005840" y="4626864"/>
            <a:ext cx="10177272" cy="502920"/>
          </a:xfrm>
          <a:prstGeom prst="rect">
            <a:avLst/>
          </a:prstGeom>
          <a:noFill/>
          <a:ln/>
        </p:spPr>
        <p:txBody>
          <a:bodyPr wrap="square" lIns="0" tIns="0" rIns="0" bIns="0" rtlCol="0" anchor="t">
            <a:normAutofit/>
          </a:bodyPr>
          <a:lstStyle/>
          <a:p>
            <a:pPr indent="0" marL="0">
              <a:buNone/>
            </a:pPr>
            <a:r>
              <a:rPr lang="en-US" sz="1420" dirty="0">
                <a:solidFill>
                  <a:srgbClr val="242A30"/>
                </a:solidFill>
                <a:latin typeface="Arial" pitchFamily="34" charset="0"/>
                <a:ea typeface="Arial" pitchFamily="34" charset="-122"/>
                <a:cs typeface="Arial" pitchFamily="34" charset="-120"/>
              </a:rPr>
              <a:t>L3 chặn ba biến thể cùng family test-sql-0 qua luật 110002; đây KHÔNG phải ba CVE độc lập.</a:t>
            </a:r>
            <a:endParaRPr lang="en-US" sz="1420" dirty="0"/>
          </a:p>
        </p:txBody>
      </p:sp>
      <p:sp>
        <p:nvSpPr>
          <p:cNvPr id="33" name="Text 30"/>
          <p:cNvSpPr/>
          <p:nvPr/>
        </p:nvSpPr>
        <p:spPr>
          <a:xfrm>
            <a:off x="841248" y="5559552"/>
            <a:ext cx="10405872" cy="356616"/>
          </a:xfrm>
          <a:prstGeom prst="rect">
            <a:avLst/>
          </a:prstGeom>
          <a:noFill/>
          <a:ln/>
        </p:spPr>
        <p:txBody>
          <a:bodyPr wrap="square" lIns="0" tIns="0" rIns="0" bIns="0" rtlCol="0" anchor="ctr">
            <a:normAutofit/>
          </a:bodyPr>
          <a:lstStyle/>
          <a:p>
            <a:pPr algn="ctr" indent="0" marL="0">
              <a:buNone/>
            </a:pPr>
            <a:r>
              <a:rPr lang="en-US" sz="1420" b="1" dirty="0">
                <a:solidFill>
                  <a:srgbClr val="C91F35"/>
                </a:solidFill>
                <a:latin typeface="Arial" pitchFamily="34" charset="0"/>
                <a:ea typeface="Arial" pitchFamily="34" charset="-122"/>
                <a:cs typeface="Arial" pitchFamily="34" charset="-120"/>
              </a:rPr>
              <a:t>L3 dùng regex gồm nhánh “--” rộng trên /sql → vẫn cần thử thêm benign SQL độc lập.</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11. Trade-off: false positive và hồi quy chức năng</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11</a:t>
            </a:r>
            <a:endParaRPr lang="en-US" sz="680" dirty="0"/>
          </a:p>
        </p:txBody>
      </p:sp>
      <p:sp>
        <p:nvSpPr>
          <p:cNvPr id="5" name="Shape 2"/>
          <p:cNvSpPr/>
          <p:nvPr/>
        </p:nvSpPr>
        <p:spPr>
          <a:xfrm>
            <a:off x="758952" y="1298448"/>
            <a:ext cx="3264408" cy="1097280"/>
          </a:xfrm>
          <a:prstGeom prst="roundRect">
            <a:avLst>
              <a:gd name="adj" fmla="val 2500"/>
            </a:avLst>
          </a:prstGeom>
          <a:solidFill>
            <a:srgbClr val="F7F7F7"/>
          </a:solidFill>
          <a:ln w="7620">
            <a:solidFill>
              <a:srgbClr val="F7F7F7"/>
            </a:solidFill>
            <a:prstDash val="solid"/>
          </a:ln>
        </p:spPr>
      </p:sp>
      <p:sp>
        <p:nvSpPr>
          <p:cNvPr id="6" name="Text 3"/>
          <p:cNvSpPr/>
          <p:nvPr/>
        </p:nvSpPr>
        <p:spPr>
          <a:xfrm>
            <a:off x="877824" y="1444752"/>
            <a:ext cx="3026664" cy="484632"/>
          </a:xfrm>
          <a:prstGeom prst="rect">
            <a:avLst/>
          </a:prstGeom>
          <a:noFill/>
          <a:ln/>
        </p:spPr>
        <p:txBody>
          <a:bodyPr wrap="square" lIns="0" tIns="0" rIns="0" bIns="0" rtlCol="0" anchor="ctr">
            <a:normAutofit/>
          </a:bodyPr>
          <a:lstStyle/>
          <a:p>
            <a:pPr algn="ctr" indent="0" marL="0">
              <a:buNone/>
            </a:pPr>
            <a:r>
              <a:rPr lang="en-US" sz="2600" b="1" dirty="0">
                <a:solidFill>
                  <a:srgbClr val="C91F35"/>
                </a:solidFill>
                <a:latin typeface="Arial" pitchFamily="34" charset="0"/>
                <a:ea typeface="Arial" pitchFamily="34" charset="-122"/>
                <a:cs typeface="Arial" pitchFamily="34" charset="-120"/>
              </a:rPr>
              <a:t>11/44</a:t>
            </a:r>
            <a:endParaRPr lang="en-US" sz="2600" dirty="0"/>
          </a:p>
        </p:txBody>
      </p:sp>
      <p:sp>
        <p:nvSpPr>
          <p:cNvPr id="7" name="Text 4"/>
          <p:cNvSpPr/>
          <p:nvPr/>
        </p:nvSpPr>
        <p:spPr>
          <a:xfrm>
            <a:off x="850392" y="2020824"/>
            <a:ext cx="3081528"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FPR B0 = 25,00%</a:t>
            </a:r>
            <a:endParaRPr lang="en-US" sz="1200" dirty="0"/>
          </a:p>
        </p:txBody>
      </p:sp>
      <p:sp>
        <p:nvSpPr>
          <p:cNvPr id="8" name="Shape 5"/>
          <p:cNvSpPr/>
          <p:nvPr/>
        </p:nvSpPr>
        <p:spPr>
          <a:xfrm>
            <a:off x="4443984" y="1298448"/>
            <a:ext cx="3264408" cy="1097280"/>
          </a:xfrm>
          <a:prstGeom prst="roundRect">
            <a:avLst>
              <a:gd name="adj" fmla="val 2500"/>
            </a:avLst>
          </a:prstGeom>
          <a:solidFill>
            <a:srgbClr val="F7F7F7"/>
          </a:solidFill>
          <a:ln w="7620">
            <a:solidFill>
              <a:srgbClr val="F7F7F7"/>
            </a:solidFill>
            <a:prstDash val="solid"/>
          </a:ln>
        </p:spPr>
      </p:sp>
      <p:sp>
        <p:nvSpPr>
          <p:cNvPr id="9" name="Text 6"/>
          <p:cNvSpPr/>
          <p:nvPr/>
        </p:nvSpPr>
        <p:spPr>
          <a:xfrm>
            <a:off x="4562856" y="1444752"/>
            <a:ext cx="3026664" cy="484632"/>
          </a:xfrm>
          <a:prstGeom prst="rect">
            <a:avLst/>
          </a:prstGeom>
          <a:noFill/>
          <a:ln/>
        </p:spPr>
        <p:txBody>
          <a:bodyPr wrap="square" lIns="0" tIns="0" rIns="0" bIns="0" rtlCol="0" anchor="ctr">
            <a:normAutofit/>
          </a:bodyPr>
          <a:lstStyle/>
          <a:p>
            <a:pPr algn="ctr" indent="0" marL="0">
              <a:buNone/>
            </a:pPr>
            <a:r>
              <a:rPr lang="en-US" sz="2600" b="1" dirty="0">
                <a:solidFill>
                  <a:srgbClr val="C91F35"/>
                </a:solidFill>
                <a:latin typeface="Arial" pitchFamily="34" charset="0"/>
                <a:ea typeface="Arial" pitchFamily="34" charset="-122"/>
                <a:cs typeface="Arial" pitchFamily="34" charset="-120"/>
              </a:rPr>
              <a:t>5/44</a:t>
            </a:r>
            <a:endParaRPr lang="en-US" sz="2600" dirty="0"/>
          </a:p>
        </p:txBody>
      </p:sp>
      <p:sp>
        <p:nvSpPr>
          <p:cNvPr id="10" name="Text 7"/>
          <p:cNvSpPr/>
          <p:nvPr/>
        </p:nvSpPr>
        <p:spPr>
          <a:xfrm>
            <a:off x="4535424" y="2020824"/>
            <a:ext cx="3081528"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FPR B1 &amp; L1–L5</a:t>
            </a:r>
            <a:endParaRPr lang="en-US" sz="1200" dirty="0"/>
          </a:p>
        </p:txBody>
      </p:sp>
      <p:sp>
        <p:nvSpPr>
          <p:cNvPr id="11" name="Shape 8"/>
          <p:cNvSpPr/>
          <p:nvPr/>
        </p:nvSpPr>
        <p:spPr>
          <a:xfrm>
            <a:off x="8110728" y="1298448"/>
            <a:ext cx="3273552" cy="1097280"/>
          </a:xfrm>
          <a:prstGeom prst="roundRect">
            <a:avLst>
              <a:gd name="adj" fmla="val 2500"/>
            </a:avLst>
          </a:prstGeom>
          <a:solidFill>
            <a:srgbClr val="F7F7F7"/>
          </a:solidFill>
          <a:ln w="7620">
            <a:solidFill>
              <a:srgbClr val="F7F7F7"/>
            </a:solidFill>
            <a:prstDash val="solid"/>
          </a:ln>
        </p:spPr>
      </p:sp>
      <p:sp>
        <p:nvSpPr>
          <p:cNvPr id="12" name="Text 9"/>
          <p:cNvSpPr/>
          <p:nvPr/>
        </p:nvSpPr>
        <p:spPr>
          <a:xfrm>
            <a:off x="8229600" y="1444752"/>
            <a:ext cx="3035808"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1</a:t>
            </a:r>
            <a:endParaRPr lang="en-US" sz="2600" dirty="0"/>
          </a:p>
        </p:txBody>
      </p:sp>
      <p:sp>
        <p:nvSpPr>
          <p:cNvPr id="13" name="Text 10"/>
          <p:cNvSpPr/>
          <p:nvPr/>
        </p:nvSpPr>
        <p:spPr>
          <a:xfrm>
            <a:off x="8202168" y="2020824"/>
            <a:ext cx="3090672"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Benign regression / policy</a:t>
            </a:r>
            <a:endParaRPr lang="en-US" sz="1200" dirty="0"/>
          </a:p>
        </p:txBody>
      </p:sp>
      <p:sp>
        <p:nvSpPr>
          <p:cNvPr id="14" name="Shape 11"/>
          <p:cNvSpPr/>
          <p:nvPr/>
        </p:nvSpPr>
        <p:spPr>
          <a:xfrm>
            <a:off x="768096" y="2862072"/>
            <a:ext cx="5276088" cy="2148840"/>
          </a:xfrm>
          <a:prstGeom prst="roundRect">
            <a:avLst>
              <a:gd name="adj" fmla="val 851"/>
            </a:avLst>
          </a:prstGeom>
          <a:solidFill>
            <a:srgbClr val="FFFFFF"/>
          </a:solidFill>
          <a:ln w="8255">
            <a:solidFill>
              <a:srgbClr val="D8DEE4"/>
            </a:solidFill>
            <a:prstDash val="solid"/>
          </a:ln>
        </p:spPr>
      </p:sp>
      <p:sp>
        <p:nvSpPr>
          <p:cNvPr id="15" name="Shape 12"/>
          <p:cNvSpPr/>
          <p:nvPr/>
        </p:nvSpPr>
        <p:spPr>
          <a:xfrm>
            <a:off x="768096" y="2862072"/>
            <a:ext cx="73152" cy="2148840"/>
          </a:xfrm>
          <a:prstGeom prst="rect">
            <a:avLst/>
          </a:prstGeom>
          <a:solidFill>
            <a:srgbClr val="C91F35"/>
          </a:solidFill>
          <a:ln w="7620">
            <a:solidFill>
              <a:srgbClr val="C91F35"/>
            </a:solidFill>
            <a:prstDash val="solid"/>
          </a:ln>
        </p:spPr>
      </p:sp>
      <p:sp>
        <p:nvSpPr>
          <p:cNvPr id="16" name="Text 13"/>
          <p:cNvSpPr/>
          <p:nvPr/>
        </p:nvSpPr>
        <p:spPr>
          <a:xfrm>
            <a:off x="969264" y="2999232"/>
            <a:ext cx="4946904"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False positive thực</a:t>
            </a:r>
            <a:endParaRPr lang="en-US" sz="1600" dirty="0"/>
          </a:p>
        </p:txBody>
      </p:sp>
      <p:sp>
        <p:nvSpPr>
          <p:cNvPr id="17" name="Text 14"/>
          <p:cNvSpPr/>
          <p:nvPr/>
        </p:nvSpPr>
        <p:spPr>
          <a:xfrm>
            <a:off x="969264" y="3538728"/>
            <a:ext cx="4910328" cy="1389888"/>
          </a:xfrm>
          <a:prstGeom prst="rect">
            <a:avLst/>
          </a:prstGeom>
          <a:noFill/>
          <a:ln/>
        </p:spPr>
        <p:txBody>
          <a:bodyPr wrap="square" lIns="0" tIns="0" rIns="0" bIns="0" rtlCol="0" anchor="t">
            <a:normAutofit/>
          </a:bodyPr>
          <a:lstStyle/>
          <a:p>
            <a:pPr indent="0" marL="0">
              <a:buNone/>
            </a:pPr>
            <a:r>
              <a:rPr lang="en-US" sz="1530" dirty="0">
                <a:solidFill>
                  <a:srgbClr val="242A30"/>
                </a:solidFill>
                <a:latin typeface="Arial" pitchFamily="34" charset="0"/>
                <a:ea typeface="Arial" pitchFamily="34" charset="-122"/>
                <a:cs typeface="Arial" pitchFamily="34" charset="-120"/>
              </a:rPr>
              <a:t>Yêu cầu hợp lệ trên /docs, /search hoặc /file bị WAF trả 403 mặc dù backend xử lý thành công.</a:t>
            </a:r>
            <a:endParaRPr lang="en-US" sz="1530" dirty="0"/>
          </a:p>
        </p:txBody>
      </p:sp>
      <p:sp>
        <p:nvSpPr>
          <p:cNvPr id="18" name="Shape 15"/>
          <p:cNvSpPr/>
          <p:nvPr/>
        </p:nvSpPr>
        <p:spPr>
          <a:xfrm>
            <a:off x="6199632" y="2862072"/>
            <a:ext cx="5276088" cy="2148840"/>
          </a:xfrm>
          <a:prstGeom prst="roundRect">
            <a:avLst>
              <a:gd name="adj" fmla="val 851"/>
            </a:avLst>
          </a:prstGeom>
          <a:solidFill>
            <a:srgbClr val="FFFFFF"/>
          </a:solidFill>
          <a:ln w="8255">
            <a:solidFill>
              <a:srgbClr val="D8DEE4"/>
            </a:solidFill>
            <a:prstDash val="solid"/>
          </a:ln>
        </p:spPr>
      </p:sp>
      <p:sp>
        <p:nvSpPr>
          <p:cNvPr id="19" name="Shape 16"/>
          <p:cNvSpPr/>
          <p:nvPr/>
        </p:nvSpPr>
        <p:spPr>
          <a:xfrm>
            <a:off x="6199632" y="2862072"/>
            <a:ext cx="73152" cy="2148840"/>
          </a:xfrm>
          <a:prstGeom prst="rect">
            <a:avLst/>
          </a:prstGeom>
          <a:solidFill>
            <a:srgbClr val="003366"/>
          </a:solidFill>
          <a:ln w="7620">
            <a:solidFill>
              <a:srgbClr val="003366"/>
            </a:solidFill>
            <a:prstDash val="solid"/>
          </a:ln>
        </p:spPr>
      </p:sp>
      <p:sp>
        <p:nvSpPr>
          <p:cNvPr id="20" name="Text 17"/>
          <p:cNvSpPr/>
          <p:nvPr/>
        </p:nvSpPr>
        <p:spPr>
          <a:xfrm>
            <a:off x="6400800" y="2999232"/>
            <a:ext cx="4946904" cy="384048"/>
          </a:xfrm>
          <a:prstGeom prst="rect">
            <a:avLst/>
          </a:prstGeom>
          <a:noFill/>
          <a:ln/>
        </p:spPr>
        <p:txBody>
          <a:bodyPr wrap="square" lIns="0" tIns="0" rIns="0" bIns="0" rtlCol="0" anchor="t">
            <a:normAutofit/>
          </a:bodyPr>
          <a:lstStyle/>
          <a:p>
            <a:pPr indent="0" marL="0">
              <a:buNone/>
            </a:pPr>
            <a:r>
              <a:rPr lang="en-US" sz="1600" b="1" dirty="0">
                <a:solidFill>
                  <a:srgbClr val="003366"/>
                </a:solidFill>
                <a:latin typeface="Arial" pitchFamily="34" charset="0"/>
                <a:ea typeface="Arial" pitchFamily="34" charset="-122"/>
                <a:cs typeface="Arial" pitchFamily="34" charset="-120"/>
              </a:rPr>
              <a:t>Hồi quy proxy ≠ false positive</a:t>
            </a:r>
            <a:endParaRPr lang="en-US" sz="1600" dirty="0"/>
          </a:p>
        </p:txBody>
      </p:sp>
      <p:sp>
        <p:nvSpPr>
          <p:cNvPr id="21" name="Text 18"/>
          <p:cNvSpPr/>
          <p:nvPr/>
        </p:nvSpPr>
        <p:spPr>
          <a:xfrm>
            <a:off x="6400800" y="3538728"/>
            <a:ext cx="4910328" cy="1389888"/>
          </a:xfrm>
          <a:prstGeom prst="rect">
            <a:avLst/>
          </a:prstGeom>
          <a:noFill/>
          <a:ln/>
        </p:spPr>
        <p:txBody>
          <a:bodyPr wrap="square" lIns="0" tIns="0" rIns="0" bIns="0" rtlCol="0" anchor="t">
            <a:normAutofit/>
          </a:bodyPr>
          <a:lstStyle/>
          <a:p>
            <a:pPr indent="0" marL="0">
              <a:buNone/>
            </a:pPr>
            <a:r>
              <a:rPr lang="en-US" sz="1450" dirty="0">
                <a:solidFill>
                  <a:srgbClr val="242A30"/>
                </a:solidFill>
                <a:latin typeface="Arial" pitchFamily="34" charset="0"/>
                <a:ea typeface="Arial" pitchFamily="34" charset="-122"/>
                <a:cs typeface="Arial" pitchFamily="34" charset="-120"/>
              </a:rPr>
              <a:t>Backend trả 404 “not found”; proxy trả 404 nhưng đổi thành HTML error page (PROXY_ERROR_OVERRIDE).</a:t>
            </a:r>
            <a:endParaRPr lang="en-US" sz="1450" dirty="0"/>
          </a:p>
        </p:txBody>
      </p:sp>
      <p:sp>
        <p:nvSpPr>
          <p:cNvPr id="22" name="Shape 19"/>
          <p:cNvSpPr/>
          <p:nvPr/>
        </p:nvSpPr>
        <p:spPr>
          <a:xfrm>
            <a:off x="758952" y="5385816"/>
            <a:ext cx="10725912" cy="475488"/>
          </a:xfrm>
          <a:prstGeom prst="roundRect">
            <a:avLst>
              <a:gd name="adj" fmla="val 5769"/>
            </a:avLst>
          </a:prstGeom>
          <a:solidFill>
            <a:srgbClr val="C91F35"/>
          </a:solidFill>
          <a:ln w="7620">
            <a:solidFill>
              <a:srgbClr val="C91F35"/>
            </a:solidFill>
            <a:prstDash val="solid"/>
          </a:ln>
        </p:spPr>
      </p:sp>
      <p:sp>
        <p:nvSpPr>
          <p:cNvPr id="23" name="Text 20"/>
          <p:cNvSpPr/>
          <p:nvPr/>
        </p:nvSpPr>
        <p:spPr>
          <a:xfrm>
            <a:off x="941832" y="5458968"/>
            <a:ext cx="10351008" cy="33832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Coverage cao không bù được FPR &gt; 5% và hồi quy chức năng.</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12. Drift replay: canary và rollback đã đo</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12</a:t>
            </a:r>
            <a:endParaRPr lang="en-US" sz="680" dirty="0"/>
          </a:p>
        </p:txBody>
      </p:sp>
      <p:sp>
        <p:nvSpPr>
          <p:cNvPr id="5" name="Shape 2"/>
          <p:cNvSpPr/>
          <p:nvPr/>
        </p:nvSpPr>
        <p:spPr>
          <a:xfrm>
            <a:off x="804672" y="1261872"/>
            <a:ext cx="5184648" cy="2286000"/>
          </a:xfrm>
          <a:prstGeom prst="roundRect">
            <a:avLst>
              <a:gd name="adj" fmla="val 800"/>
            </a:avLst>
          </a:prstGeom>
          <a:solidFill>
            <a:srgbClr val="FFFFFF"/>
          </a:solidFill>
          <a:ln w="8255">
            <a:solidFill>
              <a:srgbClr val="D8DEE4"/>
            </a:solidFill>
            <a:prstDash val="solid"/>
          </a:ln>
        </p:spPr>
      </p:sp>
      <p:sp>
        <p:nvSpPr>
          <p:cNvPr id="6" name="Shape 3"/>
          <p:cNvSpPr/>
          <p:nvPr/>
        </p:nvSpPr>
        <p:spPr>
          <a:xfrm>
            <a:off x="804672" y="1261872"/>
            <a:ext cx="73152" cy="2286000"/>
          </a:xfrm>
          <a:prstGeom prst="rect">
            <a:avLst/>
          </a:prstGeom>
          <a:solidFill>
            <a:srgbClr val="003366"/>
          </a:solidFill>
          <a:ln w="7620">
            <a:solidFill>
              <a:srgbClr val="003366"/>
            </a:solidFill>
            <a:prstDash val="solid"/>
          </a:ln>
        </p:spPr>
      </p:sp>
      <p:sp>
        <p:nvSpPr>
          <p:cNvPr id="7" name="Text 4"/>
          <p:cNvSpPr/>
          <p:nvPr/>
        </p:nvSpPr>
        <p:spPr>
          <a:xfrm>
            <a:off x="1005840" y="1399032"/>
            <a:ext cx="4855464" cy="384048"/>
          </a:xfrm>
          <a:prstGeom prst="rect">
            <a:avLst/>
          </a:prstGeom>
          <a:noFill/>
          <a:ln/>
        </p:spPr>
        <p:txBody>
          <a:bodyPr wrap="square" lIns="0" tIns="0" rIns="0" bIns="0" rtlCol="0" anchor="t">
            <a:normAutofit/>
          </a:bodyPr>
          <a:lstStyle/>
          <a:p>
            <a:pPr indent="0" marL="0">
              <a:buNone/>
            </a:pPr>
            <a:r>
              <a:rPr lang="en-US" sz="1750" b="1" dirty="0">
                <a:solidFill>
                  <a:srgbClr val="003366"/>
                </a:solidFill>
                <a:latin typeface="Arial" pitchFamily="34" charset="0"/>
                <a:ea typeface="Arial" pitchFamily="34" charset="-122"/>
                <a:cs typeface="Arial" pitchFamily="34" charset="-120"/>
              </a:rPr>
              <a:t>CỬA SỔ A — RAW</a:t>
            </a:r>
            <a:endParaRPr lang="en-US" sz="1750" dirty="0"/>
          </a:p>
        </p:txBody>
      </p:sp>
      <p:sp>
        <p:nvSpPr>
          <p:cNvPr id="8" name="Text 5"/>
          <p:cNvSpPr/>
          <p:nvPr/>
        </p:nvSpPr>
        <p:spPr>
          <a:xfrm>
            <a:off x="1005840" y="1938528"/>
            <a:ext cx="4818888" cy="1527048"/>
          </a:xfrm>
          <a:prstGeom prst="rect">
            <a:avLst/>
          </a:prstGeom>
          <a:noFill/>
          <a:ln/>
        </p:spPr>
        <p:txBody>
          <a:bodyPr wrap="square" lIns="0" tIns="0" rIns="0" bIns="0" rtlCol="0" anchor="t">
            <a:normAutofit/>
          </a:bodyPr>
          <a:lstStyle/>
          <a:p>
            <a:pPr indent="0" marL="0">
              <a:buNone/>
            </a:pPr>
            <a:r>
              <a:rPr lang="en-US" sz="1520" dirty="0">
                <a:solidFill>
                  <a:srgbClr val="242A30"/>
                </a:solidFill>
                <a:latin typeface="Arial" pitchFamily="34" charset="0"/>
                <a:ea typeface="Arial" pitchFamily="34" charset="-122"/>
                <a:cs typeface="Arial" pitchFamily="34" charset="-120"/>
              </a:rPr>
              <a:t>6 intended raw + 16 benign</a:t>
            </a:r>
            <a:endParaRPr lang="en-US" sz="1520" dirty="0"/>
          </a:p>
          <a:p>
            <a:pPr indent="0" marL="0">
              <a:buNone/>
            </a:pP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B1: 6/6 attack valid blocked</a:t>
            </a: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FPR = 1/16 = 6,25%</a:t>
            </a:r>
            <a:endParaRPr lang="en-US" sz="1520" dirty="0"/>
          </a:p>
        </p:txBody>
      </p:sp>
      <p:sp>
        <p:nvSpPr>
          <p:cNvPr id="9" name="Shape 6"/>
          <p:cNvSpPr/>
          <p:nvPr/>
        </p:nvSpPr>
        <p:spPr>
          <a:xfrm>
            <a:off x="6208776" y="1261872"/>
            <a:ext cx="5175504" cy="2286000"/>
          </a:xfrm>
          <a:prstGeom prst="roundRect">
            <a:avLst>
              <a:gd name="adj" fmla="val 800"/>
            </a:avLst>
          </a:prstGeom>
          <a:solidFill>
            <a:srgbClr val="FFFFFF"/>
          </a:solidFill>
          <a:ln w="8255">
            <a:solidFill>
              <a:srgbClr val="D8DEE4"/>
            </a:solidFill>
            <a:prstDash val="solid"/>
          </a:ln>
        </p:spPr>
      </p:sp>
      <p:sp>
        <p:nvSpPr>
          <p:cNvPr id="10" name="Shape 7"/>
          <p:cNvSpPr/>
          <p:nvPr/>
        </p:nvSpPr>
        <p:spPr>
          <a:xfrm>
            <a:off x="6208776" y="1261872"/>
            <a:ext cx="73152" cy="2286000"/>
          </a:xfrm>
          <a:prstGeom prst="rect">
            <a:avLst/>
          </a:prstGeom>
          <a:solidFill>
            <a:srgbClr val="C91F35"/>
          </a:solidFill>
          <a:ln w="7620">
            <a:solidFill>
              <a:srgbClr val="C91F35"/>
            </a:solidFill>
            <a:prstDash val="solid"/>
          </a:ln>
        </p:spPr>
      </p:sp>
      <p:sp>
        <p:nvSpPr>
          <p:cNvPr id="11" name="Text 8"/>
          <p:cNvSpPr/>
          <p:nvPr/>
        </p:nvSpPr>
        <p:spPr>
          <a:xfrm>
            <a:off x="6409944" y="1399032"/>
            <a:ext cx="4846320" cy="384048"/>
          </a:xfrm>
          <a:prstGeom prst="rect">
            <a:avLst/>
          </a:prstGeom>
          <a:noFill/>
          <a:ln/>
        </p:spPr>
        <p:txBody>
          <a:bodyPr wrap="square" lIns="0" tIns="0" rIns="0" bIns="0" rtlCol="0" anchor="t">
            <a:normAutofit/>
          </a:bodyPr>
          <a:lstStyle/>
          <a:p>
            <a:pPr indent="0" marL="0">
              <a:buNone/>
            </a:pPr>
            <a:r>
              <a:rPr lang="en-US" sz="1750" b="1" dirty="0">
                <a:solidFill>
                  <a:srgbClr val="003366"/>
                </a:solidFill>
                <a:latin typeface="Arial" pitchFamily="34" charset="0"/>
                <a:ea typeface="Arial" pitchFamily="34" charset="-122"/>
                <a:cs typeface="Arial" pitchFamily="34" charset="-120"/>
              </a:rPr>
              <a:t>CỬA SỔ B — TRANSFORMED</a:t>
            </a:r>
            <a:endParaRPr lang="en-US" sz="1750" dirty="0"/>
          </a:p>
        </p:txBody>
      </p:sp>
      <p:sp>
        <p:nvSpPr>
          <p:cNvPr id="12" name="Text 9"/>
          <p:cNvSpPr/>
          <p:nvPr/>
        </p:nvSpPr>
        <p:spPr>
          <a:xfrm>
            <a:off x="6409944" y="1938528"/>
            <a:ext cx="4809744" cy="1527048"/>
          </a:xfrm>
          <a:prstGeom prst="rect">
            <a:avLst/>
          </a:prstGeom>
          <a:noFill/>
          <a:ln/>
        </p:spPr>
        <p:txBody>
          <a:bodyPr wrap="square" lIns="0" tIns="0" rIns="0" bIns="0" rtlCol="0" anchor="t">
            <a:normAutofit/>
          </a:bodyPr>
          <a:lstStyle/>
          <a:p>
            <a:pPr indent="0" marL="0">
              <a:buNone/>
            </a:pPr>
            <a:r>
              <a:rPr lang="en-US" sz="1520" dirty="0">
                <a:solidFill>
                  <a:srgbClr val="242A30"/>
                </a:solidFill>
                <a:latin typeface="Arial" pitchFamily="34" charset="0"/>
                <a:ea typeface="Arial" pitchFamily="34" charset="-122"/>
                <a:cs typeface="Arial" pitchFamily="34" charset="-120"/>
              </a:rPr>
              <a:t>24 intended + 16 benign</a:t>
            </a:r>
            <a:endParaRPr lang="en-US" sz="1520" dirty="0"/>
          </a:p>
          <a:p>
            <a:pPr indent="0" marL="0">
              <a:buNone/>
            </a:pP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B1: 8/8 attack valid blocked</a:t>
            </a:r>
            <a:endParaRPr lang="en-US" sz="1520" dirty="0"/>
          </a:p>
          <a:p>
            <a:pPr indent="0" marL="0">
              <a:buNone/>
            </a:pPr>
            <a:r>
              <a:rPr lang="en-US" sz="1520" dirty="0">
                <a:solidFill>
                  <a:srgbClr val="242A30"/>
                </a:solidFill>
                <a:latin typeface="Arial" pitchFamily="34" charset="0"/>
                <a:ea typeface="Arial" pitchFamily="34" charset="-122"/>
                <a:cs typeface="Arial" pitchFamily="34" charset="-120"/>
              </a:rPr>
              <a:t>FPR = 1/16 = 6,25%</a:t>
            </a:r>
            <a:endParaRPr lang="en-US" sz="1520" dirty="0"/>
          </a:p>
        </p:txBody>
      </p:sp>
      <p:sp>
        <p:nvSpPr>
          <p:cNvPr id="13" name="Shape 10"/>
          <p:cNvSpPr/>
          <p:nvPr/>
        </p:nvSpPr>
        <p:spPr>
          <a:xfrm>
            <a:off x="804672" y="3913632"/>
            <a:ext cx="3300984" cy="1097280"/>
          </a:xfrm>
          <a:prstGeom prst="roundRect">
            <a:avLst>
              <a:gd name="adj" fmla="val 2500"/>
            </a:avLst>
          </a:prstGeom>
          <a:solidFill>
            <a:srgbClr val="F7F7F7"/>
          </a:solidFill>
          <a:ln w="7620">
            <a:solidFill>
              <a:srgbClr val="F7F7F7"/>
            </a:solidFill>
            <a:prstDash val="solid"/>
          </a:ln>
        </p:spPr>
      </p:sp>
      <p:sp>
        <p:nvSpPr>
          <p:cNvPr id="14" name="Text 11"/>
          <p:cNvSpPr/>
          <p:nvPr/>
        </p:nvSpPr>
        <p:spPr>
          <a:xfrm>
            <a:off x="923544" y="4059936"/>
            <a:ext cx="3063240"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1,0</a:t>
            </a:r>
            <a:endParaRPr lang="en-US" sz="2600" dirty="0"/>
          </a:p>
        </p:txBody>
      </p:sp>
      <p:sp>
        <p:nvSpPr>
          <p:cNvPr id="15" name="Text 12"/>
          <p:cNvSpPr/>
          <p:nvPr/>
        </p:nvSpPr>
        <p:spPr>
          <a:xfrm>
            <a:off x="896112" y="4636008"/>
            <a:ext cx="3118104"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Composition shift (thiết kế)</a:t>
            </a:r>
            <a:endParaRPr lang="en-US" sz="1200" dirty="0"/>
          </a:p>
        </p:txBody>
      </p:sp>
      <p:sp>
        <p:nvSpPr>
          <p:cNvPr id="16" name="Shape 13"/>
          <p:cNvSpPr/>
          <p:nvPr/>
        </p:nvSpPr>
        <p:spPr>
          <a:xfrm>
            <a:off x="4443984" y="3913632"/>
            <a:ext cx="3300984" cy="1097280"/>
          </a:xfrm>
          <a:prstGeom prst="roundRect">
            <a:avLst>
              <a:gd name="adj" fmla="val 2500"/>
            </a:avLst>
          </a:prstGeom>
          <a:solidFill>
            <a:srgbClr val="F7F7F7"/>
          </a:solidFill>
          <a:ln w="7620">
            <a:solidFill>
              <a:srgbClr val="F7F7F7"/>
            </a:solidFill>
            <a:prstDash val="solid"/>
          </a:ln>
        </p:spPr>
      </p:sp>
      <p:sp>
        <p:nvSpPr>
          <p:cNvPr id="17" name="Text 14"/>
          <p:cNvSpPr/>
          <p:nvPr/>
        </p:nvSpPr>
        <p:spPr>
          <a:xfrm>
            <a:off x="4562856" y="4059936"/>
            <a:ext cx="3063240"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2</a:t>
            </a:r>
            <a:endParaRPr lang="en-US" sz="2600" dirty="0"/>
          </a:p>
        </p:txBody>
      </p:sp>
      <p:sp>
        <p:nvSpPr>
          <p:cNvPr id="18" name="Text 15"/>
          <p:cNvSpPr/>
          <p:nvPr/>
        </p:nvSpPr>
        <p:spPr>
          <a:xfrm>
            <a:off x="4535424" y="4636008"/>
            <a:ext cx="3118104"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Lượt replay đã chạy</a:t>
            </a:r>
            <a:endParaRPr lang="en-US" sz="1200" dirty="0"/>
          </a:p>
        </p:txBody>
      </p:sp>
      <p:sp>
        <p:nvSpPr>
          <p:cNvPr id="19" name="Shape 16"/>
          <p:cNvSpPr/>
          <p:nvPr/>
        </p:nvSpPr>
        <p:spPr>
          <a:xfrm>
            <a:off x="8101584" y="3913632"/>
            <a:ext cx="3319272" cy="1097280"/>
          </a:xfrm>
          <a:prstGeom prst="roundRect">
            <a:avLst>
              <a:gd name="adj" fmla="val 2500"/>
            </a:avLst>
          </a:prstGeom>
          <a:solidFill>
            <a:srgbClr val="F7F7F7"/>
          </a:solidFill>
          <a:ln w="7620">
            <a:solidFill>
              <a:srgbClr val="F7F7F7"/>
            </a:solidFill>
            <a:prstDash val="solid"/>
          </a:ln>
        </p:spPr>
      </p:sp>
      <p:sp>
        <p:nvSpPr>
          <p:cNvPr id="20" name="Text 17"/>
          <p:cNvSpPr/>
          <p:nvPr/>
        </p:nvSpPr>
        <p:spPr>
          <a:xfrm>
            <a:off x="8220456" y="4059936"/>
            <a:ext cx="3081528" cy="484632"/>
          </a:xfrm>
          <a:prstGeom prst="rect">
            <a:avLst/>
          </a:prstGeom>
          <a:noFill/>
          <a:ln/>
        </p:spPr>
        <p:txBody>
          <a:bodyPr wrap="square" lIns="0" tIns="0" rIns="0" bIns="0" rtlCol="0" anchor="ctr">
            <a:normAutofit/>
          </a:bodyPr>
          <a:lstStyle/>
          <a:p>
            <a:pPr algn="ctr" indent="0" marL="0">
              <a:buNone/>
            </a:pPr>
            <a:r>
              <a:rPr lang="en-US" sz="2600" b="1" dirty="0">
                <a:solidFill>
                  <a:srgbClr val="15745D"/>
                </a:solidFill>
                <a:latin typeface="Arial" pitchFamily="34" charset="0"/>
                <a:ea typeface="Arial" pitchFamily="34" charset="-122"/>
                <a:cs typeface="Arial" pitchFamily="34" charset="-120"/>
              </a:rPr>
              <a:t>YES</a:t>
            </a:r>
            <a:endParaRPr lang="en-US" sz="2600" dirty="0"/>
          </a:p>
        </p:txBody>
      </p:sp>
      <p:sp>
        <p:nvSpPr>
          <p:cNvPr id="21" name="Text 18"/>
          <p:cNvSpPr/>
          <p:nvPr/>
        </p:nvSpPr>
        <p:spPr>
          <a:xfrm>
            <a:off x="8193024" y="4636008"/>
            <a:ext cx="3136392"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Rollback hash khớp</a:t>
            </a:r>
            <a:endParaRPr lang="en-US" sz="1200" dirty="0"/>
          </a:p>
        </p:txBody>
      </p:sp>
      <p:sp>
        <p:nvSpPr>
          <p:cNvPr id="22" name="Text 19"/>
          <p:cNvSpPr/>
          <p:nvPr/>
        </p:nvSpPr>
        <p:spPr>
          <a:xfrm>
            <a:off x="813816" y="5349240"/>
            <a:ext cx="10469880" cy="356616"/>
          </a:xfrm>
          <a:prstGeom prst="rect">
            <a:avLst/>
          </a:prstGeom>
          <a:noFill/>
          <a:ln/>
        </p:spPr>
        <p:txBody>
          <a:bodyPr wrap="square" lIns="0" tIns="0" rIns="0" bIns="0" rtlCol="0" anchor="ctr">
            <a:normAutofit/>
          </a:bodyPr>
          <a:lstStyle/>
          <a:p>
            <a:pPr algn="ctr" indent="0" marL="0">
              <a:buNone/>
            </a:pPr>
            <a:r>
              <a:rPr lang="en-US" sz="1380" b="1" dirty="0">
                <a:solidFill>
                  <a:srgbClr val="C91F35"/>
                </a:solidFill>
                <a:latin typeface="Arial" pitchFamily="34" charset="0"/>
                <a:ea typeface="Arial" pitchFamily="34" charset="-122"/>
                <a:cs typeface="Arial" pitchFamily="34" charset="-120"/>
              </a:rPr>
              <a:t>LAB_NO_GO_ROLLBACK · Không có tự thích nghi online, không phải temporal production drift.</a:t>
            </a:r>
            <a:endParaRPr lang="en-US" sz="13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13. LLM bổ sung trên dev: phát hiện hạn chế cần báo cáo</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13</a:t>
            </a:r>
            <a:endParaRPr lang="en-US" sz="680" dirty="0"/>
          </a:p>
        </p:txBody>
      </p:sp>
      <p:sp>
        <p:nvSpPr>
          <p:cNvPr id="5" name="Shape 2"/>
          <p:cNvSpPr/>
          <p:nvPr/>
        </p:nvSpPr>
        <p:spPr>
          <a:xfrm>
            <a:off x="777240" y="1362456"/>
            <a:ext cx="3273552" cy="1097280"/>
          </a:xfrm>
          <a:prstGeom prst="roundRect">
            <a:avLst>
              <a:gd name="adj" fmla="val 2500"/>
            </a:avLst>
          </a:prstGeom>
          <a:solidFill>
            <a:srgbClr val="F7F7F7"/>
          </a:solidFill>
          <a:ln w="7620">
            <a:solidFill>
              <a:srgbClr val="F7F7F7"/>
            </a:solidFill>
            <a:prstDash val="solid"/>
          </a:ln>
        </p:spPr>
      </p:sp>
      <p:sp>
        <p:nvSpPr>
          <p:cNvPr id="6" name="Text 3"/>
          <p:cNvSpPr/>
          <p:nvPr/>
        </p:nvSpPr>
        <p:spPr>
          <a:xfrm>
            <a:off x="896112" y="1508760"/>
            <a:ext cx="3035808"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12/12</a:t>
            </a:r>
            <a:endParaRPr lang="en-US" sz="2600" dirty="0"/>
          </a:p>
        </p:txBody>
      </p:sp>
      <p:sp>
        <p:nvSpPr>
          <p:cNvPr id="7" name="Text 4"/>
          <p:cNvSpPr/>
          <p:nvPr/>
        </p:nvSpPr>
        <p:spPr>
          <a:xfrm>
            <a:off x="868680" y="2084832"/>
            <a:ext cx="3090672"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Payload model được nhận</a:t>
            </a:r>
            <a:endParaRPr lang="en-US" sz="1200" dirty="0"/>
          </a:p>
        </p:txBody>
      </p:sp>
      <p:sp>
        <p:nvSpPr>
          <p:cNvPr id="8" name="Shape 5"/>
          <p:cNvSpPr/>
          <p:nvPr/>
        </p:nvSpPr>
        <p:spPr>
          <a:xfrm>
            <a:off x="4462272" y="1362456"/>
            <a:ext cx="3273552" cy="1097280"/>
          </a:xfrm>
          <a:prstGeom prst="roundRect">
            <a:avLst>
              <a:gd name="adj" fmla="val 2500"/>
            </a:avLst>
          </a:prstGeom>
          <a:solidFill>
            <a:srgbClr val="F7F7F7"/>
          </a:solidFill>
          <a:ln w="7620">
            <a:solidFill>
              <a:srgbClr val="F7F7F7"/>
            </a:solidFill>
            <a:prstDash val="solid"/>
          </a:ln>
        </p:spPr>
      </p:sp>
      <p:sp>
        <p:nvSpPr>
          <p:cNvPr id="9" name="Text 6"/>
          <p:cNvSpPr/>
          <p:nvPr/>
        </p:nvSpPr>
        <p:spPr>
          <a:xfrm>
            <a:off x="4581144" y="1508760"/>
            <a:ext cx="3035808" cy="484632"/>
          </a:xfrm>
          <a:prstGeom prst="rect">
            <a:avLst/>
          </a:prstGeom>
          <a:noFill/>
          <a:ln/>
        </p:spPr>
        <p:txBody>
          <a:bodyPr wrap="square" lIns="0" tIns="0" rIns="0" bIns="0" rtlCol="0" anchor="ctr">
            <a:normAutofit/>
          </a:bodyPr>
          <a:lstStyle/>
          <a:p>
            <a:pPr algn="ctr" indent="0" marL="0">
              <a:buNone/>
            </a:pPr>
            <a:r>
              <a:rPr lang="en-US" sz="2600" b="1" dirty="0">
                <a:solidFill>
                  <a:srgbClr val="C91F35"/>
                </a:solidFill>
                <a:latin typeface="Arial" pitchFamily="34" charset="0"/>
                <a:ea typeface="Arial" pitchFamily="34" charset="-122"/>
                <a:cs typeface="Arial" pitchFamily="34" charset="-120"/>
              </a:rPr>
              <a:t>0/12</a:t>
            </a:r>
            <a:endParaRPr lang="en-US" sz="2600" dirty="0"/>
          </a:p>
        </p:txBody>
      </p:sp>
      <p:sp>
        <p:nvSpPr>
          <p:cNvPr id="10" name="Text 7"/>
          <p:cNvSpPr/>
          <p:nvPr/>
        </p:nvSpPr>
        <p:spPr>
          <a:xfrm>
            <a:off x="4553712" y="2084832"/>
            <a:ext cx="3090672"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Payload model valid</a:t>
            </a:r>
            <a:endParaRPr lang="en-US" sz="1200" dirty="0"/>
          </a:p>
        </p:txBody>
      </p:sp>
      <p:sp>
        <p:nvSpPr>
          <p:cNvPr id="11" name="Shape 8"/>
          <p:cNvSpPr/>
          <p:nvPr/>
        </p:nvSpPr>
        <p:spPr>
          <a:xfrm>
            <a:off x="8147304" y="1362456"/>
            <a:ext cx="3273552" cy="1097280"/>
          </a:xfrm>
          <a:prstGeom prst="roundRect">
            <a:avLst>
              <a:gd name="adj" fmla="val 2500"/>
            </a:avLst>
          </a:prstGeom>
          <a:solidFill>
            <a:srgbClr val="F7F7F7"/>
          </a:solidFill>
          <a:ln w="7620">
            <a:solidFill>
              <a:srgbClr val="F7F7F7"/>
            </a:solidFill>
            <a:prstDash val="solid"/>
          </a:ln>
        </p:spPr>
      </p:sp>
      <p:sp>
        <p:nvSpPr>
          <p:cNvPr id="12" name="Text 9"/>
          <p:cNvSpPr/>
          <p:nvPr/>
        </p:nvSpPr>
        <p:spPr>
          <a:xfrm>
            <a:off x="8266176" y="1508760"/>
            <a:ext cx="3035808"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4/12</a:t>
            </a:r>
            <a:endParaRPr lang="en-US" sz="2600" dirty="0"/>
          </a:p>
        </p:txBody>
      </p:sp>
      <p:sp>
        <p:nvSpPr>
          <p:cNvPr id="13" name="Text 10"/>
          <p:cNvSpPr/>
          <p:nvPr/>
        </p:nvSpPr>
        <p:spPr>
          <a:xfrm>
            <a:off x="8238744" y="2084832"/>
            <a:ext cx="3090672"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Heuristic valid</a:t>
            </a:r>
            <a:endParaRPr lang="en-US" sz="1200" dirty="0"/>
          </a:p>
        </p:txBody>
      </p:sp>
      <p:sp>
        <p:nvSpPr>
          <p:cNvPr id="14" name="Shape 11"/>
          <p:cNvSpPr/>
          <p:nvPr/>
        </p:nvSpPr>
        <p:spPr>
          <a:xfrm>
            <a:off x="822960" y="2907792"/>
            <a:ext cx="10533888" cy="1152144"/>
          </a:xfrm>
          <a:prstGeom prst="roundRect">
            <a:avLst>
              <a:gd name="adj" fmla="val 1587"/>
            </a:avLst>
          </a:prstGeom>
          <a:solidFill>
            <a:srgbClr val="FFFFFF"/>
          </a:solidFill>
          <a:ln w="8255">
            <a:solidFill>
              <a:srgbClr val="D8DEE4"/>
            </a:solidFill>
            <a:prstDash val="solid"/>
          </a:ln>
        </p:spPr>
      </p:sp>
      <p:sp>
        <p:nvSpPr>
          <p:cNvPr id="15" name="Shape 12"/>
          <p:cNvSpPr/>
          <p:nvPr/>
        </p:nvSpPr>
        <p:spPr>
          <a:xfrm>
            <a:off x="822960" y="2907792"/>
            <a:ext cx="73152" cy="1152144"/>
          </a:xfrm>
          <a:prstGeom prst="rect">
            <a:avLst/>
          </a:prstGeom>
          <a:solidFill>
            <a:srgbClr val="003366"/>
          </a:solidFill>
          <a:ln w="7620">
            <a:solidFill>
              <a:srgbClr val="003366"/>
            </a:solidFill>
            <a:prstDash val="solid"/>
          </a:ln>
        </p:spPr>
      </p:sp>
      <p:sp>
        <p:nvSpPr>
          <p:cNvPr id="16" name="Text 13"/>
          <p:cNvSpPr/>
          <p:nvPr/>
        </p:nvSpPr>
        <p:spPr>
          <a:xfrm>
            <a:off x="1024128" y="3044952"/>
            <a:ext cx="10204704" cy="384048"/>
          </a:xfrm>
          <a:prstGeom prst="rect">
            <a:avLst/>
          </a:prstGeom>
          <a:noFill/>
          <a:ln/>
        </p:spPr>
        <p:txBody>
          <a:bodyPr wrap="square" lIns="0" tIns="0" rIns="0" bIns="0" rtlCol="0" anchor="t">
            <a:normAutofit/>
          </a:bodyPr>
          <a:lstStyle/>
          <a:p>
            <a:pPr indent="0" marL="0">
              <a:buNone/>
            </a:pPr>
            <a:r>
              <a:rPr lang="en-US" sz="1630" b="1" dirty="0">
                <a:solidFill>
                  <a:srgbClr val="003366"/>
                </a:solidFill>
                <a:latin typeface="Arial" pitchFamily="34" charset="0"/>
                <a:ea typeface="Arial" pitchFamily="34" charset="-122"/>
                <a:cs typeface="Arial" pitchFamily="34" charset="-120"/>
              </a:rPr>
              <a:t>Model thực tế dùng trong lượt mới</a:t>
            </a:r>
            <a:endParaRPr lang="en-US" sz="1630" dirty="0"/>
          </a:p>
        </p:txBody>
      </p:sp>
      <p:sp>
        <p:nvSpPr>
          <p:cNvPr id="17" name="Text 14"/>
          <p:cNvSpPr/>
          <p:nvPr/>
        </p:nvSpPr>
        <p:spPr>
          <a:xfrm>
            <a:off x="1024128" y="3584448"/>
            <a:ext cx="10168128" cy="393192"/>
          </a:xfrm>
          <a:prstGeom prst="rect">
            <a:avLst/>
          </a:prstGeom>
          <a:noFill/>
          <a:ln/>
        </p:spPr>
        <p:txBody>
          <a:bodyPr wrap="square" lIns="0" tIns="0" rIns="0" bIns="0" rtlCol="0" anchor="t">
            <a:normAutofit/>
          </a:bodyPr>
          <a:lstStyle/>
          <a:p>
            <a:pPr indent="0" marL="0">
              <a:buNone/>
            </a:pPr>
            <a:r>
              <a:rPr lang="en-US" sz="1380" dirty="0">
                <a:solidFill>
                  <a:srgbClr val="242A30"/>
                </a:solidFill>
                <a:latin typeface="Arial" pitchFamily="34" charset="0"/>
                <a:ea typeface="Arial" pitchFamily="34" charset="-122"/>
                <a:cs typeface="Arial" pitchFamily="34" charset="-120"/>
              </a:rPr>
              <a:t>Alias request gpt-6-luna; response.model là gpt-5.6-sol. Việc thay model là chủ đích của người thực hiện.</a:t>
            </a:r>
            <a:endParaRPr lang="en-US" sz="1380" dirty="0"/>
          </a:p>
        </p:txBody>
      </p:sp>
      <p:sp>
        <p:nvSpPr>
          <p:cNvPr id="18" name="Shape 15"/>
          <p:cNvSpPr/>
          <p:nvPr/>
        </p:nvSpPr>
        <p:spPr>
          <a:xfrm>
            <a:off x="822960" y="4297680"/>
            <a:ext cx="10533888" cy="1097280"/>
          </a:xfrm>
          <a:prstGeom prst="roundRect">
            <a:avLst>
              <a:gd name="adj" fmla="val 1667"/>
            </a:avLst>
          </a:prstGeom>
          <a:solidFill>
            <a:srgbClr val="FFFFFF"/>
          </a:solidFill>
          <a:ln w="8255">
            <a:solidFill>
              <a:srgbClr val="D8DEE4"/>
            </a:solidFill>
            <a:prstDash val="solid"/>
          </a:ln>
        </p:spPr>
      </p:sp>
      <p:sp>
        <p:nvSpPr>
          <p:cNvPr id="19" name="Shape 16"/>
          <p:cNvSpPr/>
          <p:nvPr/>
        </p:nvSpPr>
        <p:spPr>
          <a:xfrm>
            <a:off x="822960" y="4297680"/>
            <a:ext cx="73152" cy="1097280"/>
          </a:xfrm>
          <a:prstGeom prst="rect">
            <a:avLst/>
          </a:prstGeom>
          <a:solidFill>
            <a:srgbClr val="C91F35"/>
          </a:solidFill>
          <a:ln w="7620">
            <a:solidFill>
              <a:srgbClr val="C91F35"/>
            </a:solidFill>
            <a:prstDash val="solid"/>
          </a:ln>
        </p:spPr>
      </p:sp>
      <p:sp>
        <p:nvSpPr>
          <p:cNvPr id="20" name="Text 17"/>
          <p:cNvSpPr/>
          <p:nvPr/>
        </p:nvSpPr>
        <p:spPr>
          <a:xfrm>
            <a:off x="1024128" y="4434840"/>
            <a:ext cx="10204704" cy="384048"/>
          </a:xfrm>
          <a:prstGeom prst="rect">
            <a:avLst/>
          </a:prstGeom>
          <a:noFill/>
          <a:ln/>
        </p:spPr>
        <p:txBody>
          <a:bodyPr wrap="square" lIns="0" tIns="0" rIns="0" bIns="0" rtlCol="0" anchor="t">
            <a:normAutofit/>
          </a:bodyPr>
          <a:lstStyle/>
          <a:p>
            <a:pPr indent="0" marL="0">
              <a:buNone/>
            </a:pPr>
            <a:r>
              <a:rPr lang="en-US" sz="1630" b="1" dirty="0">
                <a:solidFill>
                  <a:srgbClr val="003366"/>
                </a:solidFill>
                <a:latin typeface="Arial" pitchFamily="34" charset="0"/>
                <a:ea typeface="Arial" pitchFamily="34" charset="-122"/>
                <a:cs typeface="Arial" pitchFamily="34" charset="-120"/>
              </a:rPr>
              <a:t>Threat to validity</a:t>
            </a:r>
            <a:endParaRPr lang="en-US" sz="1630" dirty="0"/>
          </a:p>
        </p:txBody>
      </p:sp>
      <p:sp>
        <p:nvSpPr>
          <p:cNvPr id="21" name="Text 18"/>
          <p:cNvSpPr/>
          <p:nvPr/>
        </p:nvSpPr>
        <p:spPr>
          <a:xfrm>
            <a:off x="1024128" y="4974336"/>
            <a:ext cx="10168128" cy="338328"/>
          </a:xfrm>
          <a:prstGeom prst="rect">
            <a:avLst/>
          </a:prstGeom>
          <a:noFill/>
          <a:ln/>
        </p:spPr>
        <p:txBody>
          <a:bodyPr wrap="square" lIns="0" tIns="0" rIns="0" bIns="0" rtlCol="0" anchor="t">
            <a:normAutofit/>
          </a:bodyPr>
          <a:lstStyle/>
          <a:p>
            <a:pPr indent="0" marL="0">
              <a:buNone/>
            </a:pPr>
            <a:r>
              <a:rPr lang="en-US" sz="1340" dirty="0">
                <a:solidFill>
                  <a:srgbClr val="242A30"/>
                </a:solidFill>
                <a:latin typeface="Arial" pitchFamily="34" charset="0"/>
                <a:ea typeface="Arial" pitchFamily="34" charset="-122"/>
                <a:cs typeface="Arial" pitchFamily="34" charset="-120"/>
              </a:rPr>
              <a:t>Payload percent-encoded có thể đã bị mã hóa lặp qua urlencode(), khiến backend nhận ký tự % thay vì hiệu ứng mong muốn.</a:t>
            </a:r>
            <a:endParaRPr lang="en-US" sz="1340" dirty="0"/>
          </a:p>
        </p:txBody>
      </p:sp>
      <p:sp>
        <p:nvSpPr>
          <p:cNvPr id="22" name="Text 19"/>
          <p:cNvSpPr/>
          <p:nvPr/>
        </p:nvSpPr>
        <p:spPr>
          <a:xfrm>
            <a:off x="850392" y="5632704"/>
            <a:ext cx="10497312" cy="256032"/>
          </a:xfrm>
          <a:prstGeom prst="rect">
            <a:avLst/>
          </a:prstGeom>
          <a:noFill/>
          <a:ln/>
        </p:spPr>
        <p:txBody>
          <a:bodyPr wrap="square" lIns="0" tIns="0" rIns="0" bIns="0" rtlCol="0" anchor="ctr">
            <a:normAutofit/>
          </a:bodyPr>
          <a:lstStyle/>
          <a:p>
            <a:pPr algn="ctr" indent="0" marL="0">
              <a:buNone/>
            </a:pPr>
            <a:r>
              <a:rPr lang="en-US" sz="1240" b="1" dirty="0">
                <a:solidFill>
                  <a:srgbClr val="C91F35"/>
                </a:solidFill>
                <a:latin typeface="Arial" pitchFamily="34" charset="0"/>
                <a:ea typeface="Arial" pitchFamily="34" charset="-122"/>
                <a:cs typeface="Arial" pitchFamily="34" charset="-120"/>
              </a:rPr>
              <a:t>Không xác định bypass rate với 0 valid; không kết luận hơn/kém heuristic.</a:t>
            </a:r>
            <a:endParaRPr lang="en-US" sz="12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14. CVE-2024-23334: kết quả và giới hạn chứng cứ</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14</a:t>
            </a:r>
            <a:endParaRPr lang="en-US" sz="680" dirty="0"/>
          </a:p>
        </p:txBody>
      </p:sp>
      <p:sp>
        <p:nvSpPr>
          <p:cNvPr id="5" name="Shape 2"/>
          <p:cNvSpPr/>
          <p:nvPr/>
        </p:nvSpPr>
        <p:spPr>
          <a:xfrm>
            <a:off x="795528" y="1353312"/>
            <a:ext cx="3282696" cy="1097280"/>
          </a:xfrm>
          <a:prstGeom prst="roundRect">
            <a:avLst>
              <a:gd name="adj" fmla="val 2500"/>
            </a:avLst>
          </a:prstGeom>
          <a:solidFill>
            <a:srgbClr val="F7F7F7"/>
          </a:solidFill>
          <a:ln w="7620">
            <a:solidFill>
              <a:srgbClr val="F7F7F7"/>
            </a:solidFill>
            <a:prstDash val="solid"/>
          </a:ln>
        </p:spPr>
      </p:sp>
      <p:sp>
        <p:nvSpPr>
          <p:cNvPr id="6" name="Text 3"/>
          <p:cNvSpPr/>
          <p:nvPr/>
        </p:nvSpPr>
        <p:spPr>
          <a:xfrm>
            <a:off x="914400" y="1499616"/>
            <a:ext cx="3044952" cy="484632"/>
          </a:xfrm>
          <a:prstGeom prst="rect">
            <a:avLst/>
          </a:prstGeom>
          <a:noFill/>
          <a:ln/>
        </p:spPr>
        <p:txBody>
          <a:bodyPr wrap="square" lIns="0" tIns="0" rIns="0" bIns="0" rtlCol="0" anchor="ctr">
            <a:normAutofit/>
          </a:bodyPr>
          <a:lstStyle/>
          <a:p>
            <a:pPr algn="ctr" indent="0" marL="0">
              <a:buNone/>
            </a:pPr>
            <a:r>
              <a:rPr lang="en-US" sz="2600" b="1" dirty="0">
                <a:solidFill>
                  <a:srgbClr val="C91F35"/>
                </a:solidFill>
                <a:latin typeface="Arial" pitchFamily="34" charset="0"/>
                <a:ea typeface="Arial" pitchFamily="34" charset="-122"/>
                <a:cs typeface="Arial" pitchFamily="34" charset="-120"/>
              </a:rPr>
              <a:t>3.9.1</a:t>
            </a:r>
            <a:endParaRPr lang="en-US" sz="2600" dirty="0"/>
          </a:p>
        </p:txBody>
      </p:sp>
      <p:sp>
        <p:nvSpPr>
          <p:cNvPr id="7" name="Text 4"/>
          <p:cNvSpPr/>
          <p:nvPr/>
        </p:nvSpPr>
        <p:spPr>
          <a:xfrm>
            <a:off x="886968" y="2075688"/>
            <a:ext cx="3099816"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Vulnerable aiohttp (planned)</a:t>
            </a:r>
            <a:endParaRPr lang="en-US" sz="1200" dirty="0"/>
          </a:p>
        </p:txBody>
      </p:sp>
      <p:sp>
        <p:nvSpPr>
          <p:cNvPr id="8" name="Shape 5"/>
          <p:cNvSpPr/>
          <p:nvPr/>
        </p:nvSpPr>
        <p:spPr>
          <a:xfrm>
            <a:off x="4462272" y="1353312"/>
            <a:ext cx="3282696" cy="1097280"/>
          </a:xfrm>
          <a:prstGeom prst="roundRect">
            <a:avLst>
              <a:gd name="adj" fmla="val 2500"/>
            </a:avLst>
          </a:prstGeom>
          <a:solidFill>
            <a:srgbClr val="F7F7F7"/>
          </a:solidFill>
          <a:ln w="7620">
            <a:solidFill>
              <a:srgbClr val="F7F7F7"/>
            </a:solidFill>
            <a:prstDash val="solid"/>
          </a:ln>
        </p:spPr>
      </p:sp>
      <p:sp>
        <p:nvSpPr>
          <p:cNvPr id="9" name="Text 6"/>
          <p:cNvSpPr/>
          <p:nvPr/>
        </p:nvSpPr>
        <p:spPr>
          <a:xfrm>
            <a:off x="4581144" y="1499616"/>
            <a:ext cx="3044952"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3.9.2</a:t>
            </a:r>
            <a:endParaRPr lang="en-US" sz="2600" dirty="0"/>
          </a:p>
        </p:txBody>
      </p:sp>
      <p:sp>
        <p:nvSpPr>
          <p:cNvPr id="10" name="Text 7"/>
          <p:cNvSpPr/>
          <p:nvPr/>
        </p:nvSpPr>
        <p:spPr>
          <a:xfrm>
            <a:off x="4553712" y="2075688"/>
            <a:ext cx="3099816"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Patched control (planned)</a:t>
            </a:r>
            <a:endParaRPr lang="en-US" sz="1200" dirty="0"/>
          </a:p>
        </p:txBody>
      </p:sp>
      <p:sp>
        <p:nvSpPr>
          <p:cNvPr id="11" name="Shape 8"/>
          <p:cNvSpPr/>
          <p:nvPr/>
        </p:nvSpPr>
        <p:spPr>
          <a:xfrm>
            <a:off x="8147304" y="1353312"/>
            <a:ext cx="3273552" cy="1097280"/>
          </a:xfrm>
          <a:prstGeom prst="roundRect">
            <a:avLst>
              <a:gd name="adj" fmla="val 2500"/>
            </a:avLst>
          </a:prstGeom>
          <a:solidFill>
            <a:srgbClr val="F7F7F7"/>
          </a:solidFill>
          <a:ln w="7620">
            <a:solidFill>
              <a:srgbClr val="F7F7F7"/>
            </a:solidFill>
            <a:prstDash val="solid"/>
          </a:ln>
        </p:spPr>
      </p:sp>
      <p:sp>
        <p:nvSpPr>
          <p:cNvPr id="12" name="Text 9"/>
          <p:cNvSpPr/>
          <p:nvPr/>
        </p:nvSpPr>
        <p:spPr>
          <a:xfrm>
            <a:off x="8266176" y="1499616"/>
            <a:ext cx="3035808" cy="484632"/>
          </a:xfrm>
          <a:prstGeom prst="rect">
            <a:avLst/>
          </a:prstGeom>
          <a:noFill/>
          <a:ln/>
        </p:spPr>
        <p:txBody>
          <a:bodyPr wrap="square" lIns="0" tIns="0" rIns="0" bIns="0" rtlCol="0" anchor="ctr">
            <a:normAutofit/>
          </a:bodyPr>
          <a:lstStyle/>
          <a:p>
            <a:pPr algn="ctr" indent="0" marL="0">
              <a:buNone/>
            </a:pPr>
            <a:r>
              <a:rPr lang="en-US" sz="2600" b="1" dirty="0">
                <a:solidFill>
                  <a:srgbClr val="C91F35"/>
                </a:solidFill>
                <a:latin typeface="Arial" pitchFamily="34" charset="0"/>
                <a:ea typeface="Arial" pitchFamily="34" charset="-122"/>
                <a:cs typeface="Arial" pitchFamily="34" charset="-120"/>
              </a:rPr>
              <a:t>0</a:t>
            </a:r>
            <a:endParaRPr lang="en-US" sz="2600" dirty="0"/>
          </a:p>
        </p:txBody>
      </p:sp>
      <p:sp>
        <p:nvSpPr>
          <p:cNvPr id="13" name="Text 10"/>
          <p:cNvSpPr/>
          <p:nvPr/>
        </p:nvSpPr>
        <p:spPr>
          <a:xfrm>
            <a:off x="8238744" y="2075688"/>
            <a:ext cx="3090672"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CVE proof records</a:t>
            </a:r>
            <a:endParaRPr lang="en-US" sz="1200" dirty="0"/>
          </a:p>
        </p:txBody>
      </p:sp>
      <p:sp>
        <p:nvSpPr>
          <p:cNvPr id="14" name="Shape 11"/>
          <p:cNvSpPr/>
          <p:nvPr/>
        </p:nvSpPr>
        <p:spPr>
          <a:xfrm>
            <a:off x="804672" y="2907792"/>
            <a:ext cx="10552176" cy="1499616"/>
          </a:xfrm>
          <a:prstGeom prst="roundRect">
            <a:avLst>
              <a:gd name="adj" fmla="val 1220"/>
            </a:avLst>
          </a:prstGeom>
          <a:solidFill>
            <a:srgbClr val="FFFFFF"/>
          </a:solidFill>
          <a:ln w="8255">
            <a:solidFill>
              <a:srgbClr val="D8DEE4"/>
            </a:solidFill>
            <a:prstDash val="solid"/>
          </a:ln>
        </p:spPr>
      </p:sp>
      <p:sp>
        <p:nvSpPr>
          <p:cNvPr id="15" name="Shape 12"/>
          <p:cNvSpPr/>
          <p:nvPr/>
        </p:nvSpPr>
        <p:spPr>
          <a:xfrm>
            <a:off x="804672" y="2907792"/>
            <a:ext cx="73152" cy="1499616"/>
          </a:xfrm>
          <a:prstGeom prst="rect">
            <a:avLst/>
          </a:prstGeom>
          <a:solidFill>
            <a:srgbClr val="C91F35"/>
          </a:solidFill>
          <a:ln w="7620">
            <a:solidFill>
              <a:srgbClr val="C91F35"/>
            </a:solidFill>
            <a:prstDash val="solid"/>
          </a:ln>
        </p:spPr>
      </p:sp>
      <p:sp>
        <p:nvSpPr>
          <p:cNvPr id="16" name="Text 13"/>
          <p:cNvSpPr/>
          <p:nvPr/>
        </p:nvSpPr>
        <p:spPr>
          <a:xfrm>
            <a:off x="1005840" y="3044952"/>
            <a:ext cx="10222992" cy="384048"/>
          </a:xfrm>
          <a:prstGeom prst="rect">
            <a:avLst/>
          </a:prstGeom>
          <a:noFill/>
          <a:ln/>
        </p:spPr>
        <p:txBody>
          <a:bodyPr wrap="square" lIns="0" tIns="0" rIns="0" bIns="0" rtlCol="0" anchor="t">
            <a:normAutofit/>
          </a:bodyPr>
          <a:lstStyle/>
          <a:p>
            <a:pPr indent="0" marL="0">
              <a:buNone/>
            </a:pPr>
            <a:r>
              <a:rPr lang="en-US" sz="1800" b="1" dirty="0">
                <a:solidFill>
                  <a:srgbClr val="003366"/>
                </a:solidFill>
                <a:latin typeface="Arial" pitchFamily="34" charset="0"/>
                <a:ea typeface="Arial" pitchFamily="34" charset="-122"/>
                <a:cs typeface="Arial" pitchFamily="34" charset="-120"/>
              </a:rPr>
              <a:t>TRẠNG THÁI: INCOMPLETE</a:t>
            </a:r>
            <a:endParaRPr lang="en-US" sz="1800" dirty="0"/>
          </a:p>
        </p:txBody>
      </p:sp>
      <p:sp>
        <p:nvSpPr>
          <p:cNvPr id="17" name="Text 14"/>
          <p:cNvSpPr/>
          <p:nvPr/>
        </p:nvSpPr>
        <p:spPr>
          <a:xfrm>
            <a:off x="1005840" y="3584448"/>
            <a:ext cx="10186416" cy="740664"/>
          </a:xfrm>
          <a:prstGeom prst="rect">
            <a:avLst/>
          </a:prstGeom>
          <a:noFill/>
          <a:ln/>
        </p:spPr>
        <p:txBody>
          <a:bodyPr wrap="square" lIns="0" tIns="0" rIns="0" bIns="0" rtlCol="0" anchor="t">
            <a:normAutofit/>
          </a:bodyPr>
          <a:lstStyle/>
          <a:p>
            <a:pPr indent="0" marL="0">
              <a:buNone/>
            </a:pPr>
            <a:r>
              <a:rPr lang="en-US" sz="1400" dirty="0">
                <a:solidFill>
                  <a:srgbClr val="242A30"/>
                </a:solidFill>
                <a:latin typeface="Arial" pitchFamily="34" charset="0"/>
                <a:ea typeface="Arial" pitchFamily="34" charset="-122"/>
                <a:cs typeface="Arial" pitchFamily="34" charset="-120"/>
              </a:rPr>
              <a:t>Docker image đã build; port localhost 18190 chưa nhận diện đúng service aiohttp 3.9.1. Hai lượt chạy chưa tiến tới direct exploit, fixed control hay WAF probe.</a:t>
            </a:r>
            <a:endParaRPr lang="en-US" sz="1400" dirty="0"/>
          </a:p>
        </p:txBody>
      </p:sp>
      <p:sp>
        <p:nvSpPr>
          <p:cNvPr id="18" name="Shape 15"/>
          <p:cNvSpPr/>
          <p:nvPr/>
        </p:nvSpPr>
        <p:spPr>
          <a:xfrm>
            <a:off x="804672" y="4681728"/>
            <a:ext cx="10552176" cy="914400"/>
          </a:xfrm>
          <a:prstGeom prst="roundRect">
            <a:avLst>
              <a:gd name="adj" fmla="val 2000"/>
            </a:avLst>
          </a:prstGeom>
          <a:solidFill>
            <a:srgbClr val="FFFFFF"/>
          </a:solidFill>
          <a:ln w="8255">
            <a:solidFill>
              <a:srgbClr val="D8DEE4"/>
            </a:solidFill>
            <a:prstDash val="solid"/>
          </a:ln>
        </p:spPr>
      </p:sp>
      <p:sp>
        <p:nvSpPr>
          <p:cNvPr id="19" name="Shape 16"/>
          <p:cNvSpPr/>
          <p:nvPr/>
        </p:nvSpPr>
        <p:spPr>
          <a:xfrm>
            <a:off x="804672" y="4681728"/>
            <a:ext cx="73152" cy="914400"/>
          </a:xfrm>
          <a:prstGeom prst="rect">
            <a:avLst/>
          </a:prstGeom>
          <a:solidFill>
            <a:srgbClr val="003366"/>
          </a:solidFill>
          <a:ln w="7620">
            <a:solidFill>
              <a:srgbClr val="003366"/>
            </a:solidFill>
            <a:prstDash val="solid"/>
          </a:ln>
        </p:spPr>
      </p:sp>
      <p:sp>
        <p:nvSpPr>
          <p:cNvPr id="20" name="Text 17"/>
          <p:cNvSpPr/>
          <p:nvPr/>
        </p:nvSpPr>
        <p:spPr>
          <a:xfrm>
            <a:off x="1005840" y="4818888"/>
            <a:ext cx="10222992" cy="384048"/>
          </a:xfrm>
          <a:prstGeom prst="rect">
            <a:avLst/>
          </a:prstGeom>
          <a:noFill/>
          <a:ln/>
        </p:spPr>
        <p:txBody>
          <a:bodyPr wrap="square" lIns="0" tIns="0" rIns="0" bIns="0" rtlCol="0" anchor="t">
            <a:normAutofit/>
          </a:bodyPr>
          <a:lstStyle/>
          <a:p>
            <a:pPr indent="0" marL="0">
              <a:buNone/>
            </a:pPr>
            <a:r>
              <a:rPr lang="en-US" sz="1430" b="1" dirty="0">
                <a:solidFill>
                  <a:srgbClr val="003366"/>
                </a:solidFill>
                <a:latin typeface="Arial" pitchFamily="34" charset="0"/>
                <a:ea typeface="Arial" pitchFamily="34" charset="-122"/>
                <a:cs typeface="Arial" pitchFamily="34" charset="-120"/>
              </a:rPr>
              <a:t>Giới hạn tuyên bố</a:t>
            </a:r>
            <a:endParaRPr lang="en-US" sz="1430" dirty="0"/>
          </a:p>
        </p:txBody>
      </p:sp>
      <p:sp>
        <p:nvSpPr>
          <p:cNvPr id="21" name="Text 18"/>
          <p:cNvSpPr/>
          <p:nvPr/>
        </p:nvSpPr>
        <p:spPr>
          <a:xfrm>
            <a:off x="1005840" y="5358384"/>
            <a:ext cx="10186416" cy="155448"/>
          </a:xfrm>
          <a:prstGeom prst="rect">
            <a:avLst/>
          </a:prstGeom>
          <a:noFill/>
          <a:ln/>
        </p:spPr>
        <p:txBody>
          <a:bodyPr wrap="square" lIns="0" tIns="0" rIns="0" bIns="0" rtlCol="0" anchor="t">
            <a:normAutofit/>
          </a:bodyPr>
          <a:lstStyle/>
          <a:p>
            <a:pPr indent="0" marL="0">
              <a:buNone/>
            </a:pPr>
            <a:r>
              <a:rPr lang="en-US" sz="1300" dirty="0">
                <a:solidFill>
                  <a:srgbClr val="242A30"/>
                </a:solidFill>
                <a:latin typeface="Arial" pitchFamily="34" charset="0"/>
                <a:ea typeface="Arial" pitchFamily="34" charset="-122"/>
                <a:cs typeface="Arial" pitchFamily="34" charset="-120"/>
              </a:rPr>
              <a:t>Không được gọi fixture CWE-22 do lab tự viết là “đã tái lập CVE-2024-23334”.</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15. Quản trị WAF: cổng phê duyệt và trạng thái</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15</a:t>
            </a:r>
            <a:endParaRPr lang="en-US" sz="680" dirty="0"/>
          </a:p>
        </p:txBody>
      </p:sp>
      <p:sp>
        <p:nvSpPr>
          <p:cNvPr id="5" name="Shape 2"/>
          <p:cNvSpPr/>
          <p:nvPr/>
        </p:nvSpPr>
        <p:spPr>
          <a:xfrm>
            <a:off x="740664" y="1298448"/>
            <a:ext cx="10570464" cy="521208"/>
          </a:xfrm>
          <a:prstGeom prst="rect">
            <a:avLst/>
          </a:prstGeom>
          <a:solidFill>
            <a:srgbClr val="003366"/>
          </a:solidFill>
          <a:ln w="7620">
            <a:solidFill>
              <a:srgbClr val="003366"/>
            </a:solidFill>
            <a:prstDash val="solid"/>
          </a:ln>
        </p:spPr>
      </p:sp>
      <p:sp>
        <p:nvSpPr>
          <p:cNvPr id="6" name="Text 3"/>
          <p:cNvSpPr/>
          <p:nvPr/>
        </p:nvSpPr>
        <p:spPr>
          <a:xfrm>
            <a:off x="813816" y="1367028"/>
            <a:ext cx="3008376" cy="38404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rial" pitchFamily="34" charset="0"/>
                <a:ea typeface="Arial" pitchFamily="34" charset="-122"/>
                <a:cs typeface="Arial" pitchFamily="34" charset="-120"/>
              </a:rPr>
              <a:t>Tiêu chí</a:t>
            </a:r>
            <a:endParaRPr lang="en-US" sz="1200" dirty="0"/>
          </a:p>
        </p:txBody>
      </p:sp>
      <p:sp>
        <p:nvSpPr>
          <p:cNvPr id="7" name="Text 4"/>
          <p:cNvSpPr/>
          <p:nvPr/>
        </p:nvSpPr>
        <p:spPr>
          <a:xfrm>
            <a:off x="3968496" y="1367028"/>
            <a:ext cx="2907792" cy="38404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Ngưỡng đã đăng ký</a:t>
            </a:r>
            <a:endParaRPr lang="en-US" sz="1200" dirty="0"/>
          </a:p>
        </p:txBody>
      </p:sp>
      <p:sp>
        <p:nvSpPr>
          <p:cNvPr id="8" name="Text 5"/>
          <p:cNvSpPr/>
          <p:nvPr/>
        </p:nvSpPr>
        <p:spPr>
          <a:xfrm>
            <a:off x="7022592" y="1367028"/>
            <a:ext cx="2295144" cy="38404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L3 final test</a:t>
            </a:r>
            <a:endParaRPr lang="en-US" sz="1200" dirty="0"/>
          </a:p>
        </p:txBody>
      </p:sp>
      <p:sp>
        <p:nvSpPr>
          <p:cNvPr id="9" name="Text 6"/>
          <p:cNvSpPr/>
          <p:nvPr/>
        </p:nvSpPr>
        <p:spPr>
          <a:xfrm>
            <a:off x="9464040" y="1367028"/>
            <a:ext cx="1773936" cy="38404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Đánh giá</a:t>
            </a:r>
            <a:endParaRPr lang="en-US" sz="1200" dirty="0"/>
          </a:p>
        </p:txBody>
      </p:sp>
      <p:sp>
        <p:nvSpPr>
          <p:cNvPr id="10" name="Shape 7"/>
          <p:cNvSpPr/>
          <p:nvPr/>
        </p:nvSpPr>
        <p:spPr>
          <a:xfrm>
            <a:off x="740664" y="1819656"/>
            <a:ext cx="10570464" cy="512064"/>
          </a:xfrm>
          <a:prstGeom prst="rect">
            <a:avLst/>
          </a:prstGeom>
          <a:solidFill>
            <a:srgbClr val="F7F7F7"/>
          </a:solidFill>
          <a:ln w="7620">
            <a:solidFill>
              <a:srgbClr val="F7F7F7"/>
            </a:solidFill>
            <a:prstDash val="solid"/>
          </a:ln>
        </p:spPr>
      </p:sp>
      <p:sp>
        <p:nvSpPr>
          <p:cNvPr id="11" name="Text 8"/>
          <p:cNvSpPr/>
          <p:nvPr/>
        </p:nvSpPr>
        <p:spPr>
          <a:xfrm>
            <a:off x="804672" y="1874520"/>
            <a:ext cx="3026664" cy="420624"/>
          </a:xfrm>
          <a:prstGeom prst="rect">
            <a:avLst/>
          </a:prstGeom>
          <a:noFill/>
          <a:ln/>
        </p:spPr>
        <p:txBody>
          <a:bodyPr wrap="square" lIns="0" tIns="0" rIns="0" bIns="0" rtlCol="0" anchor="ctr">
            <a:normAutofit/>
          </a:bodyPr>
          <a:lstStyle/>
          <a:p>
            <a:pPr algn="l" indent="0" marL="0">
              <a:buNone/>
            </a:pPr>
            <a:r>
              <a:rPr lang="en-US" sz="1210" dirty="0">
                <a:solidFill>
                  <a:srgbClr val="242A30"/>
                </a:solidFill>
                <a:latin typeface="Arial" pitchFamily="34" charset="0"/>
                <a:ea typeface="Arial" pitchFamily="34" charset="-122"/>
                <a:cs typeface="Arial" pitchFamily="34" charset="-120"/>
              </a:rPr>
              <a:t>Coverage</a:t>
            </a:r>
            <a:endParaRPr lang="en-US" sz="1210" dirty="0"/>
          </a:p>
        </p:txBody>
      </p:sp>
      <p:sp>
        <p:nvSpPr>
          <p:cNvPr id="12" name="Text 9"/>
          <p:cNvSpPr/>
          <p:nvPr/>
        </p:nvSpPr>
        <p:spPr>
          <a:xfrm>
            <a:off x="3959352" y="1874520"/>
            <a:ext cx="2926080" cy="420624"/>
          </a:xfrm>
          <a:prstGeom prst="rect">
            <a:avLst/>
          </a:prstGeom>
          <a:noFill/>
          <a:ln/>
        </p:spPr>
        <p:txBody>
          <a:bodyPr wrap="square" lIns="0" tIns="0" rIns="0" bIns="0" rtlCol="0" anchor="ctr">
            <a:normAutofit/>
          </a:bodyPr>
          <a:lstStyle/>
          <a:p>
            <a:pPr algn="ctr" indent="0" marL="0">
              <a:buNone/>
            </a:pPr>
            <a:r>
              <a:rPr lang="en-US" sz="1210" dirty="0">
                <a:solidFill>
                  <a:srgbClr val="242A30"/>
                </a:solidFill>
                <a:latin typeface="Arial" pitchFamily="34" charset="0"/>
                <a:ea typeface="Arial" pitchFamily="34" charset="-122"/>
                <a:cs typeface="Arial" pitchFamily="34" charset="-120"/>
              </a:rPr>
              <a:t>≥ 90%</a:t>
            </a:r>
            <a:endParaRPr lang="en-US" sz="1210" dirty="0"/>
          </a:p>
        </p:txBody>
      </p:sp>
      <p:sp>
        <p:nvSpPr>
          <p:cNvPr id="13" name="Text 10"/>
          <p:cNvSpPr/>
          <p:nvPr/>
        </p:nvSpPr>
        <p:spPr>
          <a:xfrm>
            <a:off x="7013448" y="1874520"/>
            <a:ext cx="2313432" cy="420624"/>
          </a:xfrm>
          <a:prstGeom prst="rect">
            <a:avLst/>
          </a:prstGeom>
          <a:noFill/>
          <a:ln/>
        </p:spPr>
        <p:txBody>
          <a:bodyPr wrap="square" lIns="0" tIns="0" rIns="0" bIns="0" rtlCol="0" anchor="ctr">
            <a:normAutofit/>
          </a:bodyPr>
          <a:lstStyle/>
          <a:p>
            <a:pPr algn="ctr" indent="0" marL="0">
              <a:buNone/>
            </a:pPr>
            <a:r>
              <a:rPr lang="en-US" sz="1210" dirty="0">
                <a:solidFill>
                  <a:srgbClr val="242A30"/>
                </a:solidFill>
                <a:latin typeface="Arial" pitchFamily="34" charset="0"/>
                <a:ea typeface="Arial" pitchFamily="34" charset="-122"/>
                <a:cs typeface="Arial" pitchFamily="34" charset="-120"/>
              </a:rPr>
              <a:t>100%</a:t>
            </a:r>
            <a:endParaRPr lang="en-US" sz="1210" dirty="0"/>
          </a:p>
        </p:txBody>
      </p:sp>
      <p:sp>
        <p:nvSpPr>
          <p:cNvPr id="14" name="Text 11"/>
          <p:cNvSpPr/>
          <p:nvPr/>
        </p:nvSpPr>
        <p:spPr>
          <a:xfrm>
            <a:off x="9454896" y="1874520"/>
            <a:ext cx="1792224" cy="420624"/>
          </a:xfrm>
          <a:prstGeom prst="rect">
            <a:avLst/>
          </a:prstGeom>
          <a:noFill/>
          <a:ln/>
        </p:spPr>
        <p:txBody>
          <a:bodyPr wrap="square" lIns="0" tIns="0" rIns="0" bIns="0" rtlCol="0" anchor="ctr">
            <a:normAutofit/>
          </a:bodyPr>
          <a:lstStyle/>
          <a:p>
            <a:pPr algn="ctr" indent="0" marL="0">
              <a:buNone/>
            </a:pPr>
            <a:r>
              <a:rPr lang="en-US" sz="1210" dirty="0">
                <a:solidFill>
                  <a:srgbClr val="242A30"/>
                </a:solidFill>
                <a:latin typeface="Arial" pitchFamily="34" charset="0"/>
                <a:ea typeface="Arial" pitchFamily="34" charset="-122"/>
                <a:cs typeface="Arial" pitchFamily="34" charset="-120"/>
              </a:rPr>
              <a:t>Đạt</a:t>
            </a:r>
            <a:endParaRPr lang="en-US" sz="1210" dirty="0"/>
          </a:p>
        </p:txBody>
      </p:sp>
      <p:sp>
        <p:nvSpPr>
          <p:cNvPr id="15" name="Shape 12"/>
          <p:cNvSpPr/>
          <p:nvPr/>
        </p:nvSpPr>
        <p:spPr>
          <a:xfrm>
            <a:off x="740664" y="2331720"/>
            <a:ext cx="10570464" cy="0"/>
          </a:xfrm>
          <a:prstGeom prst="line">
            <a:avLst/>
          </a:prstGeom>
          <a:noFill/>
          <a:ln w="5715">
            <a:solidFill>
              <a:srgbClr val="E5E8EC"/>
            </a:solidFill>
            <a:prstDash val="solid"/>
          </a:ln>
        </p:spPr>
      </p:sp>
      <p:sp>
        <p:nvSpPr>
          <p:cNvPr id="16" name="Shape 13"/>
          <p:cNvSpPr/>
          <p:nvPr/>
        </p:nvSpPr>
        <p:spPr>
          <a:xfrm>
            <a:off x="740664" y="2331720"/>
            <a:ext cx="10570464" cy="512064"/>
          </a:xfrm>
          <a:prstGeom prst="rect">
            <a:avLst/>
          </a:prstGeom>
          <a:solidFill>
            <a:srgbClr val="FFFFFF"/>
          </a:solidFill>
          <a:ln w="7620">
            <a:solidFill>
              <a:srgbClr val="FFFFFF"/>
            </a:solidFill>
            <a:prstDash val="solid"/>
          </a:ln>
        </p:spPr>
      </p:sp>
      <p:sp>
        <p:nvSpPr>
          <p:cNvPr id="17" name="Text 14"/>
          <p:cNvSpPr/>
          <p:nvPr/>
        </p:nvSpPr>
        <p:spPr>
          <a:xfrm>
            <a:off x="804672" y="2386584"/>
            <a:ext cx="3026664" cy="420624"/>
          </a:xfrm>
          <a:prstGeom prst="rect">
            <a:avLst/>
          </a:prstGeom>
          <a:noFill/>
          <a:ln/>
        </p:spPr>
        <p:txBody>
          <a:bodyPr wrap="square" lIns="0" tIns="0" rIns="0" bIns="0" rtlCol="0" anchor="ctr">
            <a:normAutofit/>
          </a:bodyPr>
          <a:lstStyle/>
          <a:p>
            <a:pPr algn="l" indent="0" marL="0">
              <a:buNone/>
            </a:pPr>
            <a:r>
              <a:rPr lang="en-US" sz="1210" b="1" dirty="0">
                <a:solidFill>
                  <a:srgbClr val="C91F35"/>
                </a:solidFill>
                <a:latin typeface="Arial" pitchFamily="34" charset="0"/>
                <a:ea typeface="Arial" pitchFamily="34" charset="-122"/>
                <a:cs typeface="Arial" pitchFamily="34" charset="-120"/>
              </a:rPr>
              <a:t>FPR</a:t>
            </a:r>
            <a:endParaRPr lang="en-US" sz="1210" dirty="0"/>
          </a:p>
        </p:txBody>
      </p:sp>
      <p:sp>
        <p:nvSpPr>
          <p:cNvPr id="18" name="Text 15"/>
          <p:cNvSpPr/>
          <p:nvPr/>
        </p:nvSpPr>
        <p:spPr>
          <a:xfrm>
            <a:off x="3959352" y="2386584"/>
            <a:ext cx="2926080" cy="420624"/>
          </a:xfrm>
          <a:prstGeom prst="rect">
            <a:avLst/>
          </a:prstGeom>
          <a:noFill/>
          <a:ln/>
        </p:spPr>
        <p:txBody>
          <a:bodyPr wrap="square" lIns="0" tIns="0" rIns="0" bIns="0" rtlCol="0" anchor="ctr">
            <a:normAutofit/>
          </a:bodyPr>
          <a:lstStyle/>
          <a:p>
            <a:pPr algn="ctr" indent="0" marL="0">
              <a:buNone/>
            </a:pPr>
            <a:r>
              <a:rPr lang="en-US" sz="1210" b="1" dirty="0">
                <a:solidFill>
                  <a:srgbClr val="C91F35"/>
                </a:solidFill>
                <a:latin typeface="Arial" pitchFamily="34" charset="0"/>
                <a:ea typeface="Arial" pitchFamily="34" charset="-122"/>
                <a:cs typeface="Arial" pitchFamily="34" charset="-120"/>
              </a:rPr>
              <a:t>≤ 5%</a:t>
            </a:r>
            <a:endParaRPr lang="en-US" sz="1210" dirty="0"/>
          </a:p>
        </p:txBody>
      </p:sp>
      <p:sp>
        <p:nvSpPr>
          <p:cNvPr id="19" name="Text 16"/>
          <p:cNvSpPr/>
          <p:nvPr/>
        </p:nvSpPr>
        <p:spPr>
          <a:xfrm>
            <a:off x="7013448" y="2386584"/>
            <a:ext cx="2313432" cy="420624"/>
          </a:xfrm>
          <a:prstGeom prst="rect">
            <a:avLst/>
          </a:prstGeom>
          <a:noFill/>
          <a:ln/>
        </p:spPr>
        <p:txBody>
          <a:bodyPr wrap="square" lIns="0" tIns="0" rIns="0" bIns="0" rtlCol="0" anchor="ctr">
            <a:normAutofit/>
          </a:bodyPr>
          <a:lstStyle/>
          <a:p>
            <a:pPr algn="ctr" indent="0" marL="0">
              <a:buNone/>
            </a:pPr>
            <a:r>
              <a:rPr lang="en-US" sz="1210" b="1" dirty="0">
                <a:solidFill>
                  <a:srgbClr val="C91F35"/>
                </a:solidFill>
                <a:latin typeface="Arial" pitchFamily="34" charset="0"/>
                <a:ea typeface="Arial" pitchFamily="34" charset="-122"/>
                <a:cs typeface="Arial" pitchFamily="34" charset="-120"/>
              </a:rPr>
              <a:t>11,36%</a:t>
            </a:r>
            <a:endParaRPr lang="en-US" sz="1210" dirty="0"/>
          </a:p>
        </p:txBody>
      </p:sp>
      <p:sp>
        <p:nvSpPr>
          <p:cNvPr id="20" name="Text 17"/>
          <p:cNvSpPr/>
          <p:nvPr/>
        </p:nvSpPr>
        <p:spPr>
          <a:xfrm>
            <a:off x="9454896" y="2386584"/>
            <a:ext cx="1792224" cy="420624"/>
          </a:xfrm>
          <a:prstGeom prst="rect">
            <a:avLst/>
          </a:prstGeom>
          <a:noFill/>
          <a:ln/>
        </p:spPr>
        <p:txBody>
          <a:bodyPr wrap="square" lIns="0" tIns="0" rIns="0" bIns="0" rtlCol="0" anchor="ctr">
            <a:normAutofit/>
          </a:bodyPr>
          <a:lstStyle/>
          <a:p>
            <a:pPr algn="ctr" indent="0" marL="0">
              <a:buNone/>
            </a:pPr>
            <a:r>
              <a:rPr lang="en-US" sz="1210" b="1" dirty="0">
                <a:solidFill>
                  <a:srgbClr val="C91F35"/>
                </a:solidFill>
                <a:latin typeface="Arial" pitchFamily="34" charset="0"/>
                <a:ea typeface="Arial" pitchFamily="34" charset="-122"/>
                <a:cs typeface="Arial" pitchFamily="34" charset="-120"/>
              </a:rPr>
              <a:t>KHÔNG ĐẠT</a:t>
            </a:r>
            <a:endParaRPr lang="en-US" sz="1210" dirty="0"/>
          </a:p>
        </p:txBody>
      </p:sp>
      <p:sp>
        <p:nvSpPr>
          <p:cNvPr id="21" name="Shape 18"/>
          <p:cNvSpPr/>
          <p:nvPr/>
        </p:nvSpPr>
        <p:spPr>
          <a:xfrm>
            <a:off x="740664" y="2843784"/>
            <a:ext cx="10570464" cy="0"/>
          </a:xfrm>
          <a:prstGeom prst="line">
            <a:avLst/>
          </a:prstGeom>
          <a:noFill/>
          <a:ln w="5715">
            <a:solidFill>
              <a:srgbClr val="E5E8EC"/>
            </a:solidFill>
            <a:prstDash val="solid"/>
          </a:ln>
        </p:spPr>
      </p:sp>
      <p:sp>
        <p:nvSpPr>
          <p:cNvPr id="22" name="Shape 19"/>
          <p:cNvSpPr/>
          <p:nvPr/>
        </p:nvSpPr>
        <p:spPr>
          <a:xfrm>
            <a:off x="740664" y="2843784"/>
            <a:ext cx="10570464" cy="512064"/>
          </a:xfrm>
          <a:prstGeom prst="rect">
            <a:avLst/>
          </a:prstGeom>
          <a:solidFill>
            <a:srgbClr val="F7F7F7"/>
          </a:solidFill>
          <a:ln w="7620">
            <a:solidFill>
              <a:srgbClr val="F7F7F7"/>
            </a:solidFill>
            <a:prstDash val="solid"/>
          </a:ln>
        </p:spPr>
      </p:sp>
      <p:sp>
        <p:nvSpPr>
          <p:cNvPr id="23" name="Text 20"/>
          <p:cNvSpPr/>
          <p:nvPr/>
        </p:nvSpPr>
        <p:spPr>
          <a:xfrm>
            <a:off x="804672" y="2898648"/>
            <a:ext cx="3026664" cy="420624"/>
          </a:xfrm>
          <a:prstGeom prst="rect">
            <a:avLst/>
          </a:prstGeom>
          <a:noFill/>
          <a:ln/>
        </p:spPr>
        <p:txBody>
          <a:bodyPr wrap="square" lIns="0" tIns="0" rIns="0" bIns="0" rtlCol="0" anchor="ctr">
            <a:normAutofit/>
          </a:bodyPr>
          <a:lstStyle/>
          <a:p>
            <a:pPr algn="l" indent="0" marL="0">
              <a:buNone/>
            </a:pPr>
            <a:r>
              <a:rPr lang="en-US" sz="1210" dirty="0">
                <a:solidFill>
                  <a:srgbClr val="242A30"/>
                </a:solidFill>
                <a:latin typeface="Arial" pitchFamily="34" charset="0"/>
                <a:ea typeface="Arial" pitchFamily="34" charset="-122"/>
                <a:cs typeface="Arial" pitchFamily="34" charset="-120"/>
              </a:rPr>
              <a:t>Evasion robustness</a:t>
            </a:r>
            <a:endParaRPr lang="en-US" sz="1210" dirty="0"/>
          </a:p>
        </p:txBody>
      </p:sp>
      <p:sp>
        <p:nvSpPr>
          <p:cNvPr id="24" name="Text 21"/>
          <p:cNvSpPr/>
          <p:nvPr/>
        </p:nvSpPr>
        <p:spPr>
          <a:xfrm>
            <a:off x="3959352" y="2898648"/>
            <a:ext cx="2926080" cy="420624"/>
          </a:xfrm>
          <a:prstGeom prst="rect">
            <a:avLst/>
          </a:prstGeom>
          <a:noFill/>
          <a:ln/>
        </p:spPr>
        <p:txBody>
          <a:bodyPr wrap="square" lIns="0" tIns="0" rIns="0" bIns="0" rtlCol="0" anchor="ctr">
            <a:normAutofit/>
          </a:bodyPr>
          <a:lstStyle/>
          <a:p>
            <a:pPr algn="ctr" indent="0" marL="0">
              <a:buNone/>
            </a:pPr>
            <a:r>
              <a:rPr lang="en-US" sz="1210" dirty="0">
                <a:solidFill>
                  <a:srgbClr val="242A30"/>
                </a:solidFill>
                <a:latin typeface="Arial" pitchFamily="34" charset="0"/>
                <a:ea typeface="Arial" pitchFamily="34" charset="-122"/>
                <a:cs typeface="Arial" pitchFamily="34" charset="-120"/>
              </a:rPr>
              <a:t>≥ 85%</a:t>
            </a:r>
            <a:endParaRPr lang="en-US" sz="1210" dirty="0"/>
          </a:p>
        </p:txBody>
      </p:sp>
      <p:sp>
        <p:nvSpPr>
          <p:cNvPr id="25" name="Text 22"/>
          <p:cNvSpPr/>
          <p:nvPr/>
        </p:nvSpPr>
        <p:spPr>
          <a:xfrm>
            <a:off x="7013448" y="2898648"/>
            <a:ext cx="2313432" cy="420624"/>
          </a:xfrm>
          <a:prstGeom prst="rect">
            <a:avLst/>
          </a:prstGeom>
          <a:noFill/>
          <a:ln/>
        </p:spPr>
        <p:txBody>
          <a:bodyPr wrap="square" lIns="0" tIns="0" rIns="0" bIns="0" rtlCol="0" anchor="ctr">
            <a:normAutofit/>
          </a:bodyPr>
          <a:lstStyle/>
          <a:p>
            <a:pPr algn="ctr" indent="0" marL="0">
              <a:buNone/>
            </a:pPr>
            <a:r>
              <a:rPr lang="en-US" sz="1210" dirty="0">
                <a:solidFill>
                  <a:srgbClr val="242A30"/>
                </a:solidFill>
                <a:latin typeface="Arial" pitchFamily="34" charset="0"/>
                <a:ea typeface="Arial" pitchFamily="34" charset="-122"/>
                <a:cs typeface="Arial" pitchFamily="34" charset="-120"/>
              </a:rPr>
              <a:t>100%</a:t>
            </a:r>
            <a:endParaRPr lang="en-US" sz="1210" dirty="0"/>
          </a:p>
        </p:txBody>
      </p:sp>
      <p:sp>
        <p:nvSpPr>
          <p:cNvPr id="26" name="Text 23"/>
          <p:cNvSpPr/>
          <p:nvPr/>
        </p:nvSpPr>
        <p:spPr>
          <a:xfrm>
            <a:off x="9454896" y="2898648"/>
            <a:ext cx="1792224" cy="420624"/>
          </a:xfrm>
          <a:prstGeom prst="rect">
            <a:avLst/>
          </a:prstGeom>
          <a:noFill/>
          <a:ln/>
        </p:spPr>
        <p:txBody>
          <a:bodyPr wrap="square" lIns="0" tIns="0" rIns="0" bIns="0" rtlCol="0" anchor="ctr">
            <a:normAutofit/>
          </a:bodyPr>
          <a:lstStyle/>
          <a:p>
            <a:pPr algn="ctr" indent="0" marL="0">
              <a:buNone/>
            </a:pPr>
            <a:r>
              <a:rPr lang="en-US" sz="1210" dirty="0">
                <a:solidFill>
                  <a:srgbClr val="242A30"/>
                </a:solidFill>
                <a:latin typeface="Arial" pitchFamily="34" charset="0"/>
                <a:ea typeface="Arial" pitchFamily="34" charset="-122"/>
                <a:cs typeface="Arial" pitchFamily="34" charset="-120"/>
              </a:rPr>
              <a:t>Đạt</a:t>
            </a:r>
            <a:endParaRPr lang="en-US" sz="1210" dirty="0"/>
          </a:p>
        </p:txBody>
      </p:sp>
      <p:sp>
        <p:nvSpPr>
          <p:cNvPr id="27" name="Shape 24"/>
          <p:cNvSpPr/>
          <p:nvPr/>
        </p:nvSpPr>
        <p:spPr>
          <a:xfrm>
            <a:off x="740664" y="3355848"/>
            <a:ext cx="10570464" cy="0"/>
          </a:xfrm>
          <a:prstGeom prst="line">
            <a:avLst/>
          </a:prstGeom>
          <a:noFill/>
          <a:ln w="5715">
            <a:solidFill>
              <a:srgbClr val="E5E8EC"/>
            </a:solidFill>
            <a:prstDash val="solid"/>
          </a:ln>
        </p:spPr>
      </p:sp>
      <p:sp>
        <p:nvSpPr>
          <p:cNvPr id="28" name="Shape 25"/>
          <p:cNvSpPr/>
          <p:nvPr/>
        </p:nvSpPr>
        <p:spPr>
          <a:xfrm>
            <a:off x="740664" y="3355848"/>
            <a:ext cx="10570464" cy="512064"/>
          </a:xfrm>
          <a:prstGeom prst="rect">
            <a:avLst/>
          </a:prstGeom>
          <a:solidFill>
            <a:srgbClr val="FFFFFF"/>
          </a:solidFill>
          <a:ln w="7620">
            <a:solidFill>
              <a:srgbClr val="FFFFFF"/>
            </a:solidFill>
            <a:prstDash val="solid"/>
          </a:ln>
        </p:spPr>
      </p:sp>
      <p:sp>
        <p:nvSpPr>
          <p:cNvPr id="29" name="Text 26"/>
          <p:cNvSpPr/>
          <p:nvPr/>
        </p:nvSpPr>
        <p:spPr>
          <a:xfrm>
            <a:off x="804672" y="3410712"/>
            <a:ext cx="3026664" cy="420624"/>
          </a:xfrm>
          <a:prstGeom prst="rect">
            <a:avLst/>
          </a:prstGeom>
          <a:noFill/>
          <a:ln/>
        </p:spPr>
        <p:txBody>
          <a:bodyPr wrap="square" lIns="0" tIns="0" rIns="0" bIns="0" rtlCol="0" anchor="ctr">
            <a:normAutofit/>
          </a:bodyPr>
          <a:lstStyle/>
          <a:p>
            <a:pPr algn="l" indent="0" marL="0">
              <a:buNone/>
            </a:pPr>
            <a:r>
              <a:rPr lang="en-US" sz="1210" b="1" dirty="0">
                <a:solidFill>
                  <a:srgbClr val="C91F35"/>
                </a:solidFill>
                <a:latin typeface="Arial" pitchFamily="34" charset="0"/>
                <a:ea typeface="Arial" pitchFamily="34" charset="-122"/>
                <a:cs typeface="Arial" pitchFamily="34" charset="-120"/>
              </a:rPr>
              <a:t>Benign regression</a:t>
            </a:r>
            <a:endParaRPr lang="en-US" sz="1210" dirty="0"/>
          </a:p>
        </p:txBody>
      </p:sp>
      <p:sp>
        <p:nvSpPr>
          <p:cNvPr id="30" name="Text 27"/>
          <p:cNvSpPr/>
          <p:nvPr/>
        </p:nvSpPr>
        <p:spPr>
          <a:xfrm>
            <a:off x="3959352" y="3410712"/>
            <a:ext cx="2926080" cy="420624"/>
          </a:xfrm>
          <a:prstGeom prst="rect">
            <a:avLst/>
          </a:prstGeom>
          <a:noFill/>
          <a:ln/>
        </p:spPr>
        <p:txBody>
          <a:bodyPr wrap="square" lIns="0" tIns="0" rIns="0" bIns="0" rtlCol="0" anchor="ctr">
            <a:normAutofit/>
          </a:bodyPr>
          <a:lstStyle/>
          <a:p>
            <a:pPr algn="ctr" indent="0" marL="0">
              <a:buNone/>
            </a:pPr>
            <a:r>
              <a:rPr lang="en-US" sz="1210" b="1" dirty="0">
                <a:solidFill>
                  <a:srgbClr val="C91F35"/>
                </a:solidFill>
                <a:latin typeface="Arial" pitchFamily="34" charset="0"/>
                <a:ea typeface="Arial" pitchFamily="34" charset="-122"/>
                <a:cs typeface="Arial" pitchFamily="34" charset="-120"/>
              </a:rPr>
              <a:t>= 0</a:t>
            </a:r>
            <a:endParaRPr lang="en-US" sz="1210" dirty="0"/>
          </a:p>
        </p:txBody>
      </p:sp>
      <p:sp>
        <p:nvSpPr>
          <p:cNvPr id="31" name="Text 28"/>
          <p:cNvSpPr/>
          <p:nvPr/>
        </p:nvSpPr>
        <p:spPr>
          <a:xfrm>
            <a:off x="7013448" y="3410712"/>
            <a:ext cx="2313432" cy="420624"/>
          </a:xfrm>
          <a:prstGeom prst="rect">
            <a:avLst/>
          </a:prstGeom>
          <a:noFill/>
          <a:ln/>
        </p:spPr>
        <p:txBody>
          <a:bodyPr wrap="square" lIns="0" tIns="0" rIns="0" bIns="0" rtlCol="0" anchor="ctr">
            <a:normAutofit/>
          </a:bodyPr>
          <a:lstStyle/>
          <a:p>
            <a:pPr algn="ctr" indent="0" marL="0">
              <a:buNone/>
            </a:pPr>
            <a:r>
              <a:rPr lang="en-US" sz="1210" b="1" dirty="0">
                <a:solidFill>
                  <a:srgbClr val="C91F35"/>
                </a:solidFill>
                <a:latin typeface="Arial" pitchFamily="34" charset="0"/>
                <a:ea typeface="Arial" pitchFamily="34" charset="-122"/>
                <a:cs typeface="Arial" pitchFamily="34" charset="-120"/>
              </a:rPr>
              <a:t>1</a:t>
            </a:r>
            <a:endParaRPr lang="en-US" sz="1210" dirty="0"/>
          </a:p>
        </p:txBody>
      </p:sp>
      <p:sp>
        <p:nvSpPr>
          <p:cNvPr id="32" name="Text 29"/>
          <p:cNvSpPr/>
          <p:nvPr/>
        </p:nvSpPr>
        <p:spPr>
          <a:xfrm>
            <a:off x="9454896" y="3410712"/>
            <a:ext cx="1792224" cy="420624"/>
          </a:xfrm>
          <a:prstGeom prst="rect">
            <a:avLst/>
          </a:prstGeom>
          <a:noFill/>
          <a:ln/>
        </p:spPr>
        <p:txBody>
          <a:bodyPr wrap="square" lIns="0" tIns="0" rIns="0" bIns="0" rtlCol="0" anchor="ctr">
            <a:normAutofit/>
          </a:bodyPr>
          <a:lstStyle/>
          <a:p>
            <a:pPr algn="ctr" indent="0" marL="0">
              <a:buNone/>
            </a:pPr>
            <a:r>
              <a:rPr lang="en-US" sz="1210" b="1" dirty="0">
                <a:solidFill>
                  <a:srgbClr val="C91F35"/>
                </a:solidFill>
                <a:latin typeface="Arial" pitchFamily="34" charset="0"/>
                <a:ea typeface="Arial" pitchFamily="34" charset="-122"/>
                <a:cs typeface="Arial" pitchFamily="34" charset="-120"/>
              </a:rPr>
              <a:t>KHÔNG ĐẠT</a:t>
            </a:r>
            <a:endParaRPr lang="en-US" sz="1210" dirty="0"/>
          </a:p>
        </p:txBody>
      </p:sp>
      <p:sp>
        <p:nvSpPr>
          <p:cNvPr id="33" name="Shape 30"/>
          <p:cNvSpPr/>
          <p:nvPr/>
        </p:nvSpPr>
        <p:spPr>
          <a:xfrm>
            <a:off x="740664" y="3867912"/>
            <a:ext cx="10570464" cy="0"/>
          </a:xfrm>
          <a:prstGeom prst="line">
            <a:avLst/>
          </a:prstGeom>
          <a:noFill/>
          <a:ln w="5715">
            <a:solidFill>
              <a:srgbClr val="E5E8EC"/>
            </a:solidFill>
            <a:prstDash val="solid"/>
          </a:ln>
        </p:spPr>
      </p:sp>
      <p:sp>
        <p:nvSpPr>
          <p:cNvPr id="34" name="Shape 31"/>
          <p:cNvSpPr/>
          <p:nvPr/>
        </p:nvSpPr>
        <p:spPr>
          <a:xfrm>
            <a:off x="740664" y="3867912"/>
            <a:ext cx="10570464" cy="512064"/>
          </a:xfrm>
          <a:prstGeom prst="rect">
            <a:avLst/>
          </a:prstGeom>
          <a:solidFill>
            <a:srgbClr val="F7F7F7"/>
          </a:solidFill>
          <a:ln w="7620">
            <a:solidFill>
              <a:srgbClr val="F7F7F7"/>
            </a:solidFill>
            <a:prstDash val="solid"/>
          </a:ln>
        </p:spPr>
      </p:sp>
      <p:sp>
        <p:nvSpPr>
          <p:cNvPr id="35" name="Text 32"/>
          <p:cNvSpPr/>
          <p:nvPr/>
        </p:nvSpPr>
        <p:spPr>
          <a:xfrm>
            <a:off x="804672" y="3922776"/>
            <a:ext cx="3026664" cy="420624"/>
          </a:xfrm>
          <a:prstGeom prst="rect">
            <a:avLst/>
          </a:prstGeom>
          <a:noFill/>
          <a:ln/>
        </p:spPr>
        <p:txBody>
          <a:bodyPr wrap="square" lIns="0" tIns="0" rIns="0" bIns="0" rtlCol="0" anchor="ctr">
            <a:normAutofit/>
          </a:bodyPr>
          <a:lstStyle/>
          <a:p>
            <a:pPr algn="l" indent="0" marL="0">
              <a:buNone/>
            </a:pPr>
            <a:r>
              <a:rPr lang="en-US" sz="1210" dirty="0">
                <a:solidFill>
                  <a:srgbClr val="242A30"/>
                </a:solidFill>
                <a:latin typeface="Arial" pitchFamily="34" charset="0"/>
                <a:ea typeface="Arial" pitchFamily="34" charset="-122"/>
                <a:cs typeface="Arial" pitchFamily="34" charset="-120"/>
              </a:rPr>
              <a:t>Rollback</a:t>
            </a:r>
            <a:endParaRPr lang="en-US" sz="1210" dirty="0"/>
          </a:p>
        </p:txBody>
      </p:sp>
      <p:sp>
        <p:nvSpPr>
          <p:cNvPr id="36" name="Text 33"/>
          <p:cNvSpPr/>
          <p:nvPr/>
        </p:nvSpPr>
        <p:spPr>
          <a:xfrm>
            <a:off x="3959352" y="3922776"/>
            <a:ext cx="2926080" cy="420624"/>
          </a:xfrm>
          <a:prstGeom prst="rect">
            <a:avLst/>
          </a:prstGeom>
          <a:noFill/>
          <a:ln/>
        </p:spPr>
        <p:txBody>
          <a:bodyPr wrap="square" lIns="0" tIns="0" rIns="0" bIns="0" rtlCol="0" anchor="ctr">
            <a:normAutofit/>
          </a:bodyPr>
          <a:lstStyle/>
          <a:p>
            <a:pPr algn="ctr" indent="0" marL="0">
              <a:buNone/>
            </a:pPr>
            <a:r>
              <a:rPr lang="en-US" sz="1210" dirty="0">
                <a:solidFill>
                  <a:srgbClr val="242A30"/>
                </a:solidFill>
                <a:latin typeface="Arial" pitchFamily="34" charset="0"/>
                <a:ea typeface="Arial" pitchFamily="34" charset="-122"/>
                <a:cs typeface="Arial" pitchFamily="34" charset="-120"/>
              </a:rPr>
              <a:t>Có chứng cứ</a:t>
            </a:r>
            <a:endParaRPr lang="en-US" sz="1210" dirty="0"/>
          </a:p>
        </p:txBody>
      </p:sp>
      <p:sp>
        <p:nvSpPr>
          <p:cNvPr id="37" name="Text 34"/>
          <p:cNvSpPr/>
          <p:nvPr/>
        </p:nvSpPr>
        <p:spPr>
          <a:xfrm>
            <a:off x="7013448" y="3922776"/>
            <a:ext cx="2313432" cy="420624"/>
          </a:xfrm>
          <a:prstGeom prst="rect">
            <a:avLst/>
          </a:prstGeom>
          <a:noFill/>
          <a:ln/>
        </p:spPr>
        <p:txBody>
          <a:bodyPr wrap="square" lIns="0" tIns="0" rIns="0" bIns="0" rtlCol="0" anchor="ctr">
            <a:normAutofit/>
          </a:bodyPr>
          <a:lstStyle/>
          <a:p>
            <a:pPr algn="ctr" indent="0" marL="0">
              <a:buNone/>
            </a:pPr>
            <a:r>
              <a:rPr lang="en-US" sz="1210" dirty="0">
                <a:solidFill>
                  <a:srgbClr val="242A30"/>
                </a:solidFill>
                <a:latin typeface="Arial" pitchFamily="34" charset="0"/>
                <a:ea typeface="Arial" pitchFamily="34" charset="-122"/>
                <a:cs typeface="Arial" pitchFamily="34" charset="-120"/>
              </a:rPr>
              <a:t>SHA-256 khớp</a:t>
            </a:r>
            <a:endParaRPr lang="en-US" sz="1210" dirty="0"/>
          </a:p>
        </p:txBody>
      </p:sp>
      <p:sp>
        <p:nvSpPr>
          <p:cNvPr id="38" name="Text 35"/>
          <p:cNvSpPr/>
          <p:nvPr/>
        </p:nvSpPr>
        <p:spPr>
          <a:xfrm>
            <a:off x="9454896" y="3922776"/>
            <a:ext cx="1792224" cy="420624"/>
          </a:xfrm>
          <a:prstGeom prst="rect">
            <a:avLst/>
          </a:prstGeom>
          <a:noFill/>
          <a:ln/>
        </p:spPr>
        <p:txBody>
          <a:bodyPr wrap="square" lIns="0" tIns="0" rIns="0" bIns="0" rtlCol="0" anchor="ctr">
            <a:normAutofit/>
          </a:bodyPr>
          <a:lstStyle/>
          <a:p>
            <a:pPr algn="ctr" indent="0" marL="0">
              <a:buNone/>
            </a:pPr>
            <a:r>
              <a:rPr lang="en-US" sz="1210" dirty="0">
                <a:solidFill>
                  <a:srgbClr val="242A30"/>
                </a:solidFill>
                <a:latin typeface="Arial" pitchFamily="34" charset="0"/>
                <a:ea typeface="Arial" pitchFamily="34" charset="-122"/>
                <a:cs typeface="Arial" pitchFamily="34" charset="-120"/>
              </a:rPr>
              <a:t>Đạt</a:t>
            </a:r>
            <a:endParaRPr lang="en-US" sz="1210" dirty="0"/>
          </a:p>
        </p:txBody>
      </p:sp>
      <p:sp>
        <p:nvSpPr>
          <p:cNvPr id="39" name="Shape 36"/>
          <p:cNvSpPr/>
          <p:nvPr/>
        </p:nvSpPr>
        <p:spPr>
          <a:xfrm>
            <a:off x="740664" y="4379976"/>
            <a:ext cx="10570464" cy="0"/>
          </a:xfrm>
          <a:prstGeom prst="line">
            <a:avLst/>
          </a:prstGeom>
          <a:noFill/>
          <a:ln w="5715">
            <a:solidFill>
              <a:srgbClr val="E5E8EC"/>
            </a:solidFill>
            <a:prstDash val="solid"/>
          </a:ln>
        </p:spPr>
      </p:sp>
      <p:sp>
        <p:nvSpPr>
          <p:cNvPr id="40" name="Shape 37"/>
          <p:cNvSpPr/>
          <p:nvPr/>
        </p:nvSpPr>
        <p:spPr>
          <a:xfrm>
            <a:off x="740664" y="4379976"/>
            <a:ext cx="10570464" cy="512064"/>
          </a:xfrm>
          <a:prstGeom prst="rect">
            <a:avLst/>
          </a:prstGeom>
          <a:solidFill>
            <a:srgbClr val="FFFFFF"/>
          </a:solidFill>
          <a:ln w="7620">
            <a:solidFill>
              <a:srgbClr val="FFFFFF"/>
            </a:solidFill>
            <a:prstDash val="solid"/>
          </a:ln>
        </p:spPr>
      </p:sp>
      <p:sp>
        <p:nvSpPr>
          <p:cNvPr id="41" name="Text 38"/>
          <p:cNvSpPr/>
          <p:nvPr/>
        </p:nvSpPr>
        <p:spPr>
          <a:xfrm>
            <a:off x="804672" y="4434840"/>
            <a:ext cx="3026664" cy="420624"/>
          </a:xfrm>
          <a:prstGeom prst="rect">
            <a:avLst/>
          </a:prstGeom>
          <a:noFill/>
          <a:ln/>
        </p:spPr>
        <p:txBody>
          <a:bodyPr wrap="square" lIns="0" tIns="0" rIns="0" bIns="0" rtlCol="0" anchor="ctr">
            <a:normAutofit/>
          </a:bodyPr>
          <a:lstStyle/>
          <a:p>
            <a:pPr algn="l" indent="0" marL="0">
              <a:buNone/>
            </a:pPr>
            <a:r>
              <a:rPr lang="en-US" sz="1210" b="1" dirty="0">
                <a:solidFill>
                  <a:srgbClr val="C91F35"/>
                </a:solidFill>
                <a:latin typeface="Arial" pitchFamily="34" charset="0"/>
                <a:ea typeface="Arial" pitchFamily="34" charset="-122"/>
                <a:cs typeface="Arial" pitchFamily="34" charset="-120"/>
              </a:rPr>
              <a:t>CVE validation</a:t>
            </a:r>
            <a:endParaRPr lang="en-US" sz="1210" dirty="0"/>
          </a:p>
        </p:txBody>
      </p:sp>
      <p:sp>
        <p:nvSpPr>
          <p:cNvPr id="42" name="Text 39"/>
          <p:cNvSpPr/>
          <p:nvPr/>
        </p:nvSpPr>
        <p:spPr>
          <a:xfrm>
            <a:off x="3959352" y="4434840"/>
            <a:ext cx="2926080" cy="420624"/>
          </a:xfrm>
          <a:prstGeom prst="rect">
            <a:avLst/>
          </a:prstGeom>
          <a:noFill/>
          <a:ln/>
        </p:spPr>
        <p:txBody>
          <a:bodyPr wrap="square" lIns="0" tIns="0" rIns="0" bIns="0" rtlCol="0" anchor="ctr">
            <a:normAutofit/>
          </a:bodyPr>
          <a:lstStyle/>
          <a:p>
            <a:pPr algn="ctr" indent="0" marL="0">
              <a:buNone/>
            </a:pPr>
            <a:r>
              <a:rPr lang="en-US" sz="1210" b="1" dirty="0">
                <a:solidFill>
                  <a:srgbClr val="C91F35"/>
                </a:solidFill>
                <a:latin typeface="Arial" pitchFamily="34" charset="0"/>
                <a:ea typeface="Arial" pitchFamily="34" charset="-122"/>
                <a:cs typeface="Arial" pitchFamily="34" charset="-120"/>
              </a:rPr>
              <a:t>Cấp chứng cứ riêng</a:t>
            </a:r>
            <a:endParaRPr lang="en-US" sz="1210" dirty="0"/>
          </a:p>
        </p:txBody>
      </p:sp>
      <p:sp>
        <p:nvSpPr>
          <p:cNvPr id="43" name="Text 40"/>
          <p:cNvSpPr/>
          <p:nvPr/>
        </p:nvSpPr>
        <p:spPr>
          <a:xfrm>
            <a:off x="7013448" y="4434840"/>
            <a:ext cx="2313432" cy="420624"/>
          </a:xfrm>
          <a:prstGeom prst="rect">
            <a:avLst/>
          </a:prstGeom>
          <a:noFill/>
          <a:ln/>
        </p:spPr>
        <p:txBody>
          <a:bodyPr wrap="square" lIns="0" tIns="0" rIns="0" bIns="0" rtlCol="0" anchor="ctr">
            <a:normAutofit/>
          </a:bodyPr>
          <a:lstStyle/>
          <a:p>
            <a:pPr algn="ctr" indent="0" marL="0">
              <a:buNone/>
            </a:pPr>
            <a:r>
              <a:rPr lang="en-US" sz="1210" b="1" dirty="0">
                <a:solidFill>
                  <a:srgbClr val="C91F35"/>
                </a:solidFill>
                <a:latin typeface="Arial" pitchFamily="34" charset="0"/>
                <a:ea typeface="Arial" pitchFamily="34" charset="-122"/>
                <a:cs typeface="Arial" pitchFamily="34" charset="-120"/>
              </a:rPr>
              <a:t>INCOMPLETE</a:t>
            </a:r>
            <a:endParaRPr lang="en-US" sz="1210" dirty="0"/>
          </a:p>
        </p:txBody>
      </p:sp>
      <p:sp>
        <p:nvSpPr>
          <p:cNvPr id="44" name="Text 41"/>
          <p:cNvSpPr/>
          <p:nvPr/>
        </p:nvSpPr>
        <p:spPr>
          <a:xfrm>
            <a:off x="9454896" y="4434840"/>
            <a:ext cx="1792224" cy="420624"/>
          </a:xfrm>
          <a:prstGeom prst="rect">
            <a:avLst/>
          </a:prstGeom>
          <a:noFill/>
          <a:ln/>
        </p:spPr>
        <p:txBody>
          <a:bodyPr wrap="square" lIns="0" tIns="0" rIns="0" bIns="0" rtlCol="0" anchor="ctr">
            <a:normAutofit/>
          </a:bodyPr>
          <a:lstStyle/>
          <a:p>
            <a:pPr algn="ctr" indent="0" marL="0">
              <a:buNone/>
            </a:pPr>
            <a:r>
              <a:rPr lang="en-US" sz="1210" b="1" dirty="0">
                <a:solidFill>
                  <a:srgbClr val="C91F35"/>
                </a:solidFill>
                <a:latin typeface="Arial" pitchFamily="34" charset="0"/>
                <a:ea typeface="Arial" pitchFamily="34" charset="-122"/>
                <a:cs typeface="Arial" pitchFamily="34" charset="-120"/>
              </a:rPr>
              <a:t>Không kết luận</a:t>
            </a:r>
            <a:endParaRPr lang="en-US" sz="1210" dirty="0"/>
          </a:p>
        </p:txBody>
      </p:sp>
      <p:sp>
        <p:nvSpPr>
          <p:cNvPr id="45" name="Shape 42"/>
          <p:cNvSpPr/>
          <p:nvPr/>
        </p:nvSpPr>
        <p:spPr>
          <a:xfrm>
            <a:off x="740664" y="4892040"/>
            <a:ext cx="10570464" cy="0"/>
          </a:xfrm>
          <a:prstGeom prst="line">
            <a:avLst/>
          </a:prstGeom>
          <a:noFill/>
          <a:ln w="5715">
            <a:solidFill>
              <a:srgbClr val="E5E8EC"/>
            </a:solidFill>
            <a:prstDash val="solid"/>
          </a:ln>
        </p:spPr>
      </p:sp>
      <p:sp>
        <p:nvSpPr>
          <p:cNvPr id="46" name="Shape 43"/>
          <p:cNvSpPr/>
          <p:nvPr/>
        </p:nvSpPr>
        <p:spPr>
          <a:xfrm>
            <a:off x="758952" y="5340096"/>
            <a:ext cx="10725912" cy="475488"/>
          </a:xfrm>
          <a:prstGeom prst="roundRect">
            <a:avLst>
              <a:gd name="adj" fmla="val 5769"/>
            </a:avLst>
          </a:prstGeom>
          <a:solidFill>
            <a:srgbClr val="C91F35"/>
          </a:solidFill>
          <a:ln w="7620">
            <a:solidFill>
              <a:srgbClr val="C91F35"/>
            </a:solidFill>
            <a:prstDash val="solid"/>
          </a:ln>
        </p:spPr>
      </p:sp>
      <p:sp>
        <p:nvSpPr>
          <p:cNvPr id="47" name="Text 44"/>
          <p:cNvSpPr/>
          <p:nvPr/>
        </p:nvSpPr>
        <p:spPr>
          <a:xfrm>
            <a:off x="941832" y="5413248"/>
            <a:ext cx="10351008" cy="33832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KẾT QUẢ QUẢN TRỊ — NO-GO: không có ứng viên được phê duyệt triển khai.</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body.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29184" y="104242"/>
            <a:ext cx="11201400"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16. Kết luận khoa học và hướng nghiên cứu</a:t>
            </a:r>
            <a:endParaRPr lang="en-US" sz="1900" dirty="0"/>
          </a:p>
        </p:txBody>
      </p:sp>
      <p:sp>
        <p:nvSpPr>
          <p:cNvPr id="4" name="Text 1"/>
          <p:cNvSpPr/>
          <p:nvPr/>
        </p:nvSpPr>
        <p:spPr>
          <a:xfrm>
            <a:off x="11521440" y="6464808"/>
            <a:ext cx="384048" cy="128016"/>
          </a:xfrm>
          <a:prstGeom prst="rect">
            <a:avLst/>
          </a:prstGeom>
          <a:noFill/>
          <a:ln/>
        </p:spPr>
        <p:txBody>
          <a:bodyPr wrap="square" lIns="0" tIns="0" rIns="0" bIns="0" rtlCol="0" anchor="ctr">
            <a:normAutofit/>
          </a:bodyPr>
          <a:lstStyle/>
          <a:p>
            <a:pPr algn="r" indent="0" marL="0">
              <a:buNone/>
            </a:pPr>
            <a:r>
              <a:rPr lang="en-US" sz="680" dirty="0">
                <a:solidFill>
                  <a:srgbClr val="003B6D"/>
                </a:solidFill>
                <a:latin typeface="Arial" pitchFamily="34" charset="0"/>
                <a:ea typeface="Arial" pitchFamily="34" charset="-122"/>
                <a:cs typeface="Arial" pitchFamily="34" charset="-120"/>
              </a:rPr>
              <a:t>16</a:t>
            </a:r>
            <a:endParaRPr lang="en-US" sz="680" dirty="0"/>
          </a:p>
        </p:txBody>
      </p:sp>
      <p:sp>
        <p:nvSpPr>
          <p:cNvPr id="5" name="Shape 2"/>
          <p:cNvSpPr/>
          <p:nvPr/>
        </p:nvSpPr>
        <p:spPr>
          <a:xfrm>
            <a:off x="822960" y="1298448"/>
            <a:ext cx="3255264" cy="1097280"/>
          </a:xfrm>
          <a:prstGeom prst="roundRect">
            <a:avLst>
              <a:gd name="adj" fmla="val 2500"/>
            </a:avLst>
          </a:prstGeom>
          <a:solidFill>
            <a:srgbClr val="F7F7F7"/>
          </a:solidFill>
          <a:ln w="7620">
            <a:solidFill>
              <a:srgbClr val="F7F7F7"/>
            </a:solidFill>
            <a:prstDash val="solid"/>
          </a:ln>
        </p:spPr>
      </p:sp>
      <p:sp>
        <p:nvSpPr>
          <p:cNvPr id="6" name="Text 3"/>
          <p:cNvSpPr/>
          <p:nvPr/>
        </p:nvSpPr>
        <p:spPr>
          <a:xfrm>
            <a:off x="941832" y="1444752"/>
            <a:ext cx="3017520"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728</a:t>
            </a:r>
            <a:endParaRPr lang="en-US" sz="2600" dirty="0"/>
          </a:p>
        </p:txBody>
      </p:sp>
      <p:sp>
        <p:nvSpPr>
          <p:cNvPr id="7" name="Text 4"/>
          <p:cNvSpPr/>
          <p:nvPr/>
        </p:nvSpPr>
        <p:spPr>
          <a:xfrm>
            <a:off x="914400" y="2020824"/>
            <a:ext cx="3072384"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Quan sát final test</a:t>
            </a:r>
            <a:endParaRPr lang="en-US" sz="1200" dirty="0"/>
          </a:p>
        </p:txBody>
      </p:sp>
      <p:sp>
        <p:nvSpPr>
          <p:cNvPr id="8" name="Shape 5"/>
          <p:cNvSpPr/>
          <p:nvPr/>
        </p:nvSpPr>
        <p:spPr>
          <a:xfrm>
            <a:off x="4471416" y="1298448"/>
            <a:ext cx="3255264" cy="1097280"/>
          </a:xfrm>
          <a:prstGeom prst="roundRect">
            <a:avLst>
              <a:gd name="adj" fmla="val 2500"/>
            </a:avLst>
          </a:prstGeom>
          <a:solidFill>
            <a:srgbClr val="F7F7F7"/>
          </a:solidFill>
          <a:ln w="7620">
            <a:solidFill>
              <a:srgbClr val="F7F7F7"/>
            </a:solidFill>
            <a:prstDash val="solid"/>
          </a:ln>
        </p:spPr>
      </p:sp>
      <p:sp>
        <p:nvSpPr>
          <p:cNvPr id="9" name="Text 6"/>
          <p:cNvSpPr/>
          <p:nvPr/>
        </p:nvSpPr>
        <p:spPr>
          <a:xfrm>
            <a:off x="4590288" y="1444752"/>
            <a:ext cx="3017520" cy="484632"/>
          </a:xfrm>
          <a:prstGeom prst="rect">
            <a:avLst/>
          </a:prstGeom>
          <a:noFill/>
          <a:ln/>
        </p:spPr>
        <p:txBody>
          <a:bodyPr wrap="square" lIns="0" tIns="0" rIns="0" bIns="0" rtlCol="0" anchor="ctr">
            <a:normAutofit/>
          </a:bodyPr>
          <a:lstStyle/>
          <a:p>
            <a:pPr algn="ctr" indent="0" marL="0">
              <a:buNone/>
            </a:pPr>
            <a:r>
              <a:rPr lang="en-US" sz="2600" b="1" dirty="0">
                <a:solidFill>
                  <a:srgbClr val="003366"/>
                </a:solidFill>
                <a:latin typeface="Arial" pitchFamily="34" charset="0"/>
                <a:ea typeface="Arial" pitchFamily="34" charset="-122"/>
                <a:cs typeface="Arial" pitchFamily="34" charset="-120"/>
              </a:rPr>
              <a:t>100%</a:t>
            </a:r>
            <a:endParaRPr lang="en-US" sz="2600" dirty="0"/>
          </a:p>
        </p:txBody>
      </p:sp>
      <p:sp>
        <p:nvSpPr>
          <p:cNvPr id="10" name="Text 7"/>
          <p:cNvSpPr/>
          <p:nvPr/>
        </p:nvSpPr>
        <p:spPr>
          <a:xfrm>
            <a:off x="4562856" y="2020824"/>
            <a:ext cx="3072384"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L3 coverage + robustness</a:t>
            </a:r>
            <a:endParaRPr lang="en-US" sz="1200" dirty="0"/>
          </a:p>
        </p:txBody>
      </p:sp>
      <p:sp>
        <p:nvSpPr>
          <p:cNvPr id="11" name="Shape 8"/>
          <p:cNvSpPr/>
          <p:nvPr/>
        </p:nvSpPr>
        <p:spPr>
          <a:xfrm>
            <a:off x="8138160" y="1298448"/>
            <a:ext cx="3246120" cy="1097280"/>
          </a:xfrm>
          <a:prstGeom prst="roundRect">
            <a:avLst>
              <a:gd name="adj" fmla="val 2500"/>
            </a:avLst>
          </a:prstGeom>
          <a:solidFill>
            <a:srgbClr val="F7F7F7"/>
          </a:solidFill>
          <a:ln w="7620">
            <a:solidFill>
              <a:srgbClr val="F7F7F7"/>
            </a:solidFill>
            <a:prstDash val="solid"/>
          </a:ln>
        </p:spPr>
      </p:sp>
      <p:sp>
        <p:nvSpPr>
          <p:cNvPr id="12" name="Text 9"/>
          <p:cNvSpPr/>
          <p:nvPr/>
        </p:nvSpPr>
        <p:spPr>
          <a:xfrm>
            <a:off x="8257032" y="1444752"/>
            <a:ext cx="3008376" cy="484632"/>
          </a:xfrm>
          <a:prstGeom prst="rect">
            <a:avLst/>
          </a:prstGeom>
          <a:noFill/>
          <a:ln/>
        </p:spPr>
        <p:txBody>
          <a:bodyPr wrap="square" lIns="0" tIns="0" rIns="0" bIns="0" rtlCol="0" anchor="ctr">
            <a:normAutofit/>
          </a:bodyPr>
          <a:lstStyle/>
          <a:p>
            <a:pPr algn="ctr" indent="0" marL="0">
              <a:buNone/>
            </a:pPr>
            <a:r>
              <a:rPr lang="en-US" sz="2600" b="1" dirty="0">
                <a:solidFill>
                  <a:srgbClr val="C91F35"/>
                </a:solidFill>
                <a:latin typeface="Arial" pitchFamily="34" charset="0"/>
                <a:ea typeface="Arial" pitchFamily="34" charset="-122"/>
                <a:cs typeface="Arial" pitchFamily="34" charset="-120"/>
              </a:rPr>
              <a:t>NO-GO</a:t>
            </a:r>
            <a:endParaRPr lang="en-US" sz="2600" dirty="0"/>
          </a:p>
        </p:txBody>
      </p:sp>
      <p:sp>
        <p:nvSpPr>
          <p:cNvPr id="13" name="Text 10"/>
          <p:cNvSpPr/>
          <p:nvPr/>
        </p:nvSpPr>
        <p:spPr>
          <a:xfrm>
            <a:off x="8229600" y="2020824"/>
            <a:ext cx="3063240" cy="237744"/>
          </a:xfrm>
          <a:prstGeom prst="rect">
            <a:avLst/>
          </a:prstGeom>
          <a:noFill/>
          <a:ln/>
        </p:spPr>
        <p:txBody>
          <a:bodyPr wrap="square" lIns="0" tIns="0" rIns="0" bIns="0" rtlCol="0" anchor="ctr">
            <a:normAutofit/>
          </a:bodyPr>
          <a:lstStyle/>
          <a:p>
            <a:pPr algn="ctr" indent="0" marL="0">
              <a:buNone/>
            </a:pPr>
            <a:r>
              <a:rPr lang="en-US" sz="1200" dirty="0">
                <a:solidFill>
                  <a:srgbClr val="5C6570"/>
                </a:solidFill>
                <a:latin typeface="Arial" pitchFamily="34" charset="0"/>
                <a:ea typeface="Arial" pitchFamily="34" charset="-122"/>
                <a:cs typeface="Arial" pitchFamily="34" charset="-120"/>
              </a:rPr>
              <a:t>Triển khai policy</a:t>
            </a:r>
            <a:endParaRPr lang="en-US" sz="1200" dirty="0"/>
          </a:p>
        </p:txBody>
      </p:sp>
      <p:sp>
        <p:nvSpPr>
          <p:cNvPr id="14" name="Shape 11"/>
          <p:cNvSpPr/>
          <p:nvPr/>
        </p:nvSpPr>
        <p:spPr>
          <a:xfrm>
            <a:off x="822960" y="2958084"/>
            <a:ext cx="68580" cy="68580"/>
          </a:xfrm>
          <a:prstGeom prst="rect">
            <a:avLst/>
          </a:prstGeom>
          <a:solidFill>
            <a:srgbClr val="C91F35"/>
          </a:solidFill>
          <a:ln w="7620">
            <a:solidFill>
              <a:srgbClr val="C91F35"/>
            </a:solidFill>
            <a:prstDash val="solid"/>
          </a:ln>
        </p:spPr>
      </p:sp>
      <p:sp>
        <p:nvSpPr>
          <p:cNvPr id="15" name="Text 12"/>
          <p:cNvSpPr/>
          <p:nvPr/>
        </p:nvSpPr>
        <p:spPr>
          <a:xfrm>
            <a:off x="1005840" y="2862072"/>
            <a:ext cx="10396728" cy="585216"/>
          </a:xfrm>
          <a:prstGeom prst="rect">
            <a:avLst/>
          </a:prstGeom>
          <a:noFill/>
          <a:ln/>
        </p:spPr>
        <p:txBody>
          <a:bodyPr wrap="square" lIns="0" tIns="0" rIns="0" bIns="0" rtlCol="0" anchor="t">
            <a:normAutofit/>
          </a:bodyPr>
          <a:lstStyle/>
          <a:p>
            <a:pPr indent="0" marL="0">
              <a:buNone/>
            </a:pPr>
            <a:r>
              <a:rPr lang="en-US" sz="1440" dirty="0">
                <a:solidFill>
                  <a:srgbClr val="242A30"/>
                </a:solidFill>
                <a:latin typeface="Arial" pitchFamily="34" charset="0"/>
                <a:ea typeface="Arial" pitchFamily="34" charset="-122"/>
                <a:cs typeface="Arial" pitchFamily="34" charset="-120"/>
              </a:rPr>
              <a:t>Đã thực nghiệm: oracle + ModSecurity CRS + 7 frozen policies + drift canary + rollback.</a:t>
            </a:r>
            <a:endParaRPr lang="en-US" sz="1440" dirty="0"/>
          </a:p>
        </p:txBody>
      </p:sp>
      <p:sp>
        <p:nvSpPr>
          <p:cNvPr id="16" name="Shape 13"/>
          <p:cNvSpPr/>
          <p:nvPr/>
        </p:nvSpPr>
        <p:spPr>
          <a:xfrm>
            <a:off x="822960" y="3570732"/>
            <a:ext cx="68580" cy="68580"/>
          </a:xfrm>
          <a:prstGeom prst="rect">
            <a:avLst/>
          </a:prstGeom>
          <a:solidFill>
            <a:srgbClr val="C91F35"/>
          </a:solidFill>
          <a:ln w="7620">
            <a:solidFill>
              <a:srgbClr val="C91F35"/>
            </a:solidFill>
            <a:prstDash val="solid"/>
          </a:ln>
        </p:spPr>
      </p:sp>
      <p:sp>
        <p:nvSpPr>
          <p:cNvPr id="17" name="Text 14"/>
          <p:cNvSpPr/>
          <p:nvPr/>
        </p:nvSpPr>
        <p:spPr>
          <a:xfrm>
            <a:off x="1005840" y="3474720"/>
            <a:ext cx="10396728" cy="585216"/>
          </a:xfrm>
          <a:prstGeom prst="rect">
            <a:avLst/>
          </a:prstGeom>
          <a:noFill/>
          <a:ln/>
        </p:spPr>
        <p:txBody>
          <a:bodyPr wrap="square" lIns="0" tIns="0" rIns="0" bIns="0" rtlCol="0" anchor="t">
            <a:normAutofit/>
          </a:bodyPr>
          <a:lstStyle/>
          <a:p>
            <a:pPr indent="0" marL="0">
              <a:buNone/>
            </a:pPr>
            <a:r>
              <a:rPr lang="en-US" sz="1440" dirty="0">
                <a:solidFill>
                  <a:srgbClr val="242A30"/>
                </a:solidFill>
                <a:latin typeface="Arial" pitchFamily="34" charset="0"/>
                <a:ea typeface="Arial" pitchFamily="34" charset="-122"/>
                <a:cs typeface="Arial" pitchFamily="34" charset="-120"/>
              </a:rPr>
              <a:t>L3 cải thiện trên 3 biến thể SQLi cùng một họ; chưa đủ kết luận ưu thế tổng quát.</a:t>
            </a:r>
            <a:endParaRPr lang="en-US" sz="1440" dirty="0"/>
          </a:p>
        </p:txBody>
      </p:sp>
      <p:sp>
        <p:nvSpPr>
          <p:cNvPr id="18" name="Shape 15"/>
          <p:cNvSpPr/>
          <p:nvPr/>
        </p:nvSpPr>
        <p:spPr>
          <a:xfrm>
            <a:off x="822960" y="4183380"/>
            <a:ext cx="68580" cy="68580"/>
          </a:xfrm>
          <a:prstGeom prst="rect">
            <a:avLst/>
          </a:prstGeom>
          <a:solidFill>
            <a:srgbClr val="C91F35"/>
          </a:solidFill>
          <a:ln w="7620">
            <a:solidFill>
              <a:srgbClr val="C91F35"/>
            </a:solidFill>
            <a:prstDash val="solid"/>
          </a:ln>
        </p:spPr>
      </p:sp>
      <p:sp>
        <p:nvSpPr>
          <p:cNvPr id="19" name="Text 16"/>
          <p:cNvSpPr/>
          <p:nvPr/>
        </p:nvSpPr>
        <p:spPr>
          <a:xfrm>
            <a:off x="1005840" y="4087368"/>
            <a:ext cx="10396728" cy="585216"/>
          </a:xfrm>
          <a:prstGeom prst="rect">
            <a:avLst/>
          </a:prstGeom>
          <a:noFill/>
          <a:ln/>
        </p:spPr>
        <p:txBody>
          <a:bodyPr wrap="square" lIns="0" tIns="0" rIns="0" bIns="0" rtlCol="0" anchor="t">
            <a:normAutofit/>
          </a:bodyPr>
          <a:lstStyle/>
          <a:p>
            <a:pPr indent="0" marL="0">
              <a:buNone/>
            </a:pPr>
            <a:r>
              <a:rPr lang="en-US" sz="1440" dirty="0">
                <a:solidFill>
                  <a:srgbClr val="242A30"/>
                </a:solidFill>
                <a:latin typeface="Arial" pitchFamily="34" charset="0"/>
                <a:ea typeface="Arial" pitchFamily="34" charset="-122"/>
                <a:cs typeface="Arial" pitchFamily="34" charset="-120"/>
              </a:rPr>
              <a:t>FPR và hồi quy chức năng chặn deployment approval dù coverage cao.</a:t>
            </a:r>
            <a:endParaRPr lang="en-US" sz="1440" dirty="0"/>
          </a:p>
        </p:txBody>
      </p:sp>
      <p:sp>
        <p:nvSpPr>
          <p:cNvPr id="20" name="Shape 17"/>
          <p:cNvSpPr/>
          <p:nvPr/>
        </p:nvSpPr>
        <p:spPr>
          <a:xfrm>
            <a:off x="822960" y="4796028"/>
            <a:ext cx="68580" cy="68580"/>
          </a:xfrm>
          <a:prstGeom prst="rect">
            <a:avLst/>
          </a:prstGeom>
          <a:solidFill>
            <a:srgbClr val="C91F35"/>
          </a:solidFill>
          <a:ln w="7620">
            <a:solidFill>
              <a:srgbClr val="C91F35"/>
            </a:solidFill>
            <a:prstDash val="solid"/>
          </a:ln>
        </p:spPr>
      </p:sp>
      <p:sp>
        <p:nvSpPr>
          <p:cNvPr id="21" name="Text 18"/>
          <p:cNvSpPr/>
          <p:nvPr/>
        </p:nvSpPr>
        <p:spPr>
          <a:xfrm>
            <a:off x="1005840" y="4700016"/>
            <a:ext cx="10396728" cy="585216"/>
          </a:xfrm>
          <a:prstGeom prst="rect">
            <a:avLst/>
          </a:prstGeom>
          <a:noFill/>
          <a:ln/>
        </p:spPr>
        <p:txBody>
          <a:bodyPr wrap="square" lIns="0" tIns="0" rIns="0" bIns="0" rtlCol="0" anchor="t">
            <a:normAutofit/>
          </a:bodyPr>
          <a:lstStyle/>
          <a:p>
            <a:pPr indent="0" marL="0">
              <a:buNone/>
            </a:pPr>
            <a:r>
              <a:rPr lang="en-US" sz="1440" dirty="0">
                <a:solidFill>
                  <a:srgbClr val="242A30"/>
                </a:solidFill>
                <a:latin typeface="Arial" pitchFamily="34" charset="0"/>
                <a:ea typeface="Arial" pitchFamily="34" charset="-122"/>
                <a:cs typeface="Arial" pitchFamily="34" charset="-120"/>
              </a:rPr>
              <a:t>Cần nghiên cứu xác nhận độc lập, thêm benign /sql; CVE vẫn chưa thực nghiệm thành công.</a:t>
            </a:r>
            <a:endParaRPr lang="en-US" sz="1440" dirty="0"/>
          </a:p>
        </p:txBody>
      </p:sp>
      <p:sp>
        <p:nvSpPr>
          <p:cNvPr id="22" name="Text 19"/>
          <p:cNvSpPr/>
          <p:nvPr/>
        </p:nvSpPr>
        <p:spPr>
          <a:xfrm>
            <a:off x="832104" y="5632704"/>
            <a:ext cx="10469880" cy="292608"/>
          </a:xfrm>
          <a:prstGeom prst="rect">
            <a:avLst/>
          </a:prstGeom>
          <a:noFill/>
          <a:ln/>
        </p:spPr>
        <p:txBody>
          <a:bodyPr wrap="square" lIns="0" tIns="0" rIns="0" bIns="0" rtlCol="0" anchor="ctr">
            <a:normAutofit/>
          </a:bodyPr>
          <a:lstStyle/>
          <a:p>
            <a:pPr algn="ctr" indent="0" marL="0">
              <a:buNone/>
            </a:pPr>
            <a:r>
              <a:rPr lang="en-US" sz="1280" b="1" dirty="0">
                <a:solidFill>
                  <a:srgbClr val="C91F35"/>
                </a:solidFill>
                <a:latin typeface="Arial" pitchFamily="34" charset="0"/>
                <a:ea typeface="Arial" pitchFamily="34" charset="-122"/>
                <a:cs typeface="Arial" pitchFamily="34" charset="-120"/>
              </a:rPr>
              <a:t>Giới hạn: 6 input trùng giữa các split; cỡ mẫu họ độc lập nhỏ; không có production drift.</a:t>
            </a:r>
            <a:endParaRPr lang="en-US" sz="12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mnt/data/TRACE_WAF_TEMPLATE_REBUILD/optimized_assets/closing.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721608" y="2468880"/>
            <a:ext cx="8019288" cy="1115568"/>
          </a:xfrm>
          <a:prstGeom prst="rect">
            <a:avLst/>
          </a:prstGeom>
          <a:noFill/>
          <a:ln/>
        </p:spPr>
        <p:txBody>
          <a:bodyPr wrap="square" lIns="0" tIns="0" rIns="0" bIns="0" rtlCol="0" anchor="ctr">
            <a:normAutofit/>
          </a:bodyPr>
          <a:lstStyle/>
          <a:p>
            <a:pPr algn="ctr" indent="0" marL="0">
              <a:buNone/>
            </a:pPr>
            <a:r>
              <a:rPr lang="en-US" sz="2700" b="1" dirty="0">
                <a:solidFill>
                  <a:srgbClr val="C91F35"/>
                </a:solidFill>
                <a:latin typeface="Arial" pitchFamily="34" charset="0"/>
                <a:ea typeface="Arial" pitchFamily="34" charset="-122"/>
                <a:cs typeface="Arial" pitchFamily="34" charset="-120"/>
              </a:rPr>
              <a:t>CẢM ƠN THẦY VÀ CÁC BẠN</a:t>
            </a:r>
            <a:endParaRPr lang="en-US" sz="2700" dirty="0"/>
          </a:p>
          <a:p>
            <a:pPr algn="ctr" indent="0" marL="0">
              <a:buNone/>
            </a:pPr>
            <a:r>
              <a:rPr lang="en-US" sz="2700" b="1" dirty="0">
                <a:solidFill>
                  <a:srgbClr val="C91F35"/>
                </a:solidFill>
                <a:latin typeface="Arial" pitchFamily="34" charset="0"/>
                <a:ea typeface="Arial" pitchFamily="34" charset="-122"/>
                <a:cs typeface="Arial" pitchFamily="34" charset="-120"/>
              </a:rPr>
              <a:t>ĐÃ LẮNG NGHE</a:t>
            </a:r>
            <a:endParaRPr lang="en-US" sz="2700" dirty="0"/>
          </a:p>
        </p:txBody>
      </p:sp>
      <p:sp>
        <p:nvSpPr>
          <p:cNvPr id="4" name="Text 1"/>
          <p:cNvSpPr/>
          <p:nvPr/>
        </p:nvSpPr>
        <p:spPr>
          <a:xfrm>
            <a:off x="4050792" y="3904488"/>
            <a:ext cx="7333488" cy="365760"/>
          </a:xfrm>
          <a:prstGeom prst="rect">
            <a:avLst/>
          </a:prstGeom>
          <a:noFill/>
          <a:ln/>
        </p:spPr>
        <p:txBody>
          <a:bodyPr wrap="square" lIns="0" tIns="0" rIns="0" bIns="0" rtlCol="0" anchor="ctr">
            <a:normAutofit/>
          </a:bodyPr>
          <a:lstStyle/>
          <a:p>
            <a:pPr algn="ctr" indent="0" marL="0">
              <a:buNone/>
            </a:pPr>
            <a:r>
              <a:rPr lang="en-US" sz="1800" b="1" dirty="0">
                <a:solidFill>
                  <a:srgbClr val="003366"/>
                </a:solidFill>
                <a:latin typeface="Arial" pitchFamily="34" charset="0"/>
                <a:ea typeface="Arial" pitchFamily="34" charset="-122"/>
                <a:cs typeface="Arial" pitchFamily="34" charset="-120"/>
              </a:rPr>
              <a:t>TRACE-WAF  ·  Q&amp;A</a:t>
            </a:r>
            <a:endParaRPr lang="en-US" sz="1800" dirty="0"/>
          </a:p>
        </p:txBody>
      </p:sp>
      <p:sp>
        <p:nvSpPr>
          <p:cNvPr id="5" name="Text 2"/>
          <p:cNvSpPr/>
          <p:nvPr/>
        </p:nvSpPr>
        <p:spPr>
          <a:xfrm>
            <a:off x="3794760" y="4809744"/>
            <a:ext cx="7726680" cy="338328"/>
          </a:xfrm>
          <a:prstGeom prst="rect">
            <a:avLst/>
          </a:prstGeom>
          <a:noFill/>
          <a:ln/>
        </p:spPr>
        <p:txBody>
          <a:bodyPr wrap="square" lIns="0" tIns="0" rIns="0" bIns="0" rtlCol="0" anchor="ctr">
            <a:normAutofit/>
          </a:bodyPr>
          <a:lstStyle/>
          <a:p>
            <a:pPr algn="ctr" indent="0" marL="0">
              <a:buNone/>
            </a:pPr>
            <a:r>
              <a:rPr lang="en-US" sz="1430" dirty="0">
                <a:solidFill>
                  <a:srgbClr val="5C6570"/>
                </a:solidFill>
                <a:latin typeface="Arial" pitchFamily="34" charset="0"/>
                <a:ea typeface="Arial" pitchFamily="34" charset="-122"/>
                <a:cs typeface="Arial" pitchFamily="34" charset="-120"/>
              </a:rPr>
              <a:t>Nguyễn Văn Đức  |  Nguyễn Huy Tuyển</a:t>
            </a:r>
            <a:endParaRPr lang="en-US" sz="1430" dirty="0"/>
          </a:p>
        </p:txBody>
      </p:sp>
      <p:sp>
        <p:nvSpPr>
          <p:cNvPr id="6" name="Text 3"/>
          <p:cNvSpPr/>
          <p:nvPr/>
        </p:nvSpPr>
        <p:spPr>
          <a:xfrm>
            <a:off x="3794760" y="5248656"/>
            <a:ext cx="7726680" cy="274320"/>
          </a:xfrm>
          <a:prstGeom prst="rect">
            <a:avLst/>
          </a:prstGeom>
          <a:noFill/>
          <a:ln/>
        </p:spPr>
        <p:txBody>
          <a:bodyPr wrap="square" lIns="0" tIns="0" rIns="0" bIns="0" rtlCol="0" anchor="ctr">
            <a:normAutofit/>
          </a:bodyPr>
          <a:lstStyle/>
          <a:p>
            <a:pPr algn="ctr" indent="0" marL="0">
              <a:buNone/>
            </a:pPr>
            <a:r>
              <a:rPr lang="en-US" sz="1290" dirty="0">
                <a:solidFill>
                  <a:srgbClr val="5C6570"/>
                </a:solidFill>
                <a:latin typeface="Arial" pitchFamily="34" charset="0"/>
                <a:ea typeface="Arial" pitchFamily="34" charset="-122"/>
                <a:cs typeface="Arial" pitchFamily="34" charset="-120"/>
              </a:rPr>
              <a:t>Đại học Bách Khoa Hà Nội</a:t>
            </a:r>
            <a:endParaRPr lang="en-US" sz="12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Đại học Bách Khoa Hà Nội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TRACE-WAF | Đánh giá ba trục và quản trị vòng đời luật WAF</dc:title>
  <dc:subject>TRACE-WAF — Báo cáo thực nghiệm học phần Chính sách và quản trị An ninh mạng</dc:subject>
  <dc:creator>Nguyễn Văn Đức; Nguyễn Huy Tuyển</dc:creator>
  <cp:lastModifiedBy>Nguyễn Văn Đức; Nguyễn Huy Tuyển</cp:lastModifiedBy>
  <cp:revision>1</cp:revision>
  <dcterms:created xsi:type="dcterms:W3CDTF">2026-10-17T01:25:39Z</dcterms:created>
  <dcterms:modified xsi:type="dcterms:W3CDTF">2026-10-17T01:25:39Z</dcterms:modified>
</cp:coreProperties>
</file>