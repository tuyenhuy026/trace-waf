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Giới thiệu: đề tài đánh giá WAF theo ba trục và có góc nhìn chính sách, quản trị. Nhấn mạnh đây là paper có nguyên mẫu ngoại tuyến; LLM/WAF thương mại nằm trong lộ trình tương lai.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Tác giả Miggo nêu 52% bypass trong tập CVE và cấu hình của họ. Tuy nhiên một quyết định vận hành phải đồng thời xét false negative, false positive và governance. Không suy diễn từ số Miggo sang nghiên cứu thực nghiệm của chúng ta.
[Sources]
- https://www.miggo.io/reports-webinar/benchmark-study-of-waf-weakness-and-ai-mitigation
- https://owasp.org/projects/crs/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Các ý tưởng thành phần đã tồn tại. Đóng góp của bài này là giao thức kết hợp ba trục và change control ở quy mô bài tập, không tuyên bố tiêu chuẩn đầu tiên. Công bố DEG-WAF/GenSQLi khác bộ test và mô hình của chúng ta.
[Sources]
- https://owasp.org/projects/crs/
- https://doi.org/10.54654/isj.v2i25.1128
- https://doi.org/10.3390/fi17010008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RQ1 là đo đúng, RQ2 là làm rõ trade-off giữa các cách xử lý, RQ3 là kiểm soát rủi ro khi đưa rule vào vận hành. Kết quả nghiên cứu được trình bày minh bạch theo các câu hỏi này.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Mô tả bốn tầng: nguồn CWE/CVE và benign, sinh ứng viên, kiểm tra rule, đánh giá ba trục, cổng review. Phân biệt kiến trúc tham vọng LLM với phần đã thực thi: dataset deterministic, regex, parser giả lập. Không có khai thác ngoài lab hay lưu lượng gửi đi.
[Sources]
- https://cwe.mitre.org/data/definitions/89.html
- https://cwe.mitre.org/data/definitions/79.html
- https://cwe.mitre.org/data/definitions/22.html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Định nghĩa coverage là recall trên chuỗi có dấu hiệu tấn công, không phải bao phủ CVE. Robustness là recall trên biến thể trong benchmark; FPR theo benign hard-negative, không đại diện cơ cấu sản xuất. Cổng AND khiến một trục yếu không bị che bằng chỉ số trung bình.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Mỗi CWE có 5 dạng gốc, mỗi dạng 10 biến thể theo ID, phát triển 4 ID và test 6 ID. Tập test có 450 attack-pattern và 120 benign; hard-negative cố ý chiếm 50% của benign. Đây không phải mẫu đại diện traffic thật, và giữ lại ID không chứng minh tổng quát hóa sang family chưa thấy.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Raw nhìn chuỗi chưa giải mã, canonical có thể lột hai cấp URL encode, trace thêm xử lý comment SQL và traversal escaping document root. Chúng không phải là OWASP CRS hay sản phẩm WAF thực; do đó không so sánh hiệu quả với các hãng.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Nêu tỷ lệ thực đo và các con số đếm: Raw TP 228 FP60; canonical TP420 FP60; Trace TP450 FP20. Robustness trên 360 biến thể là 38.33, 91.67, 100%. Vẫn chưa đạt gate do FPR. Không gọi đây là hiệu quả trên sản xuất.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Trong test mỗi CWE có 150 attack và 40 benign. Hard-negative SQL chứa chuỗi UNION SELECT ở ngữ cảnh tài liệu, bị cả ba chính sách phát hiện như tấn công. Đó là lý do TRACE vẫn FPR 50% với SQLi, 16.67% toàn tập. Nếu tự thêm ngoại lệ theo nội dung user gửi sẽ rất nguy hiểm.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Giai đoạn A có 180 mẫu raw/case, B có 270 mã hóa/transform. Raw phát hiện 100% A nhưng 17.78% B, tương ứng giảm 82.22 điểm %. Đây không phải drift lưu lượng quan sát ngoài đời mà là thí nghiệm cơ cấu có kiểm soát.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Đây là điểm mấu chốt của học phần quản trị: đạt coverage và robustness không có nghĩa được auto-deploy. FPR không qua gate. Gate là minh họa, phải định nghĩa theo appetite của doanh nghiệp và dữ liệu production. Khuyến nghị chỉ triển khai shadow và xét lại sau khi có tập benign thật.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Sổ luật có mã TW-001/002/003, liên kết CWE nguồn, phạm vi route, owner giả định, trạng thái prototype_only, rollback và TTL review 30 ngày. NIST AI RMF cung cấp cấu trúc Govern, Map, Measure, Manage cho phần LLM nếu nghiên cứu mở rộng. Không có ánh xạ CVE xác thực tại thời điểm này.
[Sources]
- https://doi.org/10.6028/NIST.AI.100-1
- https://cwe.mitre.org/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Nói thẳng hạn chế. Đặc biệt seed-template overlap, semantics biến đổi không được thực thi; mô hình route /tutorial giả định HTML escape; hard negatives cố ý dày. Muốn bảo vệ publish khoa học cần đối chứng LLM, CWE/CVE độc lập và kết quả trên WAF thực có phép.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THUYẾT TRÌNH:
Kết luận một câu: nghiên cứu bổ sung một cổng quyết định có truy vết, mã chạy lại và chính sách không auto-deploy khi FPR vẫn cao. Nếu được hỏi tính mới, nhấn mạnh tích hợp các trục và change-control ở quy mô bài tập, không khẳng định chuẩn đầu tiên. Nếu được hỏi 100% coverage: chỉ trong test hẹp, không chứng minh không có bypass.
[Sources]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63D"/>
        </a:solidFill>
      </p:bgPr>
    </p:bg>
    <p:spTree>
      <p:nvGrpSpPr>
        <p:cNvPr id="1" name=""/>
        <p:cNvGrpSpPr/>
        <p:nvPr/>
      </p:nvGrpSpPr>
      <p:grpSpPr>
        <a:xfrm>
          <a:off x="0" y="0"/>
          <a:ext cx="0" cy="0"/>
          <a:chOff x="0" y="0"/>
          <a:chExt cx="0" cy="0"/>
        </a:xfrm>
      </p:grpSpPr>
      <p:sp>
        <p:nvSpPr>
          <p:cNvPr id="2" name="Shape 0"/>
          <p:cNvSpPr/>
          <p:nvPr/>
        </p:nvSpPr>
        <p:spPr>
          <a:xfrm>
            <a:off x="0" y="0"/>
            <a:ext cx="173736" cy="6858000"/>
          </a:xfrm>
          <a:prstGeom prst="rect">
            <a:avLst/>
          </a:prstGeom>
          <a:solidFill>
            <a:srgbClr val="159A95"/>
          </a:solidFill>
          <a:ln w="8890">
            <a:solidFill>
              <a:srgbClr val="159A95"/>
            </a:solidFill>
            <a:prstDash val="solid"/>
          </a:ln>
        </p:spPr>
      </p:sp>
      <p:sp>
        <p:nvSpPr>
          <p:cNvPr id="3" name="Text 1"/>
          <p:cNvSpPr txBox="1"/>
          <p:nvPr/>
        </p:nvSpPr>
        <p:spPr>
          <a:xfrm>
            <a:off x="804672" y="630936"/>
            <a:ext cx="8229600" cy="283464"/>
          </a:xfrm>
          <a:prstGeom prst="rect">
            <a:avLst/>
          </a:prstGeom>
          <a:noFill/>
          <a:ln/>
        </p:spPr>
        <p:txBody>
          <a:bodyPr wrap="square" lIns="0" tIns="0" rIns="0" bIns="0" rtlCol="0" anchor="ctr"/>
          <a:lstStyle/>
          <a:p>
            <a:pPr algn="l" indent="0" marL="0">
              <a:lnSpc>
                <a:spcPct val="105000"/>
              </a:lnSpc>
              <a:buNone/>
            </a:pPr>
            <a:r>
              <a:rPr lang="en-US" sz="1200" b="1" spc="180" kern="0" dirty="0">
                <a:solidFill>
                  <a:srgbClr val="6ED3CC"/>
                </a:solidFill>
                <a:latin typeface="Noto Sans" pitchFamily="34" charset="0"/>
                <a:ea typeface="Noto Sans" pitchFamily="34" charset="-122"/>
                <a:cs typeface="Noto Sans" pitchFamily="34" charset="-120"/>
              </a:rPr>
              <a:t>PAPER NGHIÊN CỨU · 2026</a:t>
            </a:r>
            <a:endParaRPr lang="en-US" sz="1200" dirty="0"/>
          </a:p>
        </p:txBody>
      </p:sp>
      <p:sp>
        <p:nvSpPr>
          <p:cNvPr id="4" name="Text 2"/>
          <p:cNvSpPr txBox="1"/>
          <p:nvPr/>
        </p:nvSpPr>
        <p:spPr>
          <a:xfrm>
            <a:off x="804672" y="1444752"/>
            <a:ext cx="9601200" cy="822960"/>
          </a:xfrm>
          <a:prstGeom prst="rect">
            <a:avLst/>
          </a:prstGeom>
          <a:noFill/>
          <a:ln/>
        </p:spPr>
        <p:txBody>
          <a:bodyPr wrap="square" lIns="0" tIns="0" rIns="0" bIns="0" rtlCol="0" anchor="ctr"/>
          <a:lstStyle/>
          <a:p>
            <a:pPr algn="l" indent="0" marL="0">
              <a:lnSpc>
                <a:spcPct val="105000"/>
              </a:lnSpc>
              <a:buNone/>
            </a:pPr>
            <a:r>
              <a:rPr lang="en-US" sz="4600" b="1" dirty="0">
                <a:solidFill>
                  <a:srgbClr val="FFFFFF"/>
                </a:solidFill>
                <a:latin typeface="Noto Sans" pitchFamily="34" charset="0"/>
                <a:ea typeface="Noto Sans" pitchFamily="34" charset="-122"/>
                <a:cs typeface="Noto Sans" pitchFamily="34" charset="-120"/>
              </a:rPr>
              <a:t>TRACE-WAF</a:t>
            </a:r>
            <a:endParaRPr lang="en-US" sz="4600" dirty="0"/>
          </a:p>
        </p:txBody>
      </p:sp>
      <p:sp>
        <p:nvSpPr>
          <p:cNvPr id="5" name="Text 3"/>
          <p:cNvSpPr txBox="1"/>
          <p:nvPr/>
        </p:nvSpPr>
        <p:spPr>
          <a:xfrm>
            <a:off x="841248" y="2423160"/>
            <a:ext cx="10469880" cy="1371600"/>
          </a:xfrm>
          <a:prstGeom prst="rect">
            <a:avLst/>
          </a:prstGeom>
          <a:noFill/>
          <a:ln/>
        </p:spPr>
        <p:txBody>
          <a:bodyPr wrap="square" lIns="0" tIns="0" rIns="0" bIns="0" rtlCol="0" anchor="t"/>
          <a:lstStyle/>
          <a:p>
            <a:pPr algn="l" indent="0" marL="0">
              <a:lnSpc>
                <a:spcPct val="105000"/>
              </a:lnSpc>
              <a:buNone/>
            </a:pPr>
            <a:r>
              <a:rPr lang="en-US" sz="3000" b="1" dirty="0">
                <a:solidFill>
                  <a:srgbClr val="FFFFFF"/>
                </a:solidFill>
                <a:latin typeface="Noto Sans" pitchFamily="34" charset="0"/>
                <a:ea typeface="Noto Sans" pitchFamily="34" charset="-122"/>
                <a:cs typeface="Noto Sans" pitchFamily="34" charset="-120"/>
              </a:rPr>
              <a:t>Đánh giá ba trục và quản trị sinh luật WAF</a:t>
            </a:r>
            <a:endParaRPr lang="en-US" sz="3000" dirty="0"/>
          </a:p>
          <a:p>
            <a:pPr algn="l" indent="0" marL="0">
              <a:lnSpc>
                <a:spcPct val="105000"/>
              </a:lnSpc>
              <a:buNone/>
            </a:pPr>
            <a:r>
              <a:rPr lang="en-US" sz="3000" b="1" dirty="0">
                <a:solidFill>
                  <a:srgbClr val="FFFFFF"/>
                </a:solidFill>
                <a:latin typeface="Noto Sans" pitchFamily="34" charset="0"/>
                <a:ea typeface="Noto Sans" pitchFamily="34" charset="-122"/>
                <a:cs typeface="Noto Sans" pitchFamily="34" charset="-120"/>
              </a:rPr>
              <a:t>có truy vết CWE/CVE</a:t>
            </a:r>
            <a:endParaRPr lang="en-US" sz="3000" dirty="0"/>
          </a:p>
        </p:txBody>
      </p:sp>
      <p:sp>
        <p:nvSpPr>
          <p:cNvPr id="6" name="Shape 4"/>
          <p:cNvSpPr/>
          <p:nvPr/>
        </p:nvSpPr>
        <p:spPr>
          <a:xfrm>
            <a:off x="841248" y="4206240"/>
            <a:ext cx="10497312" cy="0"/>
          </a:xfrm>
          <a:prstGeom prst="line">
            <a:avLst/>
          </a:prstGeom>
          <a:noFill/>
          <a:ln w="13970">
            <a:solidFill>
              <a:srgbClr val="4D647B"/>
            </a:solidFill>
            <a:prstDash val="solid"/>
          </a:ln>
        </p:spPr>
      </p:sp>
      <p:sp>
        <p:nvSpPr>
          <p:cNvPr id="7" name="Text 5"/>
          <p:cNvSpPr txBox="1"/>
          <p:nvPr/>
        </p:nvSpPr>
        <p:spPr>
          <a:xfrm>
            <a:off x="841248" y="4425696"/>
            <a:ext cx="10149840" cy="438912"/>
          </a:xfrm>
          <a:prstGeom prst="rect">
            <a:avLst/>
          </a:prstGeom>
          <a:noFill/>
          <a:ln/>
        </p:spPr>
        <p:txBody>
          <a:bodyPr wrap="square" lIns="0" tIns="0" rIns="0" bIns="0" rtlCol="0" anchor="ctr"/>
          <a:lstStyle/>
          <a:p>
            <a:pPr algn="l" indent="0" marL="0">
              <a:lnSpc>
                <a:spcPct val="105000"/>
              </a:lnSpc>
              <a:buNone/>
            </a:pPr>
            <a:r>
              <a:rPr lang="en-US" sz="2000" dirty="0">
                <a:solidFill>
                  <a:srgbClr val="9FE0DD"/>
                </a:solidFill>
                <a:latin typeface="Noto Sans" pitchFamily="34" charset="0"/>
                <a:ea typeface="Noto Sans" pitchFamily="34" charset="-122"/>
                <a:cs typeface="Noto Sans" pitchFamily="34" charset="-120"/>
              </a:rPr>
              <a:t>Coverage × False positive × Evasion robustness</a:t>
            </a:r>
            <a:endParaRPr lang="en-US" sz="2000" dirty="0"/>
          </a:p>
        </p:txBody>
      </p:sp>
      <p:sp>
        <p:nvSpPr>
          <p:cNvPr id="8" name="Text 6"/>
          <p:cNvSpPr txBox="1"/>
          <p:nvPr/>
        </p:nvSpPr>
        <p:spPr>
          <a:xfrm>
            <a:off x="841248" y="5650992"/>
            <a:ext cx="8229600" cy="274320"/>
          </a:xfrm>
          <a:prstGeom prst="rect">
            <a:avLst/>
          </a:prstGeom>
          <a:noFill/>
          <a:ln/>
        </p:spPr>
        <p:txBody>
          <a:bodyPr wrap="square" lIns="0" tIns="0" rIns="0" bIns="0" rtlCol="0" anchor="ctr"/>
          <a:lstStyle/>
          <a:p>
            <a:pPr algn="l" indent="0" marL="0">
              <a:lnSpc>
                <a:spcPct val="105000"/>
              </a:lnSpc>
              <a:buNone/>
            </a:pPr>
            <a:r>
              <a:rPr lang="en-US" sz="1500" dirty="0">
                <a:solidFill>
                  <a:srgbClr val="E0E9F1"/>
                </a:solidFill>
                <a:latin typeface="Noto Sans" pitchFamily="34" charset="0"/>
                <a:ea typeface="Noto Sans" pitchFamily="34" charset="-122"/>
                <a:cs typeface="Noto Sans" pitchFamily="34" charset="-120"/>
              </a:rPr>
              <a:t>Học phần: Chính sách và quản trị An ninh mạng</a:t>
            </a:r>
            <a:endParaRPr lang="en-US" sz="1500" dirty="0"/>
          </a:p>
        </p:txBody>
      </p:sp>
      <p:sp>
        <p:nvSpPr>
          <p:cNvPr id="9" name="Text 7"/>
          <p:cNvSpPr txBox="1"/>
          <p:nvPr/>
        </p:nvSpPr>
        <p:spPr>
          <a:xfrm>
            <a:off x="841248" y="6025896"/>
            <a:ext cx="9144000" cy="246888"/>
          </a:xfrm>
          <a:prstGeom prst="rect">
            <a:avLst/>
          </a:prstGeom>
          <a:noFill/>
          <a:ln/>
        </p:spPr>
        <p:txBody>
          <a:bodyPr wrap="square" lIns="0" tIns="0" rIns="0" bIns="0" rtlCol="0" anchor="ctr"/>
          <a:lstStyle/>
          <a:p>
            <a:pPr algn="l" indent="0" marL="0">
              <a:lnSpc>
                <a:spcPct val="105000"/>
              </a:lnSpc>
              <a:buNone/>
            </a:pPr>
            <a:r>
              <a:rPr lang="en-US" sz="1100" dirty="0">
                <a:solidFill>
                  <a:srgbClr val="9DB4C6"/>
                </a:solidFill>
                <a:latin typeface="Noto Sans" pitchFamily="34" charset="0"/>
                <a:ea typeface="Noto Sans" pitchFamily="34" charset="-122"/>
                <a:cs typeface="Noto Sans" pitchFamily="34" charset="-120"/>
              </a:rPr>
              <a:t>16.10.2026  ·  Nguyên mẫu kiểm thử ngoại tuyến</a:t>
            </a:r>
            <a:endParaRPr lang="en-US" sz="1100" dirty="0"/>
          </a:p>
        </p:txBody>
      </p:sp>
      <p:sp>
        <p:nvSpPr>
          <p:cNvPr id="10" name="Shape 8"/>
          <p:cNvSpPr/>
          <p:nvPr/>
        </p:nvSpPr>
        <p:spPr>
          <a:xfrm>
            <a:off x="9144000" y="5596128"/>
            <a:ext cx="713232" cy="329184"/>
          </a:xfrm>
          <a:prstGeom prst="roundRect">
            <a:avLst>
              <a:gd name="adj" fmla="val 33333"/>
            </a:avLst>
          </a:prstGeom>
          <a:solidFill>
            <a:srgbClr val="23475B"/>
          </a:solidFill>
          <a:ln w="8890">
            <a:solidFill>
              <a:srgbClr val="23475B"/>
            </a:solidFill>
            <a:prstDash val="solid"/>
          </a:ln>
        </p:spPr>
      </p:sp>
      <p:sp>
        <p:nvSpPr>
          <p:cNvPr id="11" name="Text 9"/>
          <p:cNvSpPr txBox="1"/>
          <p:nvPr/>
        </p:nvSpPr>
        <p:spPr>
          <a:xfrm>
            <a:off x="9272016" y="5623560"/>
            <a:ext cx="457200" cy="274320"/>
          </a:xfrm>
          <a:prstGeom prst="rect">
            <a:avLst/>
          </a:prstGeom>
          <a:noFill/>
          <a:ln/>
        </p:spPr>
        <p:txBody>
          <a:bodyPr wrap="square" lIns="0" tIns="0" rIns="0" bIns="0" rtlCol="0" anchor="ctr"/>
          <a:lstStyle/>
          <a:p>
            <a:pPr algn="l" indent="0" marL="0">
              <a:lnSpc>
                <a:spcPct val="105000"/>
              </a:lnSpc>
              <a:buNone/>
            </a:pPr>
            <a:r>
              <a:rPr lang="en-US" sz="1100" b="1" dirty="0">
                <a:solidFill>
                  <a:srgbClr val="D7F5EF"/>
                </a:solidFill>
                <a:latin typeface="Noto Sans" pitchFamily="34" charset="0"/>
                <a:ea typeface="Noto Sans" pitchFamily="34" charset="-122"/>
                <a:cs typeface="Noto Sans" pitchFamily="34" charset="-120"/>
              </a:rPr>
              <a:t>CWE-89</a:t>
            </a:r>
            <a:endParaRPr lang="en-US" sz="1100" dirty="0"/>
          </a:p>
        </p:txBody>
      </p:sp>
      <p:sp>
        <p:nvSpPr>
          <p:cNvPr id="12" name="Shape 10"/>
          <p:cNvSpPr/>
          <p:nvPr/>
        </p:nvSpPr>
        <p:spPr>
          <a:xfrm>
            <a:off x="9912096" y="5596128"/>
            <a:ext cx="713232" cy="329184"/>
          </a:xfrm>
          <a:prstGeom prst="roundRect">
            <a:avLst>
              <a:gd name="adj" fmla="val 33333"/>
            </a:avLst>
          </a:prstGeom>
          <a:solidFill>
            <a:srgbClr val="23475B"/>
          </a:solidFill>
          <a:ln w="8890">
            <a:solidFill>
              <a:srgbClr val="23475B"/>
            </a:solidFill>
            <a:prstDash val="solid"/>
          </a:ln>
        </p:spPr>
      </p:sp>
      <p:sp>
        <p:nvSpPr>
          <p:cNvPr id="13" name="Text 11"/>
          <p:cNvSpPr txBox="1"/>
          <p:nvPr/>
        </p:nvSpPr>
        <p:spPr>
          <a:xfrm>
            <a:off x="10040112" y="5623560"/>
            <a:ext cx="457200" cy="274320"/>
          </a:xfrm>
          <a:prstGeom prst="rect">
            <a:avLst/>
          </a:prstGeom>
          <a:noFill/>
          <a:ln/>
        </p:spPr>
        <p:txBody>
          <a:bodyPr wrap="square" lIns="0" tIns="0" rIns="0" bIns="0" rtlCol="0" anchor="ctr"/>
          <a:lstStyle/>
          <a:p>
            <a:pPr algn="l" indent="0" marL="0">
              <a:lnSpc>
                <a:spcPct val="105000"/>
              </a:lnSpc>
              <a:buNone/>
            </a:pPr>
            <a:r>
              <a:rPr lang="en-US" sz="1100" b="1" dirty="0">
                <a:solidFill>
                  <a:srgbClr val="D7F5EF"/>
                </a:solidFill>
                <a:latin typeface="Noto Sans" pitchFamily="34" charset="0"/>
                <a:ea typeface="Noto Sans" pitchFamily="34" charset="-122"/>
                <a:cs typeface="Noto Sans" pitchFamily="34" charset="-120"/>
              </a:rPr>
              <a:t>CWE-79</a:t>
            </a:r>
            <a:endParaRPr lang="en-US" sz="1100" dirty="0"/>
          </a:p>
        </p:txBody>
      </p:sp>
      <p:sp>
        <p:nvSpPr>
          <p:cNvPr id="14" name="Shape 12"/>
          <p:cNvSpPr/>
          <p:nvPr/>
        </p:nvSpPr>
        <p:spPr>
          <a:xfrm>
            <a:off x="10680192" y="5596128"/>
            <a:ext cx="713232" cy="329184"/>
          </a:xfrm>
          <a:prstGeom prst="roundRect">
            <a:avLst>
              <a:gd name="adj" fmla="val 33333"/>
            </a:avLst>
          </a:prstGeom>
          <a:solidFill>
            <a:srgbClr val="23475B"/>
          </a:solidFill>
          <a:ln w="8890">
            <a:solidFill>
              <a:srgbClr val="23475B"/>
            </a:solidFill>
            <a:prstDash val="solid"/>
          </a:ln>
        </p:spPr>
      </p:sp>
      <p:sp>
        <p:nvSpPr>
          <p:cNvPr id="15" name="Text 13"/>
          <p:cNvSpPr txBox="1"/>
          <p:nvPr/>
        </p:nvSpPr>
        <p:spPr>
          <a:xfrm>
            <a:off x="10808208" y="5623560"/>
            <a:ext cx="457200" cy="274320"/>
          </a:xfrm>
          <a:prstGeom prst="rect">
            <a:avLst/>
          </a:prstGeom>
          <a:noFill/>
          <a:ln/>
        </p:spPr>
        <p:txBody>
          <a:bodyPr wrap="square" lIns="0" tIns="0" rIns="0" bIns="0" rtlCol="0" anchor="ctr"/>
          <a:lstStyle/>
          <a:p>
            <a:pPr algn="l" indent="0" marL="0">
              <a:lnSpc>
                <a:spcPct val="105000"/>
              </a:lnSpc>
              <a:buNone/>
            </a:pPr>
            <a:r>
              <a:rPr lang="en-US" sz="1100" b="1" dirty="0">
                <a:solidFill>
                  <a:srgbClr val="D7F5EF"/>
                </a:solidFill>
                <a:latin typeface="Noto Sans" pitchFamily="34" charset="0"/>
                <a:ea typeface="Noto Sans" pitchFamily="34" charset="-122"/>
                <a:cs typeface="Noto Sans" pitchFamily="34" charset="-120"/>
              </a:rPr>
              <a:t>CWE-22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Bối cảnh</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Một tỷ lệ chặn cao chưa đủ chứng minh WAF an toàn</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sp>
        <p:nvSpPr>
          <p:cNvPr id="6" name="Shape 4"/>
          <p:cNvSpPr/>
          <p:nvPr/>
        </p:nvSpPr>
        <p:spPr>
          <a:xfrm>
            <a:off x="731520" y="1737360"/>
            <a:ext cx="6400800" cy="3611880"/>
          </a:xfrm>
          <a:prstGeom prst="roundRect">
            <a:avLst>
              <a:gd name="adj" fmla="val 3797"/>
            </a:avLst>
          </a:prstGeom>
          <a:solidFill>
            <a:srgbClr val="F5F8FA"/>
          </a:solidFill>
          <a:ln w="8890">
            <a:solidFill>
              <a:srgbClr val="D8E2EA"/>
            </a:solidFill>
            <a:prstDash val="solid"/>
          </a:ln>
        </p:spPr>
      </p:sp>
      <p:sp>
        <p:nvSpPr>
          <p:cNvPr id="7" name="Text 5"/>
          <p:cNvSpPr txBox="1"/>
          <p:nvPr/>
        </p:nvSpPr>
        <p:spPr>
          <a:xfrm>
            <a:off x="1051560" y="2048256"/>
            <a:ext cx="3200400" cy="1069848"/>
          </a:xfrm>
          <a:prstGeom prst="rect">
            <a:avLst/>
          </a:prstGeom>
          <a:noFill/>
          <a:ln/>
        </p:spPr>
        <p:txBody>
          <a:bodyPr wrap="square" lIns="0" tIns="0" rIns="0" bIns="0" rtlCol="0" anchor="ctr"/>
          <a:lstStyle/>
          <a:p>
            <a:pPr algn="l" indent="0" marL="0">
              <a:lnSpc>
                <a:spcPct val="105000"/>
              </a:lnSpc>
              <a:buNone/>
            </a:pPr>
            <a:r>
              <a:rPr lang="en-US" sz="5200" b="1" dirty="0">
                <a:solidFill>
                  <a:srgbClr val="17334D"/>
                </a:solidFill>
                <a:latin typeface="Noto Sans" pitchFamily="34" charset="0"/>
                <a:ea typeface="Noto Sans" pitchFamily="34" charset="-122"/>
                <a:cs typeface="Noto Sans" pitchFamily="34" charset="-120"/>
              </a:rPr>
              <a:t>52%</a:t>
            </a:r>
            <a:endParaRPr lang="en-US" sz="5200" dirty="0"/>
          </a:p>
        </p:txBody>
      </p:sp>
      <p:sp>
        <p:nvSpPr>
          <p:cNvPr id="8" name="Text 6"/>
          <p:cNvSpPr txBox="1"/>
          <p:nvPr/>
        </p:nvSpPr>
        <p:spPr>
          <a:xfrm>
            <a:off x="1088136" y="3209544"/>
            <a:ext cx="5440680" cy="923544"/>
          </a:xfrm>
          <a:prstGeom prst="rect">
            <a:avLst/>
          </a:prstGeom>
          <a:noFill/>
          <a:ln/>
        </p:spPr>
        <p:txBody>
          <a:bodyPr wrap="square" lIns="0" tIns="0" rIns="0" bIns="0" rtlCol="0" anchor="t"/>
          <a:lstStyle/>
          <a:p>
            <a:pPr algn="l" indent="0" marL="0">
              <a:lnSpc>
                <a:spcPct val="105000"/>
              </a:lnSpc>
              <a:buNone/>
            </a:pPr>
            <a:r>
              <a:rPr lang="en-US" sz="2000" b="1" dirty="0">
                <a:solidFill>
                  <a:srgbClr val="41566D"/>
                </a:solidFill>
                <a:latin typeface="Noto Sans" pitchFamily="34" charset="0"/>
                <a:ea typeface="Noto Sans" pitchFamily="34" charset="-122"/>
                <a:cs typeface="Noto Sans" pitchFamily="34" charset="-120"/>
              </a:rPr>
              <a:t>bypass trong mẫu đánh giá hơn 360 CVE</a:t>
            </a:r>
            <a:endParaRPr lang="en-US" sz="2000" dirty="0"/>
          </a:p>
          <a:p>
            <a:pPr algn="l" indent="0" marL="0">
              <a:lnSpc>
                <a:spcPct val="105000"/>
              </a:lnSpc>
              <a:buNone/>
            </a:pPr>
            <a:r>
              <a:rPr lang="en-US" sz="2000" b="1" dirty="0">
                <a:solidFill>
                  <a:srgbClr val="41566D"/>
                </a:solidFill>
                <a:latin typeface="Noto Sans" pitchFamily="34" charset="0"/>
                <a:ea typeface="Noto Sans" pitchFamily="34" charset="-122"/>
                <a:cs typeface="Noto Sans" pitchFamily="34" charset="-120"/>
              </a:rPr>
              <a:t>do Miggo công bố (12/2025)</a:t>
            </a:r>
            <a:endParaRPr lang="en-US" sz="2000" dirty="0"/>
          </a:p>
        </p:txBody>
      </p:sp>
      <p:sp>
        <p:nvSpPr>
          <p:cNvPr id="9" name="Text 7"/>
          <p:cNvSpPr txBox="1"/>
          <p:nvPr/>
        </p:nvSpPr>
        <p:spPr>
          <a:xfrm>
            <a:off x="1097280" y="4818888"/>
            <a:ext cx="5440680" cy="274320"/>
          </a:xfrm>
          <a:prstGeom prst="rect">
            <a:avLst/>
          </a:prstGeom>
          <a:noFill/>
          <a:ln/>
        </p:spPr>
        <p:txBody>
          <a:bodyPr wrap="square" lIns="0" tIns="0" rIns="0" bIns="0" rtlCol="0" anchor="ctr"/>
          <a:lstStyle/>
          <a:p>
            <a:pPr algn="l" indent="0" marL="0">
              <a:lnSpc>
                <a:spcPct val="105000"/>
              </a:lnSpc>
              <a:buNone/>
            </a:pPr>
            <a:r>
              <a:rPr lang="en-US" sz="1300" dirty="0">
                <a:solidFill>
                  <a:srgbClr val="667B8D"/>
                </a:solidFill>
                <a:latin typeface="Noto Sans" pitchFamily="34" charset="0"/>
                <a:ea typeface="Noto Sans" pitchFamily="34" charset="-122"/>
                <a:cs typeface="Noto Sans" pitchFamily="34" charset="-120"/>
              </a:rPr>
              <a:t>Không phải tỷ lệ phổ quát của mọi WAF.</a:t>
            </a:r>
            <a:endParaRPr lang="en-US" sz="1300" dirty="0"/>
          </a:p>
        </p:txBody>
      </p:sp>
      <p:sp>
        <p:nvSpPr>
          <p:cNvPr id="10" name="Shape 8"/>
          <p:cNvSpPr/>
          <p:nvPr/>
        </p:nvSpPr>
        <p:spPr>
          <a:xfrm>
            <a:off x="7424928" y="1737360"/>
            <a:ext cx="4041648" cy="987552"/>
          </a:xfrm>
          <a:prstGeom prst="roundRect">
            <a:avLst>
              <a:gd name="adj" fmla="val 11111"/>
            </a:avLst>
          </a:prstGeom>
          <a:solidFill>
            <a:srgbClr val="EAF8F6"/>
          </a:solidFill>
          <a:ln w="8890">
            <a:solidFill>
              <a:srgbClr val="EAF8F6"/>
            </a:solidFill>
            <a:prstDash val="solid"/>
          </a:ln>
        </p:spPr>
      </p:sp>
      <p:sp>
        <p:nvSpPr>
          <p:cNvPr id="11" name="Text 9"/>
          <p:cNvSpPr txBox="1"/>
          <p:nvPr/>
        </p:nvSpPr>
        <p:spPr>
          <a:xfrm>
            <a:off x="7662672" y="1956816"/>
            <a:ext cx="3474720" cy="320040"/>
          </a:xfrm>
          <a:prstGeom prst="rect">
            <a:avLst/>
          </a:prstGeom>
          <a:noFill/>
          <a:ln/>
        </p:spPr>
        <p:txBody>
          <a:bodyPr wrap="square" lIns="0" tIns="0" rIns="0" bIns="0" rtlCol="0" anchor="ctr"/>
          <a:lstStyle/>
          <a:p>
            <a:pPr algn="l" indent="0" marL="0">
              <a:lnSpc>
                <a:spcPct val="105000"/>
              </a:lnSpc>
              <a:buNone/>
            </a:pPr>
            <a:r>
              <a:rPr lang="en-US" sz="1800" b="1" dirty="0">
                <a:solidFill>
                  <a:srgbClr val="17334D"/>
                </a:solidFill>
                <a:latin typeface="Noto Sans" pitchFamily="34" charset="0"/>
                <a:ea typeface="Noto Sans" pitchFamily="34" charset="-122"/>
                <a:cs typeface="Noto Sans" pitchFamily="34" charset="-120"/>
              </a:rPr>
              <a:t>Phát hiện thiếu</a:t>
            </a:r>
            <a:endParaRPr lang="en-US" sz="1800" dirty="0"/>
          </a:p>
        </p:txBody>
      </p:sp>
      <p:sp>
        <p:nvSpPr>
          <p:cNvPr id="12" name="Shape 10"/>
          <p:cNvSpPr/>
          <p:nvPr/>
        </p:nvSpPr>
        <p:spPr>
          <a:xfrm>
            <a:off x="7424928" y="2935224"/>
            <a:ext cx="4041648" cy="987552"/>
          </a:xfrm>
          <a:prstGeom prst="roundRect">
            <a:avLst>
              <a:gd name="adj" fmla="val 11111"/>
            </a:avLst>
          </a:prstGeom>
          <a:solidFill>
            <a:srgbClr val="FFF4E9"/>
          </a:solidFill>
          <a:ln w="8890">
            <a:solidFill>
              <a:srgbClr val="FFF4E9"/>
            </a:solidFill>
            <a:prstDash val="solid"/>
          </a:ln>
        </p:spPr>
      </p:sp>
      <p:sp>
        <p:nvSpPr>
          <p:cNvPr id="13" name="Text 11"/>
          <p:cNvSpPr txBox="1"/>
          <p:nvPr/>
        </p:nvSpPr>
        <p:spPr>
          <a:xfrm>
            <a:off x="7662672" y="3127248"/>
            <a:ext cx="3474720" cy="466344"/>
          </a:xfrm>
          <a:prstGeom prst="rect">
            <a:avLst/>
          </a:prstGeom>
          <a:noFill/>
          <a:ln/>
        </p:spPr>
        <p:txBody>
          <a:bodyPr wrap="square" lIns="0" tIns="0" rIns="0" bIns="0" rtlCol="0" anchor="ctr"/>
          <a:lstStyle/>
          <a:p>
            <a:pPr algn="l" indent="0" marL="0">
              <a:lnSpc>
                <a:spcPct val="105000"/>
              </a:lnSpc>
              <a:buNone/>
            </a:pPr>
            <a:r>
              <a:rPr lang="en-US" sz="1800" b="1" dirty="0">
                <a:solidFill>
                  <a:srgbClr val="17334D"/>
                </a:solidFill>
                <a:latin typeface="Noto Sans" pitchFamily="34" charset="0"/>
                <a:ea typeface="Noto Sans" pitchFamily="34" charset="-122"/>
                <a:cs typeface="Noto Sans" pitchFamily="34" charset="-120"/>
              </a:rPr>
              <a:t>Chặn nhầm giao dịch hợp lệ</a:t>
            </a:r>
            <a:endParaRPr lang="en-US" sz="1800" dirty="0"/>
          </a:p>
        </p:txBody>
      </p:sp>
      <p:sp>
        <p:nvSpPr>
          <p:cNvPr id="14" name="Shape 12"/>
          <p:cNvSpPr/>
          <p:nvPr/>
        </p:nvSpPr>
        <p:spPr>
          <a:xfrm>
            <a:off x="7424928" y="4133088"/>
            <a:ext cx="4041648" cy="987552"/>
          </a:xfrm>
          <a:prstGeom prst="roundRect">
            <a:avLst>
              <a:gd name="adj" fmla="val 11111"/>
            </a:avLst>
          </a:prstGeom>
          <a:solidFill>
            <a:srgbClr val="EAF1F6"/>
          </a:solidFill>
          <a:ln w="8890">
            <a:solidFill>
              <a:srgbClr val="EAF1F6"/>
            </a:solidFill>
            <a:prstDash val="solid"/>
          </a:ln>
        </p:spPr>
      </p:sp>
      <p:sp>
        <p:nvSpPr>
          <p:cNvPr id="15" name="Text 13"/>
          <p:cNvSpPr txBox="1"/>
          <p:nvPr/>
        </p:nvSpPr>
        <p:spPr>
          <a:xfrm>
            <a:off x="7662672" y="4306824"/>
            <a:ext cx="3474720" cy="484632"/>
          </a:xfrm>
          <a:prstGeom prst="rect">
            <a:avLst/>
          </a:prstGeom>
          <a:noFill/>
          <a:ln/>
        </p:spPr>
        <p:txBody>
          <a:bodyPr wrap="square" lIns="0" tIns="0" rIns="0" bIns="0" rtlCol="0" anchor="ctr"/>
          <a:lstStyle/>
          <a:p>
            <a:pPr algn="l" indent="0" marL="0">
              <a:lnSpc>
                <a:spcPct val="105000"/>
              </a:lnSpc>
              <a:buNone/>
            </a:pPr>
            <a:r>
              <a:rPr lang="en-US" sz="1700" b="1" dirty="0">
                <a:solidFill>
                  <a:srgbClr val="17334D"/>
                </a:solidFill>
                <a:latin typeface="Noto Sans" pitchFamily="34" charset="0"/>
                <a:ea typeface="Noto Sans" pitchFamily="34" charset="-122"/>
                <a:cs typeface="Noto Sans" pitchFamily="34" charset="-120"/>
              </a:rPr>
              <a:t>Luật thiếu nguồn gốc / rollback</a:t>
            </a:r>
            <a:endParaRPr lang="en-US" sz="1700" dirty="0"/>
          </a:p>
        </p:txBody>
      </p:sp>
      <p:sp>
        <p:nvSpPr>
          <p:cNvPr id="16" name="Text 14"/>
          <p:cNvSpPr txBox="1"/>
          <p:nvPr/>
        </p:nvSpPr>
        <p:spPr>
          <a:xfrm>
            <a:off x="658368" y="6117336"/>
            <a:ext cx="10607040" cy="219456"/>
          </a:xfrm>
          <a:prstGeom prst="rect">
            <a:avLst/>
          </a:prstGeom>
          <a:noFill/>
          <a:ln/>
        </p:spPr>
        <p:txBody>
          <a:bodyPr wrap="square" lIns="0" tIns="0" rIns="0" bIns="0" rtlCol="0" anchor="ctr"/>
          <a:lstStyle/>
          <a:p>
            <a:pPr algn="l"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Nguồn: Miggo Security (2025); OWASP CRS.</a:t>
            </a:r>
            <a:endParaRPr lang="en-US" sz="900" dirty="0"/>
          </a:p>
        </p:txBody>
      </p:sp>
      <p:sp>
        <p:nvSpPr>
          <p:cNvPr id="17" name="Shape 15"/>
          <p:cNvSpPr/>
          <p:nvPr/>
        </p:nvSpPr>
        <p:spPr>
          <a:xfrm>
            <a:off x="658368" y="6492240"/>
            <a:ext cx="10875264" cy="0"/>
          </a:xfrm>
          <a:prstGeom prst="line">
            <a:avLst/>
          </a:prstGeom>
          <a:noFill/>
          <a:ln w="10160">
            <a:solidFill>
              <a:srgbClr val="D8E2EA"/>
            </a:solidFill>
            <a:prstDash val="solid"/>
          </a:ln>
        </p:spPr>
      </p:sp>
      <p:sp>
        <p:nvSpPr>
          <p:cNvPr id="18" name="Text 16"/>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19" name="Text 17"/>
          <p:cNvSpPr txBox="1"/>
          <p:nvPr/>
        </p:nvSpPr>
        <p:spPr>
          <a:xfrm>
            <a:off x="7223760" y="6556248"/>
            <a:ext cx="3566160" cy="164592"/>
          </a:xfrm>
          <a:prstGeom prst="rect">
            <a:avLst/>
          </a:prstGeom>
          <a:noFill/>
          <a:ln/>
        </p:spPr>
        <p:txBody>
          <a:bodyPr wrap="square" lIns="0" tIns="0" rIns="0" bIns="0" rtlCol="0" anchor="ctr"/>
          <a:lstStyle/>
          <a:p>
            <a:pPr algn="r" indent="0" marL="0">
              <a:lnSpc>
                <a:spcPct val="105000"/>
              </a:lnSpc>
              <a:buNone/>
            </a:pPr>
            <a:r>
              <a:rPr lang="en-US" sz="800" dirty="0">
                <a:solidFill>
                  <a:srgbClr val="667B8D"/>
                </a:solidFill>
                <a:latin typeface="Noto Sans" pitchFamily="34" charset="0"/>
                <a:ea typeface="Noto Sans" pitchFamily="34" charset="-122"/>
                <a:cs typeface="Noto Sans" pitchFamily="34" charset="-120"/>
              </a:rPr>
              <a:t>Miggo 2025 · OWASP CRS</a:t>
            </a:r>
            <a:endParaRPr lang="en-US" sz="800" dirty="0"/>
          </a:p>
        </p:txBody>
      </p:sp>
      <p:sp>
        <p:nvSpPr>
          <p:cNvPr id="20" name="Text 18"/>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Tổng quan</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Các công trình gợi mở — bài toán quản trị vẫn cần được đo</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sp>
        <p:nvSpPr>
          <p:cNvPr id="6" name="Shape 4"/>
          <p:cNvSpPr/>
          <p:nvPr/>
        </p:nvSpPr>
        <p:spPr>
          <a:xfrm>
            <a:off x="694944" y="1773936"/>
            <a:ext cx="3602736" cy="3172968"/>
          </a:xfrm>
          <a:prstGeom prst="roundRect">
            <a:avLst>
              <a:gd name="adj" fmla="val 3458"/>
            </a:avLst>
          </a:prstGeom>
          <a:solidFill>
            <a:srgbClr val="EAF1F6"/>
          </a:solidFill>
          <a:ln w="8890">
            <a:solidFill>
              <a:srgbClr val="D8E2EA"/>
            </a:solidFill>
            <a:prstDash val="solid"/>
          </a:ln>
        </p:spPr>
      </p:sp>
      <p:sp>
        <p:nvSpPr>
          <p:cNvPr id="7" name="Text 5"/>
          <p:cNvSpPr txBox="1"/>
          <p:nvPr/>
        </p:nvSpPr>
        <p:spPr>
          <a:xfrm>
            <a:off x="932688" y="2029968"/>
            <a:ext cx="3063240" cy="438912"/>
          </a:xfrm>
          <a:prstGeom prst="rect">
            <a:avLst/>
          </a:prstGeom>
          <a:noFill/>
          <a:ln/>
        </p:spPr>
        <p:txBody>
          <a:bodyPr wrap="square" lIns="0" tIns="0" rIns="0" bIns="0" rtlCol="0" anchor="ctr"/>
          <a:lstStyle/>
          <a:p>
            <a:pPr algn="l" indent="0" marL="0">
              <a:lnSpc>
                <a:spcPct val="105000"/>
              </a:lnSpc>
              <a:buNone/>
            </a:pPr>
            <a:r>
              <a:rPr lang="en-US" sz="2200" b="1" dirty="0">
                <a:solidFill>
                  <a:srgbClr val="17334D"/>
                </a:solidFill>
                <a:latin typeface="Noto Sans" pitchFamily="34" charset="0"/>
                <a:ea typeface="Noto Sans" pitchFamily="34" charset="-122"/>
                <a:cs typeface="Noto Sans" pitchFamily="34" charset="-120"/>
              </a:rPr>
              <a:t>OWASP CRS</a:t>
            </a:r>
            <a:endParaRPr lang="en-US" sz="2200" dirty="0"/>
          </a:p>
        </p:txBody>
      </p:sp>
      <p:sp>
        <p:nvSpPr>
          <p:cNvPr id="8" name="Text 6"/>
          <p:cNvSpPr txBox="1"/>
          <p:nvPr/>
        </p:nvSpPr>
        <p:spPr>
          <a:xfrm>
            <a:off x="932688" y="2770632"/>
            <a:ext cx="3017520" cy="1024128"/>
          </a:xfrm>
          <a:prstGeom prst="rect">
            <a:avLst/>
          </a:prstGeom>
          <a:noFill/>
          <a:ln/>
        </p:spPr>
        <p:txBody>
          <a:bodyPr wrap="square" lIns="0" tIns="0" rIns="0" bIns="0" rtlCol="0" anchor="t"/>
          <a:lstStyle/>
          <a:p>
            <a:pPr algn="l" indent="0" marL="0">
              <a:lnSpc>
                <a:spcPct val="105000"/>
              </a:lnSpc>
              <a:buNone/>
            </a:pPr>
            <a:r>
              <a:rPr lang="en-US" sz="1600" dirty="0">
                <a:solidFill>
                  <a:srgbClr val="41566D"/>
                </a:solidFill>
                <a:latin typeface="Noto Sans" pitchFamily="34" charset="0"/>
                <a:ea typeface="Noto Sans" pitchFamily="34" charset="-122"/>
                <a:cs typeface="Noto Sans" pitchFamily="34" charset="-120"/>
              </a:rPr>
              <a:t>Tập luật + anomaly scoring, đặt trọng tâm giảm false positive.</a:t>
            </a:r>
            <a:endParaRPr lang="en-US" sz="1600" dirty="0"/>
          </a:p>
        </p:txBody>
      </p:sp>
      <p:sp>
        <p:nvSpPr>
          <p:cNvPr id="9" name="Shape 7"/>
          <p:cNvSpPr/>
          <p:nvPr/>
        </p:nvSpPr>
        <p:spPr>
          <a:xfrm>
            <a:off x="932688" y="4325112"/>
            <a:ext cx="2423160" cy="374904"/>
          </a:xfrm>
          <a:prstGeom prst="roundRect">
            <a:avLst>
              <a:gd name="adj" fmla="val 29268"/>
            </a:avLst>
          </a:prstGeom>
          <a:solidFill>
            <a:srgbClr val="EAF8F6"/>
          </a:solidFill>
          <a:ln w="8890">
            <a:solidFill>
              <a:srgbClr val="EAF8F6"/>
            </a:solidFill>
            <a:prstDash val="solid"/>
          </a:ln>
        </p:spPr>
      </p:sp>
      <p:sp>
        <p:nvSpPr>
          <p:cNvPr id="10" name="Text 8"/>
          <p:cNvSpPr txBox="1"/>
          <p:nvPr/>
        </p:nvSpPr>
        <p:spPr>
          <a:xfrm>
            <a:off x="1060704" y="4352544"/>
            <a:ext cx="2167128" cy="320040"/>
          </a:xfrm>
          <a:prstGeom prst="rect">
            <a:avLst/>
          </a:prstGeom>
          <a:noFill/>
          <a:ln/>
        </p:spPr>
        <p:txBody>
          <a:bodyPr wrap="square" lIns="0" tIns="0" rIns="0" bIns="0" rtlCol="0" anchor="ctr"/>
          <a:lstStyle/>
          <a:p>
            <a:pPr algn="l" indent="0" marL="0">
              <a:lnSpc>
                <a:spcPct val="105000"/>
              </a:lnSpc>
              <a:buNone/>
            </a:pPr>
            <a:r>
              <a:rPr lang="en-US" sz="1100" b="1" dirty="0">
                <a:solidFill>
                  <a:srgbClr val="159A95"/>
                </a:solidFill>
                <a:latin typeface="Noto Sans" pitchFamily="34" charset="0"/>
                <a:ea typeface="Noto Sans" pitchFamily="34" charset="-122"/>
                <a:cs typeface="Noto Sans" pitchFamily="34" charset="-120"/>
              </a:rPr>
              <a:t>Tuning rule</a:t>
            </a:r>
            <a:endParaRPr lang="en-US" sz="1100" dirty="0"/>
          </a:p>
        </p:txBody>
      </p:sp>
      <p:sp>
        <p:nvSpPr>
          <p:cNvPr id="11" name="Shape 9"/>
          <p:cNvSpPr/>
          <p:nvPr/>
        </p:nvSpPr>
        <p:spPr>
          <a:xfrm>
            <a:off x="4535424" y="1773936"/>
            <a:ext cx="3602736" cy="3172968"/>
          </a:xfrm>
          <a:prstGeom prst="roundRect">
            <a:avLst>
              <a:gd name="adj" fmla="val 3458"/>
            </a:avLst>
          </a:prstGeom>
          <a:solidFill>
            <a:srgbClr val="F5F8FA"/>
          </a:solidFill>
          <a:ln w="8890">
            <a:solidFill>
              <a:srgbClr val="D8E2EA"/>
            </a:solidFill>
            <a:prstDash val="solid"/>
          </a:ln>
        </p:spPr>
      </p:sp>
      <p:sp>
        <p:nvSpPr>
          <p:cNvPr id="12" name="Text 10"/>
          <p:cNvSpPr txBox="1"/>
          <p:nvPr/>
        </p:nvSpPr>
        <p:spPr>
          <a:xfrm>
            <a:off x="4773168" y="2029968"/>
            <a:ext cx="3063240" cy="438912"/>
          </a:xfrm>
          <a:prstGeom prst="rect">
            <a:avLst/>
          </a:prstGeom>
          <a:noFill/>
          <a:ln/>
        </p:spPr>
        <p:txBody>
          <a:bodyPr wrap="square" lIns="0" tIns="0" rIns="0" bIns="0" rtlCol="0" anchor="ctr"/>
          <a:lstStyle/>
          <a:p>
            <a:pPr algn="l" indent="0" marL="0">
              <a:lnSpc>
                <a:spcPct val="105000"/>
              </a:lnSpc>
              <a:buNone/>
            </a:pPr>
            <a:r>
              <a:rPr lang="en-US" sz="2200" b="1" dirty="0">
                <a:solidFill>
                  <a:srgbClr val="17334D"/>
                </a:solidFill>
                <a:latin typeface="Noto Sans" pitchFamily="34" charset="0"/>
                <a:ea typeface="Noto Sans" pitchFamily="34" charset="-122"/>
                <a:cs typeface="Noto Sans" pitchFamily="34" charset="-120"/>
              </a:rPr>
              <a:t>DEG-WAF (2025)</a:t>
            </a:r>
            <a:endParaRPr lang="en-US" sz="2200" dirty="0"/>
          </a:p>
        </p:txBody>
      </p:sp>
      <p:sp>
        <p:nvSpPr>
          <p:cNvPr id="13" name="Text 11"/>
          <p:cNvSpPr txBox="1"/>
          <p:nvPr/>
        </p:nvSpPr>
        <p:spPr>
          <a:xfrm>
            <a:off x="4773168" y="2770632"/>
            <a:ext cx="3017520" cy="1024128"/>
          </a:xfrm>
          <a:prstGeom prst="rect">
            <a:avLst/>
          </a:prstGeom>
          <a:noFill/>
          <a:ln/>
        </p:spPr>
        <p:txBody>
          <a:bodyPr wrap="square" lIns="0" tIns="0" rIns="0" bIns="0" rtlCol="0" anchor="t"/>
          <a:lstStyle/>
          <a:p>
            <a:pPr algn="l" indent="0" marL="0">
              <a:lnSpc>
                <a:spcPct val="105000"/>
              </a:lnSpc>
              <a:buNone/>
            </a:pPr>
            <a:r>
              <a:rPr lang="en-US" sz="1600" dirty="0">
                <a:solidFill>
                  <a:srgbClr val="41566D"/>
                </a:solidFill>
                <a:latin typeface="Noto Sans" pitchFamily="34" charset="0"/>
                <a:ea typeface="Noto Sans" pitchFamily="34" charset="-122"/>
                <a:cs typeface="Noto Sans" pitchFamily="34" charset="-120"/>
              </a:rPr>
              <a:t>LLM + RL sinh biến thể kiểm tra độ bền của WAF.</a:t>
            </a:r>
            <a:endParaRPr lang="en-US" sz="1600" dirty="0"/>
          </a:p>
        </p:txBody>
      </p:sp>
      <p:sp>
        <p:nvSpPr>
          <p:cNvPr id="14" name="Shape 12"/>
          <p:cNvSpPr/>
          <p:nvPr/>
        </p:nvSpPr>
        <p:spPr>
          <a:xfrm>
            <a:off x="4773168" y="4325112"/>
            <a:ext cx="2423160" cy="374904"/>
          </a:xfrm>
          <a:prstGeom prst="roundRect">
            <a:avLst>
              <a:gd name="adj" fmla="val 29268"/>
            </a:avLst>
          </a:prstGeom>
          <a:solidFill>
            <a:srgbClr val="EAF8F6"/>
          </a:solidFill>
          <a:ln w="8890">
            <a:solidFill>
              <a:srgbClr val="EAF8F6"/>
            </a:solidFill>
            <a:prstDash val="solid"/>
          </a:ln>
        </p:spPr>
      </p:sp>
      <p:sp>
        <p:nvSpPr>
          <p:cNvPr id="15" name="Text 13"/>
          <p:cNvSpPr txBox="1"/>
          <p:nvPr/>
        </p:nvSpPr>
        <p:spPr>
          <a:xfrm>
            <a:off x="4901184" y="4352544"/>
            <a:ext cx="2167128" cy="320040"/>
          </a:xfrm>
          <a:prstGeom prst="rect">
            <a:avLst/>
          </a:prstGeom>
          <a:noFill/>
          <a:ln/>
        </p:spPr>
        <p:txBody>
          <a:bodyPr wrap="square" lIns="0" tIns="0" rIns="0" bIns="0" rtlCol="0" anchor="ctr"/>
          <a:lstStyle/>
          <a:p>
            <a:pPr algn="l" indent="0" marL="0">
              <a:lnSpc>
                <a:spcPct val="105000"/>
              </a:lnSpc>
              <a:buNone/>
            </a:pPr>
            <a:r>
              <a:rPr lang="en-US" sz="1100" b="1" dirty="0">
                <a:solidFill>
                  <a:srgbClr val="159A95"/>
                </a:solidFill>
                <a:latin typeface="Noto Sans" pitchFamily="34" charset="0"/>
                <a:ea typeface="Noto Sans" pitchFamily="34" charset="-122"/>
                <a:cs typeface="Noto Sans" pitchFamily="34" charset="-120"/>
              </a:rPr>
              <a:t>Evasion testing</a:t>
            </a:r>
            <a:endParaRPr lang="en-US" sz="1100" dirty="0"/>
          </a:p>
        </p:txBody>
      </p:sp>
      <p:sp>
        <p:nvSpPr>
          <p:cNvPr id="16" name="Shape 14"/>
          <p:cNvSpPr/>
          <p:nvPr/>
        </p:nvSpPr>
        <p:spPr>
          <a:xfrm>
            <a:off x="8375904" y="1773936"/>
            <a:ext cx="3602736" cy="3172968"/>
          </a:xfrm>
          <a:prstGeom prst="roundRect">
            <a:avLst>
              <a:gd name="adj" fmla="val 3458"/>
            </a:avLst>
          </a:prstGeom>
          <a:solidFill>
            <a:srgbClr val="EAF1F6"/>
          </a:solidFill>
          <a:ln w="8890">
            <a:solidFill>
              <a:srgbClr val="D8E2EA"/>
            </a:solidFill>
            <a:prstDash val="solid"/>
          </a:ln>
        </p:spPr>
      </p:sp>
      <p:sp>
        <p:nvSpPr>
          <p:cNvPr id="17" name="Text 15"/>
          <p:cNvSpPr txBox="1"/>
          <p:nvPr/>
        </p:nvSpPr>
        <p:spPr>
          <a:xfrm>
            <a:off x="8613648" y="2029968"/>
            <a:ext cx="3063240" cy="438912"/>
          </a:xfrm>
          <a:prstGeom prst="rect">
            <a:avLst/>
          </a:prstGeom>
          <a:noFill/>
          <a:ln/>
        </p:spPr>
        <p:txBody>
          <a:bodyPr wrap="square" lIns="0" tIns="0" rIns="0" bIns="0" rtlCol="0" anchor="ctr"/>
          <a:lstStyle/>
          <a:p>
            <a:pPr algn="l" indent="0" marL="0">
              <a:lnSpc>
                <a:spcPct val="105000"/>
              </a:lnSpc>
              <a:buNone/>
            </a:pPr>
            <a:r>
              <a:rPr lang="en-US" sz="2200" b="1" dirty="0">
                <a:solidFill>
                  <a:srgbClr val="17334D"/>
                </a:solidFill>
                <a:latin typeface="Noto Sans" pitchFamily="34" charset="0"/>
                <a:ea typeface="Noto Sans" pitchFamily="34" charset="-122"/>
                <a:cs typeface="Noto Sans" pitchFamily="34" charset="-120"/>
              </a:rPr>
              <a:t>GenSQLi (2025)</a:t>
            </a:r>
            <a:endParaRPr lang="en-US" sz="2200" dirty="0"/>
          </a:p>
        </p:txBody>
      </p:sp>
      <p:sp>
        <p:nvSpPr>
          <p:cNvPr id="18" name="Text 16"/>
          <p:cNvSpPr txBox="1"/>
          <p:nvPr/>
        </p:nvSpPr>
        <p:spPr>
          <a:xfrm>
            <a:off x="8613648" y="2770632"/>
            <a:ext cx="3017520" cy="1024128"/>
          </a:xfrm>
          <a:prstGeom prst="rect">
            <a:avLst/>
          </a:prstGeom>
          <a:noFill/>
          <a:ln/>
        </p:spPr>
        <p:txBody>
          <a:bodyPr wrap="square" lIns="0" tIns="0" rIns="0" bIns="0" rtlCol="0" anchor="t"/>
          <a:lstStyle/>
          <a:p>
            <a:pPr algn="l" indent="0" marL="0">
              <a:lnSpc>
                <a:spcPct val="105000"/>
              </a:lnSpc>
              <a:buNone/>
            </a:pPr>
            <a:r>
              <a:rPr lang="en-US" sz="1600" dirty="0">
                <a:solidFill>
                  <a:srgbClr val="41566D"/>
                </a:solidFill>
                <a:latin typeface="Noto Sans" pitchFamily="34" charset="0"/>
                <a:ea typeface="Noto Sans" pitchFamily="34" charset="-122"/>
                <a:cs typeface="Noto Sans" pitchFamily="34" charset="-120"/>
              </a:rPr>
              <a:t>LLM sinh SQLi, xác minh và xây dựng luật giảm bypass.</a:t>
            </a:r>
            <a:endParaRPr lang="en-US" sz="1600" dirty="0"/>
          </a:p>
        </p:txBody>
      </p:sp>
      <p:sp>
        <p:nvSpPr>
          <p:cNvPr id="19" name="Shape 17"/>
          <p:cNvSpPr/>
          <p:nvPr/>
        </p:nvSpPr>
        <p:spPr>
          <a:xfrm>
            <a:off x="8613648" y="4325112"/>
            <a:ext cx="2423160" cy="374904"/>
          </a:xfrm>
          <a:prstGeom prst="roundRect">
            <a:avLst>
              <a:gd name="adj" fmla="val 29268"/>
            </a:avLst>
          </a:prstGeom>
          <a:solidFill>
            <a:srgbClr val="EAF8F6"/>
          </a:solidFill>
          <a:ln w="8890">
            <a:solidFill>
              <a:srgbClr val="EAF8F6"/>
            </a:solidFill>
            <a:prstDash val="solid"/>
          </a:ln>
        </p:spPr>
      </p:sp>
      <p:sp>
        <p:nvSpPr>
          <p:cNvPr id="20" name="Text 18"/>
          <p:cNvSpPr txBox="1"/>
          <p:nvPr/>
        </p:nvSpPr>
        <p:spPr>
          <a:xfrm>
            <a:off x="8741664" y="4352544"/>
            <a:ext cx="2167128" cy="320040"/>
          </a:xfrm>
          <a:prstGeom prst="rect">
            <a:avLst/>
          </a:prstGeom>
          <a:noFill/>
          <a:ln/>
        </p:spPr>
        <p:txBody>
          <a:bodyPr wrap="square" lIns="0" tIns="0" rIns="0" bIns="0" rtlCol="0" anchor="ctr"/>
          <a:lstStyle/>
          <a:p>
            <a:pPr algn="l" indent="0" marL="0">
              <a:lnSpc>
                <a:spcPct val="105000"/>
              </a:lnSpc>
              <a:buNone/>
            </a:pPr>
            <a:r>
              <a:rPr lang="en-US" sz="1100" b="1" dirty="0">
                <a:solidFill>
                  <a:srgbClr val="159A95"/>
                </a:solidFill>
                <a:latin typeface="Noto Sans" pitchFamily="34" charset="0"/>
                <a:ea typeface="Noto Sans" pitchFamily="34" charset="-122"/>
                <a:cs typeface="Noto Sans" pitchFamily="34" charset="-120"/>
              </a:rPr>
              <a:t>Attack ↔ defense</a:t>
            </a:r>
            <a:endParaRPr lang="en-US" sz="1100" dirty="0"/>
          </a:p>
        </p:txBody>
      </p:sp>
      <p:sp>
        <p:nvSpPr>
          <p:cNvPr id="21" name="Shape 19"/>
          <p:cNvSpPr/>
          <p:nvPr/>
        </p:nvSpPr>
        <p:spPr>
          <a:xfrm>
            <a:off x="768096" y="5330952"/>
            <a:ext cx="10725912" cy="612648"/>
          </a:xfrm>
          <a:prstGeom prst="roundRect">
            <a:avLst>
              <a:gd name="adj" fmla="val 11940"/>
            </a:avLst>
          </a:prstGeom>
          <a:solidFill>
            <a:srgbClr val="0D263D"/>
          </a:solidFill>
          <a:ln w="8890">
            <a:solidFill>
              <a:srgbClr val="0D263D"/>
            </a:solidFill>
            <a:prstDash val="solid"/>
          </a:ln>
        </p:spPr>
      </p:sp>
      <p:sp>
        <p:nvSpPr>
          <p:cNvPr id="22" name="Text 20"/>
          <p:cNvSpPr txBox="1"/>
          <p:nvPr/>
        </p:nvSpPr>
        <p:spPr>
          <a:xfrm>
            <a:off x="1005840" y="5468112"/>
            <a:ext cx="10149840" cy="329184"/>
          </a:xfrm>
          <a:prstGeom prst="rect">
            <a:avLst/>
          </a:prstGeom>
          <a:noFill/>
          <a:ln/>
        </p:spPr>
        <p:txBody>
          <a:bodyPr wrap="square" lIns="0" tIns="0" rIns="0" bIns="0" rtlCol="0" anchor="ctr"/>
          <a:lstStyle/>
          <a:p>
            <a:pPr algn="l" indent="0" marL="0">
              <a:lnSpc>
                <a:spcPct val="105000"/>
              </a:lnSpc>
              <a:buNone/>
            </a:pPr>
            <a:r>
              <a:rPr lang="en-US" sz="1700" b="1" dirty="0">
                <a:solidFill>
                  <a:srgbClr val="FFFFFF"/>
                </a:solidFill>
                <a:latin typeface="Noto Sans" pitchFamily="34" charset="0"/>
                <a:ea typeface="Noto Sans" pitchFamily="34" charset="-122"/>
                <a:cs typeface="Noto Sans" pitchFamily="34" charset="-120"/>
              </a:rPr>
              <a:t>TRACE-WAF: đánh giá 3 trục  +  chứng cứ nguồn  +  cổng thay đổi có người duyệt</a:t>
            </a:r>
            <a:endParaRPr lang="en-US" sz="1700" dirty="0"/>
          </a:p>
        </p:txBody>
      </p:sp>
      <p:sp>
        <p:nvSpPr>
          <p:cNvPr id="23" name="Shape 21"/>
          <p:cNvSpPr/>
          <p:nvPr/>
        </p:nvSpPr>
        <p:spPr>
          <a:xfrm>
            <a:off x="658368" y="6492240"/>
            <a:ext cx="10875264" cy="0"/>
          </a:xfrm>
          <a:prstGeom prst="line">
            <a:avLst/>
          </a:prstGeom>
          <a:noFill/>
          <a:ln w="10160">
            <a:solidFill>
              <a:srgbClr val="D8E2EA"/>
            </a:solidFill>
            <a:prstDash val="solid"/>
          </a:ln>
        </p:spPr>
      </p:sp>
      <p:sp>
        <p:nvSpPr>
          <p:cNvPr id="24" name="Text 22"/>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25" name="Text 23"/>
          <p:cNvSpPr txBox="1"/>
          <p:nvPr/>
        </p:nvSpPr>
        <p:spPr>
          <a:xfrm>
            <a:off x="7223760" y="6556248"/>
            <a:ext cx="3566160" cy="164592"/>
          </a:xfrm>
          <a:prstGeom prst="rect">
            <a:avLst/>
          </a:prstGeom>
          <a:noFill/>
          <a:ln/>
        </p:spPr>
        <p:txBody>
          <a:bodyPr wrap="square" lIns="0" tIns="0" rIns="0" bIns="0" rtlCol="0" anchor="ctr"/>
          <a:lstStyle/>
          <a:p>
            <a:pPr algn="r" indent="0" marL="0">
              <a:lnSpc>
                <a:spcPct val="105000"/>
              </a:lnSpc>
              <a:buNone/>
            </a:pPr>
            <a:r>
              <a:rPr lang="en-US" sz="800" dirty="0">
                <a:solidFill>
                  <a:srgbClr val="667B8D"/>
                </a:solidFill>
                <a:latin typeface="Noto Sans" pitchFamily="34" charset="0"/>
                <a:ea typeface="Noto Sans" pitchFamily="34" charset="-122"/>
                <a:cs typeface="Noto Sans" pitchFamily="34" charset="-120"/>
              </a:rPr>
              <a:t>OWASP · DEG-WAF · GenSQLi</a:t>
            </a:r>
            <a:endParaRPr lang="en-US" sz="800" dirty="0"/>
          </a:p>
        </p:txBody>
      </p:sp>
      <p:sp>
        <p:nvSpPr>
          <p:cNvPr id="26" name="Text 24"/>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Mục tiêu</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Ba câu hỏi nghiên cứu, một quy trình có thể kiểm toán</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sp>
        <p:nvSpPr>
          <p:cNvPr id="6" name="Shape 4"/>
          <p:cNvSpPr/>
          <p:nvPr/>
        </p:nvSpPr>
        <p:spPr>
          <a:xfrm>
            <a:off x="758952" y="1828800"/>
            <a:ext cx="3401568" cy="3291840"/>
          </a:xfrm>
          <a:prstGeom prst="roundRect">
            <a:avLst>
              <a:gd name="adj" fmla="val 3889"/>
            </a:avLst>
          </a:prstGeom>
          <a:solidFill>
            <a:srgbClr val="EAF1F6"/>
          </a:solidFill>
          <a:ln w="8890">
            <a:solidFill>
              <a:srgbClr val="EAF1F6"/>
            </a:solidFill>
            <a:prstDash val="solid"/>
          </a:ln>
        </p:spPr>
      </p:sp>
      <p:sp>
        <p:nvSpPr>
          <p:cNvPr id="7" name="Text 5"/>
          <p:cNvSpPr txBox="1"/>
          <p:nvPr/>
        </p:nvSpPr>
        <p:spPr>
          <a:xfrm>
            <a:off x="1014984" y="2029968"/>
            <a:ext cx="914400" cy="457200"/>
          </a:xfrm>
          <a:prstGeom prst="rect">
            <a:avLst/>
          </a:prstGeom>
          <a:noFill/>
          <a:ln/>
        </p:spPr>
        <p:txBody>
          <a:bodyPr wrap="square" lIns="0" tIns="0" rIns="0" bIns="0" rtlCol="0" anchor="ctr"/>
          <a:lstStyle/>
          <a:p>
            <a:pPr algn="l" indent="0" marL="0">
              <a:lnSpc>
                <a:spcPct val="105000"/>
              </a:lnSpc>
              <a:buNone/>
            </a:pPr>
            <a:r>
              <a:rPr lang="en-US" sz="3000" b="1" dirty="0">
                <a:solidFill>
                  <a:srgbClr val="159A95"/>
                </a:solidFill>
                <a:latin typeface="Noto Sans" pitchFamily="34" charset="0"/>
                <a:ea typeface="Noto Sans" pitchFamily="34" charset="-122"/>
                <a:cs typeface="Noto Sans" pitchFamily="34" charset="-120"/>
              </a:rPr>
              <a:t>01</a:t>
            </a:r>
            <a:endParaRPr lang="en-US" sz="3000" dirty="0"/>
          </a:p>
        </p:txBody>
      </p:sp>
      <p:sp>
        <p:nvSpPr>
          <p:cNvPr id="8" name="Text 6"/>
          <p:cNvSpPr txBox="1"/>
          <p:nvPr/>
        </p:nvSpPr>
        <p:spPr>
          <a:xfrm>
            <a:off x="1014984" y="2670048"/>
            <a:ext cx="2834640" cy="768096"/>
          </a:xfrm>
          <a:prstGeom prst="rect">
            <a:avLst/>
          </a:prstGeom>
          <a:noFill/>
          <a:ln/>
        </p:spPr>
        <p:txBody>
          <a:bodyPr wrap="square" lIns="0" tIns="0" rIns="0" bIns="0" rtlCol="0" anchor="t"/>
          <a:lstStyle/>
          <a:p>
            <a:pPr algn="l" indent="0" marL="0">
              <a:lnSpc>
                <a:spcPct val="105000"/>
              </a:lnSpc>
              <a:buNone/>
            </a:pPr>
            <a:r>
              <a:rPr lang="en-US" sz="2000" b="1" dirty="0">
                <a:solidFill>
                  <a:srgbClr val="17334D"/>
                </a:solidFill>
                <a:latin typeface="Noto Sans" pitchFamily="34" charset="0"/>
                <a:ea typeface="Noto Sans" pitchFamily="34" charset="-122"/>
                <a:cs typeface="Noto Sans" pitchFamily="34" charset="-120"/>
              </a:rPr>
              <a:t>RQ1 · Đo như thế nào?</a:t>
            </a:r>
            <a:endParaRPr lang="en-US" sz="2000" dirty="0"/>
          </a:p>
        </p:txBody>
      </p:sp>
      <p:sp>
        <p:nvSpPr>
          <p:cNvPr id="9" name="Text 7"/>
          <p:cNvSpPr txBox="1"/>
          <p:nvPr/>
        </p:nvSpPr>
        <p:spPr>
          <a:xfrm>
            <a:off x="1014984" y="3657600"/>
            <a:ext cx="2779776" cy="1143000"/>
          </a:xfrm>
          <a:prstGeom prst="rect">
            <a:avLst/>
          </a:prstGeom>
          <a:noFill/>
          <a:ln/>
        </p:spPr>
        <p:txBody>
          <a:bodyPr wrap="square" lIns="0" tIns="0" rIns="0" bIns="0" rtlCol="0" anchor="t"/>
          <a:lstStyle/>
          <a:p>
            <a:pPr algn="l" indent="0" marL="0">
              <a:lnSpc>
                <a:spcPct val="105000"/>
              </a:lnSpc>
              <a:buNone/>
            </a:pPr>
            <a:r>
              <a:rPr lang="en-US" sz="1400" dirty="0">
                <a:solidFill>
                  <a:srgbClr val="41566D"/>
                </a:solidFill>
                <a:latin typeface="Noto Sans" pitchFamily="34" charset="0"/>
                <a:ea typeface="Noto Sans" pitchFamily="34" charset="-122"/>
                <a:cs typeface="Noto Sans" pitchFamily="34" charset="-120"/>
              </a:rPr>
              <a:t>Chuẩn hóa coverage, FPR và robustness vào một benchmark tái lập.</a:t>
            </a:r>
            <a:endParaRPr lang="en-US" sz="1400" dirty="0"/>
          </a:p>
        </p:txBody>
      </p:sp>
      <p:sp>
        <p:nvSpPr>
          <p:cNvPr id="10" name="Shape 8"/>
          <p:cNvSpPr/>
          <p:nvPr/>
        </p:nvSpPr>
        <p:spPr>
          <a:xfrm>
            <a:off x="4398264" y="1828800"/>
            <a:ext cx="3401568" cy="3291840"/>
          </a:xfrm>
          <a:prstGeom prst="roundRect">
            <a:avLst>
              <a:gd name="adj" fmla="val 3889"/>
            </a:avLst>
          </a:prstGeom>
          <a:solidFill>
            <a:srgbClr val="EAF8F6"/>
          </a:solidFill>
          <a:ln w="8890">
            <a:solidFill>
              <a:srgbClr val="EAF8F6"/>
            </a:solidFill>
            <a:prstDash val="solid"/>
          </a:ln>
        </p:spPr>
      </p:sp>
      <p:sp>
        <p:nvSpPr>
          <p:cNvPr id="11" name="Text 9"/>
          <p:cNvSpPr txBox="1"/>
          <p:nvPr/>
        </p:nvSpPr>
        <p:spPr>
          <a:xfrm>
            <a:off x="4654296" y="2029968"/>
            <a:ext cx="914400" cy="457200"/>
          </a:xfrm>
          <a:prstGeom prst="rect">
            <a:avLst/>
          </a:prstGeom>
          <a:noFill/>
          <a:ln/>
        </p:spPr>
        <p:txBody>
          <a:bodyPr wrap="square" lIns="0" tIns="0" rIns="0" bIns="0" rtlCol="0" anchor="ctr"/>
          <a:lstStyle/>
          <a:p>
            <a:pPr algn="l" indent="0" marL="0">
              <a:lnSpc>
                <a:spcPct val="105000"/>
              </a:lnSpc>
              <a:buNone/>
            </a:pPr>
            <a:r>
              <a:rPr lang="en-US" sz="3000" b="1" dirty="0">
                <a:solidFill>
                  <a:srgbClr val="159A95"/>
                </a:solidFill>
                <a:latin typeface="Noto Sans" pitchFamily="34" charset="0"/>
                <a:ea typeface="Noto Sans" pitchFamily="34" charset="-122"/>
                <a:cs typeface="Noto Sans" pitchFamily="34" charset="-120"/>
              </a:rPr>
              <a:t>02</a:t>
            </a:r>
            <a:endParaRPr lang="en-US" sz="3000" dirty="0"/>
          </a:p>
        </p:txBody>
      </p:sp>
      <p:sp>
        <p:nvSpPr>
          <p:cNvPr id="12" name="Text 10"/>
          <p:cNvSpPr txBox="1"/>
          <p:nvPr/>
        </p:nvSpPr>
        <p:spPr>
          <a:xfrm>
            <a:off x="4654296" y="2670048"/>
            <a:ext cx="2834640" cy="768096"/>
          </a:xfrm>
          <a:prstGeom prst="rect">
            <a:avLst/>
          </a:prstGeom>
          <a:noFill/>
          <a:ln/>
        </p:spPr>
        <p:txBody>
          <a:bodyPr wrap="square" lIns="0" tIns="0" rIns="0" bIns="0" rtlCol="0" anchor="t"/>
          <a:lstStyle/>
          <a:p>
            <a:pPr algn="l" indent="0" marL="0">
              <a:lnSpc>
                <a:spcPct val="105000"/>
              </a:lnSpc>
              <a:buNone/>
            </a:pPr>
            <a:r>
              <a:rPr lang="en-US" sz="2000" b="1" dirty="0">
                <a:solidFill>
                  <a:srgbClr val="17334D"/>
                </a:solidFill>
                <a:latin typeface="Noto Sans" pitchFamily="34" charset="0"/>
                <a:ea typeface="Noto Sans" pitchFamily="34" charset="-122"/>
                <a:cs typeface="Noto Sans" pitchFamily="34" charset="-120"/>
              </a:rPr>
              <a:t>RQ2 · Điều gì thay đổi?</a:t>
            </a:r>
            <a:endParaRPr lang="en-US" sz="2000" dirty="0"/>
          </a:p>
        </p:txBody>
      </p:sp>
      <p:sp>
        <p:nvSpPr>
          <p:cNvPr id="13" name="Text 11"/>
          <p:cNvSpPr txBox="1"/>
          <p:nvPr/>
        </p:nvSpPr>
        <p:spPr>
          <a:xfrm>
            <a:off x="4654296" y="3657600"/>
            <a:ext cx="2779776" cy="1143000"/>
          </a:xfrm>
          <a:prstGeom prst="rect">
            <a:avLst/>
          </a:prstGeom>
          <a:noFill/>
          <a:ln/>
        </p:spPr>
        <p:txBody>
          <a:bodyPr wrap="square" lIns="0" tIns="0" rIns="0" bIns="0" rtlCol="0" anchor="t"/>
          <a:lstStyle/>
          <a:p>
            <a:pPr algn="l" indent="0" marL="0">
              <a:lnSpc>
                <a:spcPct val="105000"/>
              </a:lnSpc>
              <a:buNone/>
            </a:pPr>
            <a:r>
              <a:rPr lang="en-US" sz="1400" dirty="0">
                <a:solidFill>
                  <a:srgbClr val="41566D"/>
                </a:solidFill>
                <a:latin typeface="Noto Sans" pitchFamily="34" charset="0"/>
                <a:ea typeface="Noto Sans" pitchFamily="34" charset="-122"/>
                <a:cs typeface="Noto Sans" pitchFamily="34" charset="-120"/>
              </a:rPr>
              <a:t>So sánh chữ ký thô, giải mã và policy theo tuyến xử lý tin cậy.</a:t>
            </a:r>
            <a:endParaRPr lang="en-US" sz="1400" dirty="0"/>
          </a:p>
        </p:txBody>
      </p:sp>
      <p:sp>
        <p:nvSpPr>
          <p:cNvPr id="14" name="Shape 12"/>
          <p:cNvSpPr/>
          <p:nvPr/>
        </p:nvSpPr>
        <p:spPr>
          <a:xfrm>
            <a:off x="8046720" y="1828800"/>
            <a:ext cx="3401568" cy="3291840"/>
          </a:xfrm>
          <a:prstGeom prst="roundRect">
            <a:avLst>
              <a:gd name="adj" fmla="val 3889"/>
            </a:avLst>
          </a:prstGeom>
          <a:solidFill>
            <a:srgbClr val="FFF4E9"/>
          </a:solidFill>
          <a:ln w="8890">
            <a:solidFill>
              <a:srgbClr val="FFF4E9"/>
            </a:solidFill>
            <a:prstDash val="solid"/>
          </a:ln>
        </p:spPr>
      </p:sp>
      <p:sp>
        <p:nvSpPr>
          <p:cNvPr id="15" name="Text 13"/>
          <p:cNvSpPr txBox="1"/>
          <p:nvPr/>
        </p:nvSpPr>
        <p:spPr>
          <a:xfrm>
            <a:off x="8302752" y="2029968"/>
            <a:ext cx="914400" cy="457200"/>
          </a:xfrm>
          <a:prstGeom prst="rect">
            <a:avLst/>
          </a:prstGeom>
          <a:noFill/>
          <a:ln/>
        </p:spPr>
        <p:txBody>
          <a:bodyPr wrap="square" lIns="0" tIns="0" rIns="0" bIns="0" rtlCol="0" anchor="ctr"/>
          <a:lstStyle/>
          <a:p>
            <a:pPr algn="l" indent="0" marL="0">
              <a:lnSpc>
                <a:spcPct val="105000"/>
              </a:lnSpc>
              <a:buNone/>
            </a:pPr>
            <a:r>
              <a:rPr lang="en-US" sz="3000" b="1" dirty="0">
                <a:solidFill>
                  <a:srgbClr val="159A95"/>
                </a:solidFill>
                <a:latin typeface="Noto Sans" pitchFamily="34" charset="0"/>
                <a:ea typeface="Noto Sans" pitchFamily="34" charset="-122"/>
                <a:cs typeface="Noto Sans" pitchFamily="34" charset="-120"/>
              </a:rPr>
              <a:t>03</a:t>
            </a:r>
            <a:endParaRPr lang="en-US" sz="3000" dirty="0"/>
          </a:p>
        </p:txBody>
      </p:sp>
      <p:sp>
        <p:nvSpPr>
          <p:cNvPr id="16" name="Text 14"/>
          <p:cNvSpPr txBox="1"/>
          <p:nvPr/>
        </p:nvSpPr>
        <p:spPr>
          <a:xfrm>
            <a:off x="8302752" y="2670048"/>
            <a:ext cx="2834640" cy="768096"/>
          </a:xfrm>
          <a:prstGeom prst="rect">
            <a:avLst/>
          </a:prstGeom>
          <a:noFill/>
          <a:ln/>
        </p:spPr>
        <p:txBody>
          <a:bodyPr wrap="square" lIns="0" tIns="0" rIns="0" bIns="0" rtlCol="0" anchor="t"/>
          <a:lstStyle/>
          <a:p>
            <a:pPr algn="l" indent="0" marL="0">
              <a:lnSpc>
                <a:spcPct val="105000"/>
              </a:lnSpc>
              <a:buNone/>
            </a:pPr>
            <a:r>
              <a:rPr lang="en-US" sz="2000" b="1" dirty="0">
                <a:solidFill>
                  <a:srgbClr val="17334D"/>
                </a:solidFill>
                <a:latin typeface="Noto Sans" pitchFamily="34" charset="0"/>
                <a:ea typeface="Noto Sans" pitchFamily="34" charset="-122"/>
                <a:cs typeface="Noto Sans" pitchFamily="34" charset="-120"/>
              </a:rPr>
              <a:t>RQ3 · Khi nào áp dụng?</a:t>
            </a:r>
            <a:endParaRPr lang="en-US" sz="2000" dirty="0"/>
          </a:p>
        </p:txBody>
      </p:sp>
      <p:sp>
        <p:nvSpPr>
          <p:cNvPr id="17" name="Text 15"/>
          <p:cNvSpPr txBox="1"/>
          <p:nvPr/>
        </p:nvSpPr>
        <p:spPr>
          <a:xfrm>
            <a:off x="8302752" y="3657600"/>
            <a:ext cx="2779776" cy="1143000"/>
          </a:xfrm>
          <a:prstGeom prst="rect">
            <a:avLst/>
          </a:prstGeom>
          <a:noFill/>
          <a:ln/>
        </p:spPr>
        <p:txBody>
          <a:bodyPr wrap="square" lIns="0" tIns="0" rIns="0" bIns="0" rtlCol="0" anchor="t"/>
          <a:lstStyle/>
          <a:p>
            <a:pPr algn="l" indent="0" marL="0">
              <a:lnSpc>
                <a:spcPct val="105000"/>
              </a:lnSpc>
              <a:buNone/>
            </a:pPr>
            <a:r>
              <a:rPr lang="en-US" sz="1400" dirty="0">
                <a:solidFill>
                  <a:srgbClr val="41566D"/>
                </a:solidFill>
                <a:latin typeface="Noto Sans" pitchFamily="34" charset="0"/>
                <a:ea typeface="Noto Sans" pitchFamily="34" charset="-122"/>
                <a:cs typeface="Noto Sans" pitchFamily="34" charset="-120"/>
              </a:rPr>
              <a:t>Gắn CWE, người chịu trách nhiệm, phê duyệt và rollback cho mỗi rule.</a:t>
            </a:r>
            <a:endParaRPr lang="en-US" sz="1400" dirty="0"/>
          </a:p>
        </p:txBody>
      </p:sp>
      <p:sp>
        <p:nvSpPr>
          <p:cNvPr id="18" name="Text 16"/>
          <p:cNvSpPr txBox="1"/>
          <p:nvPr/>
        </p:nvSpPr>
        <p:spPr>
          <a:xfrm>
            <a:off x="932688" y="5623560"/>
            <a:ext cx="10241280" cy="402336"/>
          </a:xfrm>
          <a:prstGeom prst="rect">
            <a:avLst/>
          </a:prstGeom>
          <a:noFill/>
          <a:ln/>
        </p:spPr>
        <p:txBody>
          <a:bodyPr wrap="square" lIns="0" tIns="0" rIns="0" bIns="0" rtlCol="0" anchor="ctr"/>
          <a:lstStyle/>
          <a:p>
            <a:pPr algn="l" indent="0" marL="0">
              <a:lnSpc>
                <a:spcPct val="105000"/>
              </a:lnSpc>
              <a:buNone/>
            </a:pPr>
            <a:r>
              <a:rPr lang="en-US" sz="1700" b="1" dirty="0">
                <a:solidFill>
                  <a:srgbClr val="17334D"/>
                </a:solidFill>
                <a:latin typeface="Noto Sans" pitchFamily="34" charset="0"/>
                <a:ea typeface="Noto Sans" pitchFamily="34" charset="-122"/>
                <a:cs typeface="Noto Sans" pitchFamily="34" charset="-120"/>
              </a:rPr>
              <a:t>Đầu ra mong đợi: mô hình đánh giá + code + hồ sơ bằng chứng + quyết định go/no-go</a:t>
            </a:r>
            <a:endParaRPr lang="en-US" sz="1700" dirty="0"/>
          </a:p>
        </p:txBody>
      </p:sp>
      <p:sp>
        <p:nvSpPr>
          <p:cNvPr id="19" name="Shape 17"/>
          <p:cNvSpPr/>
          <p:nvPr/>
        </p:nvSpPr>
        <p:spPr>
          <a:xfrm>
            <a:off x="658368" y="6492240"/>
            <a:ext cx="10875264" cy="0"/>
          </a:xfrm>
          <a:prstGeom prst="line">
            <a:avLst/>
          </a:prstGeom>
          <a:noFill/>
          <a:ln w="10160">
            <a:solidFill>
              <a:srgbClr val="D8E2EA"/>
            </a:solidFill>
            <a:prstDash val="solid"/>
          </a:ln>
        </p:spPr>
      </p:sp>
      <p:sp>
        <p:nvSpPr>
          <p:cNvPr id="20" name="Text 18"/>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21" name="Text 19"/>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Kiến trúc</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TRACE-WAF tách lớp kỹ thuật khỏi quyết định triển khai</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pic>
        <p:nvPicPr>
          <p:cNvPr id="6" name="Image 0" descr="/mnt/data/WAF_TRACE_research/assets/architecture.png">    </p:cNvPr>
          <p:cNvPicPr>
            <a:picLocks noChangeAspect="1"/>
          </p:cNvPicPr>
          <p:nvPr/>
        </p:nvPicPr>
        <p:blipFill>
          <a:blip r:embed="rId1"/>
          <a:stretch>
            <a:fillRect/>
          </a:stretch>
        </p:blipFill>
        <p:spPr>
          <a:xfrm>
            <a:off x="1402818" y="1636776"/>
            <a:ext cx="9365027" cy="3995928"/>
          </a:xfrm>
          <a:prstGeom prst="rect">
            <a:avLst/>
          </a:prstGeom>
        </p:spPr>
      </p:pic>
      <p:sp>
        <p:nvSpPr>
          <p:cNvPr id="7" name="Shape 4"/>
          <p:cNvSpPr/>
          <p:nvPr/>
        </p:nvSpPr>
        <p:spPr>
          <a:xfrm>
            <a:off x="868680" y="5724144"/>
            <a:ext cx="5129784" cy="365760"/>
          </a:xfrm>
          <a:prstGeom prst="roundRect">
            <a:avLst>
              <a:gd name="adj" fmla="val 30000"/>
            </a:avLst>
          </a:prstGeom>
          <a:solidFill>
            <a:srgbClr val="EAF8F6"/>
          </a:solidFill>
          <a:ln w="8890">
            <a:solidFill>
              <a:srgbClr val="EAF8F6"/>
            </a:solidFill>
            <a:prstDash val="solid"/>
          </a:ln>
        </p:spPr>
      </p:sp>
      <p:sp>
        <p:nvSpPr>
          <p:cNvPr id="8" name="Text 5"/>
          <p:cNvSpPr txBox="1"/>
          <p:nvPr/>
        </p:nvSpPr>
        <p:spPr>
          <a:xfrm>
            <a:off x="996696" y="5751576"/>
            <a:ext cx="4873752" cy="310896"/>
          </a:xfrm>
          <a:prstGeom prst="rect">
            <a:avLst/>
          </a:prstGeom>
          <a:noFill/>
          <a:ln/>
        </p:spPr>
        <p:txBody>
          <a:bodyPr wrap="square" lIns="0" tIns="0" rIns="0" bIns="0" rtlCol="0" anchor="ctr"/>
          <a:lstStyle/>
          <a:p>
            <a:pPr algn="l" indent="0" marL="0">
              <a:lnSpc>
                <a:spcPct val="105000"/>
              </a:lnSpc>
              <a:buNone/>
            </a:pPr>
            <a:r>
              <a:rPr lang="en-US" sz="1100" b="1" dirty="0">
                <a:solidFill>
                  <a:srgbClr val="159A95"/>
                </a:solidFill>
                <a:latin typeface="Noto Sans" pitchFamily="34" charset="0"/>
                <a:ea typeface="Noto Sans" pitchFamily="34" charset="-122"/>
                <a:cs typeface="Noto Sans" pitchFamily="34" charset="-120"/>
              </a:rPr>
              <a:t>Đã có: generator xác định + 3 bộ phát hiện mô phỏng</a:t>
            </a:r>
            <a:endParaRPr lang="en-US" sz="1100" dirty="0"/>
          </a:p>
        </p:txBody>
      </p:sp>
      <p:sp>
        <p:nvSpPr>
          <p:cNvPr id="9" name="Shape 6"/>
          <p:cNvSpPr/>
          <p:nvPr/>
        </p:nvSpPr>
        <p:spPr>
          <a:xfrm>
            <a:off x="6181344" y="5724144"/>
            <a:ext cx="5129784" cy="365760"/>
          </a:xfrm>
          <a:prstGeom prst="roundRect">
            <a:avLst>
              <a:gd name="adj" fmla="val 30000"/>
            </a:avLst>
          </a:prstGeom>
          <a:solidFill>
            <a:srgbClr val="FFF4E9"/>
          </a:solidFill>
          <a:ln w="8890">
            <a:solidFill>
              <a:srgbClr val="FFF4E9"/>
            </a:solidFill>
            <a:prstDash val="solid"/>
          </a:ln>
        </p:spPr>
      </p:sp>
      <p:sp>
        <p:nvSpPr>
          <p:cNvPr id="10" name="Text 7"/>
          <p:cNvSpPr txBox="1"/>
          <p:nvPr/>
        </p:nvSpPr>
        <p:spPr>
          <a:xfrm>
            <a:off x="6309360" y="5751576"/>
            <a:ext cx="4873752" cy="310896"/>
          </a:xfrm>
          <a:prstGeom prst="rect">
            <a:avLst/>
          </a:prstGeom>
          <a:noFill/>
          <a:ln/>
        </p:spPr>
        <p:txBody>
          <a:bodyPr wrap="square" lIns="0" tIns="0" rIns="0" bIns="0" rtlCol="0" anchor="ctr"/>
          <a:lstStyle/>
          <a:p>
            <a:pPr algn="l" indent="0" marL="0">
              <a:lnSpc>
                <a:spcPct val="105000"/>
              </a:lnSpc>
              <a:buNone/>
            </a:pPr>
            <a:r>
              <a:rPr lang="en-US" sz="1100" b="1" dirty="0">
                <a:solidFill>
                  <a:srgbClr val="976021"/>
                </a:solidFill>
                <a:latin typeface="Noto Sans" pitchFamily="34" charset="0"/>
                <a:ea typeface="Noto Sans" pitchFamily="34" charset="-122"/>
                <a:cs typeface="Noto Sans" pitchFamily="34" charset="-120"/>
              </a:rPr>
              <a:t>Chưa có: LLM inference / WAF thực / CVE oracle</a:t>
            </a:r>
            <a:endParaRPr lang="en-US" sz="1100" dirty="0"/>
          </a:p>
        </p:txBody>
      </p:sp>
      <p:sp>
        <p:nvSpPr>
          <p:cNvPr id="11" name="Shape 8"/>
          <p:cNvSpPr/>
          <p:nvPr/>
        </p:nvSpPr>
        <p:spPr>
          <a:xfrm>
            <a:off x="658368" y="6492240"/>
            <a:ext cx="10875264" cy="0"/>
          </a:xfrm>
          <a:prstGeom prst="line">
            <a:avLst/>
          </a:prstGeom>
          <a:noFill/>
          <a:ln w="10160">
            <a:solidFill>
              <a:srgbClr val="D8E2EA"/>
            </a:solidFill>
            <a:prstDash val="solid"/>
          </a:ln>
        </p:spPr>
      </p:sp>
      <p:sp>
        <p:nvSpPr>
          <p:cNvPr id="12" name="Text 9"/>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13" name="Text 10"/>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Phương pháp</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Benchmark đồng thời 3 trục, không đánh đổi bằng phép cộng điểm</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sp>
        <p:nvSpPr>
          <p:cNvPr id="6" name="Shape 4"/>
          <p:cNvSpPr/>
          <p:nvPr/>
        </p:nvSpPr>
        <p:spPr>
          <a:xfrm>
            <a:off x="758952" y="1755648"/>
            <a:ext cx="3429000" cy="2926080"/>
          </a:xfrm>
          <a:prstGeom prst="roundRect">
            <a:avLst>
              <a:gd name="adj" fmla="val 3750"/>
            </a:avLst>
          </a:prstGeom>
          <a:solidFill>
            <a:srgbClr val="EAF1F6"/>
          </a:solidFill>
          <a:ln w="8890">
            <a:solidFill>
              <a:srgbClr val="EAF1F6"/>
            </a:solidFill>
            <a:prstDash val="solid"/>
          </a:ln>
        </p:spPr>
      </p:sp>
      <p:sp>
        <p:nvSpPr>
          <p:cNvPr id="7" name="Text 5"/>
          <p:cNvSpPr txBox="1"/>
          <p:nvPr/>
        </p:nvSpPr>
        <p:spPr>
          <a:xfrm>
            <a:off x="969264" y="2002536"/>
            <a:ext cx="2990088" cy="374904"/>
          </a:xfrm>
          <a:prstGeom prst="rect">
            <a:avLst/>
          </a:prstGeom>
          <a:noFill/>
          <a:ln/>
        </p:spPr>
        <p:txBody>
          <a:bodyPr wrap="square" lIns="0" tIns="0" rIns="0" bIns="0" rtlCol="0" anchor="ctr"/>
          <a:lstStyle/>
          <a:p>
            <a:pPr algn="l" indent="0" marL="0">
              <a:lnSpc>
                <a:spcPct val="105000"/>
              </a:lnSpc>
              <a:buNone/>
            </a:pPr>
            <a:r>
              <a:rPr lang="en-US" sz="1700" b="1" dirty="0">
                <a:solidFill>
                  <a:srgbClr val="17334D"/>
                </a:solidFill>
                <a:latin typeface="Noto Sans" pitchFamily="34" charset="0"/>
                <a:ea typeface="Noto Sans" pitchFamily="34" charset="-122"/>
                <a:cs typeface="Noto Sans" pitchFamily="34" charset="-120"/>
              </a:rPr>
              <a:t>COVERAGE</a:t>
            </a:r>
            <a:endParaRPr lang="en-US" sz="1700" dirty="0"/>
          </a:p>
        </p:txBody>
      </p:sp>
      <p:sp>
        <p:nvSpPr>
          <p:cNvPr id="8" name="Text 6"/>
          <p:cNvSpPr txBox="1"/>
          <p:nvPr/>
        </p:nvSpPr>
        <p:spPr>
          <a:xfrm>
            <a:off x="969264" y="2578608"/>
            <a:ext cx="2990088" cy="411480"/>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TP / (TP + FN)</a:t>
            </a:r>
            <a:endParaRPr lang="en-US" sz="1900" dirty="0"/>
          </a:p>
        </p:txBody>
      </p:sp>
      <p:sp>
        <p:nvSpPr>
          <p:cNvPr id="9" name="Text 7"/>
          <p:cNvSpPr txBox="1"/>
          <p:nvPr/>
        </p:nvSpPr>
        <p:spPr>
          <a:xfrm>
            <a:off x="969264" y="3319272"/>
            <a:ext cx="2926080" cy="713232"/>
          </a:xfrm>
          <a:prstGeom prst="rect">
            <a:avLst/>
          </a:prstGeom>
          <a:noFill/>
          <a:ln/>
        </p:spPr>
        <p:txBody>
          <a:bodyPr wrap="square" lIns="0" tIns="0" rIns="0" bIns="0" rtlCol="0" anchor="t"/>
          <a:lstStyle/>
          <a:p>
            <a:pPr algn="l" indent="0" marL="0">
              <a:lnSpc>
                <a:spcPct val="105000"/>
              </a:lnSpc>
              <a:buNone/>
            </a:pPr>
            <a:r>
              <a:rPr lang="en-US" sz="1500" dirty="0">
                <a:solidFill>
                  <a:srgbClr val="41566D"/>
                </a:solidFill>
                <a:latin typeface="Noto Sans" pitchFamily="34" charset="0"/>
                <a:ea typeface="Noto Sans" pitchFamily="34" charset="-122"/>
                <a:cs typeface="Noto Sans" pitchFamily="34" charset="-120"/>
              </a:rPr>
              <a:t>Tỷ lệ mẫu tấn công có dấu hiệu bị chặn</a:t>
            </a:r>
            <a:endParaRPr lang="en-US" sz="1500" dirty="0"/>
          </a:p>
        </p:txBody>
      </p:sp>
      <p:sp>
        <p:nvSpPr>
          <p:cNvPr id="10" name="Text 8"/>
          <p:cNvSpPr txBox="1"/>
          <p:nvPr/>
        </p:nvSpPr>
        <p:spPr>
          <a:xfrm>
            <a:off x="3611880" y="4123944"/>
            <a:ext cx="274320" cy="320040"/>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a:t>
            </a:r>
            <a:endParaRPr lang="en-US" sz="1900" dirty="0"/>
          </a:p>
        </p:txBody>
      </p:sp>
      <p:sp>
        <p:nvSpPr>
          <p:cNvPr id="11" name="Shape 9"/>
          <p:cNvSpPr/>
          <p:nvPr/>
        </p:nvSpPr>
        <p:spPr>
          <a:xfrm>
            <a:off x="4370832" y="1755648"/>
            <a:ext cx="3429000" cy="2926080"/>
          </a:xfrm>
          <a:prstGeom prst="roundRect">
            <a:avLst>
              <a:gd name="adj" fmla="val 3750"/>
            </a:avLst>
          </a:prstGeom>
          <a:solidFill>
            <a:srgbClr val="FFF4E9"/>
          </a:solidFill>
          <a:ln w="8890">
            <a:solidFill>
              <a:srgbClr val="FFF4E9"/>
            </a:solidFill>
            <a:prstDash val="solid"/>
          </a:ln>
        </p:spPr>
      </p:sp>
      <p:sp>
        <p:nvSpPr>
          <p:cNvPr id="12" name="Text 10"/>
          <p:cNvSpPr txBox="1"/>
          <p:nvPr/>
        </p:nvSpPr>
        <p:spPr>
          <a:xfrm>
            <a:off x="4581144" y="2002536"/>
            <a:ext cx="2990088" cy="374904"/>
          </a:xfrm>
          <a:prstGeom prst="rect">
            <a:avLst/>
          </a:prstGeom>
          <a:noFill/>
          <a:ln/>
        </p:spPr>
        <p:txBody>
          <a:bodyPr wrap="square" lIns="0" tIns="0" rIns="0" bIns="0" rtlCol="0" anchor="ctr"/>
          <a:lstStyle/>
          <a:p>
            <a:pPr algn="l" indent="0" marL="0">
              <a:lnSpc>
                <a:spcPct val="105000"/>
              </a:lnSpc>
              <a:buNone/>
            </a:pPr>
            <a:r>
              <a:rPr lang="en-US" sz="1700" b="1" dirty="0">
                <a:solidFill>
                  <a:srgbClr val="17334D"/>
                </a:solidFill>
                <a:latin typeface="Noto Sans" pitchFamily="34" charset="0"/>
                <a:ea typeface="Noto Sans" pitchFamily="34" charset="-122"/>
                <a:cs typeface="Noto Sans" pitchFamily="34" charset="-120"/>
              </a:rPr>
              <a:t>FALSE-POSITIVE RATE</a:t>
            </a:r>
            <a:endParaRPr lang="en-US" sz="1700" dirty="0"/>
          </a:p>
        </p:txBody>
      </p:sp>
      <p:sp>
        <p:nvSpPr>
          <p:cNvPr id="13" name="Text 11"/>
          <p:cNvSpPr txBox="1"/>
          <p:nvPr/>
        </p:nvSpPr>
        <p:spPr>
          <a:xfrm>
            <a:off x="4581144" y="2578608"/>
            <a:ext cx="2990088" cy="411480"/>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FP / (FP + TN)</a:t>
            </a:r>
            <a:endParaRPr lang="en-US" sz="1900" dirty="0"/>
          </a:p>
        </p:txBody>
      </p:sp>
      <p:sp>
        <p:nvSpPr>
          <p:cNvPr id="14" name="Text 12"/>
          <p:cNvSpPr txBox="1"/>
          <p:nvPr/>
        </p:nvSpPr>
        <p:spPr>
          <a:xfrm>
            <a:off x="4581144" y="3319272"/>
            <a:ext cx="2926080" cy="713232"/>
          </a:xfrm>
          <a:prstGeom prst="rect">
            <a:avLst/>
          </a:prstGeom>
          <a:noFill/>
          <a:ln/>
        </p:spPr>
        <p:txBody>
          <a:bodyPr wrap="square" lIns="0" tIns="0" rIns="0" bIns="0" rtlCol="0" anchor="t"/>
          <a:lstStyle/>
          <a:p>
            <a:pPr algn="l" indent="0" marL="0">
              <a:lnSpc>
                <a:spcPct val="105000"/>
              </a:lnSpc>
              <a:buNone/>
            </a:pPr>
            <a:r>
              <a:rPr lang="en-US" sz="1500" dirty="0">
                <a:solidFill>
                  <a:srgbClr val="41566D"/>
                </a:solidFill>
                <a:latin typeface="Noto Sans" pitchFamily="34" charset="0"/>
                <a:ea typeface="Noto Sans" pitchFamily="34" charset="-122"/>
                <a:cs typeface="Noto Sans" pitchFamily="34" charset="-120"/>
              </a:rPr>
              <a:t>Tỷ lệ mẫu hợp lệ bị chặn nhầm</a:t>
            </a:r>
            <a:endParaRPr lang="en-US" sz="1500" dirty="0"/>
          </a:p>
        </p:txBody>
      </p:sp>
      <p:sp>
        <p:nvSpPr>
          <p:cNvPr id="15" name="Text 13"/>
          <p:cNvSpPr txBox="1"/>
          <p:nvPr/>
        </p:nvSpPr>
        <p:spPr>
          <a:xfrm>
            <a:off x="7223760" y="4123944"/>
            <a:ext cx="274320" cy="320040"/>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a:t>
            </a:r>
            <a:endParaRPr lang="en-US" sz="1900" dirty="0"/>
          </a:p>
        </p:txBody>
      </p:sp>
      <p:sp>
        <p:nvSpPr>
          <p:cNvPr id="16" name="Shape 14"/>
          <p:cNvSpPr/>
          <p:nvPr/>
        </p:nvSpPr>
        <p:spPr>
          <a:xfrm>
            <a:off x="7982712" y="1755648"/>
            <a:ext cx="3429000" cy="2926080"/>
          </a:xfrm>
          <a:prstGeom prst="roundRect">
            <a:avLst>
              <a:gd name="adj" fmla="val 3750"/>
            </a:avLst>
          </a:prstGeom>
          <a:solidFill>
            <a:srgbClr val="EAF8F6"/>
          </a:solidFill>
          <a:ln w="8890">
            <a:solidFill>
              <a:srgbClr val="EAF8F6"/>
            </a:solidFill>
            <a:prstDash val="solid"/>
          </a:ln>
        </p:spPr>
      </p:sp>
      <p:sp>
        <p:nvSpPr>
          <p:cNvPr id="17" name="Text 15"/>
          <p:cNvSpPr txBox="1"/>
          <p:nvPr/>
        </p:nvSpPr>
        <p:spPr>
          <a:xfrm>
            <a:off x="8193024" y="2002536"/>
            <a:ext cx="2990088" cy="374904"/>
          </a:xfrm>
          <a:prstGeom prst="rect">
            <a:avLst/>
          </a:prstGeom>
          <a:noFill/>
          <a:ln/>
        </p:spPr>
        <p:txBody>
          <a:bodyPr wrap="square" lIns="0" tIns="0" rIns="0" bIns="0" rtlCol="0" anchor="ctr"/>
          <a:lstStyle/>
          <a:p>
            <a:pPr algn="l" indent="0" marL="0">
              <a:lnSpc>
                <a:spcPct val="105000"/>
              </a:lnSpc>
              <a:buNone/>
            </a:pPr>
            <a:r>
              <a:rPr lang="en-US" sz="1700" b="1" dirty="0">
                <a:solidFill>
                  <a:srgbClr val="17334D"/>
                </a:solidFill>
                <a:latin typeface="Noto Sans" pitchFamily="34" charset="0"/>
                <a:ea typeface="Noto Sans" pitchFamily="34" charset="-122"/>
                <a:cs typeface="Noto Sans" pitchFamily="34" charset="-120"/>
              </a:rPr>
              <a:t>EVASION ROBUSTNESS</a:t>
            </a:r>
            <a:endParaRPr lang="en-US" sz="1700" dirty="0"/>
          </a:p>
        </p:txBody>
      </p:sp>
      <p:sp>
        <p:nvSpPr>
          <p:cNvPr id="18" name="Text 16"/>
          <p:cNvSpPr txBox="1"/>
          <p:nvPr/>
        </p:nvSpPr>
        <p:spPr>
          <a:xfrm>
            <a:off x="8193024" y="2578608"/>
            <a:ext cx="2990088" cy="411480"/>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TP biến đổi / N biến đổi</a:t>
            </a:r>
            <a:endParaRPr lang="en-US" sz="1900" dirty="0"/>
          </a:p>
        </p:txBody>
      </p:sp>
      <p:sp>
        <p:nvSpPr>
          <p:cNvPr id="19" name="Text 17"/>
          <p:cNvSpPr txBox="1"/>
          <p:nvPr/>
        </p:nvSpPr>
        <p:spPr>
          <a:xfrm>
            <a:off x="8193024" y="3319272"/>
            <a:ext cx="2926080" cy="713232"/>
          </a:xfrm>
          <a:prstGeom prst="rect">
            <a:avLst/>
          </a:prstGeom>
          <a:noFill/>
          <a:ln/>
        </p:spPr>
        <p:txBody>
          <a:bodyPr wrap="square" lIns="0" tIns="0" rIns="0" bIns="0" rtlCol="0" anchor="t"/>
          <a:lstStyle/>
          <a:p>
            <a:pPr algn="l" indent="0" marL="0">
              <a:lnSpc>
                <a:spcPct val="105000"/>
              </a:lnSpc>
              <a:buNone/>
            </a:pPr>
            <a:r>
              <a:rPr lang="en-US" sz="1500" dirty="0">
                <a:solidFill>
                  <a:srgbClr val="41566D"/>
                </a:solidFill>
                <a:latin typeface="Noto Sans" pitchFamily="34" charset="0"/>
                <a:ea typeface="Noto Sans" pitchFamily="34" charset="-122"/>
                <a:cs typeface="Noto Sans" pitchFamily="34" charset="-120"/>
              </a:rPr>
              <a:t>Recall trên tập biến thể đã định nghĩa</a:t>
            </a:r>
            <a:endParaRPr lang="en-US" sz="1500" dirty="0"/>
          </a:p>
        </p:txBody>
      </p:sp>
      <p:sp>
        <p:nvSpPr>
          <p:cNvPr id="20" name="Text 18"/>
          <p:cNvSpPr txBox="1"/>
          <p:nvPr/>
        </p:nvSpPr>
        <p:spPr>
          <a:xfrm>
            <a:off x="10835640" y="4123944"/>
            <a:ext cx="274320" cy="320040"/>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a:t>
            </a:r>
            <a:endParaRPr lang="en-US" sz="1900" dirty="0"/>
          </a:p>
        </p:txBody>
      </p:sp>
      <p:sp>
        <p:nvSpPr>
          <p:cNvPr id="21" name="Shape 19"/>
          <p:cNvSpPr/>
          <p:nvPr/>
        </p:nvSpPr>
        <p:spPr>
          <a:xfrm>
            <a:off x="1060704" y="4965192"/>
            <a:ext cx="10058400" cy="749808"/>
          </a:xfrm>
          <a:prstGeom prst="roundRect">
            <a:avLst>
              <a:gd name="adj" fmla="val 14634"/>
            </a:avLst>
          </a:prstGeom>
          <a:solidFill>
            <a:srgbClr val="0D263D"/>
          </a:solidFill>
          <a:ln w="8890">
            <a:solidFill>
              <a:srgbClr val="0D263D"/>
            </a:solidFill>
            <a:prstDash val="solid"/>
          </a:ln>
        </p:spPr>
      </p:sp>
      <p:sp>
        <p:nvSpPr>
          <p:cNvPr id="22" name="Text 20"/>
          <p:cNvSpPr txBox="1"/>
          <p:nvPr/>
        </p:nvSpPr>
        <p:spPr>
          <a:xfrm>
            <a:off x="1298448" y="5148072"/>
            <a:ext cx="9573768" cy="384048"/>
          </a:xfrm>
          <a:prstGeom prst="rect">
            <a:avLst/>
          </a:prstGeom>
          <a:noFill/>
          <a:ln/>
        </p:spPr>
        <p:txBody>
          <a:bodyPr wrap="square" lIns="0" tIns="0" rIns="0" bIns="0" rtlCol="0" anchor="ctr"/>
          <a:lstStyle/>
          <a:p>
            <a:pPr algn="l" indent="0" marL="0">
              <a:lnSpc>
                <a:spcPct val="105000"/>
              </a:lnSpc>
              <a:buNone/>
            </a:pPr>
            <a:r>
              <a:rPr lang="en-US" sz="1800" b="1" dirty="0">
                <a:solidFill>
                  <a:srgbClr val="FFFFFF"/>
                </a:solidFill>
                <a:latin typeface="Noto Sans" pitchFamily="34" charset="0"/>
                <a:ea typeface="Noto Sans" pitchFamily="34" charset="-122"/>
                <a:cs typeface="Noto Sans" pitchFamily="34" charset="-120"/>
              </a:rPr>
              <a:t>Cổng minh họa:   Coverage ≥ 90%     AND     FPR ≤ 5%     AND     Robustness ≥ 85%</a:t>
            </a:r>
            <a:endParaRPr lang="en-US" sz="1800" dirty="0"/>
          </a:p>
        </p:txBody>
      </p:sp>
      <p:sp>
        <p:nvSpPr>
          <p:cNvPr id="23" name="Text 21"/>
          <p:cNvSpPr txBox="1"/>
          <p:nvPr/>
        </p:nvSpPr>
        <p:spPr>
          <a:xfrm>
            <a:off x="1161288" y="5916168"/>
            <a:ext cx="9875520" cy="219456"/>
          </a:xfrm>
          <a:prstGeom prst="rect">
            <a:avLst/>
          </a:prstGeom>
          <a:noFill/>
          <a:ln/>
        </p:spPr>
        <p:txBody>
          <a:bodyPr wrap="square" lIns="0" tIns="0" rIns="0" bIns="0" rtlCol="0" anchor="ctr"/>
          <a:lstStyle/>
          <a:p>
            <a:pPr algn="l" indent="0" marL="0">
              <a:lnSpc>
                <a:spcPct val="105000"/>
              </a:lnSpc>
              <a:buNone/>
            </a:pPr>
            <a:r>
              <a:rPr lang="en-US" sz="1000" dirty="0">
                <a:solidFill>
                  <a:srgbClr val="667B8D"/>
                </a:solidFill>
                <a:latin typeface="Noto Sans" pitchFamily="34" charset="0"/>
                <a:ea typeface="Noto Sans" pitchFamily="34" charset="-122"/>
                <a:cs typeface="Noto Sans" pitchFamily="34" charset="-120"/>
              </a:rPr>
              <a:t>Ngưỡng là lựa chọn nghiên cứu, không phải chuẩn công nghiệp.</a:t>
            </a:r>
            <a:endParaRPr lang="en-US" sz="1000" dirty="0"/>
          </a:p>
        </p:txBody>
      </p:sp>
      <p:sp>
        <p:nvSpPr>
          <p:cNvPr id="24" name="Shape 22"/>
          <p:cNvSpPr/>
          <p:nvPr/>
        </p:nvSpPr>
        <p:spPr>
          <a:xfrm>
            <a:off x="658368" y="6492240"/>
            <a:ext cx="10875264" cy="0"/>
          </a:xfrm>
          <a:prstGeom prst="line">
            <a:avLst/>
          </a:prstGeom>
          <a:noFill/>
          <a:ln w="10160">
            <a:solidFill>
              <a:srgbClr val="D8E2EA"/>
            </a:solidFill>
            <a:prstDash val="solid"/>
          </a:ln>
        </p:spPr>
      </p:sp>
      <p:sp>
        <p:nvSpPr>
          <p:cNvPr id="25" name="Text 23"/>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26" name="Text 24"/>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Thực nghiệm</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Dữ liệu tổng hợp có tập giữ lại và tái lập được</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sp>
        <p:nvSpPr>
          <p:cNvPr id="6" name="Shape 4"/>
          <p:cNvSpPr/>
          <p:nvPr/>
        </p:nvSpPr>
        <p:spPr>
          <a:xfrm>
            <a:off x="777240" y="1755648"/>
            <a:ext cx="3355848" cy="1298448"/>
          </a:xfrm>
          <a:prstGeom prst="roundRect">
            <a:avLst>
              <a:gd name="adj" fmla="val 10563"/>
            </a:avLst>
          </a:prstGeom>
          <a:solidFill>
            <a:srgbClr val="F5F8FA"/>
          </a:solidFill>
          <a:ln w="8890">
            <a:solidFill>
              <a:srgbClr val="D8E2EA"/>
            </a:solidFill>
            <a:prstDash val="solid"/>
          </a:ln>
        </p:spPr>
      </p:sp>
      <p:sp>
        <p:nvSpPr>
          <p:cNvPr id="7" name="Text 5"/>
          <p:cNvSpPr txBox="1"/>
          <p:nvPr/>
        </p:nvSpPr>
        <p:spPr>
          <a:xfrm>
            <a:off x="960120" y="1938528"/>
            <a:ext cx="2990088" cy="502920"/>
          </a:xfrm>
          <a:prstGeom prst="rect">
            <a:avLst/>
          </a:prstGeom>
          <a:noFill/>
          <a:ln/>
        </p:spPr>
        <p:txBody>
          <a:bodyPr wrap="square" lIns="0" tIns="0" rIns="0" bIns="0" rtlCol="0" anchor="ctr"/>
          <a:lstStyle/>
          <a:p>
            <a:pPr algn="l" indent="0" marL="0">
              <a:lnSpc>
                <a:spcPct val="105000"/>
              </a:lnSpc>
              <a:buNone/>
            </a:pPr>
            <a:r>
              <a:rPr lang="en-US" sz="3100" b="1" dirty="0">
                <a:solidFill>
                  <a:srgbClr val="17334D"/>
                </a:solidFill>
                <a:latin typeface="Noto Sans" pitchFamily="34" charset="0"/>
                <a:ea typeface="Noto Sans" pitchFamily="34" charset="-122"/>
                <a:cs typeface="Noto Sans" pitchFamily="34" charset="-120"/>
              </a:rPr>
              <a:t>570</a:t>
            </a:r>
            <a:endParaRPr lang="en-US" sz="3100" dirty="0"/>
          </a:p>
        </p:txBody>
      </p:sp>
      <p:sp>
        <p:nvSpPr>
          <p:cNvPr id="8" name="Text 6"/>
          <p:cNvSpPr txBox="1"/>
          <p:nvPr/>
        </p:nvSpPr>
        <p:spPr>
          <a:xfrm>
            <a:off x="960120" y="2514600"/>
            <a:ext cx="2990088" cy="356616"/>
          </a:xfrm>
          <a:prstGeom prst="rect">
            <a:avLst/>
          </a:prstGeom>
          <a:noFill/>
          <a:ln/>
        </p:spPr>
        <p:txBody>
          <a:bodyPr wrap="square" lIns="0" tIns="0" rIns="0" bIns="0" rtlCol="0" anchor="ctr"/>
          <a:lstStyle/>
          <a:p>
            <a:pPr algn="l" indent="0" marL="0">
              <a:lnSpc>
                <a:spcPct val="105000"/>
              </a:lnSpc>
              <a:buNone/>
            </a:pPr>
            <a:r>
              <a:rPr lang="en-US" sz="1200" dirty="0">
                <a:solidFill>
                  <a:srgbClr val="41566D"/>
                </a:solidFill>
                <a:latin typeface="Noto Sans" pitchFamily="34" charset="0"/>
                <a:ea typeface="Noto Sans" pitchFamily="34" charset="-122"/>
                <a:cs typeface="Noto Sans" pitchFamily="34" charset="-120"/>
              </a:rPr>
              <a:t>tổng case trên tập test</a:t>
            </a:r>
            <a:endParaRPr lang="en-US" sz="1200" dirty="0"/>
          </a:p>
        </p:txBody>
      </p:sp>
      <p:sp>
        <p:nvSpPr>
          <p:cNvPr id="9" name="Shape 7"/>
          <p:cNvSpPr/>
          <p:nvPr/>
        </p:nvSpPr>
        <p:spPr>
          <a:xfrm>
            <a:off x="4407408" y="1755648"/>
            <a:ext cx="3346704" cy="1298448"/>
          </a:xfrm>
          <a:prstGeom prst="roundRect">
            <a:avLst>
              <a:gd name="adj" fmla="val 10563"/>
            </a:avLst>
          </a:prstGeom>
          <a:solidFill>
            <a:srgbClr val="F5F8FA"/>
          </a:solidFill>
          <a:ln w="8890">
            <a:solidFill>
              <a:srgbClr val="D8E2EA"/>
            </a:solidFill>
            <a:prstDash val="solid"/>
          </a:ln>
        </p:spPr>
      </p:sp>
      <p:sp>
        <p:nvSpPr>
          <p:cNvPr id="10" name="Text 8"/>
          <p:cNvSpPr txBox="1"/>
          <p:nvPr/>
        </p:nvSpPr>
        <p:spPr>
          <a:xfrm>
            <a:off x="4590288" y="1938528"/>
            <a:ext cx="2980944" cy="502920"/>
          </a:xfrm>
          <a:prstGeom prst="rect">
            <a:avLst/>
          </a:prstGeom>
          <a:noFill/>
          <a:ln/>
        </p:spPr>
        <p:txBody>
          <a:bodyPr wrap="square" lIns="0" tIns="0" rIns="0" bIns="0" rtlCol="0" anchor="ctr"/>
          <a:lstStyle/>
          <a:p>
            <a:pPr algn="l" indent="0" marL="0">
              <a:lnSpc>
                <a:spcPct val="105000"/>
              </a:lnSpc>
              <a:buNone/>
            </a:pPr>
            <a:r>
              <a:rPr lang="en-US" sz="3100" b="1" dirty="0">
                <a:solidFill>
                  <a:srgbClr val="159A95"/>
                </a:solidFill>
                <a:latin typeface="Noto Sans" pitchFamily="34" charset="0"/>
                <a:ea typeface="Noto Sans" pitchFamily="34" charset="-122"/>
                <a:cs typeface="Noto Sans" pitchFamily="34" charset="-120"/>
              </a:rPr>
              <a:t>450</a:t>
            </a:r>
            <a:endParaRPr lang="en-US" sz="3100" dirty="0"/>
          </a:p>
        </p:txBody>
      </p:sp>
      <p:sp>
        <p:nvSpPr>
          <p:cNvPr id="11" name="Text 9"/>
          <p:cNvSpPr txBox="1"/>
          <p:nvPr/>
        </p:nvSpPr>
        <p:spPr>
          <a:xfrm>
            <a:off x="4590288" y="2514600"/>
            <a:ext cx="2980944" cy="356616"/>
          </a:xfrm>
          <a:prstGeom prst="rect">
            <a:avLst/>
          </a:prstGeom>
          <a:noFill/>
          <a:ln/>
        </p:spPr>
        <p:txBody>
          <a:bodyPr wrap="square" lIns="0" tIns="0" rIns="0" bIns="0" rtlCol="0" anchor="ctr"/>
          <a:lstStyle/>
          <a:p>
            <a:pPr algn="l" indent="0" marL="0">
              <a:lnSpc>
                <a:spcPct val="105000"/>
              </a:lnSpc>
              <a:buNone/>
            </a:pPr>
            <a:r>
              <a:rPr lang="en-US" sz="1200" dirty="0">
                <a:solidFill>
                  <a:srgbClr val="41566D"/>
                </a:solidFill>
                <a:latin typeface="Noto Sans" pitchFamily="34" charset="0"/>
                <a:ea typeface="Noto Sans" pitchFamily="34" charset="-122"/>
                <a:cs typeface="Noto Sans" pitchFamily="34" charset="-120"/>
              </a:rPr>
              <a:t>case dấu hiệu tấn công</a:t>
            </a:r>
            <a:endParaRPr lang="en-US" sz="1200" dirty="0"/>
          </a:p>
        </p:txBody>
      </p:sp>
      <p:sp>
        <p:nvSpPr>
          <p:cNvPr id="12" name="Shape 10"/>
          <p:cNvSpPr/>
          <p:nvPr/>
        </p:nvSpPr>
        <p:spPr>
          <a:xfrm>
            <a:off x="8055864" y="1755648"/>
            <a:ext cx="3346704" cy="1298448"/>
          </a:xfrm>
          <a:prstGeom prst="roundRect">
            <a:avLst>
              <a:gd name="adj" fmla="val 10563"/>
            </a:avLst>
          </a:prstGeom>
          <a:solidFill>
            <a:srgbClr val="F5F8FA"/>
          </a:solidFill>
          <a:ln w="8890">
            <a:solidFill>
              <a:srgbClr val="D8E2EA"/>
            </a:solidFill>
            <a:prstDash val="solid"/>
          </a:ln>
        </p:spPr>
      </p:sp>
      <p:sp>
        <p:nvSpPr>
          <p:cNvPr id="13" name="Text 11"/>
          <p:cNvSpPr txBox="1"/>
          <p:nvPr/>
        </p:nvSpPr>
        <p:spPr>
          <a:xfrm>
            <a:off x="8238744" y="1938528"/>
            <a:ext cx="2980944" cy="502920"/>
          </a:xfrm>
          <a:prstGeom prst="rect">
            <a:avLst/>
          </a:prstGeom>
          <a:noFill/>
          <a:ln/>
        </p:spPr>
        <p:txBody>
          <a:bodyPr wrap="square" lIns="0" tIns="0" rIns="0" bIns="0" rtlCol="0" anchor="ctr"/>
          <a:lstStyle/>
          <a:p>
            <a:pPr algn="l" indent="0" marL="0">
              <a:lnSpc>
                <a:spcPct val="105000"/>
              </a:lnSpc>
              <a:buNone/>
            </a:pPr>
            <a:r>
              <a:rPr lang="en-US" sz="3100" b="1" dirty="0">
                <a:solidFill>
                  <a:srgbClr val="E9954C"/>
                </a:solidFill>
                <a:latin typeface="Noto Sans" pitchFamily="34" charset="0"/>
                <a:ea typeface="Noto Sans" pitchFamily="34" charset="-122"/>
                <a:cs typeface="Noto Sans" pitchFamily="34" charset="-120"/>
              </a:rPr>
              <a:t>120</a:t>
            </a:r>
            <a:endParaRPr lang="en-US" sz="3100" dirty="0"/>
          </a:p>
        </p:txBody>
      </p:sp>
      <p:sp>
        <p:nvSpPr>
          <p:cNvPr id="14" name="Text 12"/>
          <p:cNvSpPr txBox="1"/>
          <p:nvPr/>
        </p:nvSpPr>
        <p:spPr>
          <a:xfrm>
            <a:off x="8238744" y="2514600"/>
            <a:ext cx="2980944" cy="356616"/>
          </a:xfrm>
          <a:prstGeom prst="rect">
            <a:avLst/>
          </a:prstGeom>
          <a:noFill/>
          <a:ln/>
        </p:spPr>
        <p:txBody>
          <a:bodyPr wrap="square" lIns="0" tIns="0" rIns="0" bIns="0" rtlCol="0" anchor="ctr"/>
          <a:lstStyle/>
          <a:p>
            <a:pPr algn="l" indent="0" marL="0">
              <a:lnSpc>
                <a:spcPct val="105000"/>
              </a:lnSpc>
              <a:buNone/>
            </a:pPr>
            <a:r>
              <a:rPr lang="en-US" sz="1200" dirty="0">
                <a:solidFill>
                  <a:srgbClr val="41566D"/>
                </a:solidFill>
                <a:latin typeface="Noto Sans" pitchFamily="34" charset="0"/>
                <a:ea typeface="Noto Sans" pitchFamily="34" charset="-122"/>
                <a:cs typeface="Noto Sans" pitchFamily="34" charset="-120"/>
              </a:rPr>
              <a:t>case benign: 60 thường + 60 khó</a:t>
            </a:r>
            <a:endParaRPr lang="en-US" sz="1200" dirty="0"/>
          </a:p>
        </p:txBody>
      </p:sp>
      <p:sp>
        <p:nvSpPr>
          <p:cNvPr id="15" name="Text 13"/>
          <p:cNvSpPr txBox="1"/>
          <p:nvPr/>
        </p:nvSpPr>
        <p:spPr>
          <a:xfrm>
            <a:off x="822960" y="3429000"/>
            <a:ext cx="4480560" cy="329184"/>
          </a:xfrm>
          <a:prstGeom prst="rect">
            <a:avLst/>
          </a:prstGeom>
          <a:noFill/>
          <a:ln/>
        </p:spPr>
        <p:txBody>
          <a:bodyPr wrap="square" lIns="0" tIns="0" rIns="0" bIns="0" rtlCol="0" anchor="ctr"/>
          <a:lstStyle/>
          <a:p>
            <a:pPr algn="l" indent="0" marL="0">
              <a:lnSpc>
                <a:spcPct val="105000"/>
              </a:lnSpc>
              <a:buNone/>
            </a:pPr>
            <a:r>
              <a:rPr lang="en-US" sz="2100" b="1" dirty="0">
                <a:solidFill>
                  <a:srgbClr val="17334D"/>
                </a:solidFill>
                <a:latin typeface="Noto Sans" pitchFamily="34" charset="0"/>
                <a:ea typeface="Noto Sans" pitchFamily="34" charset="-122"/>
                <a:cs typeface="Noto Sans" pitchFamily="34" charset="-120"/>
              </a:rPr>
              <a:t>Thiết kế attack-case</a:t>
            </a:r>
            <a:endParaRPr lang="en-US" sz="2100" dirty="0"/>
          </a:p>
        </p:txBody>
      </p:sp>
      <p:sp>
        <p:nvSpPr>
          <p:cNvPr id="16" name="Text 14"/>
          <p:cNvSpPr txBox="1"/>
          <p:nvPr/>
        </p:nvSpPr>
        <p:spPr>
          <a:xfrm>
            <a:off x="822960" y="3877056"/>
            <a:ext cx="10515600" cy="393192"/>
          </a:xfrm>
          <a:prstGeom prst="rect">
            <a:avLst/>
          </a:prstGeom>
          <a:noFill/>
          <a:ln/>
        </p:spPr>
        <p:txBody>
          <a:bodyPr wrap="square" lIns="0" tIns="0" rIns="0" bIns="0" rtlCol="0" anchor="ctr"/>
          <a:lstStyle/>
          <a:p>
            <a:pPr algn="l" indent="0" marL="0">
              <a:lnSpc>
                <a:spcPct val="105000"/>
              </a:lnSpc>
              <a:buNone/>
            </a:pPr>
            <a:r>
              <a:rPr lang="en-US" sz="1900" dirty="0">
                <a:solidFill>
                  <a:srgbClr val="41566D"/>
                </a:solidFill>
                <a:latin typeface="Noto Sans" pitchFamily="34" charset="0"/>
                <a:ea typeface="Noto Sans" pitchFamily="34" charset="-122"/>
                <a:cs typeface="Noto Sans" pitchFamily="34" charset="-120"/>
              </a:rPr>
              <a:t>3 CWE × 5 template × 6 ID giữ lại × 5 biến thể = 450</a:t>
            </a:r>
            <a:endParaRPr lang="en-US" sz="1900" dirty="0"/>
          </a:p>
        </p:txBody>
      </p:sp>
      <p:sp>
        <p:nvSpPr>
          <p:cNvPr id="17" name="Shape 15"/>
          <p:cNvSpPr/>
          <p:nvPr/>
        </p:nvSpPr>
        <p:spPr>
          <a:xfrm>
            <a:off x="841248" y="4517136"/>
            <a:ext cx="3255264" cy="448056"/>
          </a:xfrm>
          <a:prstGeom prst="roundRect">
            <a:avLst>
              <a:gd name="adj" fmla="val 24490"/>
            </a:avLst>
          </a:prstGeom>
          <a:solidFill>
            <a:srgbClr val="EAF1F6"/>
          </a:solidFill>
          <a:ln w="8890">
            <a:solidFill>
              <a:srgbClr val="EAF1F6"/>
            </a:solidFill>
            <a:prstDash val="solid"/>
          </a:ln>
        </p:spPr>
      </p:sp>
      <p:sp>
        <p:nvSpPr>
          <p:cNvPr id="18" name="Text 16"/>
          <p:cNvSpPr txBox="1"/>
          <p:nvPr/>
        </p:nvSpPr>
        <p:spPr>
          <a:xfrm>
            <a:off x="969264" y="4544568"/>
            <a:ext cx="2999232" cy="393192"/>
          </a:xfrm>
          <a:prstGeom prst="rect">
            <a:avLst/>
          </a:prstGeom>
          <a:noFill/>
          <a:ln/>
        </p:spPr>
        <p:txBody>
          <a:bodyPr wrap="square" lIns="0" tIns="0" rIns="0" bIns="0" rtlCol="0" anchor="ctr"/>
          <a:lstStyle/>
          <a:p>
            <a:pPr algn="l" indent="0" marL="0">
              <a:lnSpc>
                <a:spcPct val="105000"/>
              </a:lnSpc>
              <a:buNone/>
            </a:pPr>
            <a:r>
              <a:rPr lang="en-US" sz="1100" b="1" dirty="0">
                <a:solidFill>
                  <a:srgbClr val="17334D"/>
                </a:solidFill>
                <a:latin typeface="Noto Sans" pitchFamily="34" charset="0"/>
                <a:ea typeface="Noto Sans" pitchFamily="34" charset="-122"/>
                <a:cs typeface="Noto Sans" pitchFamily="34" charset="-120"/>
              </a:rPr>
              <a:t>CWE-89  ·  SQLi</a:t>
            </a:r>
            <a:endParaRPr lang="en-US" sz="1100" dirty="0"/>
          </a:p>
        </p:txBody>
      </p:sp>
      <p:sp>
        <p:nvSpPr>
          <p:cNvPr id="19" name="Shape 17"/>
          <p:cNvSpPr/>
          <p:nvPr/>
        </p:nvSpPr>
        <p:spPr>
          <a:xfrm>
            <a:off x="4498848" y="4517136"/>
            <a:ext cx="3255264" cy="448056"/>
          </a:xfrm>
          <a:prstGeom prst="roundRect">
            <a:avLst>
              <a:gd name="adj" fmla="val 24490"/>
            </a:avLst>
          </a:prstGeom>
          <a:solidFill>
            <a:srgbClr val="EAF1F6"/>
          </a:solidFill>
          <a:ln w="8890">
            <a:solidFill>
              <a:srgbClr val="EAF1F6"/>
            </a:solidFill>
            <a:prstDash val="solid"/>
          </a:ln>
        </p:spPr>
      </p:sp>
      <p:sp>
        <p:nvSpPr>
          <p:cNvPr id="20" name="Text 18"/>
          <p:cNvSpPr txBox="1"/>
          <p:nvPr/>
        </p:nvSpPr>
        <p:spPr>
          <a:xfrm>
            <a:off x="4626864" y="4544568"/>
            <a:ext cx="2999232" cy="393192"/>
          </a:xfrm>
          <a:prstGeom prst="rect">
            <a:avLst/>
          </a:prstGeom>
          <a:noFill/>
          <a:ln/>
        </p:spPr>
        <p:txBody>
          <a:bodyPr wrap="square" lIns="0" tIns="0" rIns="0" bIns="0" rtlCol="0" anchor="ctr"/>
          <a:lstStyle/>
          <a:p>
            <a:pPr algn="l" indent="0" marL="0">
              <a:lnSpc>
                <a:spcPct val="105000"/>
              </a:lnSpc>
              <a:buNone/>
            </a:pPr>
            <a:r>
              <a:rPr lang="en-US" sz="1100" b="1" dirty="0">
                <a:solidFill>
                  <a:srgbClr val="17334D"/>
                </a:solidFill>
                <a:latin typeface="Noto Sans" pitchFamily="34" charset="0"/>
                <a:ea typeface="Noto Sans" pitchFamily="34" charset="-122"/>
                <a:cs typeface="Noto Sans" pitchFamily="34" charset="-120"/>
              </a:rPr>
              <a:t>CWE-79  ·  XSS</a:t>
            </a:r>
            <a:endParaRPr lang="en-US" sz="1100" dirty="0"/>
          </a:p>
        </p:txBody>
      </p:sp>
      <p:sp>
        <p:nvSpPr>
          <p:cNvPr id="21" name="Shape 19"/>
          <p:cNvSpPr/>
          <p:nvPr/>
        </p:nvSpPr>
        <p:spPr>
          <a:xfrm>
            <a:off x="8156448" y="4517136"/>
            <a:ext cx="3255264" cy="448056"/>
          </a:xfrm>
          <a:prstGeom prst="roundRect">
            <a:avLst>
              <a:gd name="adj" fmla="val 24490"/>
            </a:avLst>
          </a:prstGeom>
          <a:solidFill>
            <a:srgbClr val="EAF1F6"/>
          </a:solidFill>
          <a:ln w="8890">
            <a:solidFill>
              <a:srgbClr val="EAF1F6"/>
            </a:solidFill>
            <a:prstDash val="solid"/>
          </a:ln>
        </p:spPr>
      </p:sp>
      <p:sp>
        <p:nvSpPr>
          <p:cNvPr id="22" name="Text 20"/>
          <p:cNvSpPr txBox="1"/>
          <p:nvPr/>
        </p:nvSpPr>
        <p:spPr>
          <a:xfrm>
            <a:off x="8284464" y="4544568"/>
            <a:ext cx="2999232" cy="393192"/>
          </a:xfrm>
          <a:prstGeom prst="rect">
            <a:avLst/>
          </a:prstGeom>
          <a:noFill/>
          <a:ln/>
        </p:spPr>
        <p:txBody>
          <a:bodyPr wrap="square" lIns="0" tIns="0" rIns="0" bIns="0" rtlCol="0" anchor="ctr"/>
          <a:lstStyle/>
          <a:p>
            <a:pPr algn="l" indent="0" marL="0">
              <a:lnSpc>
                <a:spcPct val="105000"/>
              </a:lnSpc>
              <a:buNone/>
            </a:pPr>
            <a:r>
              <a:rPr lang="en-US" sz="1100" b="1" dirty="0">
                <a:solidFill>
                  <a:srgbClr val="17334D"/>
                </a:solidFill>
                <a:latin typeface="Noto Sans" pitchFamily="34" charset="0"/>
                <a:ea typeface="Noto Sans" pitchFamily="34" charset="-122"/>
                <a:cs typeface="Noto Sans" pitchFamily="34" charset="-120"/>
              </a:rPr>
              <a:t>CWE-22  ·  Traversal</a:t>
            </a:r>
            <a:endParaRPr lang="en-US" sz="1100" dirty="0"/>
          </a:p>
        </p:txBody>
      </p:sp>
      <p:sp>
        <p:nvSpPr>
          <p:cNvPr id="23" name="Text 21"/>
          <p:cNvSpPr txBox="1"/>
          <p:nvPr/>
        </p:nvSpPr>
        <p:spPr>
          <a:xfrm>
            <a:off x="850392" y="5486400"/>
            <a:ext cx="10424160" cy="347472"/>
          </a:xfrm>
          <a:prstGeom prst="rect">
            <a:avLst/>
          </a:prstGeom>
          <a:noFill/>
          <a:ln/>
        </p:spPr>
        <p:txBody>
          <a:bodyPr wrap="square" lIns="0" tIns="0" rIns="0" bIns="0" rtlCol="0" anchor="ctr"/>
          <a:lstStyle/>
          <a:p>
            <a:pPr algn="l" indent="0" marL="0">
              <a:lnSpc>
                <a:spcPct val="105000"/>
              </a:lnSpc>
              <a:buNone/>
            </a:pPr>
            <a:r>
              <a:rPr lang="en-US" sz="1700" b="1" dirty="0">
                <a:solidFill>
                  <a:srgbClr val="159A95"/>
                </a:solidFill>
                <a:latin typeface="Noto Sans" pitchFamily="34" charset="0"/>
                <a:ea typeface="Noto Sans" pitchFamily="34" charset="-122"/>
                <a:cs typeface="Noto Sans" pitchFamily="34" charset="-120"/>
              </a:rPr>
              <a:t>Không mạng · Không khai thác thật · Không gọi LLM · Python standard library</a:t>
            </a:r>
            <a:endParaRPr lang="en-US" sz="1700" dirty="0"/>
          </a:p>
        </p:txBody>
      </p:sp>
      <p:sp>
        <p:nvSpPr>
          <p:cNvPr id="24" name="Shape 22"/>
          <p:cNvSpPr/>
          <p:nvPr/>
        </p:nvSpPr>
        <p:spPr>
          <a:xfrm>
            <a:off x="658368" y="6492240"/>
            <a:ext cx="10875264" cy="0"/>
          </a:xfrm>
          <a:prstGeom prst="line">
            <a:avLst/>
          </a:prstGeom>
          <a:noFill/>
          <a:ln w="10160">
            <a:solidFill>
              <a:srgbClr val="D8E2EA"/>
            </a:solidFill>
            <a:prstDash val="solid"/>
          </a:ln>
        </p:spPr>
      </p:sp>
      <p:sp>
        <p:nvSpPr>
          <p:cNvPr id="25" name="Text 23"/>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26" name="Text 24"/>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Thiết kế đối chứng</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Ba chiến lược, một tập test, cùng nhãn</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sp>
        <p:nvSpPr>
          <p:cNvPr id="6" name="Shape 4"/>
          <p:cNvSpPr/>
          <p:nvPr/>
        </p:nvSpPr>
        <p:spPr>
          <a:xfrm>
            <a:off x="786384" y="1755648"/>
            <a:ext cx="10616184" cy="1051560"/>
          </a:xfrm>
          <a:prstGeom prst="roundRect">
            <a:avLst>
              <a:gd name="adj" fmla="val 10435"/>
            </a:avLst>
          </a:prstGeom>
          <a:solidFill>
            <a:srgbClr val="EAF1F6"/>
          </a:solidFill>
          <a:ln w="8890">
            <a:solidFill>
              <a:srgbClr val="EAF1F6"/>
            </a:solidFill>
            <a:prstDash val="solid"/>
          </a:ln>
        </p:spPr>
      </p:sp>
      <p:sp>
        <p:nvSpPr>
          <p:cNvPr id="7" name="Text 5"/>
          <p:cNvSpPr txBox="1"/>
          <p:nvPr/>
        </p:nvSpPr>
        <p:spPr>
          <a:xfrm>
            <a:off x="1051560" y="1993392"/>
            <a:ext cx="777240" cy="548640"/>
          </a:xfrm>
          <a:prstGeom prst="rect">
            <a:avLst/>
          </a:prstGeom>
          <a:noFill/>
          <a:ln/>
        </p:spPr>
        <p:txBody>
          <a:bodyPr wrap="square" lIns="0" tIns="0" rIns="0" bIns="0" rtlCol="0" anchor="ctr"/>
          <a:lstStyle/>
          <a:p>
            <a:pPr algn="l" indent="0" marL="0">
              <a:lnSpc>
                <a:spcPct val="105000"/>
              </a:lnSpc>
              <a:buNone/>
            </a:pPr>
            <a:r>
              <a:rPr lang="en-US" sz="2600" b="1" dirty="0">
                <a:solidFill>
                  <a:srgbClr val="159A95"/>
                </a:solidFill>
                <a:latin typeface="Noto Sans" pitchFamily="34" charset="0"/>
                <a:ea typeface="Noto Sans" pitchFamily="34" charset="-122"/>
                <a:cs typeface="Noto Sans" pitchFamily="34" charset="-120"/>
              </a:rPr>
              <a:t>01</a:t>
            </a:r>
            <a:endParaRPr lang="en-US" sz="2600" dirty="0"/>
          </a:p>
        </p:txBody>
      </p:sp>
      <p:sp>
        <p:nvSpPr>
          <p:cNvPr id="8" name="Text 6"/>
          <p:cNvSpPr txBox="1"/>
          <p:nvPr/>
        </p:nvSpPr>
        <p:spPr>
          <a:xfrm>
            <a:off x="2002536" y="1929384"/>
            <a:ext cx="3703320" cy="356616"/>
          </a:xfrm>
          <a:prstGeom prst="rect">
            <a:avLst/>
          </a:prstGeom>
          <a:noFill/>
          <a:ln/>
        </p:spPr>
        <p:txBody>
          <a:bodyPr wrap="square" lIns="0" tIns="0" rIns="0" bIns="0" rtlCol="0" anchor="ctr"/>
          <a:lstStyle/>
          <a:p>
            <a:pPr algn="l" indent="0" marL="0">
              <a:lnSpc>
                <a:spcPct val="105000"/>
              </a:lnSpc>
              <a:buNone/>
            </a:pPr>
            <a:r>
              <a:rPr lang="en-US" sz="2000" b="1" dirty="0">
                <a:solidFill>
                  <a:srgbClr val="17334D"/>
                </a:solidFill>
                <a:latin typeface="Noto Sans" pitchFamily="34" charset="0"/>
                <a:ea typeface="Noto Sans" pitchFamily="34" charset="-122"/>
                <a:cs typeface="Noto Sans" pitchFamily="34" charset="-120"/>
              </a:rPr>
              <a:t>Raw signature</a:t>
            </a:r>
            <a:endParaRPr lang="en-US" sz="2000" dirty="0"/>
          </a:p>
        </p:txBody>
      </p:sp>
      <p:sp>
        <p:nvSpPr>
          <p:cNvPr id="9" name="Text 7"/>
          <p:cNvSpPr txBox="1"/>
          <p:nvPr/>
        </p:nvSpPr>
        <p:spPr>
          <a:xfrm>
            <a:off x="5779008" y="1929384"/>
            <a:ext cx="5120640" cy="621792"/>
          </a:xfrm>
          <a:prstGeom prst="rect">
            <a:avLst/>
          </a:prstGeom>
          <a:noFill/>
          <a:ln/>
        </p:spPr>
        <p:txBody>
          <a:bodyPr wrap="square" lIns="0" tIns="0" rIns="0" bIns="0" rtlCol="0" anchor="ctr"/>
          <a:lstStyle/>
          <a:p>
            <a:pPr algn="l" indent="0" marL="0">
              <a:lnSpc>
                <a:spcPct val="105000"/>
              </a:lnSpc>
              <a:buNone/>
            </a:pPr>
            <a:r>
              <a:rPr lang="en-US" sz="1700" dirty="0">
                <a:solidFill>
                  <a:srgbClr val="41566D"/>
                </a:solidFill>
                <a:latin typeface="Noto Sans" pitchFamily="34" charset="0"/>
                <a:ea typeface="Noto Sans" pitchFamily="34" charset="-122"/>
                <a:cs typeface="Noto Sans" pitchFamily="34" charset="-120"/>
              </a:rPr>
              <a:t>Regex kiểm tra chuỗi gốc</a:t>
            </a:r>
            <a:endParaRPr lang="en-US" sz="1700" dirty="0"/>
          </a:p>
        </p:txBody>
      </p:sp>
      <p:sp>
        <p:nvSpPr>
          <p:cNvPr id="10" name="Shape 8"/>
          <p:cNvSpPr/>
          <p:nvPr/>
        </p:nvSpPr>
        <p:spPr>
          <a:xfrm>
            <a:off x="786384" y="3044952"/>
            <a:ext cx="10616184" cy="1051560"/>
          </a:xfrm>
          <a:prstGeom prst="roundRect">
            <a:avLst>
              <a:gd name="adj" fmla="val 10435"/>
            </a:avLst>
          </a:prstGeom>
          <a:solidFill>
            <a:srgbClr val="EAF8F6"/>
          </a:solidFill>
          <a:ln w="8890">
            <a:solidFill>
              <a:srgbClr val="EAF8F6"/>
            </a:solidFill>
            <a:prstDash val="solid"/>
          </a:ln>
        </p:spPr>
      </p:sp>
      <p:sp>
        <p:nvSpPr>
          <p:cNvPr id="11" name="Text 9"/>
          <p:cNvSpPr txBox="1"/>
          <p:nvPr/>
        </p:nvSpPr>
        <p:spPr>
          <a:xfrm>
            <a:off x="1051560" y="3282696"/>
            <a:ext cx="777240" cy="548640"/>
          </a:xfrm>
          <a:prstGeom prst="rect">
            <a:avLst/>
          </a:prstGeom>
          <a:noFill/>
          <a:ln/>
        </p:spPr>
        <p:txBody>
          <a:bodyPr wrap="square" lIns="0" tIns="0" rIns="0" bIns="0" rtlCol="0" anchor="ctr"/>
          <a:lstStyle/>
          <a:p>
            <a:pPr algn="l" indent="0" marL="0">
              <a:lnSpc>
                <a:spcPct val="105000"/>
              </a:lnSpc>
              <a:buNone/>
            </a:pPr>
            <a:r>
              <a:rPr lang="en-US" sz="2600" b="1" dirty="0">
                <a:solidFill>
                  <a:srgbClr val="159A95"/>
                </a:solidFill>
                <a:latin typeface="Noto Sans" pitchFamily="34" charset="0"/>
                <a:ea typeface="Noto Sans" pitchFamily="34" charset="-122"/>
                <a:cs typeface="Noto Sans" pitchFamily="34" charset="-120"/>
              </a:rPr>
              <a:t>02</a:t>
            </a:r>
            <a:endParaRPr lang="en-US" sz="2600" dirty="0"/>
          </a:p>
        </p:txBody>
      </p:sp>
      <p:sp>
        <p:nvSpPr>
          <p:cNvPr id="12" name="Text 10"/>
          <p:cNvSpPr txBox="1"/>
          <p:nvPr/>
        </p:nvSpPr>
        <p:spPr>
          <a:xfrm>
            <a:off x="2002536" y="3218688"/>
            <a:ext cx="3703320" cy="356616"/>
          </a:xfrm>
          <a:prstGeom prst="rect">
            <a:avLst/>
          </a:prstGeom>
          <a:noFill/>
          <a:ln/>
        </p:spPr>
        <p:txBody>
          <a:bodyPr wrap="square" lIns="0" tIns="0" rIns="0" bIns="0" rtlCol="0" anchor="ctr"/>
          <a:lstStyle/>
          <a:p>
            <a:pPr algn="l" indent="0" marL="0">
              <a:lnSpc>
                <a:spcPct val="105000"/>
              </a:lnSpc>
              <a:buNone/>
            </a:pPr>
            <a:r>
              <a:rPr lang="en-US" sz="2000" b="1" dirty="0">
                <a:solidFill>
                  <a:srgbClr val="17334D"/>
                </a:solidFill>
                <a:latin typeface="Noto Sans" pitchFamily="34" charset="0"/>
                <a:ea typeface="Noto Sans" pitchFamily="34" charset="-122"/>
                <a:cs typeface="Noto Sans" pitchFamily="34" charset="-120"/>
              </a:rPr>
              <a:t>Canonical signature</a:t>
            </a:r>
            <a:endParaRPr lang="en-US" sz="2000" dirty="0"/>
          </a:p>
        </p:txBody>
      </p:sp>
      <p:sp>
        <p:nvSpPr>
          <p:cNvPr id="13" name="Text 11"/>
          <p:cNvSpPr txBox="1"/>
          <p:nvPr/>
        </p:nvSpPr>
        <p:spPr>
          <a:xfrm>
            <a:off x="5779008" y="3218688"/>
            <a:ext cx="5120640" cy="621792"/>
          </a:xfrm>
          <a:prstGeom prst="rect">
            <a:avLst/>
          </a:prstGeom>
          <a:noFill/>
          <a:ln/>
        </p:spPr>
        <p:txBody>
          <a:bodyPr wrap="square" lIns="0" tIns="0" rIns="0" bIns="0" rtlCol="0" anchor="ctr"/>
          <a:lstStyle/>
          <a:p>
            <a:pPr algn="l" indent="0" marL="0">
              <a:lnSpc>
                <a:spcPct val="105000"/>
              </a:lnSpc>
              <a:buNone/>
            </a:pPr>
            <a:r>
              <a:rPr lang="en-US" sz="1700" dirty="0">
                <a:solidFill>
                  <a:srgbClr val="41566D"/>
                </a:solidFill>
                <a:latin typeface="Noto Sans" pitchFamily="34" charset="0"/>
                <a:ea typeface="Noto Sans" pitchFamily="34" charset="-122"/>
                <a:cs typeface="Noto Sans" pitchFamily="34" charset="-120"/>
              </a:rPr>
              <a:t>URL/HTML decode có giới hạn + regex</a:t>
            </a:r>
            <a:endParaRPr lang="en-US" sz="1700" dirty="0"/>
          </a:p>
        </p:txBody>
      </p:sp>
      <p:sp>
        <p:nvSpPr>
          <p:cNvPr id="14" name="Shape 12"/>
          <p:cNvSpPr/>
          <p:nvPr/>
        </p:nvSpPr>
        <p:spPr>
          <a:xfrm>
            <a:off x="786384" y="4334256"/>
            <a:ext cx="10616184" cy="1051560"/>
          </a:xfrm>
          <a:prstGeom prst="roundRect">
            <a:avLst>
              <a:gd name="adj" fmla="val 10435"/>
            </a:avLst>
          </a:prstGeom>
          <a:solidFill>
            <a:srgbClr val="FFF4E9"/>
          </a:solidFill>
          <a:ln w="8890">
            <a:solidFill>
              <a:srgbClr val="FFF4E9"/>
            </a:solidFill>
            <a:prstDash val="solid"/>
          </a:ln>
        </p:spPr>
      </p:sp>
      <p:sp>
        <p:nvSpPr>
          <p:cNvPr id="15" name="Text 13"/>
          <p:cNvSpPr txBox="1"/>
          <p:nvPr/>
        </p:nvSpPr>
        <p:spPr>
          <a:xfrm>
            <a:off x="1051560" y="4572000"/>
            <a:ext cx="777240" cy="548640"/>
          </a:xfrm>
          <a:prstGeom prst="rect">
            <a:avLst/>
          </a:prstGeom>
          <a:noFill/>
          <a:ln/>
        </p:spPr>
        <p:txBody>
          <a:bodyPr wrap="square" lIns="0" tIns="0" rIns="0" bIns="0" rtlCol="0" anchor="ctr"/>
          <a:lstStyle/>
          <a:p>
            <a:pPr algn="l" indent="0" marL="0">
              <a:lnSpc>
                <a:spcPct val="105000"/>
              </a:lnSpc>
              <a:buNone/>
            </a:pPr>
            <a:r>
              <a:rPr lang="en-US" sz="2600" b="1" dirty="0">
                <a:solidFill>
                  <a:srgbClr val="159A95"/>
                </a:solidFill>
                <a:latin typeface="Noto Sans" pitchFamily="34" charset="0"/>
                <a:ea typeface="Noto Sans" pitchFamily="34" charset="-122"/>
                <a:cs typeface="Noto Sans" pitchFamily="34" charset="-120"/>
              </a:rPr>
              <a:t>03</a:t>
            </a:r>
            <a:endParaRPr lang="en-US" sz="2600" dirty="0"/>
          </a:p>
        </p:txBody>
      </p:sp>
      <p:sp>
        <p:nvSpPr>
          <p:cNvPr id="16" name="Text 14"/>
          <p:cNvSpPr txBox="1"/>
          <p:nvPr/>
        </p:nvSpPr>
        <p:spPr>
          <a:xfrm>
            <a:off x="2002536" y="4507992"/>
            <a:ext cx="3703320" cy="356616"/>
          </a:xfrm>
          <a:prstGeom prst="rect">
            <a:avLst/>
          </a:prstGeom>
          <a:noFill/>
          <a:ln/>
        </p:spPr>
        <p:txBody>
          <a:bodyPr wrap="square" lIns="0" tIns="0" rIns="0" bIns="0" rtlCol="0" anchor="ctr"/>
          <a:lstStyle/>
          <a:p>
            <a:pPr algn="l" indent="0" marL="0">
              <a:lnSpc>
                <a:spcPct val="105000"/>
              </a:lnSpc>
              <a:buNone/>
            </a:pPr>
            <a:r>
              <a:rPr lang="en-US" sz="2000" b="1" dirty="0">
                <a:solidFill>
                  <a:srgbClr val="17334D"/>
                </a:solidFill>
                <a:latin typeface="Noto Sans" pitchFamily="34" charset="0"/>
                <a:ea typeface="Noto Sans" pitchFamily="34" charset="-122"/>
                <a:cs typeface="Noto Sans" pitchFamily="34" charset="-120"/>
              </a:rPr>
              <a:t>TRACE-Policy</a:t>
            </a:r>
            <a:endParaRPr lang="en-US" sz="2000" dirty="0"/>
          </a:p>
        </p:txBody>
      </p:sp>
      <p:sp>
        <p:nvSpPr>
          <p:cNvPr id="17" name="Text 15"/>
          <p:cNvSpPr txBox="1"/>
          <p:nvPr/>
        </p:nvSpPr>
        <p:spPr>
          <a:xfrm>
            <a:off x="5779008" y="4507992"/>
            <a:ext cx="5120640" cy="621792"/>
          </a:xfrm>
          <a:prstGeom prst="rect">
            <a:avLst/>
          </a:prstGeom>
          <a:noFill/>
          <a:ln/>
        </p:spPr>
        <p:txBody>
          <a:bodyPr wrap="square" lIns="0" tIns="0" rIns="0" bIns="0" rtlCol="0" anchor="ctr"/>
          <a:lstStyle/>
          <a:p>
            <a:pPr algn="l" indent="0" marL="0">
              <a:lnSpc>
                <a:spcPct val="105000"/>
              </a:lnSpc>
              <a:buNone/>
            </a:pPr>
            <a:r>
              <a:rPr lang="en-US" sz="1700" dirty="0">
                <a:solidFill>
                  <a:srgbClr val="41566D"/>
                </a:solidFill>
                <a:latin typeface="Noto Sans" pitchFamily="34" charset="0"/>
                <a:ea typeface="Noto Sans" pitchFamily="34" charset="-122"/>
                <a:cs typeface="Noto Sans" pitchFamily="34" charset="-120"/>
              </a:rPr>
              <a:t>Giải mã + tuyến tin cậy + rule có ngữ cảnh</a:t>
            </a:r>
            <a:endParaRPr lang="en-US" sz="1700" dirty="0"/>
          </a:p>
        </p:txBody>
      </p:sp>
      <p:sp>
        <p:nvSpPr>
          <p:cNvPr id="18" name="Text 16"/>
          <p:cNvSpPr txBox="1"/>
          <p:nvPr/>
        </p:nvSpPr>
        <p:spPr>
          <a:xfrm>
            <a:off x="859536" y="5852160"/>
            <a:ext cx="10424160" cy="301752"/>
          </a:xfrm>
          <a:prstGeom prst="rect">
            <a:avLst/>
          </a:prstGeom>
          <a:noFill/>
          <a:ln/>
        </p:spPr>
        <p:txBody>
          <a:bodyPr wrap="square" lIns="0" tIns="0" rIns="0" bIns="0" rtlCol="0" anchor="ctr"/>
          <a:lstStyle/>
          <a:p>
            <a:pPr algn="l" indent="0" marL="0">
              <a:lnSpc>
                <a:spcPct val="105000"/>
              </a:lnSpc>
              <a:buNone/>
            </a:pPr>
            <a:r>
              <a:rPr lang="en-US" sz="1400" dirty="0">
                <a:solidFill>
                  <a:srgbClr val="667B8D"/>
                </a:solidFill>
                <a:latin typeface="Noto Sans" pitchFamily="34" charset="0"/>
                <a:ea typeface="Noto Sans" pitchFamily="34" charset="-122"/>
                <a:cs typeface="Noto Sans" pitchFamily="34" charset="-120"/>
              </a:rPr>
              <a:t>Lưu ý: đây là bộ phân loại mô phỏng, không phải cấu hình OWASP CRS.</a:t>
            </a:r>
            <a:endParaRPr lang="en-US" sz="1400" dirty="0"/>
          </a:p>
        </p:txBody>
      </p:sp>
      <p:sp>
        <p:nvSpPr>
          <p:cNvPr id="19" name="Shape 17"/>
          <p:cNvSpPr/>
          <p:nvPr/>
        </p:nvSpPr>
        <p:spPr>
          <a:xfrm>
            <a:off x="658368" y="6492240"/>
            <a:ext cx="10875264" cy="0"/>
          </a:xfrm>
          <a:prstGeom prst="line">
            <a:avLst/>
          </a:prstGeom>
          <a:noFill/>
          <a:ln w="10160">
            <a:solidFill>
              <a:srgbClr val="D8E2EA"/>
            </a:solidFill>
            <a:prstDash val="solid"/>
          </a:ln>
        </p:spPr>
      </p:sp>
      <p:sp>
        <p:nvSpPr>
          <p:cNvPr id="20" name="Text 18"/>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21" name="Text 19"/>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Kết quả</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Chuẩn hóa cải thiện coverage — nhưng trade-off FPR còn lớn</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pic>
        <p:nvPicPr>
          <p:cNvPr id="6" name="Image 0" descr="/mnt/data/WAF_TRACE_research/assets/metrics.png">    </p:cNvPr>
          <p:cNvPicPr>
            <a:picLocks noChangeAspect="1"/>
          </p:cNvPicPr>
          <p:nvPr/>
        </p:nvPicPr>
        <p:blipFill>
          <a:blip r:embed="rId1"/>
          <a:stretch>
            <a:fillRect/>
          </a:stretch>
        </p:blipFill>
        <p:spPr>
          <a:xfrm>
            <a:off x="649224" y="2056788"/>
            <a:ext cx="8549640" cy="3238201"/>
          </a:xfrm>
          <a:prstGeom prst="rect">
            <a:avLst/>
          </a:prstGeom>
        </p:spPr>
      </p:pic>
      <p:sp>
        <p:nvSpPr>
          <p:cNvPr id="7" name="Shape 4"/>
          <p:cNvSpPr/>
          <p:nvPr/>
        </p:nvSpPr>
        <p:spPr>
          <a:xfrm>
            <a:off x="9272016" y="1783080"/>
            <a:ext cx="2139696" cy="3520440"/>
          </a:xfrm>
          <a:prstGeom prst="roundRect">
            <a:avLst>
              <a:gd name="adj" fmla="val 5128"/>
            </a:avLst>
          </a:prstGeom>
          <a:solidFill>
            <a:srgbClr val="EAF1F6"/>
          </a:solidFill>
          <a:ln w="8890">
            <a:solidFill>
              <a:srgbClr val="EAF1F6"/>
            </a:solidFill>
            <a:prstDash val="solid"/>
          </a:ln>
        </p:spPr>
      </p:sp>
      <p:sp>
        <p:nvSpPr>
          <p:cNvPr id="8" name="Text 5"/>
          <p:cNvSpPr txBox="1"/>
          <p:nvPr/>
        </p:nvSpPr>
        <p:spPr>
          <a:xfrm>
            <a:off x="9500616" y="2057400"/>
            <a:ext cx="1700784" cy="411480"/>
          </a:xfrm>
          <a:prstGeom prst="rect">
            <a:avLst/>
          </a:prstGeom>
          <a:noFill/>
          <a:ln/>
        </p:spPr>
        <p:txBody>
          <a:bodyPr wrap="square" lIns="0" tIns="0" rIns="0" bIns="0" rtlCol="0" anchor="ctr"/>
          <a:lstStyle/>
          <a:p>
            <a:pPr algn="l" indent="0" marL="0">
              <a:lnSpc>
                <a:spcPct val="105000"/>
              </a:lnSpc>
              <a:buNone/>
            </a:pPr>
            <a:r>
              <a:rPr lang="en-US" sz="1700" b="1" dirty="0">
                <a:solidFill>
                  <a:srgbClr val="17334D"/>
                </a:solidFill>
                <a:latin typeface="Noto Sans" pitchFamily="34" charset="0"/>
                <a:ea typeface="Noto Sans" pitchFamily="34" charset="-122"/>
                <a:cs typeface="Noto Sans" pitchFamily="34" charset="-120"/>
              </a:rPr>
              <a:t>TRACE-Policy</a:t>
            </a:r>
            <a:endParaRPr lang="en-US" sz="1700" dirty="0"/>
          </a:p>
        </p:txBody>
      </p:sp>
      <p:sp>
        <p:nvSpPr>
          <p:cNvPr id="9" name="Text 6"/>
          <p:cNvSpPr txBox="1"/>
          <p:nvPr/>
        </p:nvSpPr>
        <p:spPr>
          <a:xfrm>
            <a:off x="9473184" y="2761488"/>
            <a:ext cx="1719072" cy="649224"/>
          </a:xfrm>
          <a:prstGeom prst="rect">
            <a:avLst/>
          </a:prstGeom>
          <a:noFill/>
          <a:ln/>
        </p:spPr>
        <p:txBody>
          <a:bodyPr wrap="square" lIns="0" tIns="0" rIns="0" bIns="0" rtlCol="0" anchor="ctr"/>
          <a:lstStyle/>
          <a:p>
            <a:pPr algn="l" indent="0" marL="0">
              <a:lnSpc>
                <a:spcPct val="105000"/>
              </a:lnSpc>
              <a:buNone/>
            </a:pPr>
            <a:r>
              <a:rPr lang="en-US" sz="3500" b="1" dirty="0">
                <a:solidFill>
                  <a:srgbClr val="159A95"/>
                </a:solidFill>
                <a:latin typeface="Noto Sans" pitchFamily="34" charset="0"/>
                <a:ea typeface="Noto Sans" pitchFamily="34" charset="-122"/>
                <a:cs typeface="Noto Sans" pitchFamily="34" charset="-120"/>
              </a:rPr>
              <a:t>100%</a:t>
            </a:r>
            <a:endParaRPr lang="en-US" sz="3500" dirty="0"/>
          </a:p>
        </p:txBody>
      </p:sp>
      <p:sp>
        <p:nvSpPr>
          <p:cNvPr id="10" name="Text 7"/>
          <p:cNvSpPr txBox="1"/>
          <p:nvPr/>
        </p:nvSpPr>
        <p:spPr>
          <a:xfrm>
            <a:off x="9500616" y="3456432"/>
            <a:ext cx="1645920" cy="676656"/>
          </a:xfrm>
          <a:prstGeom prst="rect">
            <a:avLst/>
          </a:prstGeom>
          <a:noFill/>
          <a:ln/>
        </p:spPr>
        <p:txBody>
          <a:bodyPr wrap="square" lIns="0" tIns="0" rIns="0" bIns="0" rtlCol="0" anchor="t"/>
          <a:lstStyle/>
          <a:p>
            <a:pPr algn="l" indent="0" marL="0">
              <a:lnSpc>
                <a:spcPct val="105000"/>
              </a:lnSpc>
              <a:buNone/>
            </a:pPr>
            <a:r>
              <a:rPr lang="en-US" sz="1400" dirty="0">
                <a:solidFill>
                  <a:srgbClr val="41566D"/>
                </a:solidFill>
                <a:latin typeface="Noto Sans" pitchFamily="34" charset="0"/>
                <a:ea typeface="Noto Sans" pitchFamily="34" charset="-122"/>
                <a:cs typeface="Noto Sans" pitchFamily="34" charset="-120"/>
              </a:rPr>
              <a:t>coverage</a:t>
            </a:r>
            <a:endParaRPr lang="en-US" sz="1400" dirty="0"/>
          </a:p>
          <a:p>
            <a:pPr algn="l" indent="0" marL="0">
              <a:lnSpc>
                <a:spcPct val="105000"/>
              </a:lnSpc>
              <a:buNone/>
            </a:pPr>
            <a:r>
              <a:rPr lang="en-US" sz="1400" dirty="0">
                <a:solidFill>
                  <a:srgbClr val="41566D"/>
                </a:solidFill>
                <a:latin typeface="Noto Sans" pitchFamily="34" charset="0"/>
                <a:ea typeface="Noto Sans" pitchFamily="34" charset="-122"/>
                <a:cs typeface="Noto Sans" pitchFamily="34" charset="-120"/>
              </a:rPr>
              <a:t>trên test</a:t>
            </a:r>
            <a:endParaRPr lang="en-US" sz="1400" dirty="0"/>
          </a:p>
        </p:txBody>
      </p:sp>
      <p:sp>
        <p:nvSpPr>
          <p:cNvPr id="11" name="Text 8"/>
          <p:cNvSpPr txBox="1"/>
          <p:nvPr/>
        </p:nvSpPr>
        <p:spPr>
          <a:xfrm>
            <a:off x="9491472" y="4370832"/>
            <a:ext cx="1645920" cy="502920"/>
          </a:xfrm>
          <a:prstGeom prst="rect">
            <a:avLst/>
          </a:prstGeom>
          <a:noFill/>
          <a:ln/>
        </p:spPr>
        <p:txBody>
          <a:bodyPr wrap="square" lIns="0" tIns="0" rIns="0" bIns="0" rtlCol="0" anchor="ctr"/>
          <a:lstStyle/>
          <a:p>
            <a:pPr algn="l" indent="0" marL="0">
              <a:lnSpc>
                <a:spcPct val="105000"/>
              </a:lnSpc>
              <a:buNone/>
            </a:pPr>
            <a:r>
              <a:rPr lang="en-US" sz="2400" b="1" dirty="0">
                <a:solidFill>
                  <a:srgbClr val="E9954C"/>
                </a:solidFill>
                <a:latin typeface="Noto Sans" pitchFamily="34" charset="0"/>
                <a:ea typeface="Noto Sans" pitchFamily="34" charset="-122"/>
                <a:cs typeface="Noto Sans" pitchFamily="34" charset="-120"/>
              </a:rPr>
              <a:t>16,67%</a:t>
            </a:r>
            <a:endParaRPr lang="en-US" sz="2400" dirty="0"/>
          </a:p>
        </p:txBody>
      </p:sp>
      <p:sp>
        <p:nvSpPr>
          <p:cNvPr id="12" name="Text 9"/>
          <p:cNvSpPr txBox="1"/>
          <p:nvPr/>
        </p:nvSpPr>
        <p:spPr>
          <a:xfrm>
            <a:off x="9500616" y="4928616"/>
            <a:ext cx="1618488" cy="292608"/>
          </a:xfrm>
          <a:prstGeom prst="rect">
            <a:avLst/>
          </a:prstGeom>
          <a:noFill/>
          <a:ln/>
        </p:spPr>
        <p:txBody>
          <a:bodyPr wrap="square" lIns="0" tIns="0" rIns="0" bIns="0" rtlCol="0" anchor="ctr"/>
          <a:lstStyle/>
          <a:p>
            <a:pPr algn="l" indent="0" marL="0">
              <a:lnSpc>
                <a:spcPct val="105000"/>
              </a:lnSpc>
              <a:buNone/>
            </a:pPr>
            <a:r>
              <a:rPr lang="en-US" sz="1200" dirty="0">
                <a:solidFill>
                  <a:srgbClr val="41566D"/>
                </a:solidFill>
                <a:latin typeface="Noto Sans" pitchFamily="34" charset="0"/>
                <a:ea typeface="Noto Sans" pitchFamily="34" charset="-122"/>
                <a:cs typeface="Noto Sans" pitchFamily="34" charset="-120"/>
              </a:rPr>
              <a:t>FPR chưa đạt</a:t>
            </a:r>
            <a:endParaRPr lang="en-US" sz="1200" dirty="0"/>
          </a:p>
        </p:txBody>
      </p:sp>
      <p:sp>
        <p:nvSpPr>
          <p:cNvPr id="13" name="Text 10"/>
          <p:cNvSpPr txBox="1"/>
          <p:nvPr/>
        </p:nvSpPr>
        <p:spPr>
          <a:xfrm>
            <a:off x="987552" y="5769864"/>
            <a:ext cx="10607040" cy="310896"/>
          </a:xfrm>
          <a:prstGeom prst="rect">
            <a:avLst/>
          </a:prstGeom>
          <a:noFill/>
          <a:ln/>
        </p:spPr>
        <p:txBody>
          <a:bodyPr wrap="square" lIns="0" tIns="0" rIns="0" bIns="0" rtlCol="0" anchor="ctr"/>
          <a:lstStyle/>
          <a:p>
            <a:pPr algn="l" indent="0" marL="0">
              <a:lnSpc>
                <a:spcPct val="105000"/>
              </a:lnSpc>
              <a:buNone/>
            </a:pPr>
            <a:r>
              <a:rPr lang="en-US" sz="1500" b="1" dirty="0">
                <a:solidFill>
                  <a:srgbClr val="17334D"/>
                </a:solidFill>
                <a:latin typeface="Noto Sans" pitchFamily="34" charset="0"/>
                <a:ea typeface="Noto Sans" pitchFamily="34" charset="-122"/>
                <a:cs typeface="Noto Sans" pitchFamily="34" charset="-120"/>
              </a:rPr>
              <a:t>570 case test · 3 chiến lược so sánh đồng thời</a:t>
            </a:r>
            <a:endParaRPr lang="en-US" sz="1500" dirty="0"/>
          </a:p>
        </p:txBody>
      </p:sp>
      <p:sp>
        <p:nvSpPr>
          <p:cNvPr id="14" name="Shape 11"/>
          <p:cNvSpPr/>
          <p:nvPr/>
        </p:nvSpPr>
        <p:spPr>
          <a:xfrm>
            <a:off x="658368" y="6492240"/>
            <a:ext cx="10875264" cy="0"/>
          </a:xfrm>
          <a:prstGeom prst="line">
            <a:avLst/>
          </a:prstGeom>
          <a:noFill/>
          <a:ln w="10160">
            <a:solidFill>
              <a:srgbClr val="D8E2EA"/>
            </a:solidFill>
            <a:prstDash val="solid"/>
          </a:ln>
        </p:spPr>
      </p:sp>
      <p:sp>
        <p:nvSpPr>
          <p:cNvPr id="15" name="Text 12"/>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16" name="Text 13"/>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Phân tích lỗi</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SQLi là nút thắt false positive trong nguyên mẫu</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sp>
        <p:nvSpPr>
          <p:cNvPr id="6" name="Shape 4"/>
          <p:cNvSpPr/>
          <p:nvPr/>
        </p:nvSpPr>
        <p:spPr>
          <a:xfrm>
            <a:off x="804672" y="1801368"/>
            <a:ext cx="2286000" cy="530352"/>
          </a:xfrm>
          <a:prstGeom prst="rect">
            <a:avLst/>
          </a:prstGeom>
          <a:solidFill>
            <a:srgbClr val="17334D"/>
          </a:solidFill>
          <a:ln w="8890">
            <a:solidFill>
              <a:srgbClr val="17334D"/>
            </a:solidFill>
            <a:prstDash val="solid"/>
          </a:ln>
        </p:spPr>
      </p:sp>
      <p:sp>
        <p:nvSpPr>
          <p:cNvPr id="7" name="Text 5"/>
          <p:cNvSpPr txBox="1"/>
          <p:nvPr/>
        </p:nvSpPr>
        <p:spPr>
          <a:xfrm>
            <a:off x="896112" y="1901952"/>
            <a:ext cx="2103120" cy="320040"/>
          </a:xfrm>
          <a:prstGeom prst="rect">
            <a:avLst/>
          </a:prstGeom>
          <a:noFill/>
          <a:ln/>
        </p:spPr>
        <p:txBody>
          <a:bodyPr wrap="square" lIns="0" tIns="0" rIns="0" bIns="0" rtlCol="0" anchor="ctr"/>
          <a:lstStyle/>
          <a:p>
            <a:pPr algn="l" indent="0" marL="0">
              <a:lnSpc>
                <a:spcPct val="105000"/>
              </a:lnSpc>
              <a:buNone/>
            </a:pPr>
            <a:r>
              <a:rPr lang="en-US" sz="1200" b="1" dirty="0">
                <a:solidFill>
                  <a:srgbClr val="FFFFFF"/>
                </a:solidFill>
                <a:latin typeface="Noto Sans" pitchFamily="34" charset="0"/>
                <a:ea typeface="Noto Sans" pitchFamily="34" charset="-122"/>
                <a:cs typeface="Noto Sans" pitchFamily="34" charset="-120"/>
              </a:rPr>
              <a:t>CWE</a:t>
            </a:r>
            <a:endParaRPr lang="en-US" sz="1200" dirty="0"/>
          </a:p>
        </p:txBody>
      </p:sp>
      <p:sp>
        <p:nvSpPr>
          <p:cNvPr id="8" name="Shape 6"/>
          <p:cNvSpPr/>
          <p:nvPr/>
        </p:nvSpPr>
        <p:spPr>
          <a:xfrm>
            <a:off x="3136392" y="1801368"/>
            <a:ext cx="2103120" cy="530352"/>
          </a:xfrm>
          <a:prstGeom prst="rect">
            <a:avLst/>
          </a:prstGeom>
          <a:solidFill>
            <a:srgbClr val="17334D"/>
          </a:solidFill>
          <a:ln w="8890">
            <a:solidFill>
              <a:srgbClr val="17334D"/>
            </a:solidFill>
            <a:prstDash val="solid"/>
          </a:ln>
        </p:spPr>
      </p:sp>
      <p:sp>
        <p:nvSpPr>
          <p:cNvPr id="9" name="Text 7"/>
          <p:cNvSpPr txBox="1"/>
          <p:nvPr/>
        </p:nvSpPr>
        <p:spPr>
          <a:xfrm>
            <a:off x="3227832" y="1901952"/>
            <a:ext cx="1920240" cy="320040"/>
          </a:xfrm>
          <a:prstGeom prst="rect">
            <a:avLst/>
          </a:prstGeom>
          <a:noFill/>
          <a:ln/>
        </p:spPr>
        <p:txBody>
          <a:bodyPr wrap="square" lIns="0" tIns="0" rIns="0" bIns="0" rtlCol="0" anchor="ctr"/>
          <a:lstStyle/>
          <a:p>
            <a:pPr algn="l" indent="0" marL="0">
              <a:lnSpc>
                <a:spcPct val="105000"/>
              </a:lnSpc>
              <a:buNone/>
            </a:pPr>
            <a:r>
              <a:rPr lang="en-US" sz="1200" b="1" dirty="0">
                <a:solidFill>
                  <a:srgbClr val="FFFFFF"/>
                </a:solidFill>
                <a:latin typeface="Noto Sans" pitchFamily="34" charset="0"/>
                <a:ea typeface="Noto Sans" pitchFamily="34" charset="-122"/>
                <a:cs typeface="Noto Sans" pitchFamily="34" charset="-120"/>
              </a:rPr>
              <a:t>Raw coverage</a:t>
            </a:r>
            <a:endParaRPr lang="en-US" sz="1200" dirty="0"/>
          </a:p>
        </p:txBody>
      </p:sp>
      <p:sp>
        <p:nvSpPr>
          <p:cNvPr id="10" name="Shape 8"/>
          <p:cNvSpPr/>
          <p:nvPr/>
        </p:nvSpPr>
        <p:spPr>
          <a:xfrm>
            <a:off x="5257800" y="1801368"/>
            <a:ext cx="2084832" cy="530352"/>
          </a:xfrm>
          <a:prstGeom prst="rect">
            <a:avLst/>
          </a:prstGeom>
          <a:solidFill>
            <a:srgbClr val="17334D"/>
          </a:solidFill>
          <a:ln w="8890">
            <a:solidFill>
              <a:srgbClr val="17334D"/>
            </a:solidFill>
            <a:prstDash val="solid"/>
          </a:ln>
        </p:spPr>
      </p:sp>
      <p:sp>
        <p:nvSpPr>
          <p:cNvPr id="11" name="Text 9"/>
          <p:cNvSpPr txBox="1"/>
          <p:nvPr/>
        </p:nvSpPr>
        <p:spPr>
          <a:xfrm>
            <a:off x="5349240" y="1901952"/>
            <a:ext cx="1901952" cy="320040"/>
          </a:xfrm>
          <a:prstGeom prst="rect">
            <a:avLst/>
          </a:prstGeom>
          <a:noFill/>
          <a:ln/>
        </p:spPr>
        <p:txBody>
          <a:bodyPr wrap="square" lIns="0" tIns="0" rIns="0" bIns="0" rtlCol="0" anchor="ctr"/>
          <a:lstStyle/>
          <a:p>
            <a:pPr algn="l" indent="0" marL="0">
              <a:lnSpc>
                <a:spcPct val="105000"/>
              </a:lnSpc>
              <a:buNone/>
            </a:pPr>
            <a:r>
              <a:rPr lang="en-US" sz="1200" b="1" dirty="0">
                <a:solidFill>
                  <a:srgbClr val="FFFFFF"/>
                </a:solidFill>
                <a:latin typeface="Noto Sans" pitchFamily="34" charset="0"/>
                <a:ea typeface="Noto Sans" pitchFamily="34" charset="-122"/>
                <a:cs typeface="Noto Sans" pitchFamily="34" charset="-120"/>
              </a:rPr>
              <a:t>Canonical</a:t>
            </a:r>
            <a:endParaRPr lang="en-US" sz="1200" dirty="0"/>
          </a:p>
        </p:txBody>
      </p:sp>
      <p:sp>
        <p:nvSpPr>
          <p:cNvPr id="12" name="Shape 10"/>
          <p:cNvSpPr/>
          <p:nvPr/>
        </p:nvSpPr>
        <p:spPr>
          <a:xfrm>
            <a:off x="7406640" y="1801368"/>
            <a:ext cx="1892808" cy="530352"/>
          </a:xfrm>
          <a:prstGeom prst="rect">
            <a:avLst/>
          </a:prstGeom>
          <a:solidFill>
            <a:srgbClr val="17334D"/>
          </a:solidFill>
          <a:ln w="8890">
            <a:solidFill>
              <a:srgbClr val="17334D"/>
            </a:solidFill>
            <a:prstDash val="solid"/>
          </a:ln>
        </p:spPr>
      </p:sp>
      <p:sp>
        <p:nvSpPr>
          <p:cNvPr id="13" name="Text 11"/>
          <p:cNvSpPr txBox="1"/>
          <p:nvPr/>
        </p:nvSpPr>
        <p:spPr>
          <a:xfrm>
            <a:off x="7498080" y="1901952"/>
            <a:ext cx="1709928" cy="320040"/>
          </a:xfrm>
          <a:prstGeom prst="rect">
            <a:avLst/>
          </a:prstGeom>
          <a:noFill/>
          <a:ln/>
        </p:spPr>
        <p:txBody>
          <a:bodyPr wrap="square" lIns="0" tIns="0" rIns="0" bIns="0" rtlCol="0" anchor="ctr"/>
          <a:lstStyle/>
          <a:p>
            <a:pPr algn="l" indent="0" marL="0">
              <a:lnSpc>
                <a:spcPct val="105000"/>
              </a:lnSpc>
              <a:buNone/>
            </a:pPr>
            <a:r>
              <a:rPr lang="en-US" sz="1200" b="1" dirty="0">
                <a:solidFill>
                  <a:srgbClr val="FFFFFF"/>
                </a:solidFill>
                <a:latin typeface="Noto Sans" pitchFamily="34" charset="0"/>
                <a:ea typeface="Noto Sans" pitchFamily="34" charset="-122"/>
                <a:cs typeface="Noto Sans" pitchFamily="34" charset="-120"/>
              </a:rPr>
              <a:t>TRACE</a:t>
            </a:r>
            <a:endParaRPr lang="en-US" sz="1200" dirty="0"/>
          </a:p>
        </p:txBody>
      </p:sp>
      <p:sp>
        <p:nvSpPr>
          <p:cNvPr id="14" name="Shape 12"/>
          <p:cNvSpPr/>
          <p:nvPr/>
        </p:nvSpPr>
        <p:spPr>
          <a:xfrm>
            <a:off x="9345168" y="1801368"/>
            <a:ext cx="1947672" cy="530352"/>
          </a:xfrm>
          <a:prstGeom prst="rect">
            <a:avLst/>
          </a:prstGeom>
          <a:solidFill>
            <a:srgbClr val="17334D"/>
          </a:solidFill>
          <a:ln w="8890">
            <a:solidFill>
              <a:srgbClr val="17334D"/>
            </a:solidFill>
            <a:prstDash val="solid"/>
          </a:ln>
        </p:spPr>
      </p:sp>
      <p:sp>
        <p:nvSpPr>
          <p:cNvPr id="15" name="Text 13"/>
          <p:cNvSpPr txBox="1"/>
          <p:nvPr/>
        </p:nvSpPr>
        <p:spPr>
          <a:xfrm>
            <a:off x="9436608" y="1901952"/>
            <a:ext cx="1764792" cy="320040"/>
          </a:xfrm>
          <a:prstGeom prst="rect">
            <a:avLst/>
          </a:prstGeom>
          <a:noFill/>
          <a:ln/>
        </p:spPr>
        <p:txBody>
          <a:bodyPr wrap="square" lIns="0" tIns="0" rIns="0" bIns="0" rtlCol="0" anchor="ctr"/>
          <a:lstStyle/>
          <a:p>
            <a:pPr algn="l" indent="0" marL="0">
              <a:lnSpc>
                <a:spcPct val="105000"/>
              </a:lnSpc>
              <a:buNone/>
            </a:pPr>
            <a:r>
              <a:rPr lang="en-US" sz="1200" b="1" dirty="0">
                <a:solidFill>
                  <a:srgbClr val="FFFFFF"/>
                </a:solidFill>
                <a:latin typeface="Noto Sans" pitchFamily="34" charset="0"/>
                <a:ea typeface="Noto Sans" pitchFamily="34" charset="-122"/>
                <a:cs typeface="Noto Sans" pitchFamily="34" charset="-120"/>
              </a:rPr>
              <a:t>FPR TRACE</a:t>
            </a:r>
            <a:endParaRPr lang="en-US" sz="1200" dirty="0"/>
          </a:p>
        </p:txBody>
      </p:sp>
      <p:sp>
        <p:nvSpPr>
          <p:cNvPr id="16" name="Shape 14"/>
          <p:cNvSpPr/>
          <p:nvPr/>
        </p:nvSpPr>
        <p:spPr>
          <a:xfrm>
            <a:off x="804672" y="2359152"/>
            <a:ext cx="2286000" cy="731520"/>
          </a:xfrm>
          <a:prstGeom prst="rect">
            <a:avLst/>
          </a:prstGeom>
          <a:solidFill>
            <a:srgbClr val="FFFFFF"/>
          </a:solidFill>
          <a:ln w="8890">
            <a:solidFill>
              <a:srgbClr val="D8E2EA"/>
            </a:solidFill>
            <a:prstDash val="solid"/>
          </a:ln>
        </p:spPr>
      </p:sp>
      <p:sp>
        <p:nvSpPr>
          <p:cNvPr id="17" name="Text 15"/>
          <p:cNvSpPr txBox="1"/>
          <p:nvPr/>
        </p:nvSpPr>
        <p:spPr>
          <a:xfrm>
            <a:off x="914400" y="2532888"/>
            <a:ext cx="2066544"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CWE-89 / SQLi</a:t>
            </a:r>
            <a:endParaRPr lang="en-US" sz="1600" dirty="0"/>
          </a:p>
        </p:txBody>
      </p:sp>
      <p:sp>
        <p:nvSpPr>
          <p:cNvPr id="18" name="Shape 16"/>
          <p:cNvSpPr/>
          <p:nvPr/>
        </p:nvSpPr>
        <p:spPr>
          <a:xfrm>
            <a:off x="3136392" y="2359152"/>
            <a:ext cx="2103120" cy="731520"/>
          </a:xfrm>
          <a:prstGeom prst="rect">
            <a:avLst/>
          </a:prstGeom>
          <a:solidFill>
            <a:srgbClr val="FFFFFF"/>
          </a:solidFill>
          <a:ln w="8890">
            <a:solidFill>
              <a:srgbClr val="D8E2EA"/>
            </a:solidFill>
            <a:prstDash val="solid"/>
          </a:ln>
        </p:spPr>
      </p:sp>
      <p:sp>
        <p:nvSpPr>
          <p:cNvPr id="19" name="Text 17"/>
          <p:cNvSpPr txBox="1"/>
          <p:nvPr/>
        </p:nvSpPr>
        <p:spPr>
          <a:xfrm>
            <a:off x="3246120" y="2532888"/>
            <a:ext cx="1883664"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40,0%</a:t>
            </a:r>
            <a:endParaRPr lang="en-US" sz="1600" dirty="0"/>
          </a:p>
        </p:txBody>
      </p:sp>
      <p:sp>
        <p:nvSpPr>
          <p:cNvPr id="20" name="Shape 18"/>
          <p:cNvSpPr/>
          <p:nvPr/>
        </p:nvSpPr>
        <p:spPr>
          <a:xfrm>
            <a:off x="5257800" y="2359152"/>
            <a:ext cx="2084832" cy="731520"/>
          </a:xfrm>
          <a:prstGeom prst="rect">
            <a:avLst/>
          </a:prstGeom>
          <a:solidFill>
            <a:srgbClr val="FFFFFF"/>
          </a:solidFill>
          <a:ln w="8890">
            <a:solidFill>
              <a:srgbClr val="D8E2EA"/>
            </a:solidFill>
            <a:prstDash val="solid"/>
          </a:ln>
        </p:spPr>
      </p:sp>
      <p:sp>
        <p:nvSpPr>
          <p:cNvPr id="21" name="Text 19"/>
          <p:cNvSpPr txBox="1"/>
          <p:nvPr/>
        </p:nvSpPr>
        <p:spPr>
          <a:xfrm>
            <a:off x="5367528" y="2532888"/>
            <a:ext cx="1865376"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80,0%</a:t>
            </a:r>
            <a:endParaRPr lang="en-US" sz="1600" dirty="0"/>
          </a:p>
        </p:txBody>
      </p:sp>
      <p:sp>
        <p:nvSpPr>
          <p:cNvPr id="22" name="Shape 20"/>
          <p:cNvSpPr/>
          <p:nvPr/>
        </p:nvSpPr>
        <p:spPr>
          <a:xfrm>
            <a:off x="7406640" y="2359152"/>
            <a:ext cx="1892808" cy="731520"/>
          </a:xfrm>
          <a:prstGeom prst="rect">
            <a:avLst/>
          </a:prstGeom>
          <a:solidFill>
            <a:srgbClr val="FFFFFF"/>
          </a:solidFill>
          <a:ln w="8890">
            <a:solidFill>
              <a:srgbClr val="D8E2EA"/>
            </a:solidFill>
            <a:prstDash val="solid"/>
          </a:ln>
        </p:spPr>
      </p:sp>
      <p:sp>
        <p:nvSpPr>
          <p:cNvPr id="23" name="Text 21"/>
          <p:cNvSpPr txBox="1"/>
          <p:nvPr/>
        </p:nvSpPr>
        <p:spPr>
          <a:xfrm>
            <a:off x="7516368" y="2532888"/>
            <a:ext cx="1673352"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100,0%</a:t>
            </a:r>
            <a:endParaRPr lang="en-US" sz="1600" dirty="0"/>
          </a:p>
        </p:txBody>
      </p:sp>
      <p:sp>
        <p:nvSpPr>
          <p:cNvPr id="24" name="Shape 22"/>
          <p:cNvSpPr/>
          <p:nvPr/>
        </p:nvSpPr>
        <p:spPr>
          <a:xfrm>
            <a:off x="9345168" y="2359152"/>
            <a:ext cx="1947672" cy="731520"/>
          </a:xfrm>
          <a:prstGeom prst="rect">
            <a:avLst/>
          </a:prstGeom>
          <a:solidFill>
            <a:srgbClr val="FFF4E9"/>
          </a:solidFill>
          <a:ln w="8890">
            <a:solidFill>
              <a:srgbClr val="D8E2EA"/>
            </a:solidFill>
            <a:prstDash val="solid"/>
          </a:ln>
        </p:spPr>
      </p:sp>
      <p:sp>
        <p:nvSpPr>
          <p:cNvPr id="25" name="Text 23"/>
          <p:cNvSpPr txBox="1"/>
          <p:nvPr/>
        </p:nvSpPr>
        <p:spPr>
          <a:xfrm>
            <a:off x="9454896" y="2532888"/>
            <a:ext cx="1728216" cy="329184"/>
          </a:xfrm>
          <a:prstGeom prst="rect">
            <a:avLst/>
          </a:prstGeom>
          <a:noFill/>
          <a:ln/>
        </p:spPr>
        <p:txBody>
          <a:bodyPr wrap="square" lIns="0" tIns="0" rIns="0" bIns="0" rtlCol="0" anchor="ctr"/>
          <a:lstStyle/>
          <a:p>
            <a:pPr algn="l" indent="0" marL="0">
              <a:lnSpc>
                <a:spcPct val="105000"/>
              </a:lnSpc>
              <a:buNone/>
            </a:pPr>
            <a:r>
              <a:rPr lang="en-US" sz="1600" b="1" dirty="0">
                <a:solidFill>
                  <a:srgbClr val="AE6A1C"/>
                </a:solidFill>
                <a:latin typeface="Noto Sans" pitchFamily="34" charset="0"/>
                <a:ea typeface="Noto Sans" pitchFamily="34" charset="-122"/>
                <a:cs typeface="Noto Sans" pitchFamily="34" charset="-120"/>
              </a:rPr>
              <a:t>50,0%</a:t>
            </a:r>
            <a:endParaRPr lang="en-US" sz="1600" dirty="0"/>
          </a:p>
        </p:txBody>
      </p:sp>
      <p:sp>
        <p:nvSpPr>
          <p:cNvPr id="26" name="Shape 24"/>
          <p:cNvSpPr/>
          <p:nvPr/>
        </p:nvSpPr>
        <p:spPr>
          <a:xfrm>
            <a:off x="804672" y="3154680"/>
            <a:ext cx="2286000" cy="731520"/>
          </a:xfrm>
          <a:prstGeom prst="rect">
            <a:avLst/>
          </a:prstGeom>
          <a:solidFill>
            <a:srgbClr val="F5F8FA"/>
          </a:solidFill>
          <a:ln w="8890">
            <a:solidFill>
              <a:srgbClr val="D8E2EA"/>
            </a:solidFill>
            <a:prstDash val="solid"/>
          </a:ln>
        </p:spPr>
      </p:sp>
      <p:sp>
        <p:nvSpPr>
          <p:cNvPr id="27" name="Text 25"/>
          <p:cNvSpPr txBox="1"/>
          <p:nvPr/>
        </p:nvSpPr>
        <p:spPr>
          <a:xfrm>
            <a:off x="914400" y="3328416"/>
            <a:ext cx="2066544"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CWE-79 / XSS</a:t>
            </a:r>
            <a:endParaRPr lang="en-US" sz="1600" dirty="0"/>
          </a:p>
        </p:txBody>
      </p:sp>
      <p:sp>
        <p:nvSpPr>
          <p:cNvPr id="28" name="Shape 26"/>
          <p:cNvSpPr/>
          <p:nvPr/>
        </p:nvSpPr>
        <p:spPr>
          <a:xfrm>
            <a:off x="3136392" y="3154680"/>
            <a:ext cx="2103120" cy="731520"/>
          </a:xfrm>
          <a:prstGeom prst="rect">
            <a:avLst/>
          </a:prstGeom>
          <a:solidFill>
            <a:srgbClr val="F5F8FA"/>
          </a:solidFill>
          <a:ln w="8890">
            <a:solidFill>
              <a:srgbClr val="D8E2EA"/>
            </a:solidFill>
            <a:prstDash val="solid"/>
          </a:ln>
        </p:spPr>
      </p:sp>
      <p:sp>
        <p:nvSpPr>
          <p:cNvPr id="29" name="Text 27"/>
          <p:cNvSpPr txBox="1"/>
          <p:nvPr/>
        </p:nvSpPr>
        <p:spPr>
          <a:xfrm>
            <a:off x="3246120" y="3328416"/>
            <a:ext cx="1883664"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52,0%</a:t>
            </a:r>
            <a:endParaRPr lang="en-US" sz="1600" dirty="0"/>
          </a:p>
        </p:txBody>
      </p:sp>
      <p:sp>
        <p:nvSpPr>
          <p:cNvPr id="30" name="Shape 28"/>
          <p:cNvSpPr/>
          <p:nvPr/>
        </p:nvSpPr>
        <p:spPr>
          <a:xfrm>
            <a:off x="5257800" y="3154680"/>
            <a:ext cx="2084832" cy="731520"/>
          </a:xfrm>
          <a:prstGeom prst="rect">
            <a:avLst/>
          </a:prstGeom>
          <a:solidFill>
            <a:srgbClr val="F5F8FA"/>
          </a:solidFill>
          <a:ln w="8890">
            <a:solidFill>
              <a:srgbClr val="D8E2EA"/>
            </a:solidFill>
            <a:prstDash val="solid"/>
          </a:ln>
        </p:spPr>
      </p:sp>
      <p:sp>
        <p:nvSpPr>
          <p:cNvPr id="31" name="Text 29"/>
          <p:cNvSpPr txBox="1"/>
          <p:nvPr/>
        </p:nvSpPr>
        <p:spPr>
          <a:xfrm>
            <a:off x="5367528" y="3328416"/>
            <a:ext cx="1865376"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100,0%</a:t>
            </a:r>
            <a:endParaRPr lang="en-US" sz="1600" dirty="0"/>
          </a:p>
        </p:txBody>
      </p:sp>
      <p:sp>
        <p:nvSpPr>
          <p:cNvPr id="32" name="Shape 30"/>
          <p:cNvSpPr/>
          <p:nvPr/>
        </p:nvSpPr>
        <p:spPr>
          <a:xfrm>
            <a:off x="7406640" y="3154680"/>
            <a:ext cx="1892808" cy="731520"/>
          </a:xfrm>
          <a:prstGeom prst="rect">
            <a:avLst/>
          </a:prstGeom>
          <a:solidFill>
            <a:srgbClr val="F5F8FA"/>
          </a:solidFill>
          <a:ln w="8890">
            <a:solidFill>
              <a:srgbClr val="D8E2EA"/>
            </a:solidFill>
            <a:prstDash val="solid"/>
          </a:ln>
        </p:spPr>
      </p:sp>
      <p:sp>
        <p:nvSpPr>
          <p:cNvPr id="33" name="Text 31"/>
          <p:cNvSpPr txBox="1"/>
          <p:nvPr/>
        </p:nvSpPr>
        <p:spPr>
          <a:xfrm>
            <a:off x="7516368" y="3328416"/>
            <a:ext cx="1673352"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100,0%</a:t>
            </a:r>
            <a:endParaRPr lang="en-US" sz="1600" dirty="0"/>
          </a:p>
        </p:txBody>
      </p:sp>
      <p:sp>
        <p:nvSpPr>
          <p:cNvPr id="34" name="Shape 32"/>
          <p:cNvSpPr/>
          <p:nvPr/>
        </p:nvSpPr>
        <p:spPr>
          <a:xfrm>
            <a:off x="9345168" y="3154680"/>
            <a:ext cx="1947672" cy="731520"/>
          </a:xfrm>
          <a:prstGeom prst="rect">
            <a:avLst/>
          </a:prstGeom>
          <a:solidFill>
            <a:srgbClr val="F5F8FA"/>
          </a:solidFill>
          <a:ln w="8890">
            <a:solidFill>
              <a:srgbClr val="D8E2EA"/>
            </a:solidFill>
            <a:prstDash val="solid"/>
          </a:ln>
        </p:spPr>
      </p:sp>
      <p:sp>
        <p:nvSpPr>
          <p:cNvPr id="35" name="Text 33"/>
          <p:cNvSpPr txBox="1"/>
          <p:nvPr/>
        </p:nvSpPr>
        <p:spPr>
          <a:xfrm>
            <a:off x="9454896" y="3328416"/>
            <a:ext cx="1728216"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0,0%</a:t>
            </a:r>
            <a:endParaRPr lang="en-US" sz="1600" dirty="0"/>
          </a:p>
        </p:txBody>
      </p:sp>
      <p:sp>
        <p:nvSpPr>
          <p:cNvPr id="36" name="Shape 34"/>
          <p:cNvSpPr/>
          <p:nvPr/>
        </p:nvSpPr>
        <p:spPr>
          <a:xfrm>
            <a:off x="804672" y="3950208"/>
            <a:ext cx="2286000" cy="731520"/>
          </a:xfrm>
          <a:prstGeom prst="rect">
            <a:avLst/>
          </a:prstGeom>
          <a:solidFill>
            <a:srgbClr val="FFFFFF"/>
          </a:solidFill>
          <a:ln w="8890">
            <a:solidFill>
              <a:srgbClr val="D8E2EA"/>
            </a:solidFill>
            <a:prstDash val="solid"/>
          </a:ln>
        </p:spPr>
      </p:sp>
      <p:sp>
        <p:nvSpPr>
          <p:cNvPr id="37" name="Text 35"/>
          <p:cNvSpPr txBox="1"/>
          <p:nvPr/>
        </p:nvSpPr>
        <p:spPr>
          <a:xfrm>
            <a:off x="914400" y="4123944"/>
            <a:ext cx="2066544"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CWE-22 / Path</a:t>
            </a:r>
            <a:endParaRPr lang="en-US" sz="1600" dirty="0"/>
          </a:p>
        </p:txBody>
      </p:sp>
      <p:sp>
        <p:nvSpPr>
          <p:cNvPr id="38" name="Shape 36"/>
          <p:cNvSpPr/>
          <p:nvPr/>
        </p:nvSpPr>
        <p:spPr>
          <a:xfrm>
            <a:off x="3136392" y="3950208"/>
            <a:ext cx="2103120" cy="731520"/>
          </a:xfrm>
          <a:prstGeom prst="rect">
            <a:avLst/>
          </a:prstGeom>
          <a:solidFill>
            <a:srgbClr val="FFFFFF"/>
          </a:solidFill>
          <a:ln w="8890">
            <a:solidFill>
              <a:srgbClr val="D8E2EA"/>
            </a:solidFill>
            <a:prstDash val="solid"/>
          </a:ln>
        </p:spPr>
      </p:sp>
      <p:sp>
        <p:nvSpPr>
          <p:cNvPr id="39" name="Text 37"/>
          <p:cNvSpPr txBox="1"/>
          <p:nvPr/>
        </p:nvSpPr>
        <p:spPr>
          <a:xfrm>
            <a:off x="3246120" y="4123944"/>
            <a:ext cx="1883664"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60,0%</a:t>
            </a:r>
            <a:endParaRPr lang="en-US" sz="1600" dirty="0"/>
          </a:p>
        </p:txBody>
      </p:sp>
      <p:sp>
        <p:nvSpPr>
          <p:cNvPr id="40" name="Shape 38"/>
          <p:cNvSpPr/>
          <p:nvPr/>
        </p:nvSpPr>
        <p:spPr>
          <a:xfrm>
            <a:off x="5257800" y="3950208"/>
            <a:ext cx="2084832" cy="731520"/>
          </a:xfrm>
          <a:prstGeom prst="rect">
            <a:avLst/>
          </a:prstGeom>
          <a:solidFill>
            <a:srgbClr val="FFFFFF"/>
          </a:solidFill>
          <a:ln w="8890">
            <a:solidFill>
              <a:srgbClr val="D8E2EA"/>
            </a:solidFill>
            <a:prstDash val="solid"/>
          </a:ln>
        </p:spPr>
      </p:sp>
      <p:sp>
        <p:nvSpPr>
          <p:cNvPr id="41" name="Text 39"/>
          <p:cNvSpPr txBox="1"/>
          <p:nvPr/>
        </p:nvSpPr>
        <p:spPr>
          <a:xfrm>
            <a:off x="5367528" y="4123944"/>
            <a:ext cx="1865376"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100,0%</a:t>
            </a:r>
            <a:endParaRPr lang="en-US" sz="1600" dirty="0"/>
          </a:p>
        </p:txBody>
      </p:sp>
      <p:sp>
        <p:nvSpPr>
          <p:cNvPr id="42" name="Shape 40"/>
          <p:cNvSpPr/>
          <p:nvPr/>
        </p:nvSpPr>
        <p:spPr>
          <a:xfrm>
            <a:off x="7406640" y="3950208"/>
            <a:ext cx="1892808" cy="731520"/>
          </a:xfrm>
          <a:prstGeom prst="rect">
            <a:avLst/>
          </a:prstGeom>
          <a:solidFill>
            <a:srgbClr val="FFFFFF"/>
          </a:solidFill>
          <a:ln w="8890">
            <a:solidFill>
              <a:srgbClr val="D8E2EA"/>
            </a:solidFill>
            <a:prstDash val="solid"/>
          </a:ln>
        </p:spPr>
      </p:sp>
      <p:sp>
        <p:nvSpPr>
          <p:cNvPr id="43" name="Text 41"/>
          <p:cNvSpPr txBox="1"/>
          <p:nvPr/>
        </p:nvSpPr>
        <p:spPr>
          <a:xfrm>
            <a:off x="7516368" y="4123944"/>
            <a:ext cx="1673352"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100,0%</a:t>
            </a:r>
            <a:endParaRPr lang="en-US" sz="1600" dirty="0"/>
          </a:p>
        </p:txBody>
      </p:sp>
      <p:sp>
        <p:nvSpPr>
          <p:cNvPr id="44" name="Shape 42"/>
          <p:cNvSpPr/>
          <p:nvPr/>
        </p:nvSpPr>
        <p:spPr>
          <a:xfrm>
            <a:off x="9345168" y="3950208"/>
            <a:ext cx="1947672" cy="731520"/>
          </a:xfrm>
          <a:prstGeom prst="rect">
            <a:avLst/>
          </a:prstGeom>
          <a:solidFill>
            <a:srgbClr val="FFFFFF"/>
          </a:solidFill>
          <a:ln w="8890">
            <a:solidFill>
              <a:srgbClr val="D8E2EA"/>
            </a:solidFill>
            <a:prstDash val="solid"/>
          </a:ln>
        </p:spPr>
      </p:sp>
      <p:sp>
        <p:nvSpPr>
          <p:cNvPr id="45" name="Text 43"/>
          <p:cNvSpPr txBox="1"/>
          <p:nvPr/>
        </p:nvSpPr>
        <p:spPr>
          <a:xfrm>
            <a:off x="9454896" y="4123944"/>
            <a:ext cx="1728216" cy="329184"/>
          </a:xfrm>
          <a:prstGeom prst="rect">
            <a:avLst/>
          </a:prstGeom>
          <a:noFill/>
          <a:ln/>
        </p:spPr>
        <p:txBody>
          <a:bodyPr wrap="square" lIns="0" tIns="0" rIns="0" bIns="0" rtlCol="0" anchor="ctr"/>
          <a:lstStyle/>
          <a:p>
            <a:pPr algn="l" indent="0" marL="0">
              <a:lnSpc>
                <a:spcPct val="105000"/>
              </a:lnSpc>
              <a:buNone/>
            </a:pPr>
            <a:r>
              <a:rPr lang="en-US" sz="1600" dirty="0">
                <a:solidFill>
                  <a:srgbClr val="17334D"/>
                </a:solidFill>
                <a:latin typeface="Noto Sans" pitchFamily="34" charset="0"/>
                <a:ea typeface="Noto Sans" pitchFamily="34" charset="-122"/>
                <a:cs typeface="Noto Sans" pitchFamily="34" charset="-120"/>
              </a:rPr>
              <a:t>0,0%</a:t>
            </a:r>
            <a:endParaRPr lang="en-US" sz="1600" dirty="0"/>
          </a:p>
        </p:txBody>
      </p:sp>
      <p:sp>
        <p:nvSpPr>
          <p:cNvPr id="46" name="Shape 44"/>
          <p:cNvSpPr/>
          <p:nvPr/>
        </p:nvSpPr>
        <p:spPr>
          <a:xfrm>
            <a:off x="841248" y="5093208"/>
            <a:ext cx="10579608" cy="795528"/>
          </a:xfrm>
          <a:prstGeom prst="roundRect">
            <a:avLst>
              <a:gd name="adj" fmla="val 13793"/>
            </a:avLst>
          </a:prstGeom>
          <a:solidFill>
            <a:srgbClr val="EAF8F6"/>
          </a:solidFill>
          <a:ln w="8890">
            <a:solidFill>
              <a:srgbClr val="EAF8F6"/>
            </a:solidFill>
            <a:prstDash val="solid"/>
          </a:ln>
        </p:spPr>
      </p:sp>
      <p:sp>
        <p:nvSpPr>
          <p:cNvPr id="47" name="Text 45"/>
          <p:cNvSpPr txBox="1"/>
          <p:nvPr/>
        </p:nvSpPr>
        <p:spPr>
          <a:xfrm>
            <a:off x="1124712" y="5276088"/>
            <a:ext cx="10021824" cy="457200"/>
          </a:xfrm>
          <a:prstGeom prst="rect">
            <a:avLst/>
          </a:prstGeom>
          <a:noFill/>
          <a:ln/>
        </p:spPr>
        <p:txBody>
          <a:bodyPr wrap="square" lIns="0" tIns="0" rIns="0" bIns="0" rtlCol="0" anchor="ctr"/>
          <a:lstStyle/>
          <a:p>
            <a:pPr algn="l" indent="0" marL="0">
              <a:lnSpc>
                <a:spcPct val="105000"/>
              </a:lnSpc>
              <a:buNone/>
            </a:pPr>
            <a:r>
              <a:rPr lang="en-US" sz="1800" b="1" dirty="0">
                <a:solidFill>
                  <a:srgbClr val="17334D"/>
                </a:solidFill>
                <a:latin typeface="Noto Sans" pitchFamily="34" charset="0"/>
                <a:ea typeface="Noto Sans" pitchFamily="34" charset="-122"/>
                <a:cs typeface="Noto Sans" pitchFamily="34" charset="-120"/>
              </a:rPr>
              <a:t>20 benign chứa văn bản SQL bị chặn nhầm  →  không thể phê duyệt rule chỉ theo recall.</a:t>
            </a:r>
            <a:endParaRPr lang="en-US" sz="1800" dirty="0"/>
          </a:p>
        </p:txBody>
      </p:sp>
      <p:sp>
        <p:nvSpPr>
          <p:cNvPr id="48" name="Shape 46"/>
          <p:cNvSpPr/>
          <p:nvPr/>
        </p:nvSpPr>
        <p:spPr>
          <a:xfrm>
            <a:off x="658368" y="6492240"/>
            <a:ext cx="10875264" cy="0"/>
          </a:xfrm>
          <a:prstGeom prst="line">
            <a:avLst/>
          </a:prstGeom>
          <a:noFill/>
          <a:ln w="10160">
            <a:solidFill>
              <a:srgbClr val="D8E2EA"/>
            </a:solidFill>
            <a:prstDash val="solid"/>
          </a:ln>
        </p:spPr>
      </p:sp>
      <p:sp>
        <p:nvSpPr>
          <p:cNvPr id="49" name="Text 47"/>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50" name="Text 48"/>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Robustness</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Synthetic drift: thay đổi tỷ trọng biểu diễn làm raw recall sụt mạnh</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pic>
        <p:nvPicPr>
          <p:cNvPr id="6" name="Image 0" descr="/mnt/data/WAF_TRACE_research/assets/drift.png">    </p:cNvPr>
          <p:cNvPicPr>
            <a:picLocks noChangeAspect="1"/>
          </p:cNvPicPr>
          <p:nvPr/>
        </p:nvPicPr>
        <p:blipFill>
          <a:blip r:embed="rId1"/>
          <a:stretch>
            <a:fillRect/>
          </a:stretch>
        </p:blipFill>
        <p:spPr>
          <a:xfrm>
            <a:off x="640080" y="1707752"/>
            <a:ext cx="9144000" cy="4009424"/>
          </a:xfrm>
          <a:prstGeom prst="rect">
            <a:avLst/>
          </a:prstGeom>
        </p:spPr>
      </p:pic>
      <p:sp>
        <p:nvSpPr>
          <p:cNvPr id="7" name="Shape 4"/>
          <p:cNvSpPr/>
          <p:nvPr/>
        </p:nvSpPr>
        <p:spPr>
          <a:xfrm>
            <a:off x="9921240" y="1856232"/>
            <a:ext cx="1645920" cy="3319272"/>
          </a:xfrm>
          <a:prstGeom prst="roundRect">
            <a:avLst>
              <a:gd name="adj" fmla="val 6667"/>
            </a:avLst>
          </a:prstGeom>
          <a:solidFill>
            <a:srgbClr val="FFF4E9"/>
          </a:solidFill>
          <a:ln w="8890">
            <a:solidFill>
              <a:srgbClr val="FFF4E9"/>
            </a:solidFill>
            <a:prstDash val="solid"/>
          </a:ln>
        </p:spPr>
      </p:sp>
      <p:sp>
        <p:nvSpPr>
          <p:cNvPr id="8" name="Text 5"/>
          <p:cNvSpPr txBox="1"/>
          <p:nvPr/>
        </p:nvSpPr>
        <p:spPr>
          <a:xfrm>
            <a:off x="10113264" y="2267712"/>
            <a:ext cx="1271016" cy="667512"/>
          </a:xfrm>
          <a:prstGeom prst="rect">
            <a:avLst/>
          </a:prstGeom>
          <a:noFill/>
          <a:ln/>
        </p:spPr>
        <p:txBody>
          <a:bodyPr wrap="square" lIns="0" tIns="0" rIns="0" bIns="0" rtlCol="0" anchor="ctr"/>
          <a:lstStyle/>
          <a:p>
            <a:pPr algn="l" indent="0" marL="0">
              <a:lnSpc>
                <a:spcPct val="105000"/>
              </a:lnSpc>
              <a:buNone/>
            </a:pPr>
            <a:r>
              <a:rPr lang="en-US" sz="2900" b="1" dirty="0">
                <a:solidFill>
                  <a:srgbClr val="9A5818"/>
                </a:solidFill>
                <a:latin typeface="Noto Sans" pitchFamily="34" charset="0"/>
                <a:ea typeface="Noto Sans" pitchFamily="34" charset="-122"/>
                <a:cs typeface="Noto Sans" pitchFamily="34" charset="-120"/>
              </a:rPr>
              <a:t>−82,22</a:t>
            </a:r>
            <a:endParaRPr lang="en-US" sz="2900" dirty="0"/>
          </a:p>
        </p:txBody>
      </p:sp>
      <p:sp>
        <p:nvSpPr>
          <p:cNvPr id="9" name="Text 6"/>
          <p:cNvSpPr txBox="1"/>
          <p:nvPr/>
        </p:nvSpPr>
        <p:spPr>
          <a:xfrm>
            <a:off x="10113264" y="2962656"/>
            <a:ext cx="1271016" cy="347472"/>
          </a:xfrm>
          <a:prstGeom prst="rect">
            <a:avLst/>
          </a:prstGeom>
          <a:noFill/>
          <a:ln/>
        </p:spPr>
        <p:txBody>
          <a:bodyPr wrap="square" lIns="0" tIns="0" rIns="0" bIns="0" rtlCol="0" anchor="ctr"/>
          <a:lstStyle/>
          <a:p>
            <a:pPr algn="l" indent="0" marL="0">
              <a:lnSpc>
                <a:spcPct val="105000"/>
              </a:lnSpc>
              <a:buNone/>
            </a:pPr>
            <a:r>
              <a:rPr lang="en-US" sz="1500" b="1" dirty="0">
                <a:solidFill>
                  <a:srgbClr val="9A5818"/>
                </a:solidFill>
                <a:latin typeface="Noto Sans" pitchFamily="34" charset="0"/>
                <a:ea typeface="Noto Sans" pitchFamily="34" charset="-122"/>
                <a:cs typeface="Noto Sans" pitchFamily="34" charset="-120"/>
              </a:rPr>
              <a:t>điểm %</a:t>
            </a:r>
            <a:endParaRPr lang="en-US" sz="1500" dirty="0"/>
          </a:p>
        </p:txBody>
      </p:sp>
      <p:sp>
        <p:nvSpPr>
          <p:cNvPr id="10" name="Text 7"/>
          <p:cNvSpPr txBox="1"/>
          <p:nvPr/>
        </p:nvSpPr>
        <p:spPr>
          <a:xfrm>
            <a:off x="10113264" y="3794760"/>
            <a:ext cx="1271016" cy="667512"/>
          </a:xfrm>
          <a:prstGeom prst="rect">
            <a:avLst/>
          </a:prstGeom>
          <a:noFill/>
          <a:ln/>
        </p:spPr>
        <p:txBody>
          <a:bodyPr wrap="square" lIns="0" tIns="0" rIns="0" bIns="0" rtlCol="0" anchor="ctr"/>
          <a:lstStyle/>
          <a:p>
            <a:pPr algn="l" indent="0" marL="0">
              <a:lnSpc>
                <a:spcPct val="105000"/>
              </a:lnSpc>
              <a:buNone/>
            </a:pPr>
            <a:r>
              <a:rPr lang="en-US" sz="1400" dirty="0">
                <a:solidFill>
                  <a:srgbClr val="41566D"/>
                </a:solidFill>
                <a:latin typeface="Noto Sans" pitchFamily="34" charset="0"/>
                <a:ea typeface="Noto Sans" pitchFamily="34" charset="-122"/>
                <a:cs typeface="Noto Sans" pitchFamily="34" charset="-120"/>
              </a:rPr>
              <a:t>Raw: A → B</a:t>
            </a:r>
            <a:endParaRPr lang="en-US" sz="1400" dirty="0"/>
          </a:p>
        </p:txBody>
      </p:sp>
      <p:sp>
        <p:nvSpPr>
          <p:cNvPr id="11" name="Text 8"/>
          <p:cNvSpPr txBox="1"/>
          <p:nvPr/>
        </p:nvSpPr>
        <p:spPr>
          <a:xfrm>
            <a:off x="996696" y="5806440"/>
            <a:ext cx="10424160" cy="347472"/>
          </a:xfrm>
          <a:prstGeom prst="rect">
            <a:avLst/>
          </a:prstGeom>
          <a:noFill/>
          <a:ln/>
        </p:spPr>
        <p:txBody>
          <a:bodyPr wrap="square" lIns="0" tIns="0" rIns="0" bIns="0" rtlCol="0" anchor="ctr"/>
          <a:lstStyle/>
          <a:p>
            <a:pPr algn="l" indent="0" marL="0">
              <a:lnSpc>
                <a:spcPct val="105000"/>
              </a:lnSpc>
              <a:buNone/>
            </a:pPr>
            <a:r>
              <a:rPr lang="en-US" sz="1400" dirty="0">
                <a:solidFill>
                  <a:srgbClr val="667B8D"/>
                </a:solidFill>
                <a:latin typeface="Noto Sans" pitchFamily="34" charset="0"/>
                <a:ea typeface="Noto Sans" pitchFamily="34" charset="-122"/>
                <a:cs typeface="Noto Sans" pitchFamily="34" charset="-120"/>
              </a:rPr>
              <a:t>Đây là dịch chuyển cơ cấu test, không phải chuỗi thời gian thật.</a:t>
            </a:r>
            <a:endParaRPr lang="en-US" sz="1400" dirty="0"/>
          </a:p>
        </p:txBody>
      </p:sp>
      <p:sp>
        <p:nvSpPr>
          <p:cNvPr id="12" name="Shape 9"/>
          <p:cNvSpPr/>
          <p:nvPr/>
        </p:nvSpPr>
        <p:spPr>
          <a:xfrm>
            <a:off x="658368" y="6492240"/>
            <a:ext cx="10875264" cy="0"/>
          </a:xfrm>
          <a:prstGeom prst="line">
            <a:avLst/>
          </a:prstGeom>
          <a:noFill/>
          <a:ln w="10160">
            <a:solidFill>
              <a:srgbClr val="D8E2EA"/>
            </a:solidFill>
            <a:prstDash val="solid"/>
          </a:ln>
        </p:spPr>
      </p:sp>
      <p:sp>
        <p:nvSpPr>
          <p:cNvPr id="13" name="Text 10"/>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14" name="Text 11"/>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63D"/>
        </a:solidFill>
      </p:bgPr>
    </p:bg>
    <p:spTree>
      <p:nvGrpSpPr>
        <p:cNvPr id="1" name=""/>
        <p:cNvGrpSpPr/>
        <p:nvPr/>
      </p:nvGrpSpPr>
      <p:grpSpPr>
        <a:xfrm>
          <a:off x="0" y="0"/>
          <a:ext cx="0" cy="0"/>
          <a:chOff x="0" y="0"/>
          <a:chExt cx="0" cy="0"/>
        </a:xfrm>
      </p:grpSpPr>
      <p:sp>
        <p:nvSpPr>
          <p:cNvPr id="2" name="Text 0"/>
          <p:cNvSpPr txBox="1"/>
          <p:nvPr/>
        </p:nvSpPr>
        <p:spPr>
          <a:xfrm>
            <a:off x="786384" y="512064"/>
            <a:ext cx="7315200" cy="338328"/>
          </a:xfrm>
          <a:prstGeom prst="rect">
            <a:avLst/>
          </a:prstGeom>
          <a:noFill/>
          <a:ln/>
        </p:spPr>
        <p:txBody>
          <a:bodyPr wrap="square" lIns="0" tIns="0" rIns="0" bIns="0" rtlCol="0" anchor="ctr"/>
          <a:lstStyle/>
          <a:p>
            <a:pPr algn="l" indent="0" marL="0">
              <a:lnSpc>
                <a:spcPct val="105000"/>
              </a:lnSpc>
              <a:buNone/>
            </a:pPr>
            <a:r>
              <a:rPr lang="en-US" sz="1200" b="1" spc="160" kern="0" dirty="0">
                <a:solidFill>
                  <a:srgbClr val="79D8CF"/>
                </a:solidFill>
                <a:latin typeface="Noto Sans" pitchFamily="34" charset="0"/>
                <a:ea typeface="Noto Sans" pitchFamily="34" charset="-122"/>
                <a:cs typeface="Noto Sans" pitchFamily="34" charset="-120"/>
              </a:rPr>
              <a:t>CỔNG QUẢN TRỊ</a:t>
            </a:r>
            <a:endParaRPr lang="en-US" sz="1200" dirty="0"/>
          </a:p>
        </p:txBody>
      </p:sp>
      <p:sp>
        <p:nvSpPr>
          <p:cNvPr id="3" name="Text 1"/>
          <p:cNvSpPr txBox="1"/>
          <p:nvPr/>
        </p:nvSpPr>
        <p:spPr>
          <a:xfrm>
            <a:off x="786384" y="1088136"/>
            <a:ext cx="9326880" cy="804672"/>
          </a:xfrm>
          <a:prstGeom prst="rect">
            <a:avLst/>
          </a:prstGeom>
          <a:noFill/>
          <a:ln/>
        </p:spPr>
        <p:txBody>
          <a:bodyPr wrap="square" lIns="0" tIns="0" rIns="0" bIns="0" rtlCol="0" anchor="ctr"/>
          <a:lstStyle/>
          <a:p>
            <a:pPr algn="l" indent="0" marL="0">
              <a:lnSpc>
                <a:spcPct val="105000"/>
              </a:lnSpc>
              <a:buNone/>
            </a:pPr>
            <a:r>
              <a:rPr lang="en-US" sz="4800" b="1" dirty="0">
                <a:solidFill>
                  <a:srgbClr val="FFFFFF"/>
                </a:solidFill>
                <a:latin typeface="Noto Sans" pitchFamily="34" charset="0"/>
                <a:ea typeface="Noto Sans" pitchFamily="34" charset="-122"/>
                <a:cs typeface="Noto Sans" pitchFamily="34" charset="-120"/>
              </a:rPr>
              <a:t>NO-GO</a:t>
            </a:r>
            <a:endParaRPr lang="en-US" sz="4800" dirty="0"/>
          </a:p>
        </p:txBody>
      </p:sp>
      <p:sp>
        <p:nvSpPr>
          <p:cNvPr id="4" name="Text 2"/>
          <p:cNvSpPr txBox="1"/>
          <p:nvPr/>
        </p:nvSpPr>
        <p:spPr>
          <a:xfrm>
            <a:off x="822960" y="1938528"/>
            <a:ext cx="9966960" cy="521208"/>
          </a:xfrm>
          <a:prstGeom prst="rect">
            <a:avLst/>
          </a:prstGeom>
          <a:noFill/>
          <a:ln/>
        </p:spPr>
        <p:txBody>
          <a:bodyPr wrap="square" lIns="0" tIns="0" rIns="0" bIns="0" rtlCol="0" anchor="ctr"/>
          <a:lstStyle/>
          <a:p>
            <a:pPr algn="l" indent="0" marL="0">
              <a:lnSpc>
                <a:spcPct val="105000"/>
              </a:lnSpc>
              <a:buNone/>
            </a:pPr>
            <a:r>
              <a:rPr lang="en-US" sz="2300" b="1" dirty="0">
                <a:solidFill>
                  <a:srgbClr val="D5E6EF"/>
                </a:solidFill>
                <a:latin typeface="Noto Sans" pitchFamily="34" charset="0"/>
                <a:ea typeface="Noto Sans" pitchFamily="34" charset="-122"/>
                <a:cs typeface="Noto Sans" pitchFamily="34" charset="-120"/>
              </a:rPr>
              <a:t>Không phương án nào đạt đồng thời ba điều kiện triển khai.</a:t>
            </a:r>
            <a:endParaRPr lang="en-US" sz="2300" dirty="0"/>
          </a:p>
        </p:txBody>
      </p:sp>
      <p:sp>
        <p:nvSpPr>
          <p:cNvPr id="5" name="Shape 3"/>
          <p:cNvSpPr/>
          <p:nvPr/>
        </p:nvSpPr>
        <p:spPr>
          <a:xfrm>
            <a:off x="832104" y="2852928"/>
            <a:ext cx="10332720" cy="722376"/>
          </a:xfrm>
          <a:prstGeom prst="roundRect">
            <a:avLst>
              <a:gd name="adj" fmla="val 12658"/>
            </a:avLst>
          </a:prstGeom>
          <a:solidFill>
            <a:srgbClr val="1B3B52"/>
          </a:solidFill>
          <a:ln w="8890">
            <a:solidFill>
              <a:srgbClr val="31516A"/>
            </a:solidFill>
            <a:prstDash val="solid"/>
          </a:ln>
        </p:spPr>
      </p:sp>
      <p:sp>
        <p:nvSpPr>
          <p:cNvPr id="6" name="Text 4"/>
          <p:cNvSpPr txBox="1"/>
          <p:nvPr/>
        </p:nvSpPr>
        <p:spPr>
          <a:xfrm>
            <a:off x="1115568" y="3044952"/>
            <a:ext cx="4572000" cy="310896"/>
          </a:xfrm>
          <a:prstGeom prst="rect">
            <a:avLst/>
          </a:prstGeom>
          <a:noFill/>
          <a:ln/>
        </p:spPr>
        <p:txBody>
          <a:bodyPr wrap="square" lIns="0" tIns="0" rIns="0" bIns="0" rtlCol="0" anchor="ctr"/>
          <a:lstStyle/>
          <a:p>
            <a:pPr algn="l" indent="0" marL="0">
              <a:lnSpc>
                <a:spcPct val="105000"/>
              </a:lnSpc>
              <a:buNone/>
            </a:pPr>
            <a:r>
              <a:rPr lang="en-US" sz="1800" b="1" dirty="0">
                <a:solidFill>
                  <a:srgbClr val="FFFFFF"/>
                </a:solidFill>
                <a:latin typeface="Noto Sans" pitchFamily="34" charset="0"/>
                <a:ea typeface="Noto Sans" pitchFamily="34" charset="-122"/>
                <a:cs typeface="Noto Sans" pitchFamily="34" charset="-120"/>
              </a:rPr>
              <a:t>Coverage ≥ 90%</a:t>
            </a:r>
            <a:endParaRPr lang="en-US" sz="1800" dirty="0"/>
          </a:p>
        </p:txBody>
      </p:sp>
      <p:sp>
        <p:nvSpPr>
          <p:cNvPr id="7" name="Text 5"/>
          <p:cNvSpPr txBox="1"/>
          <p:nvPr/>
        </p:nvSpPr>
        <p:spPr>
          <a:xfrm>
            <a:off x="6501384" y="3044952"/>
            <a:ext cx="2862072" cy="310896"/>
          </a:xfrm>
          <a:prstGeom prst="rect">
            <a:avLst/>
          </a:prstGeom>
          <a:noFill/>
          <a:ln/>
        </p:spPr>
        <p:txBody>
          <a:bodyPr wrap="square" lIns="0" tIns="0" rIns="0" bIns="0" rtlCol="0" anchor="ctr"/>
          <a:lstStyle/>
          <a:p>
            <a:pPr algn="l" indent="0" marL="0">
              <a:lnSpc>
                <a:spcPct val="105000"/>
              </a:lnSpc>
              <a:buNone/>
            </a:pPr>
            <a:r>
              <a:rPr lang="en-US" sz="1800" b="1" dirty="0">
                <a:solidFill>
                  <a:srgbClr val="8CE1D2"/>
                </a:solidFill>
                <a:latin typeface="Noto Sans" pitchFamily="34" charset="0"/>
                <a:ea typeface="Noto Sans" pitchFamily="34" charset="-122"/>
                <a:cs typeface="Noto Sans" pitchFamily="34" charset="-120"/>
              </a:rPr>
              <a:t>TRACE: 100%</a:t>
            </a:r>
            <a:endParaRPr lang="en-US" sz="1800" dirty="0"/>
          </a:p>
        </p:txBody>
      </p:sp>
      <p:sp>
        <p:nvSpPr>
          <p:cNvPr id="8" name="Text 6"/>
          <p:cNvSpPr txBox="1"/>
          <p:nvPr/>
        </p:nvSpPr>
        <p:spPr>
          <a:xfrm>
            <a:off x="9582912" y="3044952"/>
            <a:ext cx="1216152" cy="310896"/>
          </a:xfrm>
          <a:prstGeom prst="rect">
            <a:avLst/>
          </a:prstGeom>
          <a:noFill/>
          <a:ln/>
        </p:spPr>
        <p:txBody>
          <a:bodyPr wrap="square" lIns="0" tIns="0" rIns="0" bIns="0" rtlCol="0" anchor="ctr"/>
          <a:lstStyle/>
          <a:p>
            <a:pPr algn="r" indent="0" marL="0">
              <a:lnSpc>
                <a:spcPct val="105000"/>
              </a:lnSpc>
              <a:buNone/>
            </a:pPr>
            <a:r>
              <a:rPr lang="en-US" sz="1600" b="1" dirty="0">
                <a:solidFill>
                  <a:srgbClr val="8CE1D2"/>
                </a:solidFill>
                <a:latin typeface="Noto Sans" pitchFamily="34" charset="0"/>
                <a:ea typeface="Noto Sans" pitchFamily="34" charset="-122"/>
                <a:cs typeface="Noto Sans" pitchFamily="34" charset="-120"/>
              </a:rPr>
              <a:t>PASS</a:t>
            </a:r>
            <a:endParaRPr lang="en-US" sz="1600" dirty="0"/>
          </a:p>
        </p:txBody>
      </p:sp>
      <p:sp>
        <p:nvSpPr>
          <p:cNvPr id="9" name="Shape 7"/>
          <p:cNvSpPr/>
          <p:nvPr/>
        </p:nvSpPr>
        <p:spPr>
          <a:xfrm>
            <a:off x="832104" y="3739896"/>
            <a:ext cx="10332720" cy="722376"/>
          </a:xfrm>
          <a:prstGeom prst="roundRect">
            <a:avLst>
              <a:gd name="adj" fmla="val 12658"/>
            </a:avLst>
          </a:prstGeom>
          <a:solidFill>
            <a:srgbClr val="1B3B52"/>
          </a:solidFill>
          <a:ln w="8890">
            <a:solidFill>
              <a:srgbClr val="31516A"/>
            </a:solidFill>
            <a:prstDash val="solid"/>
          </a:ln>
        </p:spPr>
      </p:sp>
      <p:sp>
        <p:nvSpPr>
          <p:cNvPr id="10" name="Text 8"/>
          <p:cNvSpPr txBox="1"/>
          <p:nvPr/>
        </p:nvSpPr>
        <p:spPr>
          <a:xfrm>
            <a:off x="1115568" y="3931920"/>
            <a:ext cx="4572000" cy="310896"/>
          </a:xfrm>
          <a:prstGeom prst="rect">
            <a:avLst/>
          </a:prstGeom>
          <a:noFill/>
          <a:ln/>
        </p:spPr>
        <p:txBody>
          <a:bodyPr wrap="square" lIns="0" tIns="0" rIns="0" bIns="0" rtlCol="0" anchor="ctr"/>
          <a:lstStyle/>
          <a:p>
            <a:pPr algn="l" indent="0" marL="0">
              <a:lnSpc>
                <a:spcPct val="105000"/>
              </a:lnSpc>
              <a:buNone/>
            </a:pPr>
            <a:r>
              <a:rPr lang="en-US" sz="1800" b="1" dirty="0">
                <a:solidFill>
                  <a:srgbClr val="FFFFFF"/>
                </a:solidFill>
                <a:latin typeface="Noto Sans" pitchFamily="34" charset="0"/>
                <a:ea typeface="Noto Sans" pitchFamily="34" charset="-122"/>
                <a:cs typeface="Noto Sans" pitchFamily="34" charset="-120"/>
              </a:rPr>
              <a:t>Robustness ≥ 85%</a:t>
            </a:r>
            <a:endParaRPr lang="en-US" sz="1800" dirty="0"/>
          </a:p>
        </p:txBody>
      </p:sp>
      <p:sp>
        <p:nvSpPr>
          <p:cNvPr id="11" name="Text 9"/>
          <p:cNvSpPr txBox="1"/>
          <p:nvPr/>
        </p:nvSpPr>
        <p:spPr>
          <a:xfrm>
            <a:off x="6501384" y="3931920"/>
            <a:ext cx="2862072" cy="310896"/>
          </a:xfrm>
          <a:prstGeom prst="rect">
            <a:avLst/>
          </a:prstGeom>
          <a:noFill/>
          <a:ln/>
        </p:spPr>
        <p:txBody>
          <a:bodyPr wrap="square" lIns="0" tIns="0" rIns="0" bIns="0" rtlCol="0" anchor="ctr"/>
          <a:lstStyle/>
          <a:p>
            <a:pPr algn="l" indent="0" marL="0">
              <a:lnSpc>
                <a:spcPct val="105000"/>
              </a:lnSpc>
              <a:buNone/>
            </a:pPr>
            <a:r>
              <a:rPr lang="en-US" sz="1800" b="1" dirty="0">
                <a:solidFill>
                  <a:srgbClr val="8CE1D2"/>
                </a:solidFill>
                <a:latin typeface="Noto Sans" pitchFamily="34" charset="0"/>
                <a:ea typeface="Noto Sans" pitchFamily="34" charset="-122"/>
                <a:cs typeface="Noto Sans" pitchFamily="34" charset="-120"/>
              </a:rPr>
              <a:t>TRACE: 100%</a:t>
            </a:r>
            <a:endParaRPr lang="en-US" sz="1800" dirty="0"/>
          </a:p>
        </p:txBody>
      </p:sp>
      <p:sp>
        <p:nvSpPr>
          <p:cNvPr id="12" name="Text 10"/>
          <p:cNvSpPr txBox="1"/>
          <p:nvPr/>
        </p:nvSpPr>
        <p:spPr>
          <a:xfrm>
            <a:off x="9582912" y="3931920"/>
            <a:ext cx="1216152" cy="310896"/>
          </a:xfrm>
          <a:prstGeom prst="rect">
            <a:avLst/>
          </a:prstGeom>
          <a:noFill/>
          <a:ln/>
        </p:spPr>
        <p:txBody>
          <a:bodyPr wrap="square" lIns="0" tIns="0" rIns="0" bIns="0" rtlCol="0" anchor="ctr"/>
          <a:lstStyle/>
          <a:p>
            <a:pPr algn="r" indent="0" marL="0">
              <a:lnSpc>
                <a:spcPct val="105000"/>
              </a:lnSpc>
              <a:buNone/>
            </a:pPr>
            <a:r>
              <a:rPr lang="en-US" sz="1600" b="1" dirty="0">
                <a:solidFill>
                  <a:srgbClr val="8CE1D2"/>
                </a:solidFill>
                <a:latin typeface="Noto Sans" pitchFamily="34" charset="0"/>
                <a:ea typeface="Noto Sans" pitchFamily="34" charset="-122"/>
                <a:cs typeface="Noto Sans" pitchFamily="34" charset="-120"/>
              </a:rPr>
              <a:t>PASS</a:t>
            </a:r>
            <a:endParaRPr lang="en-US" sz="1600" dirty="0"/>
          </a:p>
        </p:txBody>
      </p:sp>
      <p:sp>
        <p:nvSpPr>
          <p:cNvPr id="13" name="Shape 11"/>
          <p:cNvSpPr/>
          <p:nvPr/>
        </p:nvSpPr>
        <p:spPr>
          <a:xfrm>
            <a:off x="832104" y="4626864"/>
            <a:ext cx="10332720" cy="722376"/>
          </a:xfrm>
          <a:prstGeom prst="roundRect">
            <a:avLst>
              <a:gd name="adj" fmla="val 12658"/>
            </a:avLst>
          </a:prstGeom>
          <a:solidFill>
            <a:srgbClr val="1B3B52"/>
          </a:solidFill>
          <a:ln w="8890">
            <a:solidFill>
              <a:srgbClr val="31516A"/>
            </a:solidFill>
            <a:prstDash val="solid"/>
          </a:ln>
        </p:spPr>
      </p:sp>
      <p:sp>
        <p:nvSpPr>
          <p:cNvPr id="14" name="Text 12"/>
          <p:cNvSpPr txBox="1"/>
          <p:nvPr/>
        </p:nvSpPr>
        <p:spPr>
          <a:xfrm>
            <a:off x="1115568" y="4818888"/>
            <a:ext cx="4572000" cy="310896"/>
          </a:xfrm>
          <a:prstGeom prst="rect">
            <a:avLst/>
          </a:prstGeom>
          <a:noFill/>
          <a:ln/>
        </p:spPr>
        <p:txBody>
          <a:bodyPr wrap="square" lIns="0" tIns="0" rIns="0" bIns="0" rtlCol="0" anchor="ctr"/>
          <a:lstStyle/>
          <a:p>
            <a:pPr algn="l" indent="0" marL="0">
              <a:lnSpc>
                <a:spcPct val="105000"/>
              </a:lnSpc>
              <a:buNone/>
            </a:pPr>
            <a:r>
              <a:rPr lang="en-US" sz="1800" b="1" dirty="0">
                <a:solidFill>
                  <a:srgbClr val="FFFFFF"/>
                </a:solidFill>
                <a:latin typeface="Noto Sans" pitchFamily="34" charset="0"/>
                <a:ea typeface="Noto Sans" pitchFamily="34" charset="-122"/>
                <a:cs typeface="Noto Sans" pitchFamily="34" charset="-120"/>
              </a:rPr>
              <a:t>FPR ≤ 5%</a:t>
            </a:r>
            <a:endParaRPr lang="en-US" sz="1800" dirty="0"/>
          </a:p>
        </p:txBody>
      </p:sp>
      <p:sp>
        <p:nvSpPr>
          <p:cNvPr id="15" name="Text 13"/>
          <p:cNvSpPr txBox="1"/>
          <p:nvPr/>
        </p:nvSpPr>
        <p:spPr>
          <a:xfrm>
            <a:off x="6501384" y="4818888"/>
            <a:ext cx="2862072" cy="310896"/>
          </a:xfrm>
          <a:prstGeom prst="rect">
            <a:avLst/>
          </a:prstGeom>
          <a:noFill/>
          <a:ln/>
        </p:spPr>
        <p:txBody>
          <a:bodyPr wrap="square" lIns="0" tIns="0" rIns="0" bIns="0" rtlCol="0" anchor="ctr"/>
          <a:lstStyle/>
          <a:p>
            <a:pPr algn="l" indent="0" marL="0">
              <a:lnSpc>
                <a:spcPct val="105000"/>
              </a:lnSpc>
              <a:buNone/>
            </a:pPr>
            <a:r>
              <a:rPr lang="en-US" sz="1800" b="1" dirty="0">
                <a:solidFill>
                  <a:srgbClr val="F4BB9B"/>
                </a:solidFill>
                <a:latin typeface="Noto Sans" pitchFamily="34" charset="0"/>
                <a:ea typeface="Noto Sans" pitchFamily="34" charset="-122"/>
                <a:cs typeface="Noto Sans" pitchFamily="34" charset="-120"/>
              </a:rPr>
              <a:t>TRACE: 16,67%</a:t>
            </a:r>
            <a:endParaRPr lang="en-US" sz="1800" dirty="0"/>
          </a:p>
        </p:txBody>
      </p:sp>
      <p:sp>
        <p:nvSpPr>
          <p:cNvPr id="16" name="Text 14"/>
          <p:cNvSpPr txBox="1"/>
          <p:nvPr/>
        </p:nvSpPr>
        <p:spPr>
          <a:xfrm>
            <a:off x="9582912" y="4818888"/>
            <a:ext cx="1216152" cy="310896"/>
          </a:xfrm>
          <a:prstGeom prst="rect">
            <a:avLst/>
          </a:prstGeom>
          <a:noFill/>
          <a:ln/>
        </p:spPr>
        <p:txBody>
          <a:bodyPr wrap="square" lIns="0" tIns="0" rIns="0" bIns="0" rtlCol="0" anchor="ctr"/>
          <a:lstStyle/>
          <a:p>
            <a:pPr algn="r" indent="0" marL="0">
              <a:lnSpc>
                <a:spcPct val="105000"/>
              </a:lnSpc>
              <a:buNone/>
            </a:pPr>
            <a:r>
              <a:rPr lang="en-US" sz="1600" b="1" dirty="0">
                <a:solidFill>
                  <a:srgbClr val="FFAFB4"/>
                </a:solidFill>
                <a:latin typeface="Noto Sans" pitchFamily="34" charset="0"/>
                <a:ea typeface="Noto Sans" pitchFamily="34" charset="-122"/>
                <a:cs typeface="Noto Sans" pitchFamily="34" charset="-120"/>
              </a:rPr>
              <a:t>FAIL</a:t>
            </a:r>
            <a:endParaRPr lang="en-US" sz="1600" dirty="0"/>
          </a:p>
        </p:txBody>
      </p:sp>
      <p:sp>
        <p:nvSpPr>
          <p:cNvPr id="17" name="Text 15"/>
          <p:cNvSpPr txBox="1"/>
          <p:nvPr/>
        </p:nvSpPr>
        <p:spPr>
          <a:xfrm>
            <a:off x="914400" y="6117336"/>
            <a:ext cx="10241280" cy="256032"/>
          </a:xfrm>
          <a:prstGeom prst="rect">
            <a:avLst/>
          </a:prstGeom>
          <a:noFill/>
          <a:ln/>
        </p:spPr>
        <p:txBody>
          <a:bodyPr wrap="square" lIns="0" tIns="0" rIns="0" bIns="0" rtlCol="0" anchor="ctr"/>
          <a:lstStyle/>
          <a:p>
            <a:pPr algn="l" indent="0" marL="0">
              <a:lnSpc>
                <a:spcPct val="105000"/>
              </a:lnSpc>
              <a:buNone/>
            </a:pPr>
            <a:r>
              <a:rPr lang="en-US" sz="1200" dirty="0">
                <a:solidFill>
                  <a:srgbClr val="C9DAE4"/>
                </a:solidFill>
                <a:latin typeface="Noto Sans" pitchFamily="34" charset="0"/>
                <a:ea typeface="Noto Sans" pitchFamily="34" charset="-122"/>
                <a:cs typeface="Noto Sans" pitchFamily="34" charset="-120"/>
              </a:rPr>
              <a:t>Ngưỡng minh họa; chưa có triển khai sản xuất hoặc đo CRS thực.</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Quản trị</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Rule phải có bằng chứng, chủ sở hữu và lối quay lui</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sp>
        <p:nvSpPr>
          <p:cNvPr id="6" name="Shape 4"/>
          <p:cNvSpPr/>
          <p:nvPr/>
        </p:nvSpPr>
        <p:spPr>
          <a:xfrm>
            <a:off x="749808" y="1828800"/>
            <a:ext cx="2057400" cy="2029968"/>
          </a:xfrm>
          <a:prstGeom prst="roundRect">
            <a:avLst>
              <a:gd name="adj" fmla="val 5405"/>
            </a:avLst>
          </a:prstGeom>
          <a:solidFill>
            <a:srgbClr val="EAF1F6"/>
          </a:solidFill>
          <a:ln w="8890">
            <a:solidFill>
              <a:srgbClr val="D8E2EA"/>
            </a:solidFill>
            <a:prstDash val="solid"/>
          </a:ln>
        </p:spPr>
      </p:sp>
      <p:sp>
        <p:nvSpPr>
          <p:cNvPr id="7" name="Text 5"/>
          <p:cNvSpPr txBox="1"/>
          <p:nvPr/>
        </p:nvSpPr>
        <p:spPr>
          <a:xfrm>
            <a:off x="914400" y="1993392"/>
            <a:ext cx="512064" cy="374904"/>
          </a:xfrm>
          <a:prstGeom prst="rect">
            <a:avLst/>
          </a:prstGeom>
          <a:noFill/>
          <a:ln/>
        </p:spPr>
        <p:txBody>
          <a:bodyPr wrap="square" lIns="0" tIns="0" rIns="0" bIns="0" rtlCol="0" anchor="ctr"/>
          <a:lstStyle/>
          <a:p>
            <a:pPr algn="l" indent="0" marL="0">
              <a:lnSpc>
                <a:spcPct val="105000"/>
              </a:lnSpc>
              <a:buNone/>
            </a:pPr>
            <a:r>
              <a:rPr lang="en-US" sz="2000" b="1" dirty="0">
                <a:solidFill>
                  <a:srgbClr val="159A95"/>
                </a:solidFill>
                <a:latin typeface="Noto Sans" pitchFamily="34" charset="0"/>
                <a:ea typeface="Noto Sans" pitchFamily="34" charset="-122"/>
                <a:cs typeface="Noto Sans" pitchFamily="34" charset="-120"/>
              </a:rPr>
              <a:t>01</a:t>
            </a:r>
            <a:endParaRPr lang="en-US" sz="2000" dirty="0"/>
          </a:p>
        </p:txBody>
      </p:sp>
      <p:sp>
        <p:nvSpPr>
          <p:cNvPr id="8" name="Text 6"/>
          <p:cNvSpPr txBox="1"/>
          <p:nvPr/>
        </p:nvSpPr>
        <p:spPr>
          <a:xfrm>
            <a:off x="914400" y="2542032"/>
            <a:ext cx="1783080" cy="384048"/>
          </a:xfrm>
          <a:prstGeom prst="rect">
            <a:avLst/>
          </a:prstGeom>
          <a:noFill/>
          <a:ln/>
        </p:spPr>
        <p:txBody>
          <a:bodyPr wrap="square" lIns="0" tIns="0" rIns="0" bIns="0" rtlCol="0" anchor="ctr"/>
          <a:lstStyle/>
          <a:p>
            <a:pPr algn="l" indent="0" marL="0">
              <a:lnSpc>
                <a:spcPct val="105000"/>
              </a:lnSpc>
              <a:buNone/>
            </a:pPr>
            <a:r>
              <a:rPr lang="en-US" sz="1800" b="1" dirty="0">
                <a:solidFill>
                  <a:srgbClr val="17334D"/>
                </a:solidFill>
                <a:latin typeface="Noto Sans" pitchFamily="34" charset="0"/>
                <a:ea typeface="Noto Sans" pitchFamily="34" charset="-122"/>
                <a:cs typeface="Noto Sans" pitchFamily="34" charset="-120"/>
              </a:rPr>
              <a:t>Đề xuất</a:t>
            </a:r>
            <a:endParaRPr lang="en-US" sz="1800" dirty="0"/>
          </a:p>
        </p:txBody>
      </p:sp>
      <p:sp>
        <p:nvSpPr>
          <p:cNvPr id="9" name="Text 7"/>
          <p:cNvSpPr txBox="1"/>
          <p:nvPr/>
        </p:nvSpPr>
        <p:spPr>
          <a:xfrm>
            <a:off x="914400" y="3108960"/>
            <a:ext cx="1746504" cy="493776"/>
          </a:xfrm>
          <a:prstGeom prst="rect">
            <a:avLst/>
          </a:prstGeom>
          <a:noFill/>
          <a:ln/>
        </p:spPr>
        <p:txBody>
          <a:bodyPr wrap="square" lIns="0" tIns="0" rIns="0" bIns="0" rtlCol="0" anchor="t"/>
          <a:lstStyle/>
          <a:p>
            <a:pPr algn="l" indent="0" marL="0">
              <a:lnSpc>
                <a:spcPct val="105000"/>
              </a:lnSpc>
              <a:buNone/>
            </a:pPr>
            <a:r>
              <a:rPr lang="en-US" sz="1200" dirty="0">
                <a:solidFill>
                  <a:srgbClr val="41566D"/>
                </a:solidFill>
                <a:latin typeface="Noto Sans" pitchFamily="34" charset="0"/>
                <a:ea typeface="Noto Sans" pitchFamily="34" charset="-122"/>
                <a:cs typeface="Noto Sans" pitchFamily="34" charset="-120"/>
              </a:rPr>
              <a:t>CWE/CVE &amp; chứng cứ</a:t>
            </a:r>
            <a:endParaRPr lang="en-US" sz="1200" dirty="0"/>
          </a:p>
        </p:txBody>
      </p:sp>
      <p:sp>
        <p:nvSpPr>
          <p:cNvPr id="10" name="Text 8"/>
          <p:cNvSpPr txBox="1"/>
          <p:nvPr/>
        </p:nvSpPr>
        <p:spPr>
          <a:xfrm>
            <a:off x="2843784" y="2578608"/>
            <a:ext cx="137160" cy="301752"/>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a:t>
            </a:r>
            <a:endParaRPr lang="en-US" sz="1900" dirty="0"/>
          </a:p>
        </p:txBody>
      </p:sp>
      <p:sp>
        <p:nvSpPr>
          <p:cNvPr id="11" name="Shape 9"/>
          <p:cNvSpPr/>
          <p:nvPr/>
        </p:nvSpPr>
        <p:spPr>
          <a:xfrm>
            <a:off x="3026664" y="1828800"/>
            <a:ext cx="2057400" cy="2029968"/>
          </a:xfrm>
          <a:prstGeom prst="roundRect">
            <a:avLst>
              <a:gd name="adj" fmla="val 5405"/>
            </a:avLst>
          </a:prstGeom>
          <a:solidFill>
            <a:srgbClr val="EAF1F6"/>
          </a:solidFill>
          <a:ln w="8890">
            <a:solidFill>
              <a:srgbClr val="D8E2EA"/>
            </a:solidFill>
            <a:prstDash val="solid"/>
          </a:ln>
        </p:spPr>
      </p:sp>
      <p:sp>
        <p:nvSpPr>
          <p:cNvPr id="12" name="Text 10"/>
          <p:cNvSpPr txBox="1"/>
          <p:nvPr/>
        </p:nvSpPr>
        <p:spPr>
          <a:xfrm>
            <a:off x="3191256" y="1993392"/>
            <a:ext cx="512064" cy="374904"/>
          </a:xfrm>
          <a:prstGeom prst="rect">
            <a:avLst/>
          </a:prstGeom>
          <a:noFill/>
          <a:ln/>
        </p:spPr>
        <p:txBody>
          <a:bodyPr wrap="square" lIns="0" tIns="0" rIns="0" bIns="0" rtlCol="0" anchor="ctr"/>
          <a:lstStyle/>
          <a:p>
            <a:pPr algn="l" indent="0" marL="0">
              <a:lnSpc>
                <a:spcPct val="105000"/>
              </a:lnSpc>
              <a:buNone/>
            </a:pPr>
            <a:r>
              <a:rPr lang="en-US" sz="2000" b="1" dirty="0">
                <a:solidFill>
                  <a:srgbClr val="159A95"/>
                </a:solidFill>
                <a:latin typeface="Noto Sans" pitchFamily="34" charset="0"/>
                <a:ea typeface="Noto Sans" pitchFamily="34" charset="-122"/>
                <a:cs typeface="Noto Sans" pitchFamily="34" charset="-120"/>
              </a:rPr>
              <a:t>02</a:t>
            </a:r>
            <a:endParaRPr lang="en-US" sz="2000" dirty="0"/>
          </a:p>
        </p:txBody>
      </p:sp>
      <p:sp>
        <p:nvSpPr>
          <p:cNvPr id="13" name="Text 11"/>
          <p:cNvSpPr txBox="1"/>
          <p:nvPr/>
        </p:nvSpPr>
        <p:spPr>
          <a:xfrm>
            <a:off x="3191256" y="2542032"/>
            <a:ext cx="1783080" cy="384048"/>
          </a:xfrm>
          <a:prstGeom prst="rect">
            <a:avLst/>
          </a:prstGeom>
          <a:noFill/>
          <a:ln/>
        </p:spPr>
        <p:txBody>
          <a:bodyPr wrap="square" lIns="0" tIns="0" rIns="0" bIns="0" rtlCol="0" anchor="ctr"/>
          <a:lstStyle/>
          <a:p>
            <a:pPr algn="l" indent="0" marL="0">
              <a:lnSpc>
                <a:spcPct val="105000"/>
              </a:lnSpc>
              <a:buNone/>
            </a:pPr>
            <a:r>
              <a:rPr lang="en-US" sz="1800" b="1" dirty="0">
                <a:solidFill>
                  <a:srgbClr val="17334D"/>
                </a:solidFill>
                <a:latin typeface="Noto Sans" pitchFamily="34" charset="0"/>
                <a:ea typeface="Noto Sans" pitchFamily="34" charset="-122"/>
                <a:cs typeface="Noto Sans" pitchFamily="34" charset="-120"/>
              </a:rPr>
              <a:t>Kiểm tra</a:t>
            </a:r>
            <a:endParaRPr lang="en-US" sz="1800" dirty="0"/>
          </a:p>
        </p:txBody>
      </p:sp>
      <p:sp>
        <p:nvSpPr>
          <p:cNvPr id="14" name="Text 12"/>
          <p:cNvSpPr txBox="1"/>
          <p:nvPr/>
        </p:nvSpPr>
        <p:spPr>
          <a:xfrm>
            <a:off x="3191256" y="3108960"/>
            <a:ext cx="1746504" cy="493776"/>
          </a:xfrm>
          <a:prstGeom prst="rect">
            <a:avLst/>
          </a:prstGeom>
          <a:noFill/>
          <a:ln/>
        </p:spPr>
        <p:txBody>
          <a:bodyPr wrap="square" lIns="0" tIns="0" rIns="0" bIns="0" rtlCol="0" anchor="t"/>
          <a:lstStyle/>
          <a:p>
            <a:pPr algn="l" indent="0" marL="0">
              <a:lnSpc>
                <a:spcPct val="105000"/>
              </a:lnSpc>
              <a:buNone/>
            </a:pPr>
            <a:r>
              <a:rPr lang="en-US" sz="1200" dirty="0">
                <a:solidFill>
                  <a:srgbClr val="41566D"/>
                </a:solidFill>
                <a:latin typeface="Noto Sans" pitchFamily="34" charset="0"/>
                <a:ea typeface="Noto Sans" pitchFamily="34" charset="-122"/>
                <a:cs typeface="Noto Sans" pitchFamily="34" charset="-120"/>
              </a:rPr>
              <a:t>Cú pháp / semantics</a:t>
            </a:r>
            <a:endParaRPr lang="en-US" sz="1200" dirty="0"/>
          </a:p>
        </p:txBody>
      </p:sp>
      <p:sp>
        <p:nvSpPr>
          <p:cNvPr id="15" name="Text 13"/>
          <p:cNvSpPr txBox="1"/>
          <p:nvPr/>
        </p:nvSpPr>
        <p:spPr>
          <a:xfrm>
            <a:off x="5120640" y="2578608"/>
            <a:ext cx="137160" cy="301752"/>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a:t>
            </a:r>
            <a:endParaRPr lang="en-US" sz="1900" dirty="0"/>
          </a:p>
        </p:txBody>
      </p:sp>
      <p:sp>
        <p:nvSpPr>
          <p:cNvPr id="16" name="Shape 14"/>
          <p:cNvSpPr/>
          <p:nvPr/>
        </p:nvSpPr>
        <p:spPr>
          <a:xfrm>
            <a:off x="5303520" y="1828800"/>
            <a:ext cx="2057400" cy="2029968"/>
          </a:xfrm>
          <a:prstGeom prst="roundRect">
            <a:avLst>
              <a:gd name="adj" fmla="val 5405"/>
            </a:avLst>
          </a:prstGeom>
          <a:solidFill>
            <a:srgbClr val="EAF1F6"/>
          </a:solidFill>
          <a:ln w="8890">
            <a:solidFill>
              <a:srgbClr val="D8E2EA"/>
            </a:solidFill>
            <a:prstDash val="solid"/>
          </a:ln>
        </p:spPr>
      </p:sp>
      <p:sp>
        <p:nvSpPr>
          <p:cNvPr id="17" name="Text 15"/>
          <p:cNvSpPr txBox="1"/>
          <p:nvPr/>
        </p:nvSpPr>
        <p:spPr>
          <a:xfrm>
            <a:off x="5468112" y="1993392"/>
            <a:ext cx="512064" cy="374904"/>
          </a:xfrm>
          <a:prstGeom prst="rect">
            <a:avLst/>
          </a:prstGeom>
          <a:noFill/>
          <a:ln/>
        </p:spPr>
        <p:txBody>
          <a:bodyPr wrap="square" lIns="0" tIns="0" rIns="0" bIns="0" rtlCol="0" anchor="ctr"/>
          <a:lstStyle/>
          <a:p>
            <a:pPr algn="l" indent="0" marL="0">
              <a:lnSpc>
                <a:spcPct val="105000"/>
              </a:lnSpc>
              <a:buNone/>
            </a:pPr>
            <a:r>
              <a:rPr lang="en-US" sz="2000" b="1" dirty="0">
                <a:solidFill>
                  <a:srgbClr val="159A95"/>
                </a:solidFill>
                <a:latin typeface="Noto Sans" pitchFamily="34" charset="0"/>
                <a:ea typeface="Noto Sans" pitchFamily="34" charset="-122"/>
                <a:cs typeface="Noto Sans" pitchFamily="34" charset="-120"/>
              </a:rPr>
              <a:t>03</a:t>
            </a:r>
            <a:endParaRPr lang="en-US" sz="2000" dirty="0"/>
          </a:p>
        </p:txBody>
      </p:sp>
      <p:sp>
        <p:nvSpPr>
          <p:cNvPr id="18" name="Text 16"/>
          <p:cNvSpPr txBox="1"/>
          <p:nvPr/>
        </p:nvSpPr>
        <p:spPr>
          <a:xfrm>
            <a:off x="5468112" y="2542032"/>
            <a:ext cx="1783080" cy="384048"/>
          </a:xfrm>
          <a:prstGeom prst="rect">
            <a:avLst/>
          </a:prstGeom>
          <a:noFill/>
          <a:ln/>
        </p:spPr>
        <p:txBody>
          <a:bodyPr wrap="square" lIns="0" tIns="0" rIns="0" bIns="0" rtlCol="0" anchor="ctr"/>
          <a:lstStyle/>
          <a:p>
            <a:pPr algn="l" indent="0" marL="0">
              <a:lnSpc>
                <a:spcPct val="105000"/>
              </a:lnSpc>
              <a:buNone/>
            </a:pPr>
            <a:r>
              <a:rPr lang="en-US" sz="1800" b="1" dirty="0">
                <a:solidFill>
                  <a:srgbClr val="17334D"/>
                </a:solidFill>
                <a:latin typeface="Noto Sans" pitchFamily="34" charset="0"/>
                <a:ea typeface="Noto Sans" pitchFamily="34" charset="-122"/>
                <a:cs typeface="Noto Sans" pitchFamily="34" charset="-120"/>
              </a:rPr>
              <a:t>Đánh giá</a:t>
            </a:r>
            <a:endParaRPr lang="en-US" sz="1800" dirty="0"/>
          </a:p>
        </p:txBody>
      </p:sp>
      <p:sp>
        <p:nvSpPr>
          <p:cNvPr id="19" name="Text 17"/>
          <p:cNvSpPr txBox="1"/>
          <p:nvPr/>
        </p:nvSpPr>
        <p:spPr>
          <a:xfrm>
            <a:off x="5468112" y="3108960"/>
            <a:ext cx="1746504" cy="493776"/>
          </a:xfrm>
          <a:prstGeom prst="rect">
            <a:avLst/>
          </a:prstGeom>
          <a:noFill/>
          <a:ln/>
        </p:spPr>
        <p:txBody>
          <a:bodyPr wrap="square" lIns="0" tIns="0" rIns="0" bIns="0" rtlCol="0" anchor="t"/>
          <a:lstStyle/>
          <a:p>
            <a:pPr algn="l" indent="0" marL="0">
              <a:lnSpc>
                <a:spcPct val="105000"/>
              </a:lnSpc>
              <a:buNone/>
            </a:pPr>
            <a:r>
              <a:rPr lang="en-US" sz="1200" dirty="0">
                <a:solidFill>
                  <a:srgbClr val="41566D"/>
                </a:solidFill>
                <a:latin typeface="Noto Sans" pitchFamily="34" charset="0"/>
                <a:ea typeface="Noto Sans" pitchFamily="34" charset="-122"/>
                <a:cs typeface="Noto Sans" pitchFamily="34" charset="-120"/>
              </a:rPr>
              <a:t>Benchmark ba trục</a:t>
            </a:r>
            <a:endParaRPr lang="en-US" sz="1200" dirty="0"/>
          </a:p>
        </p:txBody>
      </p:sp>
      <p:sp>
        <p:nvSpPr>
          <p:cNvPr id="20" name="Text 18"/>
          <p:cNvSpPr txBox="1"/>
          <p:nvPr/>
        </p:nvSpPr>
        <p:spPr>
          <a:xfrm>
            <a:off x="7397496" y="2578608"/>
            <a:ext cx="137160" cy="301752"/>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a:t>
            </a:r>
            <a:endParaRPr lang="en-US" sz="1900" dirty="0"/>
          </a:p>
        </p:txBody>
      </p:sp>
      <p:sp>
        <p:nvSpPr>
          <p:cNvPr id="21" name="Shape 19"/>
          <p:cNvSpPr/>
          <p:nvPr/>
        </p:nvSpPr>
        <p:spPr>
          <a:xfrm>
            <a:off x="7580376" y="1828800"/>
            <a:ext cx="2057400" cy="2029968"/>
          </a:xfrm>
          <a:prstGeom prst="roundRect">
            <a:avLst>
              <a:gd name="adj" fmla="val 5405"/>
            </a:avLst>
          </a:prstGeom>
          <a:solidFill>
            <a:srgbClr val="EAF1F6"/>
          </a:solidFill>
          <a:ln w="8890">
            <a:solidFill>
              <a:srgbClr val="D8E2EA"/>
            </a:solidFill>
            <a:prstDash val="solid"/>
          </a:ln>
        </p:spPr>
      </p:sp>
      <p:sp>
        <p:nvSpPr>
          <p:cNvPr id="22" name="Text 20"/>
          <p:cNvSpPr txBox="1"/>
          <p:nvPr/>
        </p:nvSpPr>
        <p:spPr>
          <a:xfrm>
            <a:off x="7744968" y="1993392"/>
            <a:ext cx="512064" cy="374904"/>
          </a:xfrm>
          <a:prstGeom prst="rect">
            <a:avLst/>
          </a:prstGeom>
          <a:noFill/>
          <a:ln/>
        </p:spPr>
        <p:txBody>
          <a:bodyPr wrap="square" lIns="0" tIns="0" rIns="0" bIns="0" rtlCol="0" anchor="ctr"/>
          <a:lstStyle/>
          <a:p>
            <a:pPr algn="l" indent="0" marL="0">
              <a:lnSpc>
                <a:spcPct val="105000"/>
              </a:lnSpc>
              <a:buNone/>
            </a:pPr>
            <a:r>
              <a:rPr lang="en-US" sz="2000" b="1" dirty="0">
                <a:solidFill>
                  <a:srgbClr val="159A95"/>
                </a:solidFill>
                <a:latin typeface="Noto Sans" pitchFamily="34" charset="0"/>
                <a:ea typeface="Noto Sans" pitchFamily="34" charset="-122"/>
                <a:cs typeface="Noto Sans" pitchFamily="34" charset="-120"/>
              </a:rPr>
              <a:t>04</a:t>
            </a:r>
            <a:endParaRPr lang="en-US" sz="2000" dirty="0"/>
          </a:p>
        </p:txBody>
      </p:sp>
      <p:sp>
        <p:nvSpPr>
          <p:cNvPr id="23" name="Text 21"/>
          <p:cNvSpPr txBox="1"/>
          <p:nvPr/>
        </p:nvSpPr>
        <p:spPr>
          <a:xfrm>
            <a:off x="7744968" y="2542032"/>
            <a:ext cx="1783080" cy="384048"/>
          </a:xfrm>
          <a:prstGeom prst="rect">
            <a:avLst/>
          </a:prstGeom>
          <a:noFill/>
          <a:ln/>
        </p:spPr>
        <p:txBody>
          <a:bodyPr wrap="square" lIns="0" tIns="0" rIns="0" bIns="0" rtlCol="0" anchor="ctr"/>
          <a:lstStyle/>
          <a:p>
            <a:pPr algn="l" indent="0" marL="0">
              <a:lnSpc>
                <a:spcPct val="105000"/>
              </a:lnSpc>
              <a:buNone/>
            </a:pPr>
            <a:r>
              <a:rPr lang="en-US" sz="1800" b="1" dirty="0">
                <a:solidFill>
                  <a:srgbClr val="17334D"/>
                </a:solidFill>
                <a:latin typeface="Noto Sans" pitchFamily="34" charset="0"/>
                <a:ea typeface="Noto Sans" pitchFamily="34" charset="-122"/>
                <a:cs typeface="Noto Sans" pitchFamily="34" charset="-120"/>
              </a:rPr>
              <a:t>Phê duyệt</a:t>
            </a:r>
            <a:endParaRPr lang="en-US" sz="1800" dirty="0"/>
          </a:p>
        </p:txBody>
      </p:sp>
      <p:sp>
        <p:nvSpPr>
          <p:cNvPr id="24" name="Text 22"/>
          <p:cNvSpPr txBox="1"/>
          <p:nvPr/>
        </p:nvSpPr>
        <p:spPr>
          <a:xfrm>
            <a:off x="7744968" y="3108960"/>
            <a:ext cx="1746504" cy="493776"/>
          </a:xfrm>
          <a:prstGeom prst="rect">
            <a:avLst/>
          </a:prstGeom>
          <a:noFill/>
          <a:ln/>
        </p:spPr>
        <p:txBody>
          <a:bodyPr wrap="square" lIns="0" tIns="0" rIns="0" bIns="0" rtlCol="0" anchor="t"/>
          <a:lstStyle/>
          <a:p>
            <a:pPr algn="l" indent="0" marL="0">
              <a:lnSpc>
                <a:spcPct val="105000"/>
              </a:lnSpc>
              <a:buNone/>
            </a:pPr>
            <a:r>
              <a:rPr lang="en-US" sz="1200" dirty="0">
                <a:solidFill>
                  <a:srgbClr val="41566D"/>
                </a:solidFill>
                <a:latin typeface="Noto Sans" pitchFamily="34" charset="0"/>
                <a:ea typeface="Noto Sans" pitchFamily="34" charset="-122"/>
                <a:cs typeface="Noto Sans" pitchFamily="34" charset="-120"/>
              </a:rPr>
              <a:t>AppSec + ứng dụng</a:t>
            </a:r>
            <a:endParaRPr lang="en-US" sz="1200" dirty="0"/>
          </a:p>
        </p:txBody>
      </p:sp>
      <p:sp>
        <p:nvSpPr>
          <p:cNvPr id="25" name="Text 23"/>
          <p:cNvSpPr txBox="1"/>
          <p:nvPr/>
        </p:nvSpPr>
        <p:spPr>
          <a:xfrm>
            <a:off x="9674352" y="2578608"/>
            <a:ext cx="137160" cy="301752"/>
          </a:xfrm>
          <a:prstGeom prst="rect">
            <a:avLst/>
          </a:prstGeom>
          <a:noFill/>
          <a:ln/>
        </p:spPr>
        <p:txBody>
          <a:bodyPr wrap="square" lIns="0" tIns="0" rIns="0" bIns="0" rtlCol="0" anchor="ctr"/>
          <a:lstStyle/>
          <a:p>
            <a:pPr algn="l" indent="0" marL="0">
              <a:lnSpc>
                <a:spcPct val="105000"/>
              </a:lnSpc>
              <a:buNone/>
            </a:pPr>
            <a:r>
              <a:rPr lang="en-US" sz="1900" b="1" dirty="0">
                <a:solidFill>
                  <a:srgbClr val="159A95"/>
                </a:solidFill>
                <a:latin typeface="Noto Sans" pitchFamily="34" charset="0"/>
                <a:ea typeface="Noto Sans" pitchFamily="34" charset="-122"/>
                <a:cs typeface="Noto Sans" pitchFamily="34" charset="-120"/>
              </a:rPr>
              <a:t>→</a:t>
            </a:r>
            <a:endParaRPr lang="en-US" sz="1900" dirty="0"/>
          </a:p>
        </p:txBody>
      </p:sp>
      <p:sp>
        <p:nvSpPr>
          <p:cNvPr id="26" name="Shape 24"/>
          <p:cNvSpPr/>
          <p:nvPr/>
        </p:nvSpPr>
        <p:spPr>
          <a:xfrm>
            <a:off x="9857232" y="1828800"/>
            <a:ext cx="2057400" cy="2029968"/>
          </a:xfrm>
          <a:prstGeom prst="roundRect">
            <a:avLst>
              <a:gd name="adj" fmla="val 5405"/>
            </a:avLst>
          </a:prstGeom>
          <a:solidFill>
            <a:srgbClr val="EAF8F6"/>
          </a:solidFill>
          <a:ln w="8890">
            <a:solidFill>
              <a:srgbClr val="D8E2EA"/>
            </a:solidFill>
            <a:prstDash val="solid"/>
          </a:ln>
        </p:spPr>
      </p:sp>
      <p:sp>
        <p:nvSpPr>
          <p:cNvPr id="27" name="Text 25"/>
          <p:cNvSpPr txBox="1"/>
          <p:nvPr/>
        </p:nvSpPr>
        <p:spPr>
          <a:xfrm>
            <a:off x="10021824" y="1993392"/>
            <a:ext cx="512064" cy="374904"/>
          </a:xfrm>
          <a:prstGeom prst="rect">
            <a:avLst/>
          </a:prstGeom>
          <a:noFill/>
          <a:ln/>
        </p:spPr>
        <p:txBody>
          <a:bodyPr wrap="square" lIns="0" tIns="0" rIns="0" bIns="0" rtlCol="0" anchor="ctr"/>
          <a:lstStyle/>
          <a:p>
            <a:pPr algn="l" indent="0" marL="0">
              <a:lnSpc>
                <a:spcPct val="105000"/>
              </a:lnSpc>
              <a:buNone/>
            </a:pPr>
            <a:r>
              <a:rPr lang="en-US" sz="2000" b="1" dirty="0">
                <a:solidFill>
                  <a:srgbClr val="159A95"/>
                </a:solidFill>
                <a:latin typeface="Noto Sans" pitchFamily="34" charset="0"/>
                <a:ea typeface="Noto Sans" pitchFamily="34" charset="-122"/>
                <a:cs typeface="Noto Sans" pitchFamily="34" charset="-120"/>
              </a:rPr>
              <a:t>05</a:t>
            </a:r>
            <a:endParaRPr lang="en-US" sz="2000" dirty="0"/>
          </a:p>
        </p:txBody>
      </p:sp>
      <p:sp>
        <p:nvSpPr>
          <p:cNvPr id="28" name="Text 26"/>
          <p:cNvSpPr txBox="1"/>
          <p:nvPr/>
        </p:nvSpPr>
        <p:spPr>
          <a:xfrm>
            <a:off x="10021824" y="2542032"/>
            <a:ext cx="1783080" cy="384048"/>
          </a:xfrm>
          <a:prstGeom prst="rect">
            <a:avLst/>
          </a:prstGeom>
          <a:noFill/>
          <a:ln/>
        </p:spPr>
        <p:txBody>
          <a:bodyPr wrap="square" lIns="0" tIns="0" rIns="0" bIns="0" rtlCol="0" anchor="ctr"/>
          <a:lstStyle/>
          <a:p>
            <a:pPr algn="l" indent="0" marL="0">
              <a:lnSpc>
                <a:spcPct val="105000"/>
              </a:lnSpc>
              <a:buNone/>
            </a:pPr>
            <a:r>
              <a:rPr lang="en-US" sz="1800" b="1" dirty="0">
                <a:solidFill>
                  <a:srgbClr val="17334D"/>
                </a:solidFill>
                <a:latin typeface="Noto Sans" pitchFamily="34" charset="0"/>
                <a:ea typeface="Noto Sans" pitchFamily="34" charset="-122"/>
                <a:cs typeface="Noto Sans" pitchFamily="34" charset="-120"/>
              </a:rPr>
              <a:t>Canary</a:t>
            </a:r>
            <a:endParaRPr lang="en-US" sz="1800" dirty="0"/>
          </a:p>
        </p:txBody>
      </p:sp>
      <p:sp>
        <p:nvSpPr>
          <p:cNvPr id="29" name="Text 27"/>
          <p:cNvSpPr txBox="1"/>
          <p:nvPr/>
        </p:nvSpPr>
        <p:spPr>
          <a:xfrm>
            <a:off x="10021824" y="3108960"/>
            <a:ext cx="1746504" cy="493776"/>
          </a:xfrm>
          <a:prstGeom prst="rect">
            <a:avLst/>
          </a:prstGeom>
          <a:noFill/>
          <a:ln/>
        </p:spPr>
        <p:txBody>
          <a:bodyPr wrap="square" lIns="0" tIns="0" rIns="0" bIns="0" rtlCol="0" anchor="t"/>
          <a:lstStyle/>
          <a:p>
            <a:pPr algn="l" indent="0" marL="0">
              <a:lnSpc>
                <a:spcPct val="105000"/>
              </a:lnSpc>
              <a:buNone/>
            </a:pPr>
            <a:r>
              <a:rPr lang="en-US" sz="1200" dirty="0">
                <a:solidFill>
                  <a:srgbClr val="41566D"/>
                </a:solidFill>
                <a:latin typeface="Noto Sans" pitchFamily="34" charset="0"/>
                <a:ea typeface="Noto Sans" pitchFamily="34" charset="-122"/>
                <a:cs typeface="Noto Sans" pitchFamily="34" charset="-120"/>
              </a:rPr>
              <a:t>Giám sát / rollback</a:t>
            </a:r>
            <a:endParaRPr lang="en-US" sz="1200" dirty="0"/>
          </a:p>
        </p:txBody>
      </p:sp>
      <p:sp>
        <p:nvSpPr>
          <p:cNvPr id="30" name="Shape 28"/>
          <p:cNvSpPr/>
          <p:nvPr/>
        </p:nvSpPr>
        <p:spPr>
          <a:xfrm>
            <a:off x="932688" y="4507992"/>
            <a:ext cx="10277856" cy="1078992"/>
          </a:xfrm>
          <a:prstGeom prst="roundRect">
            <a:avLst>
              <a:gd name="adj" fmla="val 10169"/>
            </a:avLst>
          </a:prstGeom>
          <a:solidFill>
            <a:srgbClr val="F5F8FA"/>
          </a:solidFill>
          <a:ln w="8890">
            <a:solidFill>
              <a:srgbClr val="D8E2EA"/>
            </a:solidFill>
            <a:prstDash val="solid"/>
          </a:ln>
        </p:spPr>
      </p:sp>
      <p:sp>
        <p:nvSpPr>
          <p:cNvPr id="31" name="Text 29"/>
          <p:cNvSpPr txBox="1"/>
          <p:nvPr/>
        </p:nvSpPr>
        <p:spPr>
          <a:xfrm>
            <a:off x="1271016" y="4745736"/>
            <a:ext cx="9601200" cy="329184"/>
          </a:xfrm>
          <a:prstGeom prst="rect">
            <a:avLst/>
          </a:prstGeom>
          <a:noFill/>
          <a:ln/>
        </p:spPr>
        <p:txBody>
          <a:bodyPr wrap="square" lIns="0" tIns="0" rIns="0" bIns="0" rtlCol="0" anchor="ctr"/>
          <a:lstStyle/>
          <a:p>
            <a:pPr algn="l" indent="0" marL="0">
              <a:lnSpc>
                <a:spcPct val="105000"/>
              </a:lnSpc>
              <a:buNone/>
            </a:pPr>
            <a:r>
              <a:rPr lang="en-US" sz="1700" b="1" dirty="0">
                <a:solidFill>
                  <a:srgbClr val="17334D"/>
                </a:solidFill>
                <a:latin typeface="Noto Sans" pitchFamily="34" charset="0"/>
                <a:ea typeface="Noto Sans" pitchFamily="34" charset="-122"/>
                <a:cs typeface="Noto Sans" pitchFamily="34" charset="-120"/>
              </a:rPr>
              <a:t>Sổ rule: ID • CWE • Evidence • Scope • Owner • Review state • TTL • Rollback</a:t>
            </a:r>
            <a:endParaRPr lang="en-US" sz="1700" dirty="0"/>
          </a:p>
        </p:txBody>
      </p:sp>
      <p:sp>
        <p:nvSpPr>
          <p:cNvPr id="32" name="Text 30"/>
          <p:cNvSpPr txBox="1"/>
          <p:nvPr/>
        </p:nvSpPr>
        <p:spPr>
          <a:xfrm>
            <a:off x="1298448" y="5193792"/>
            <a:ext cx="9418320" cy="237744"/>
          </a:xfrm>
          <a:prstGeom prst="rect">
            <a:avLst/>
          </a:prstGeom>
          <a:noFill/>
          <a:ln/>
        </p:spPr>
        <p:txBody>
          <a:bodyPr wrap="square" lIns="0" tIns="0" rIns="0" bIns="0" rtlCol="0" anchor="ctr"/>
          <a:lstStyle/>
          <a:p>
            <a:pPr algn="l" indent="0" marL="0">
              <a:lnSpc>
                <a:spcPct val="105000"/>
              </a:lnSpc>
              <a:buNone/>
            </a:pPr>
            <a:r>
              <a:rPr lang="en-US" sz="1300" dirty="0">
                <a:solidFill>
                  <a:srgbClr val="667B8D"/>
                </a:solidFill>
                <a:latin typeface="Noto Sans" pitchFamily="34" charset="0"/>
                <a:ea typeface="Noto Sans" pitchFamily="34" charset="-122"/>
                <a:cs typeface="Noto Sans" pitchFamily="34" charset="-120"/>
              </a:rPr>
              <a:t>Prototype hiện có 3 bản ghi: TW-001 / TW-002 / TW-003</a:t>
            </a:r>
            <a:endParaRPr lang="en-US" sz="1300" dirty="0"/>
          </a:p>
        </p:txBody>
      </p:sp>
      <p:sp>
        <p:nvSpPr>
          <p:cNvPr id="33" name="Shape 31"/>
          <p:cNvSpPr/>
          <p:nvPr/>
        </p:nvSpPr>
        <p:spPr>
          <a:xfrm>
            <a:off x="658368" y="6492240"/>
            <a:ext cx="10875264" cy="0"/>
          </a:xfrm>
          <a:prstGeom prst="line">
            <a:avLst/>
          </a:prstGeom>
          <a:noFill/>
          <a:ln w="10160">
            <a:solidFill>
              <a:srgbClr val="D8E2EA"/>
            </a:solidFill>
            <a:prstDash val="solid"/>
          </a:ln>
        </p:spPr>
      </p:sp>
      <p:sp>
        <p:nvSpPr>
          <p:cNvPr id="34" name="Text 32"/>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35" name="Text 33"/>
          <p:cNvSpPr txBox="1"/>
          <p:nvPr/>
        </p:nvSpPr>
        <p:spPr>
          <a:xfrm>
            <a:off x="7223760" y="6556248"/>
            <a:ext cx="3566160" cy="164592"/>
          </a:xfrm>
          <a:prstGeom prst="rect">
            <a:avLst/>
          </a:prstGeom>
          <a:noFill/>
          <a:ln/>
        </p:spPr>
        <p:txBody>
          <a:bodyPr wrap="square" lIns="0" tIns="0" rIns="0" bIns="0" rtlCol="0" anchor="ctr"/>
          <a:lstStyle/>
          <a:p>
            <a:pPr algn="r" indent="0" marL="0">
              <a:lnSpc>
                <a:spcPct val="105000"/>
              </a:lnSpc>
              <a:buNone/>
            </a:pPr>
            <a:r>
              <a:rPr lang="en-US" sz="800" dirty="0">
                <a:solidFill>
                  <a:srgbClr val="667B8D"/>
                </a:solidFill>
                <a:latin typeface="Noto Sans" pitchFamily="34" charset="0"/>
                <a:ea typeface="Noto Sans" pitchFamily="34" charset="-122"/>
                <a:cs typeface="Noto Sans" pitchFamily="34" charset="-120"/>
              </a:rPr>
              <a:t>NIST AI RMF 1.0</a:t>
            </a:r>
            <a:endParaRPr lang="en-US" sz="800" dirty="0"/>
          </a:p>
        </p:txBody>
      </p:sp>
      <p:sp>
        <p:nvSpPr>
          <p:cNvPr id="36" name="Text 34"/>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219456"/>
            <a:ext cx="7315200" cy="237744"/>
          </a:xfrm>
          <a:prstGeom prst="rect">
            <a:avLst/>
          </a:prstGeom>
          <a:noFill/>
          <a:ln/>
        </p:spPr>
        <p:txBody>
          <a:bodyPr wrap="square" lIns="0" tIns="0" rIns="0" bIns="0" rtlCol="0" anchor="ctr"/>
          <a:lstStyle/>
          <a:p>
            <a:pPr algn="l" indent="0" marL="0">
              <a:lnSpc>
                <a:spcPct val="105000"/>
              </a:lnSpc>
              <a:buNone/>
            </a:pPr>
            <a:r>
              <a:rPr lang="en-US" sz="1000" b="1" spc="140" kern="0" dirty="0">
                <a:solidFill>
                  <a:srgbClr val="159A95"/>
                </a:solidFill>
                <a:latin typeface="Noto Sans" pitchFamily="34" charset="0"/>
                <a:ea typeface="Noto Sans" pitchFamily="34" charset="-122"/>
                <a:cs typeface="Noto Sans" pitchFamily="34" charset="-120"/>
              </a:rPr>
              <a:t>TRACE-WAF • NGHIÊN CỨU</a:t>
            </a:r>
            <a:endParaRPr lang="en-US" sz="1000" dirty="0"/>
          </a:p>
        </p:txBody>
      </p:sp>
      <p:sp>
        <p:nvSpPr>
          <p:cNvPr id="3" name="Text 1"/>
          <p:cNvSpPr txBox="1"/>
          <p:nvPr/>
        </p:nvSpPr>
        <p:spPr>
          <a:xfrm>
            <a:off x="9692640" y="237744"/>
            <a:ext cx="1828800" cy="219456"/>
          </a:xfrm>
          <a:prstGeom prst="rect">
            <a:avLst/>
          </a:prstGeom>
          <a:noFill/>
          <a:ln/>
        </p:spPr>
        <p:txBody>
          <a:bodyPr wrap="square" lIns="0" tIns="0" rIns="0" bIns="0" rtlCol="0" anchor="ctr"/>
          <a:lstStyle/>
          <a:p>
            <a:pPr algn="r" indent="0" marL="0">
              <a:lnSpc>
                <a:spcPct val="105000"/>
              </a:lnSpc>
              <a:buNone/>
            </a:pPr>
            <a:r>
              <a:rPr lang="en-US" sz="900" dirty="0">
                <a:solidFill>
                  <a:srgbClr val="667B8D"/>
                </a:solidFill>
                <a:latin typeface="Noto Sans" pitchFamily="34" charset="0"/>
                <a:ea typeface="Noto Sans" pitchFamily="34" charset="-122"/>
                <a:cs typeface="Noto Sans" pitchFamily="34" charset="-120"/>
              </a:rPr>
              <a:t>Hạn chế</a:t>
            </a:r>
            <a:endParaRPr lang="en-US" sz="900" dirty="0"/>
          </a:p>
        </p:txBody>
      </p:sp>
      <p:sp>
        <p:nvSpPr>
          <p:cNvPr id="4" name="Text 2"/>
          <p:cNvSpPr txBox="1"/>
          <p:nvPr/>
        </p:nvSpPr>
        <p:spPr>
          <a:xfrm>
            <a:off x="658368" y="640080"/>
            <a:ext cx="10927080" cy="676656"/>
          </a:xfrm>
          <a:prstGeom prst="rect">
            <a:avLst/>
          </a:prstGeom>
          <a:noFill/>
          <a:ln/>
        </p:spPr>
        <p:txBody>
          <a:bodyPr wrap="square" lIns="0" tIns="0" rIns="0" bIns="0" rtlCol="0" anchor="t"/>
          <a:lstStyle/>
          <a:p>
            <a:pPr algn="l" indent="0" marL="0">
              <a:lnSpc>
                <a:spcPct val="105000"/>
              </a:lnSpc>
              <a:buNone/>
            </a:pPr>
            <a:r>
              <a:rPr lang="en-US" sz="2700" b="1" dirty="0">
                <a:solidFill>
                  <a:srgbClr val="17334D"/>
                </a:solidFill>
                <a:latin typeface="Noto Sans" pitchFamily="34" charset="0"/>
                <a:ea typeface="Noto Sans" pitchFamily="34" charset="-122"/>
                <a:cs typeface="Noto Sans" pitchFamily="34" charset="-120"/>
              </a:rPr>
              <a:t>Tuyên bố chính xác giới hạn → thiết kế thí nghiệm tiếp theo</a:t>
            </a:r>
            <a:endParaRPr lang="en-US" sz="2700" dirty="0"/>
          </a:p>
        </p:txBody>
      </p:sp>
      <p:sp>
        <p:nvSpPr>
          <p:cNvPr id="5" name="Shape 3"/>
          <p:cNvSpPr/>
          <p:nvPr/>
        </p:nvSpPr>
        <p:spPr>
          <a:xfrm>
            <a:off x="658368" y="1408176"/>
            <a:ext cx="10875264" cy="0"/>
          </a:xfrm>
          <a:prstGeom prst="line">
            <a:avLst/>
          </a:prstGeom>
          <a:noFill/>
          <a:ln w="13970">
            <a:solidFill>
              <a:srgbClr val="D8E2EA"/>
            </a:solidFill>
            <a:prstDash val="solid"/>
          </a:ln>
        </p:spPr>
      </p:sp>
      <p:sp>
        <p:nvSpPr>
          <p:cNvPr id="6" name="Shape 4"/>
          <p:cNvSpPr/>
          <p:nvPr/>
        </p:nvSpPr>
        <p:spPr>
          <a:xfrm>
            <a:off x="758952" y="1755648"/>
            <a:ext cx="5138928" cy="3474720"/>
          </a:xfrm>
          <a:prstGeom prst="roundRect">
            <a:avLst>
              <a:gd name="adj" fmla="val 3158"/>
            </a:avLst>
          </a:prstGeom>
          <a:solidFill>
            <a:srgbClr val="FFF4E9"/>
          </a:solidFill>
          <a:ln w="8890">
            <a:solidFill>
              <a:srgbClr val="FFF4E9"/>
            </a:solidFill>
            <a:prstDash val="solid"/>
          </a:ln>
        </p:spPr>
      </p:sp>
      <p:sp>
        <p:nvSpPr>
          <p:cNvPr id="7" name="Text 5"/>
          <p:cNvSpPr txBox="1"/>
          <p:nvPr/>
        </p:nvSpPr>
        <p:spPr>
          <a:xfrm>
            <a:off x="1033272" y="2020824"/>
            <a:ext cx="4480560" cy="356616"/>
          </a:xfrm>
          <a:prstGeom prst="rect">
            <a:avLst/>
          </a:prstGeom>
          <a:noFill/>
          <a:ln/>
        </p:spPr>
        <p:txBody>
          <a:bodyPr wrap="square" lIns="0" tIns="0" rIns="0" bIns="0" rtlCol="0" anchor="ctr"/>
          <a:lstStyle/>
          <a:p>
            <a:pPr algn="l" indent="0" marL="0">
              <a:lnSpc>
                <a:spcPct val="105000"/>
              </a:lnSpc>
              <a:buNone/>
            </a:pPr>
            <a:r>
              <a:rPr lang="en-US" sz="1700" b="1" dirty="0">
                <a:solidFill>
                  <a:srgbClr val="9A5818"/>
                </a:solidFill>
                <a:latin typeface="Noto Sans" pitchFamily="34" charset="0"/>
                <a:ea typeface="Noto Sans" pitchFamily="34" charset="-122"/>
                <a:cs typeface="Noto Sans" pitchFamily="34" charset="-120"/>
              </a:rPr>
              <a:t>CHƯA KIỂM CHỨNG</a:t>
            </a:r>
            <a:endParaRPr lang="en-US" sz="1700" dirty="0"/>
          </a:p>
        </p:txBody>
      </p:sp>
      <p:sp>
        <p:nvSpPr>
          <p:cNvPr id="8" name="Text 6"/>
          <p:cNvSpPr txBox="1"/>
          <p:nvPr/>
        </p:nvSpPr>
        <p:spPr>
          <a:xfrm>
            <a:off x="1051560" y="2642616"/>
            <a:ext cx="4443984" cy="420624"/>
          </a:xfrm>
          <a:prstGeom prst="rect">
            <a:avLst/>
          </a:prstGeom>
          <a:noFill/>
          <a:ln/>
        </p:spPr>
        <p:txBody>
          <a:bodyPr wrap="square" lIns="0" tIns="0" rIns="0" bIns="0" rtlCol="0" anchor="ctr"/>
          <a:lstStyle/>
          <a:p>
            <a:pPr algn="l" indent="0" marL="0">
              <a:lnSpc>
                <a:spcPct val="105000"/>
              </a:lnSpc>
              <a:buNone/>
            </a:pPr>
            <a:r>
              <a:rPr lang="en-US" sz="1500" dirty="0">
                <a:solidFill>
                  <a:srgbClr val="17334D"/>
                </a:solidFill>
                <a:latin typeface="Noto Sans" pitchFamily="34" charset="0"/>
                <a:ea typeface="Noto Sans" pitchFamily="34" charset="-122"/>
                <a:cs typeface="Noto Sans" pitchFamily="34" charset="-120"/>
              </a:rPr>
              <a:t>• LLM inference hay sinh rule thật</a:t>
            </a:r>
            <a:endParaRPr lang="en-US" sz="1500" dirty="0"/>
          </a:p>
        </p:txBody>
      </p:sp>
      <p:sp>
        <p:nvSpPr>
          <p:cNvPr id="9" name="Text 7"/>
          <p:cNvSpPr txBox="1"/>
          <p:nvPr/>
        </p:nvSpPr>
        <p:spPr>
          <a:xfrm>
            <a:off x="1051560" y="3163824"/>
            <a:ext cx="4443984" cy="420624"/>
          </a:xfrm>
          <a:prstGeom prst="rect">
            <a:avLst/>
          </a:prstGeom>
          <a:noFill/>
          <a:ln/>
        </p:spPr>
        <p:txBody>
          <a:bodyPr wrap="square" lIns="0" tIns="0" rIns="0" bIns="0" rtlCol="0" anchor="ctr"/>
          <a:lstStyle/>
          <a:p>
            <a:pPr algn="l" indent="0" marL="0">
              <a:lnSpc>
                <a:spcPct val="105000"/>
              </a:lnSpc>
              <a:buNone/>
            </a:pPr>
            <a:r>
              <a:rPr lang="en-US" sz="1500" dirty="0">
                <a:solidFill>
                  <a:srgbClr val="17334D"/>
                </a:solidFill>
                <a:latin typeface="Noto Sans" pitchFamily="34" charset="0"/>
                <a:ea typeface="Noto Sans" pitchFamily="34" charset="-122"/>
                <a:cs typeface="Noto Sans" pitchFamily="34" charset="-120"/>
              </a:rPr>
              <a:t>• WAF thương mại và OWASP CRS chạy thật</a:t>
            </a:r>
            <a:endParaRPr lang="en-US" sz="1500" dirty="0"/>
          </a:p>
        </p:txBody>
      </p:sp>
      <p:sp>
        <p:nvSpPr>
          <p:cNvPr id="10" name="Text 8"/>
          <p:cNvSpPr txBox="1"/>
          <p:nvPr/>
        </p:nvSpPr>
        <p:spPr>
          <a:xfrm>
            <a:off x="1051560" y="3685032"/>
            <a:ext cx="4443984" cy="420624"/>
          </a:xfrm>
          <a:prstGeom prst="rect">
            <a:avLst/>
          </a:prstGeom>
          <a:noFill/>
          <a:ln/>
        </p:spPr>
        <p:txBody>
          <a:bodyPr wrap="square" lIns="0" tIns="0" rIns="0" bIns="0" rtlCol="0" anchor="ctr"/>
          <a:lstStyle/>
          <a:p>
            <a:pPr algn="l" indent="0" marL="0">
              <a:lnSpc>
                <a:spcPct val="105000"/>
              </a:lnSpc>
              <a:buNone/>
            </a:pPr>
            <a:r>
              <a:rPr lang="en-US" sz="1500" dirty="0">
                <a:solidFill>
                  <a:srgbClr val="17334D"/>
                </a:solidFill>
                <a:latin typeface="Noto Sans" pitchFamily="34" charset="0"/>
                <a:ea typeface="Noto Sans" pitchFamily="34" charset="-122"/>
                <a:cs typeface="Noto Sans" pitchFamily="34" charset="-120"/>
              </a:rPr>
              <a:t>• Hiệu lực khai thác CVE trên backend</a:t>
            </a:r>
            <a:endParaRPr lang="en-US" sz="1500" dirty="0"/>
          </a:p>
        </p:txBody>
      </p:sp>
      <p:sp>
        <p:nvSpPr>
          <p:cNvPr id="11" name="Text 9"/>
          <p:cNvSpPr txBox="1"/>
          <p:nvPr/>
        </p:nvSpPr>
        <p:spPr>
          <a:xfrm>
            <a:off x="1051560" y="4206240"/>
            <a:ext cx="4443984" cy="420624"/>
          </a:xfrm>
          <a:prstGeom prst="rect">
            <a:avLst/>
          </a:prstGeom>
          <a:noFill/>
          <a:ln/>
        </p:spPr>
        <p:txBody>
          <a:bodyPr wrap="square" lIns="0" tIns="0" rIns="0" bIns="0" rtlCol="0" anchor="ctr"/>
          <a:lstStyle/>
          <a:p>
            <a:pPr algn="l" indent="0" marL="0">
              <a:lnSpc>
                <a:spcPct val="105000"/>
              </a:lnSpc>
              <a:buNone/>
            </a:pPr>
            <a:r>
              <a:rPr lang="en-US" sz="1500" dirty="0">
                <a:solidFill>
                  <a:srgbClr val="17334D"/>
                </a:solidFill>
                <a:latin typeface="Noto Sans" pitchFamily="34" charset="0"/>
                <a:ea typeface="Noto Sans" pitchFamily="34" charset="-122"/>
                <a:cs typeface="Noto Sans" pitchFamily="34" charset="-120"/>
              </a:rPr>
              <a:t>• Lưu lượng benign sản xuất / latency</a:t>
            </a:r>
            <a:endParaRPr lang="en-US" sz="1500" dirty="0"/>
          </a:p>
        </p:txBody>
      </p:sp>
      <p:sp>
        <p:nvSpPr>
          <p:cNvPr id="12" name="Shape 10"/>
          <p:cNvSpPr/>
          <p:nvPr/>
        </p:nvSpPr>
        <p:spPr>
          <a:xfrm>
            <a:off x="6217920" y="1755648"/>
            <a:ext cx="5138928" cy="3474720"/>
          </a:xfrm>
          <a:prstGeom prst="roundRect">
            <a:avLst>
              <a:gd name="adj" fmla="val 3158"/>
            </a:avLst>
          </a:prstGeom>
          <a:solidFill>
            <a:srgbClr val="EAF8F6"/>
          </a:solidFill>
          <a:ln w="8890">
            <a:solidFill>
              <a:srgbClr val="EAF8F6"/>
            </a:solidFill>
            <a:prstDash val="solid"/>
          </a:ln>
        </p:spPr>
      </p:sp>
      <p:sp>
        <p:nvSpPr>
          <p:cNvPr id="13" name="Text 11"/>
          <p:cNvSpPr txBox="1"/>
          <p:nvPr/>
        </p:nvSpPr>
        <p:spPr>
          <a:xfrm>
            <a:off x="6501384" y="2020824"/>
            <a:ext cx="4480560" cy="356616"/>
          </a:xfrm>
          <a:prstGeom prst="rect">
            <a:avLst/>
          </a:prstGeom>
          <a:noFill/>
          <a:ln/>
        </p:spPr>
        <p:txBody>
          <a:bodyPr wrap="square" lIns="0" tIns="0" rIns="0" bIns="0" rtlCol="0" anchor="ctr"/>
          <a:lstStyle/>
          <a:p>
            <a:pPr algn="l" indent="0" marL="0">
              <a:lnSpc>
                <a:spcPct val="105000"/>
              </a:lnSpc>
              <a:buNone/>
            </a:pPr>
            <a:r>
              <a:rPr lang="en-US" sz="1700" b="1" dirty="0">
                <a:solidFill>
                  <a:srgbClr val="159A95"/>
                </a:solidFill>
                <a:latin typeface="Noto Sans" pitchFamily="34" charset="0"/>
                <a:ea typeface="Noto Sans" pitchFamily="34" charset="-122"/>
                <a:cs typeface="Noto Sans" pitchFamily="34" charset="-120"/>
              </a:rPr>
              <a:t>BƯỚC TIẾP THEO</a:t>
            </a:r>
            <a:endParaRPr lang="en-US" sz="1700" dirty="0"/>
          </a:p>
        </p:txBody>
      </p:sp>
      <p:sp>
        <p:nvSpPr>
          <p:cNvPr id="14" name="Text 12"/>
          <p:cNvSpPr txBox="1"/>
          <p:nvPr/>
        </p:nvSpPr>
        <p:spPr>
          <a:xfrm>
            <a:off x="6510528" y="2642616"/>
            <a:ext cx="4498848" cy="420624"/>
          </a:xfrm>
          <a:prstGeom prst="rect">
            <a:avLst/>
          </a:prstGeom>
          <a:noFill/>
          <a:ln/>
        </p:spPr>
        <p:txBody>
          <a:bodyPr wrap="square" lIns="0" tIns="0" rIns="0" bIns="0" rtlCol="0" anchor="ctr"/>
          <a:lstStyle/>
          <a:p>
            <a:pPr algn="l" indent="0" marL="0">
              <a:lnSpc>
                <a:spcPct val="105000"/>
              </a:lnSpc>
              <a:buNone/>
            </a:pPr>
            <a:r>
              <a:rPr lang="en-US" sz="1500" dirty="0">
                <a:solidFill>
                  <a:srgbClr val="17334D"/>
                </a:solidFill>
                <a:latin typeface="Noto Sans" pitchFamily="34" charset="0"/>
                <a:ea typeface="Noto Sans" pitchFamily="34" charset="-122"/>
                <a:cs typeface="Noto Sans" pitchFamily="34" charset="-120"/>
              </a:rPr>
              <a:t>• Lab ModSecurity + CRS có ghim phiên bản</a:t>
            </a:r>
            <a:endParaRPr lang="en-US" sz="1500" dirty="0"/>
          </a:p>
        </p:txBody>
      </p:sp>
      <p:sp>
        <p:nvSpPr>
          <p:cNvPr id="15" name="Text 13"/>
          <p:cNvSpPr txBox="1"/>
          <p:nvPr/>
        </p:nvSpPr>
        <p:spPr>
          <a:xfrm>
            <a:off x="6510528" y="3163824"/>
            <a:ext cx="4498848" cy="420624"/>
          </a:xfrm>
          <a:prstGeom prst="rect">
            <a:avLst/>
          </a:prstGeom>
          <a:noFill/>
          <a:ln/>
        </p:spPr>
        <p:txBody>
          <a:bodyPr wrap="square" lIns="0" tIns="0" rIns="0" bIns="0" rtlCol="0" anchor="ctr"/>
          <a:lstStyle/>
          <a:p>
            <a:pPr algn="l" indent="0" marL="0">
              <a:lnSpc>
                <a:spcPct val="105000"/>
              </a:lnSpc>
              <a:buNone/>
            </a:pPr>
            <a:r>
              <a:rPr lang="en-US" sz="1500" dirty="0">
                <a:solidFill>
                  <a:srgbClr val="17334D"/>
                </a:solidFill>
                <a:latin typeface="Noto Sans" pitchFamily="34" charset="0"/>
                <a:ea typeface="Noto Sans" pitchFamily="34" charset="-122"/>
                <a:cs typeface="Noto Sans" pitchFamily="34" charset="-120"/>
              </a:rPr>
              <a:t>• Xác minh nhãn bằng app vulnerable có phép</a:t>
            </a:r>
            <a:endParaRPr lang="en-US" sz="1500" dirty="0"/>
          </a:p>
        </p:txBody>
      </p:sp>
      <p:sp>
        <p:nvSpPr>
          <p:cNvPr id="16" name="Text 14"/>
          <p:cNvSpPr txBox="1"/>
          <p:nvPr/>
        </p:nvSpPr>
        <p:spPr>
          <a:xfrm>
            <a:off x="6510528" y="3685032"/>
            <a:ext cx="4498848" cy="420624"/>
          </a:xfrm>
          <a:prstGeom prst="rect">
            <a:avLst/>
          </a:prstGeom>
          <a:noFill/>
          <a:ln/>
        </p:spPr>
        <p:txBody>
          <a:bodyPr wrap="square" lIns="0" tIns="0" rIns="0" bIns="0" rtlCol="0" anchor="ctr"/>
          <a:lstStyle/>
          <a:p>
            <a:pPr algn="l" indent="0" marL="0">
              <a:lnSpc>
                <a:spcPct val="105000"/>
              </a:lnSpc>
              <a:buNone/>
            </a:pPr>
            <a:r>
              <a:rPr lang="en-US" sz="1500" dirty="0">
                <a:solidFill>
                  <a:srgbClr val="17334D"/>
                </a:solidFill>
                <a:latin typeface="Noto Sans" pitchFamily="34" charset="0"/>
                <a:ea typeface="Noto Sans" pitchFamily="34" charset="-122"/>
                <a:cs typeface="Noto Sans" pitchFamily="34" charset="-120"/>
              </a:rPr>
              <a:t>• Corpus benign độc lập theo ứng dụng</a:t>
            </a:r>
            <a:endParaRPr lang="en-US" sz="1500" dirty="0"/>
          </a:p>
        </p:txBody>
      </p:sp>
      <p:sp>
        <p:nvSpPr>
          <p:cNvPr id="17" name="Text 15"/>
          <p:cNvSpPr txBox="1"/>
          <p:nvPr/>
        </p:nvSpPr>
        <p:spPr>
          <a:xfrm>
            <a:off x="6510528" y="4206240"/>
            <a:ext cx="4498848" cy="420624"/>
          </a:xfrm>
          <a:prstGeom prst="rect">
            <a:avLst/>
          </a:prstGeom>
          <a:noFill/>
          <a:ln/>
        </p:spPr>
        <p:txBody>
          <a:bodyPr wrap="square" lIns="0" tIns="0" rIns="0" bIns="0" rtlCol="0" anchor="ctr"/>
          <a:lstStyle/>
          <a:p>
            <a:pPr algn="l" indent="0" marL="0">
              <a:lnSpc>
                <a:spcPct val="105000"/>
              </a:lnSpc>
              <a:buNone/>
            </a:pPr>
            <a:r>
              <a:rPr lang="en-US" sz="1500" dirty="0">
                <a:solidFill>
                  <a:srgbClr val="17334D"/>
                </a:solidFill>
                <a:latin typeface="Noto Sans" pitchFamily="34" charset="0"/>
                <a:ea typeface="Noto Sans" pitchFamily="34" charset="-122"/>
                <a:cs typeface="Noto Sans" pitchFamily="34" charset="-120"/>
              </a:rPr>
              <a:t>• LLM có baseline, ngân sách và audit</a:t>
            </a:r>
            <a:endParaRPr lang="en-US" sz="1500" dirty="0"/>
          </a:p>
        </p:txBody>
      </p:sp>
      <p:sp>
        <p:nvSpPr>
          <p:cNvPr id="18" name="Text 16"/>
          <p:cNvSpPr txBox="1"/>
          <p:nvPr/>
        </p:nvSpPr>
        <p:spPr>
          <a:xfrm>
            <a:off x="941832" y="5577840"/>
            <a:ext cx="10515600" cy="393192"/>
          </a:xfrm>
          <a:prstGeom prst="rect">
            <a:avLst/>
          </a:prstGeom>
          <a:noFill/>
          <a:ln/>
        </p:spPr>
        <p:txBody>
          <a:bodyPr wrap="square" lIns="0" tIns="0" rIns="0" bIns="0" rtlCol="0" anchor="ctr"/>
          <a:lstStyle/>
          <a:p>
            <a:pPr algn="l" indent="0" marL="0">
              <a:lnSpc>
                <a:spcPct val="105000"/>
              </a:lnSpc>
              <a:buNone/>
            </a:pPr>
            <a:r>
              <a:rPr lang="en-US" sz="1500" b="1" dirty="0">
                <a:solidFill>
                  <a:srgbClr val="41566D"/>
                </a:solidFill>
                <a:latin typeface="Noto Sans" pitchFamily="34" charset="0"/>
                <a:ea typeface="Noto Sans" pitchFamily="34" charset="-122"/>
                <a:cs typeface="Noto Sans" pitchFamily="34" charset="-120"/>
              </a:rPr>
              <a:t>Kết quả hiện tại là proof of method, không phải chứng minh WAF/LLM tốt hơn sản phẩm thực.</a:t>
            </a:r>
            <a:endParaRPr lang="en-US" sz="1500" dirty="0"/>
          </a:p>
        </p:txBody>
      </p:sp>
      <p:sp>
        <p:nvSpPr>
          <p:cNvPr id="19" name="Shape 17"/>
          <p:cNvSpPr/>
          <p:nvPr/>
        </p:nvSpPr>
        <p:spPr>
          <a:xfrm>
            <a:off x="658368" y="6492240"/>
            <a:ext cx="10875264" cy="0"/>
          </a:xfrm>
          <a:prstGeom prst="line">
            <a:avLst/>
          </a:prstGeom>
          <a:noFill/>
          <a:ln w="10160">
            <a:solidFill>
              <a:srgbClr val="D8E2EA"/>
            </a:solidFill>
            <a:prstDash val="solid"/>
          </a:ln>
        </p:spPr>
      </p:sp>
      <p:sp>
        <p:nvSpPr>
          <p:cNvPr id="20" name="Text 18"/>
          <p:cNvSpPr txBox="1"/>
          <p:nvPr/>
        </p:nvSpPr>
        <p:spPr>
          <a:xfrm>
            <a:off x="658368" y="6556248"/>
            <a:ext cx="6309360" cy="164592"/>
          </a:xfrm>
          <a:prstGeom prst="rect">
            <a:avLst/>
          </a:prstGeom>
          <a:noFill/>
          <a:ln/>
        </p:spPr>
        <p:txBody>
          <a:bodyPr wrap="square" lIns="0" tIns="0" rIns="0" bIns="0" rtlCol="0" anchor="ctr"/>
          <a:lstStyle/>
          <a:p>
            <a:pPr algn="l" indent="0" marL="0">
              <a:lnSpc>
                <a:spcPct val="105000"/>
              </a:lnSpc>
              <a:buNone/>
            </a:pPr>
            <a:r>
              <a:rPr lang="en-US" sz="850" dirty="0">
                <a:solidFill>
                  <a:srgbClr val="667B8D"/>
                </a:solidFill>
                <a:latin typeface="Noto Sans" pitchFamily="34" charset="0"/>
                <a:ea typeface="Noto Sans" pitchFamily="34" charset="-122"/>
                <a:cs typeface="Noto Sans" pitchFamily="34" charset="-120"/>
              </a:rPr>
              <a:t>TRACE-WAF  /  Báo cáo bảo vệ học phần</a:t>
            </a:r>
            <a:endParaRPr lang="en-US" sz="850" dirty="0"/>
          </a:p>
        </p:txBody>
      </p:sp>
      <p:sp>
        <p:nvSpPr>
          <p:cNvPr id="21" name="Text 19"/>
          <p:cNvSpPr txBox="1"/>
          <p:nvPr/>
        </p:nvSpPr>
        <p:spPr>
          <a:xfrm>
            <a:off x="11210544" y="6528816"/>
            <a:ext cx="256032" cy="219456"/>
          </a:xfrm>
          <a:prstGeom prst="rect">
            <a:avLst/>
          </a:prstGeom>
          <a:noFill/>
          <a:ln/>
        </p:spPr>
        <p:txBody>
          <a:bodyPr wrap="square" lIns="0" tIns="0" rIns="0" bIns="0" rtlCol="0" anchor="ctr"/>
          <a:lstStyle/>
          <a:p>
            <a:pPr algn="r" indent="0" marL="0">
              <a:lnSpc>
                <a:spcPct val="105000"/>
              </a:lnSpc>
              <a:buNone/>
            </a:pPr>
            <a:r>
              <a:rPr lang="en-US" sz="900" b="1" dirty="0">
                <a:solidFill>
                  <a:srgbClr val="159A95"/>
                </a:solidFill>
                <a:latin typeface="Noto Sans" pitchFamily="34" charset="0"/>
                <a:ea typeface="Noto Sans" pitchFamily="34" charset="-122"/>
                <a:cs typeface="Noto Sa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63D"/>
        </a:solidFill>
      </p:bgPr>
    </p:bg>
    <p:spTree>
      <p:nvGrpSpPr>
        <p:cNvPr id="1" name=""/>
        <p:cNvGrpSpPr/>
        <p:nvPr/>
      </p:nvGrpSpPr>
      <p:grpSpPr>
        <a:xfrm>
          <a:off x="0" y="0"/>
          <a:ext cx="0" cy="0"/>
          <a:chOff x="0" y="0"/>
          <a:chExt cx="0" cy="0"/>
        </a:xfrm>
      </p:grpSpPr>
      <p:sp>
        <p:nvSpPr>
          <p:cNvPr id="2" name="Text 0"/>
          <p:cNvSpPr txBox="1"/>
          <p:nvPr/>
        </p:nvSpPr>
        <p:spPr>
          <a:xfrm>
            <a:off x="832104" y="667512"/>
            <a:ext cx="8229600" cy="301752"/>
          </a:xfrm>
          <a:prstGeom prst="rect">
            <a:avLst/>
          </a:prstGeom>
          <a:noFill/>
          <a:ln/>
        </p:spPr>
        <p:txBody>
          <a:bodyPr wrap="square" lIns="0" tIns="0" rIns="0" bIns="0" rtlCol="0" anchor="ctr"/>
          <a:lstStyle/>
          <a:p>
            <a:pPr algn="l" indent="0" marL="0">
              <a:lnSpc>
                <a:spcPct val="105000"/>
              </a:lnSpc>
              <a:buNone/>
            </a:pPr>
            <a:r>
              <a:rPr lang="en-US" sz="1300" b="1" spc="160" kern="0" dirty="0">
                <a:solidFill>
                  <a:srgbClr val="7DE3D7"/>
                </a:solidFill>
                <a:latin typeface="Noto Sans" pitchFamily="34" charset="0"/>
                <a:ea typeface="Noto Sans" pitchFamily="34" charset="-122"/>
                <a:cs typeface="Noto Sans" pitchFamily="34" charset="-120"/>
              </a:rPr>
              <a:t>KẾT LUẬN</a:t>
            </a:r>
            <a:endParaRPr lang="en-US" sz="1300" dirty="0"/>
          </a:p>
        </p:txBody>
      </p:sp>
      <p:sp>
        <p:nvSpPr>
          <p:cNvPr id="3" name="Text 1"/>
          <p:cNvSpPr txBox="1"/>
          <p:nvPr/>
        </p:nvSpPr>
        <p:spPr>
          <a:xfrm>
            <a:off x="841248" y="1380744"/>
            <a:ext cx="10680192" cy="1645920"/>
          </a:xfrm>
          <a:prstGeom prst="rect">
            <a:avLst/>
          </a:prstGeom>
          <a:noFill/>
          <a:ln/>
        </p:spPr>
        <p:txBody>
          <a:bodyPr wrap="square" lIns="0" tIns="0" rIns="0" bIns="0" rtlCol="0" anchor="t"/>
          <a:lstStyle/>
          <a:p>
            <a:pPr algn="l" indent="0" marL="0">
              <a:lnSpc>
                <a:spcPct val="105000"/>
              </a:lnSpc>
              <a:buNone/>
            </a:pPr>
            <a:r>
              <a:rPr lang="en-US" sz="3600" b="1" dirty="0">
                <a:solidFill>
                  <a:srgbClr val="FFFFFF"/>
                </a:solidFill>
                <a:latin typeface="Noto Sans" pitchFamily="34" charset="0"/>
                <a:ea typeface="Noto Sans" pitchFamily="34" charset="-122"/>
                <a:cs typeface="Noto Sans" pitchFamily="34" charset="-120"/>
              </a:rPr>
              <a:t>Đo đúng trước khi</a:t>
            </a:r>
            <a:endParaRPr lang="en-US" sz="3600" dirty="0"/>
          </a:p>
          <a:p>
            <a:pPr algn="l" indent="0" marL="0">
              <a:lnSpc>
                <a:spcPct val="105000"/>
              </a:lnSpc>
              <a:buNone/>
            </a:pPr>
            <a:r>
              <a:rPr lang="en-US" sz="3600" b="1" dirty="0">
                <a:solidFill>
                  <a:srgbClr val="FFFFFF"/>
                </a:solidFill>
                <a:latin typeface="Noto Sans" pitchFamily="34" charset="0"/>
                <a:ea typeface="Noto Sans" pitchFamily="34" charset="-122"/>
                <a:cs typeface="Noto Sans" pitchFamily="34" charset="-120"/>
              </a:rPr>
              <a:t>đưa rule vào vận hành.</a:t>
            </a:r>
            <a:endParaRPr lang="en-US" sz="3600" dirty="0"/>
          </a:p>
        </p:txBody>
      </p:sp>
      <p:sp>
        <p:nvSpPr>
          <p:cNvPr id="4" name="Shape 2"/>
          <p:cNvSpPr/>
          <p:nvPr/>
        </p:nvSpPr>
        <p:spPr>
          <a:xfrm>
            <a:off x="868680" y="3813048"/>
            <a:ext cx="10433304" cy="1179576"/>
          </a:xfrm>
          <a:prstGeom prst="roundRect">
            <a:avLst>
              <a:gd name="adj" fmla="val 9302"/>
            </a:avLst>
          </a:prstGeom>
          <a:solidFill>
            <a:srgbClr val="1D4357"/>
          </a:solidFill>
          <a:ln w="8890">
            <a:solidFill>
              <a:srgbClr val="1D4357"/>
            </a:solidFill>
            <a:prstDash val="solid"/>
          </a:ln>
        </p:spPr>
      </p:sp>
      <p:sp>
        <p:nvSpPr>
          <p:cNvPr id="5" name="Text 3"/>
          <p:cNvSpPr txBox="1"/>
          <p:nvPr/>
        </p:nvSpPr>
        <p:spPr>
          <a:xfrm>
            <a:off x="1197864" y="4087368"/>
            <a:ext cx="9811512" cy="630936"/>
          </a:xfrm>
          <a:prstGeom prst="rect">
            <a:avLst/>
          </a:prstGeom>
          <a:noFill/>
          <a:ln/>
        </p:spPr>
        <p:txBody>
          <a:bodyPr wrap="square" lIns="0" tIns="0" rIns="0" bIns="0" rtlCol="0" anchor="ctr"/>
          <a:lstStyle/>
          <a:p>
            <a:pPr algn="l" indent="0" marL="0">
              <a:lnSpc>
                <a:spcPct val="105000"/>
              </a:lnSpc>
              <a:buNone/>
            </a:pPr>
            <a:r>
              <a:rPr lang="en-US" sz="1900" b="1" dirty="0">
                <a:solidFill>
                  <a:srgbClr val="FFFFFF"/>
                </a:solidFill>
                <a:latin typeface="Noto Sans" pitchFamily="34" charset="0"/>
                <a:ea typeface="Noto Sans" pitchFamily="34" charset="-122"/>
                <a:cs typeface="Noto Sans" pitchFamily="34" charset="-120"/>
              </a:rPr>
              <a:t>3 trục đánh giá  +  nguồn CWE/CVE  +  human approval  +  canary/rollback</a:t>
            </a:r>
            <a:endParaRPr lang="en-US" sz="1900" dirty="0"/>
          </a:p>
        </p:txBody>
      </p:sp>
      <p:sp>
        <p:nvSpPr>
          <p:cNvPr id="6" name="Text 4"/>
          <p:cNvSpPr txBox="1"/>
          <p:nvPr/>
        </p:nvSpPr>
        <p:spPr>
          <a:xfrm>
            <a:off x="859536" y="5769864"/>
            <a:ext cx="8686800" cy="475488"/>
          </a:xfrm>
          <a:prstGeom prst="rect">
            <a:avLst/>
          </a:prstGeom>
          <a:noFill/>
          <a:ln/>
        </p:spPr>
        <p:txBody>
          <a:bodyPr wrap="square" lIns="0" tIns="0" rIns="0" bIns="0" rtlCol="0" anchor="ctr"/>
          <a:lstStyle/>
          <a:p>
            <a:pPr algn="l" indent="0" marL="0">
              <a:lnSpc>
                <a:spcPct val="105000"/>
              </a:lnSpc>
              <a:buNone/>
            </a:pPr>
            <a:r>
              <a:rPr lang="en-US" sz="2100" dirty="0">
                <a:solidFill>
                  <a:srgbClr val="A6DBD8"/>
                </a:solidFill>
                <a:latin typeface="Noto Sans" pitchFamily="34" charset="0"/>
                <a:ea typeface="Noto Sans" pitchFamily="34" charset="-122"/>
                <a:cs typeface="Noto Sans" pitchFamily="34" charset="-120"/>
              </a:rPr>
              <a:t>Câu hỏi &amp; phản biện</a:t>
            </a:r>
            <a:endParaRPr lang="en-US" sz="2100" dirty="0"/>
          </a:p>
        </p:txBody>
      </p:sp>
      <p:sp>
        <p:nvSpPr>
          <p:cNvPr id="7" name="Text 5"/>
          <p:cNvSpPr txBox="1"/>
          <p:nvPr/>
        </p:nvSpPr>
        <p:spPr>
          <a:xfrm>
            <a:off x="877824" y="6327648"/>
            <a:ext cx="9875520" cy="246888"/>
          </a:xfrm>
          <a:prstGeom prst="rect">
            <a:avLst/>
          </a:prstGeom>
          <a:noFill/>
          <a:ln/>
        </p:spPr>
        <p:txBody>
          <a:bodyPr wrap="square" lIns="0" tIns="0" rIns="0" bIns="0" rtlCol="0" anchor="ctr"/>
          <a:lstStyle/>
          <a:p>
            <a:pPr algn="l" indent="0" marL="0">
              <a:lnSpc>
                <a:spcPct val="105000"/>
              </a:lnSpc>
              <a:buNone/>
            </a:pPr>
            <a:r>
              <a:rPr lang="en-US" sz="1100" dirty="0">
                <a:solidFill>
                  <a:srgbClr val="BACCDD"/>
                </a:solidFill>
                <a:latin typeface="Noto Sans" pitchFamily="34" charset="0"/>
                <a:ea typeface="Noto Sans" pitchFamily="34" charset="-122"/>
                <a:cs typeface="Noto Sans" pitchFamily="34" charset="-120"/>
              </a:rPr>
              <a:t>Kết quả có thể tái lập  ·  Không tuyên bố hiệu quả LLM hay WAF thương mại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Academic coursework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TRACE-WAF | Bảo vệ đề tài chính sách và quản trị an ninh mạng</dc:title>
  <dc:subject>Defense presentation: three-axis WAF policy benchmark and governance</dc:subject>
  <dc:creator>TRACE-WAF research course</dc:creator>
  <cp:lastModifiedBy>TRACE-WAF research course</cp:lastModifiedBy>
  <cp:revision>1</cp:revision>
  <dcterms:created xsi:type="dcterms:W3CDTF">2026-10-16T15:12:34Z</dcterms:created>
  <dcterms:modified xsi:type="dcterms:W3CDTF">2026-10-16T15:12:34Z</dcterms:modified>
</cp:coreProperties>
</file>